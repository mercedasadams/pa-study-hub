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5"/>
  </p:notesMasterIdLst>
  <p:sldIdLst>
    <p:sldId id="256" r:id="rId2"/>
    <p:sldId id="258" r:id="rId3"/>
    <p:sldId id="461" r:id="rId4"/>
    <p:sldId id="425" r:id="rId5"/>
    <p:sldId id="426" r:id="rId6"/>
    <p:sldId id="430" r:id="rId7"/>
    <p:sldId id="259" r:id="rId8"/>
    <p:sldId id="270" r:id="rId9"/>
    <p:sldId id="419" r:id="rId10"/>
    <p:sldId id="420" r:id="rId11"/>
    <p:sldId id="269" r:id="rId12"/>
    <p:sldId id="421" r:id="rId13"/>
    <p:sldId id="422" r:id="rId14"/>
    <p:sldId id="423" r:id="rId15"/>
    <p:sldId id="275" r:id="rId16"/>
    <p:sldId id="335" r:id="rId17"/>
    <p:sldId id="274" r:id="rId18"/>
    <p:sldId id="271" r:id="rId19"/>
    <p:sldId id="272" r:id="rId20"/>
    <p:sldId id="291" r:id="rId21"/>
    <p:sldId id="444" r:id="rId22"/>
    <p:sldId id="292" r:id="rId23"/>
    <p:sldId id="293" r:id="rId24"/>
    <p:sldId id="445" r:id="rId25"/>
    <p:sldId id="446" r:id="rId26"/>
    <p:sldId id="273" r:id="rId27"/>
    <p:sldId id="295" r:id="rId28"/>
    <p:sldId id="296" r:id="rId29"/>
    <p:sldId id="447" r:id="rId30"/>
    <p:sldId id="297" r:id="rId31"/>
    <p:sldId id="298" r:id="rId32"/>
    <p:sldId id="303" r:id="rId33"/>
    <p:sldId id="300" r:id="rId34"/>
    <p:sldId id="301" r:id="rId35"/>
    <p:sldId id="302" r:id="rId36"/>
    <p:sldId id="282" r:id="rId37"/>
    <p:sldId id="281" r:id="rId38"/>
    <p:sldId id="283" r:id="rId39"/>
    <p:sldId id="284" r:id="rId40"/>
    <p:sldId id="449" r:id="rId41"/>
    <p:sldId id="424" r:id="rId42"/>
    <p:sldId id="285" r:id="rId43"/>
    <p:sldId id="286" r:id="rId44"/>
    <p:sldId id="287" r:id="rId45"/>
    <p:sldId id="288" r:id="rId46"/>
    <p:sldId id="290"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20" r:id="rId62"/>
    <p:sldId id="479" r:id="rId63"/>
    <p:sldId id="323" r:id="rId64"/>
    <p:sldId id="325" r:id="rId65"/>
    <p:sldId id="324" r:id="rId66"/>
    <p:sldId id="326" r:id="rId67"/>
    <p:sldId id="327" r:id="rId68"/>
    <p:sldId id="328" r:id="rId69"/>
    <p:sldId id="329" r:id="rId70"/>
    <p:sldId id="330" r:id="rId71"/>
    <p:sldId id="478" r:id="rId72"/>
    <p:sldId id="452" r:id="rId73"/>
    <p:sldId id="331" r:id="rId74"/>
    <p:sldId id="332" r:id="rId75"/>
    <p:sldId id="333" r:id="rId76"/>
    <p:sldId id="456" r:id="rId77"/>
    <p:sldId id="455" r:id="rId78"/>
    <p:sldId id="404" r:id="rId79"/>
    <p:sldId id="405" r:id="rId80"/>
    <p:sldId id="407" r:id="rId81"/>
    <p:sldId id="408" r:id="rId82"/>
    <p:sldId id="409" r:id="rId83"/>
    <p:sldId id="410" r:id="rId84"/>
    <p:sldId id="411" r:id="rId85"/>
    <p:sldId id="414" r:id="rId86"/>
    <p:sldId id="415" r:id="rId87"/>
    <p:sldId id="416" r:id="rId88"/>
    <p:sldId id="417" r:id="rId89"/>
    <p:sldId id="418" r:id="rId90"/>
    <p:sldId id="457" r:id="rId91"/>
    <p:sldId id="458" r:id="rId92"/>
    <p:sldId id="336" r:id="rId93"/>
    <p:sldId id="337" r:id="rId94"/>
    <p:sldId id="339" r:id="rId95"/>
    <p:sldId id="341" r:id="rId96"/>
    <p:sldId id="342" r:id="rId97"/>
    <p:sldId id="343" r:id="rId98"/>
    <p:sldId id="344" r:id="rId99"/>
    <p:sldId id="459" r:id="rId100"/>
    <p:sldId id="346" r:id="rId101"/>
    <p:sldId id="347" r:id="rId102"/>
    <p:sldId id="460" r:id="rId103"/>
    <p:sldId id="349" r:id="rId104"/>
    <p:sldId id="350" r:id="rId105"/>
    <p:sldId id="351" r:id="rId106"/>
    <p:sldId id="352" r:id="rId107"/>
    <p:sldId id="353" r:id="rId108"/>
    <p:sldId id="354" r:id="rId109"/>
    <p:sldId id="355" r:id="rId110"/>
    <p:sldId id="356" r:id="rId111"/>
    <p:sldId id="357" r:id="rId112"/>
    <p:sldId id="360" r:id="rId113"/>
    <p:sldId id="359" r:id="rId114"/>
    <p:sldId id="464" r:id="rId115"/>
    <p:sldId id="361" r:id="rId116"/>
    <p:sldId id="477" r:id="rId117"/>
    <p:sldId id="362" r:id="rId118"/>
    <p:sldId id="363" r:id="rId119"/>
    <p:sldId id="364" r:id="rId120"/>
    <p:sldId id="366" r:id="rId121"/>
    <p:sldId id="367" r:id="rId122"/>
    <p:sldId id="368" r:id="rId123"/>
    <p:sldId id="369" r:id="rId124"/>
    <p:sldId id="370" r:id="rId125"/>
    <p:sldId id="371" r:id="rId126"/>
    <p:sldId id="372" r:id="rId127"/>
    <p:sldId id="373" r:id="rId128"/>
    <p:sldId id="465" r:id="rId129"/>
    <p:sldId id="374" r:id="rId130"/>
    <p:sldId id="375" r:id="rId131"/>
    <p:sldId id="376" r:id="rId132"/>
    <p:sldId id="467" r:id="rId133"/>
    <p:sldId id="377" r:id="rId134"/>
    <p:sldId id="378" r:id="rId135"/>
    <p:sldId id="379" r:id="rId136"/>
    <p:sldId id="380" r:id="rId137"/>
    <p:sldId id="381" r:id="rId138"/>
    <p:sldId id="382" r:id="rId139"/>
    <p:sldId id="468" r:id="rId140"/>
    <p:sldId id="469" r:id="rId141"/>
    <p:sldId id="383" r:id="rId142"/>
    <p:sldId id="385" r:id="rId143"/>
    <p:sldId id="386" r:id="rId144"/>
    <p:sldId id="387" r:id="rId145"/>
    <p:sldId id="388" r:id="rId146"/>
    <p:sldId id="470" r:id="rId147"/>
    <p:sldId id="471" r:id="rId148"/>
    <p:sldId id="389" r:id="rId149"/>
    <p:sldId id="390" r:id="rId150"/>
    <p:sldId id="392" r:id="rId151"/>
    <p:sldId id="393" r:id="rId152"/>
    <p:sldId id="395" r:id="rId153"/>
    <p:sldId id="396" r:id="rId154"/>
    <p:sldId id="397" r:id="rId155"/>
    <p:sldId id="398" r:id="rId156"/>
    <p:sldId id="399" r:id="rId157"/>
    <p:sldId id="400" r:id="rId158"/>
    <p:sldId id="401" r:id="rId159"/>
    <p:sldId id="402" r:id="rId160"/>
    <p:sldId id="403" r:id="rId161"/>
    <p:sldId id="340" r:id="rId162"/>
    <p:sldId id="472" r:id="rId163"/>
    <p:sldId id="473" r:id="rId164"/>
    <p:sldId id="475" r:id="rId165"/>
    <p:sldId id="440" r:id="rId166"/>
    <p:sldId id="441" r:id="rId167"/>
    <p:sldId id="276" r:id="rId168"/>
    <p:sldId id="428" r:id="rId169"/>
    <p:sldId id="442" r:id="rId170"/>
    <p:sldId id="437" r:id="rId171"/>
    <p:sldId id="433" r:id="rId172"/>
    <p:sldId id="431" r:id="rId173"/>
    <p:sldId id="429" r:id="rId1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463" autoAdjust="0"/>
  </p:normalViewPr>
  <p:slideViewPr>
    <p:cSldViewPr snapToGrid="0">
      <p:cViewPr>
        <p:scale>
          <a:sx n="92" d="100"/>
          <a:sy n="92" d="100"/>
        </p:scale>
        <p:origin x="288" y="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viewProps" Target="viewProp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46A1B9-D908-4C68-B223-49F6F1184625}"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EB4D6158-76D1-4A52-9DEF-45756151EBBC}">
      <dgm:prSet/>
      <dgm:spPr/>
      <dgm:t>
        <a:bodyPr/>
        <a:lstStyle/>
        <a:p>
          <a:r>
            <a:rPr lang="en-US"/>
            <a:t>#3. Explain the epidemiology, etiology, pathophysiology, clinical presentation, diagnostic findings, and treatment of Diseases of the Stomach and Duodenum including:</a:t>
          </a:r>
        </a:p>
      </dgm:t>
    </dgm:pt>
    <dgm:pt modelId="{22B8C5D8-341F-4AEE-AE1B-F35AE111C028}" type="parTrans" cxnId="{C6198A07-C290-41A5-B5A2-4D5F4B757A1D}">
      <dgm:prSet/>
      <dgm:spPr/>
      <dgm:t>
        <a:bodyPr/>
        <a:lstStyle/>
        <a:p>
          <a:endParaRPr lang="en-US"/>
        </a:p>
      </dgm:t>
    </dgm:pt>
    <dgm:pt modelId="{F5AD8C93-CDE9-4EAD-BD2B-38612CE07702}" type="sibTrans" cxnId="{C6198A07-C290-41A5-B5A2-4D5F4B757A1D}">
      <dgm:prSet/>
      <dgm:spPr/>
      <dgm:t>
        <a:bodyPr/>
        <a:lstStyle/>
        <a:p>
          <a:endParaRPr lang="en-US"/>
        </a:p>
      </dgm:t>
    </dgm:pt>
    <dgm:pt modelId="{3A9CF183-E52D-4E29-8A43-89F38A0A1CED}">
      <dgm:prSet/>
      <dgm:spPr/>
      <dgm:t>
        <a:bodyPr/>
        <a:lstStyle/>
        <a:p>
          <a:r>
            <a:rPr lang="en-US" b="1" dirty="0">
              <a:solidFill>
                <a:srgbClr val="FF0000"/>
              </a:solidFill>
            </a:rPr>
            <a:t>Gastritis, Gastroparesis, Peptic ulcer disease, Pyloric stenosis, Gastrointestinal Bleeding</a:t>
          </a:r>
          <a:endParaRPr lang="en-US" dirty="0">
            <a:solidFill>
              <a:srgbClr val="FF0000"/>
            </a:solidFill>
          </a:endParaRPr>
        </a:p>
      </dgm:t>
    </dgm:pt>
    <dgm:pt modelId="{E6DBE553-173B-418E-98B4-754A3538357D}" type="parTrans" cxnId="{0712AFEF-5E1B-4E19-8683-BAF5EED5239B}">
      <dgm:prSet/>
      <dgm:spPr/>
      <dgm:t>
        <a:bodyPr/>
        <a:lstStyle/>
        <a:p>
          <a:endParaRPr lang="en-US"/>
        </a:p>
      </dgm:t>
    </dgm:pt>
    <dgm:pt modelId="{F7205EA9-5EB3-4DD1-930B-D24B22EEFB93}" type="sibTrans" cxnId="{0712AFEF-5E1B-4E19-8683-BAF5EED5239B}">
      <dgm:prSet/>
      <dgm:spPr/>
      <dgm:t>
        <a:bodyPr/>
        <a:lstStyle/>
        <a:p>
          <a:endParaRPr lang="en-US"/>
        </a:p>
      </dgm:t>
    </dgm:pt>
    <dgm:pt modelId="{3CA71E89-74DE-4696-B0FC-2CF8B1BC4979}">
      <dgm:prSet/>
      <dgm:spPr/>
      <dgm:t>
        <a:bodyPr/>
        <a:lstStyle/>
        <a:p>
          <a:r>
            <a:rPr lang="en-US"/>
            <a:t>#4. Explain the epidemiology, etiology, pathophysiology, clinical presentation, diagnostic findings, and treatment of Diseases of the Small Intestine including:</a:t>
          </a:r>
        </a:p>
      </dgm:t>
    </dgm:pt>
    <dgm:pt modelId="{F3093746-5E1A-4FA5-AB69-9CB11AAE29B2}" type="parTrans" cxnId="{21727285-C904-4720-BEB5-029631673D0D}">
      <dgm:prSet/>
      <dgm:spPr/>
      <dgm:t>
        <a:bodyPr/>
        <a:lstStyle/>
        <a:p>
          <a:endParaRPr lang="en-US"/>
        </a:p>
      </dgm:t>
    </dgm:pt>
    <dgm:pt modelId="{D59A367B-4B6E-4F4F-9D27-78D9E7269E2A}" type="sibTrans" cxnId="{21727285-C904-4720-BEB5-029631673D0D}">
      <dgm:prSet/>
      <dgm:spPr/>
      <dgm:t>
        <a:bodyPr/>
        <a:lstStyle/>
        <a:p>
          <a:endParaRPr lang="en-US"/>
        </a:p>
      </dgm:t>
    </dgm:pt>
    <dgm:pt modelId="{12F70363-2E96-4DC1-A9EF-663680E59C1D}">
      <dgm:prSet/>
      <dgm:spPr/>
      <dgm:t>
        <a:bodyPr/>
        <a:lstStyle/>
        <a:p>
          <a:r>
            <a:rPr lang="en-US" b="1" dirty="0">
              <a:solidFill>
                <a:srgbClr val="FF0000"/>
              </a:solidFill>
            </a:rPr>
            <a:t>Appendicitis, Celiac disease, Intussusception, Obstruction, Polyps</a:t>
          </a:r>
          <a:endParaRPr lang="en-US" dirty="0">
            <a:solidFill>
              <a:srgbClr val="FF0000"/>
            </a:solidFill>
          </a:endParaRPr>
        </a:p>
      </dgm:t>
    </dgm:pt>
    <dgm:pt modelId="{5E36A85F-1AF3-4A51-831B-EB84A3327B59}" type="parTrans" cxnId="{07DC61A0-9F85-4CF7-A3F4-BFAF1A33060F}">
      <dgm:prSet/>
      <dgm:spPr/>
      <dgm:t>
        <a:bodyPr/>
        <a:lstStyle/>
        <a:p>
          <a:endParaRPr lang="en-US"/>
        </a:p>
      </dgm:t>
    </dgm:pt>
    <dgm:pt modelId="{965D8B01-9644-4AEF-AB18-B0750A3F0B42}" type="sibTrans" cxnId="{07DC61A0-9F85-4CF7-A3F4-BFAF1A33060F}">
      <dgm:prSet/>
      <dgm:spPr/>
      <dgm:t>
        <a:bodyPr/>
        <a:lstStyle/>
        <a:p>
          <a:endParaRPr lang="en-US"/>
        </a:p>
      </dgm:t>
    </dgm:pt>
    <dgm:pt modelId="{5DFADE38-EE43-48F9-94CA-5CA67F0285FE}" type="pres">
      <dgm:prSet presAssocID="{0A46A1B9-D908-4C68-B223-49F6F1184625}" presName="vert0" presStyleCnt="0">
        <dgm:presLayoutVars>
          <dgm:dir/>
          <dgm:animOne val="branch"/>
          <dgm:animLvl val="lvl"/>
        </dgm:presLayoutVars>
      </dgm:prSet>
      <dgm:spPr/>
    </dgm:pt>
    <dgm:pt modelId="{B46CA87E-8CB2-46A7-B23B-DD4C921BCF57}" type="pres">
      <dgm:prSet presAssocID="{EB4D6158-76D1-4A52-9DEF-45756151EBBC}" presName="thickLine" presStyleLbl="alignNode1" presStyleIdx="0" presStyleCnt="4"/>
      <dgm:spPr/>
    </dgm:pt>
    <dgm:pt modelId="{E7B3C1FE-3BF7-4407-94FD-1C2C30301142}" type="pres">
      <dgm:prSet presAssocID="{EB4D6158-76D1-4A52-9DEF-45756151EBBC}" presName="horz1" presStyleCnt="0"/>
      <dgm:spPr/>
    </dgm:pt>
    <dgm:pt modelId="{D37021FA-1C5A-4449-81C0-EB09238DF748}" type="pres">
      <dgm:prSet presAssocID="{EB4D6158-76D1-4A52-9DEF-45756151EBBC}" presName="tx1" presStyleLbl="revTx" presStyleIdx="0" presStyleCnt="4"/>
      <dgm:spPr/>
    </dgm:pt>
    <dgm:pt modelId="{08E0548D-F84C-40A6-9042-B0339DCCED5A}" type="pres">
      <dgm:prSet presAssocID="{EB4D6158-76D1-4A52-9DEF-45756151EBBC}" presName="vert1" presStyleCnt="0"/>
      <dgm:spPr/>
    </dgm:pt>
    <dgm:pt modelId="{861486FD-E291-4464-AEBD-2535E63BB2E9}" type="pres">
      <dgm:prSet presAssocID="{3A9CF183-E52D-4E29-8A43-89F38A0A1CED}" presName="thickLine" presStyleLbl="alignNode1" presStyleIdx="1" presStyleCnt="4"/>
      <dgm:spPr/>
    </dgm:pt>
    <dgm:pt modelId="{E016C32B-3B69-4848-975A-7CB6A6C607D2}" type="pres">
      <dgm:prSet presAssocID="{3A9CF183-E52D-4E29-8A43-89F38A0A1CED}" presName="horz1" presStyleCnt="0"/>
      <dgm:spPr/>
    </dgm:pt>
    <dgm:pt modelId="{E26B8F7D-95E4-4E0F-993B-87E7CF23975E}" type="pres">
      <dgm:prSet presAssocID="{3A9CF183-E52D-4E29-8A43-89F38A0A1CED}" presName="tx1" presStyleLbl="revTx" presStyleIdx="1" presStyleCnt="4"/>
      <dgm:spPr/>
    </dgm:pt>
    <dgm:pt modelId="{0AA65EC0-E7C9-457A-BDA1-C5E634EF9519}" type="pres">
      <dgm:prSet presAssocID="{3A9CF183-E52D-4E29-8A43-89F38A0A1CED}" presName="vert1" presStyleCnt="0"/>
      <dgm:spPr/>
    </dgm:pt>
    <dgm:pt modelId="{32722345-C8AB-4D27-89D9-1C2EF0581BDE}" type="pres">
      <dgm:prSet presAssocID="{3CA71E89-74DE-4696-B0FC-2CF8B1BC4979}" presName="thickLine" presStyleLbl="alignNode1" presStyleIdx="2" presStyleCnt="4"/>
      <dgm:spPr/>
    </dgm:pt>
    <dgm:pt modelId="{EF90DF2C-FF70-4D5A-9D08-369CA5DCC70E}" type="pres">
      <dgm:prSet presAssocID="{3CA71E89-74DE-4696-B0FC-2CF8B1BC4979}" presName="horz1" presStyleCnt="0"/>
      <dgm:spPr/>
    </dgm:pt>
    <dgm:pt modelId="{22E8368C-24E6-44B2-AD11-61F0D1F858A6}" type="pres">
      <dgm:prSet presAssocID="{3CA71E89-74DE-4696-B0FC-2CF8B1BC4979}" presName="tx1" presStyleLbl="revTx" presStyleIdx="2" presStyleCnt="4"/>
      <dgm:spPr/>
    </dgm:pt>
    <dgm:pt modelId="{1B6D7E16-B33C-4275-B963-76F8DE443866}" type="pres">
      <dgm:prSet presAssocID="{3CA71E89-74DE-4696-B0FC-2CF8B1BC4979}" presName="vert1" presStyleCnt="0"/>
      <dgm:spPr/>
    </dgm:pt>
    <dgm:pt modelId="{EBFBE548-6038-4DBA-B1CB-580BC60C0710}" type="pres">
      <dgm:prSet presAssocID="{12F70363-2E96-4DC1-A9EF-663680E59C1D}" presName="thickLine" presStyleLbl="alignNode1" presStyleIdx="3" presStyleCnt="4"/>
      <dgm:spPr/>
    </dgm:pt>
    <dgm:pt modelId="{54001014-68F0-4C3D-A35D-FB741CD499C3}" type="pres">
      <dgm:prSet presAssocID="{12F70363-2E96-4DC1-A9EF-663680E59C1D}" presName="horz1" presStyleCnt="0"/>
      <dgm:spPr/>
    </dgm:pt>
    <dgm:pt modelId="{AE54E2C7-D993-440B-89C0-8A25A8C6354B}" type="pres">
      <dgm:prSet presAssocID="{12F70363-2E96-4DC1-A9EF-663680E59C1D}" presName="tx1" presStyleLbl="revTx" presStyleIdx="3" presStyleCnt="4"/>
      <dgm:spPr/>
    </dgm:pt>
    <dgm:pt modelId="{640D9726-0E5A-41EC-9669-5B68B054A3FB}" type="pres">
      <dgm:prSet presAssocID="{12F70363-2E96-4DC1-A9EF-663680E59C1D}" presName="vert1" presStyleCnt="0"/>
      <dgm:spPr/>
    </dgm:pt>
  </dgm:ptLst>
  <dgm:cxnLst>
    <dgm:cxn modelId="{C6198A07-C290-41A5-B5A2-4D5F4B757A1D}" srcId="{0A46A1B9-D908-4C68-B223-49F6F1184625}" destId="{EB4D6158-76D1-4A52-9DEF-45756151EBBC}" srcOrd="0" destOrd="0" parTransId="{22B8C5D8-341F-4AEE-AE1B-F35AE111C028}" sibTransId="{F5AD8C93-CDE9-4EAD-BD2B-38612CE07702}"/>
    <dgm:cxn modelId="{38670E30-2206-400F-A251-DB947E0564EB}" type="presOf" srcId="{3A9CF183-E52D-4E29-8A43-89F38A0A1CED}" destId="{E26B8F7D-95E4-4E0F-993B-87E7CF23975E}" srcOrd="0" destOrd="0" presId="urn:microsoft.com/office/officeart/2008/layout/LinedList"/>
    <dgm:cxn modelId="{A7E45541-BBF4-4377-AF80-A941ECD8CB6E}" type="presOf" srcId="{12F70363-2E96-4DC1-A9EF-663680E59C1D}" destId="{AE54E2C7-D993-440B-89C0-8A25A8C6354B}" srcOrd="0" destOrd="0" presId="urn:microsoft.com/office/officeart/2008/layout/LinedList"/>
    <dgm:cxn modelId="{9F7BF871-F39B-44FF-9F9F-F6EA82E248A6}" type="presOf" srcId="{3CA71E89-74DE-4696-B0FC-2CF8B1BC4979}" destId="{22E8368C-24E6-44B2-AD11-61F0D1F858A6}" srcOrd="0" destOrd="0" presId="urn:microsoft.com/office/officeart/2008/layout/LinedList"/>
    <dgm:cxn modelId="{B2A0DB77-D08C-4B06-B35C-C7FEC7E98B53}" type="presOf" srcId="{0A46A1B9-D908-4C68-B223-49F6F1184625}" destId="{5DFADE38-EE43-48F9-94CA-5CA67F0285FE}" srcOrd="0" destOrd="0" presId="urn:microsoft.com/office/officeart/2008/layout/LinedList"/>
    <dgm:cxn modelId="{21727285-C904-4720-BEB5-029631673D0D}" srcId="{0A46A1B9-D908-4C68-B223-49F6F1184625}" destId="{3CA71E89-74DE-4696-B0FC-2CF8B1BC4979}" srcOrd="2" destOrd="0" parTransId="{F3093746-5E1A-4FA5-AB69-9CB11AAE29B2}" sibTransId="{D59A367B-4B6E-4F4F-9D27-78D9E7269E2A}"/>
    <dgm:cxn modelId="{07DC61A0-9F85-4CF7-A3F4-BFAF1A33060F}" srcId="{0A46A1B9-D908-4C68-B223-49F6F1184625}" destId="{12F70363-2E96-4DC1-A9EF-663680E59C1D}" srcOrd="3" destOrd="0" parTransId="{5E36A85F-1AF3-4A51-831B-EB84A3327B59}" sibTransId="{965D8B01-9644-4AEF-AB18-B0750A3F0B42}"/>
    <dgm:cxn modelId="{F99D2AD0-A368-4F62-89CC-1EE0E41C39B1}" type="presOf" srcId="{EB4D6158-76D1-4A52-9DEF-45756151EBBC}" destId="{D37021FA-1C5A-4449-81C0-EB09238DF748}" srcOrd="0" destOrd="0" presId="urn:microsoft.com/office/officeart/2008/layout/LinedList"/>
    <dgm:cxn modelId="{0712AFEF-5E1B-4E19-8683-BAF5EED5239B}" srcId="{0A46A1B9-D908-4C68-B223-49F6F1184625}" destId="{3A9CF183-E52D-4E29-8A43-89F38A0A1CED}" srcOrd="1" destOrd="0" parTransId="{E6DBE553-173B-418E-98B4-754A3538357D}" sibTransId="{F7205EA9-5EB3-4DD1-930B-D24B22EEFB93}"/>
    <dgm:cxn modelId="{7AFE4BCC-E777-402A-8BF8-AF78C5A19023}" type="presParOf" srcId="{5DFADE38-EE43-48F9-94CA-5CA67F0285FE}" destId="{B46CA87E-8CB2-46A7-B23B-DD4C921BCF57}" srcOrd="0" destOrd="0" presId="urn:microsoft.com/office/officeart/2008/layout/LinedList"/>
    <dgm:cxn modelId="{5CF9D40A-4482-4E86-80DC-BF4047E4DBFB}" type="presParOf" srcId="{5DFADE38-EE43-48F9-94CA-5CA67F0285FE}" destId="{E7B3C1FE-3BF7-4407-94FD-1C2C30301142}" srcOrd="1" destOrd="0" presId="urn:microsoft.com/office/officeart/2008/layout/LinedList"/>
    <dgm:cxn modelId="{8C0C128F-634A-4614-B6BF-D77D12E4D28E}" type="presParOf" srcId="{E7B3C1FE-3BF7-4407-94FD-1C2C30301142}" destId="{D37021FA-1C5A-4449-81C0-EB09238DF748}" srcOrd="0" destOrd="0" presId="urn:microsoft.com/office/officeart/2008/layout/LinedList"/>
    <dgm:cxn modelId="{F03BD662-4ACB-44F7-ACFC-5CB968F0DFE5}" type="presParOf" srcId="{E7B3C1FE-3BF7-4407-94FD-1C2C30301142}" destId="{08E0548D-F84C-40A6-9042-B0339DCCED5A}" srcOrd="1" destOrd="0" presId="urn:microsoft.com/office/officeart/2008/layout/LinedList"/>
    <dgm:cxn modelId="{F1657E5D-E983-4665-8B7E-B1CBC9DC1A6B}" type="presParOf" srcId="{5DFADE38-EE43-48F9-94CA-5CA67F0285FE}" destId="{861486FD-E291-4464-AEBD-2535E63BB2E9}" srcOrd="2" destOrd="0" presId="urn:microsoft.com/office/officeart/2008/layout/LinedList"/>
    <dgm:cxn modelId="{D33F33CC-5B20-4E62-8DD0-DE9890A592D8}" type="presParOf" srcId="{5DFADE38-EE43-48F9-94CA-5CA67F0285FE}" destId="{E016C32B-3B69-4848-975A-7CB6A6C607D2}" srcOrd="3" destOrd="0" presId="urn:microsoft.com/office/officeart/2008/layout/LinedList"/>
    <dgm:cxn modelId="{7527E4CC-425C-4B11-BE04-A171FB4E7ED6}" type="presParOf" srcId="{E016C32B-3B69-4848-975A-7CB6A6C607D2}" destId="{E26B8F7D-95E4-4E0F-993B-87E7CF23975E}" srcOrd="0" destOrd="0" presId="urn:microsoft.com/office/officeart/2008/layout/LinedList"/>
    <dgm:cxn modelId="{9A23BBBC-8967-4212-B25B-E5A137C85C30}" type="presParOf" srcId="{E016C32B-3B69-4848-975A-7CB6A6C607D2}" destId="{0AA65EC0-E7C9-457A-BDA1-C5E634EF9519}" srcOrd="1" destOrd="0" presId="urn:microsoft.com/office/officeart/2008/layout/LinedList"/>
    <dgm:cxn modelId="{1CF1267C-DDD4-40FA-AFC5-9BC893A43C41}" type="presParOf" srcId="{5DFADE38-EE43-48F9-94CA-5CA67F0285FE}" destId="{32722345-C8AB-4D27-89D9-1C2EF0581BDE}" srcOrd="4" destOrd="0" presId="urn:microsoft.com/office/officeart/2008/layout/LinedList"/>
    <dgm:cxn modelId="{9B022D0E-AD2B-4E92-81DE-97B26C524DCB}" type="presParOf" srcId="{5DFADE38-EE43-48F9-94CA-5CA67F0285FE}" destId="{EF90DF2C-FF70-4D5A-9D08-369CA5DCC70E}" srcOrd="5" destOrd="0" presId="urn:microsoft.com/office/officeart/2008/layout/LinedList"/>
    <dgm:cxn modelId="{A4601FDB-3863-40BB-B17D-3C72BAC0D892}" type="presParOf" srcId="{EF90DF2C-FF70-4D5A-9D08-369CA5DCC70E}" destId="{22E8368C-24E6-44B2-AD11-61F0D1F858A6}" srcOrd="0" destOrd="0" presId="urn:microsoft.com/office/officeart/2008/layout/LinedList"/>
    <dgm:cxn modelId="{DD6209E5-D847-4C29-B47D-9F05DA665F03}" type="presParOf" srcId="{EF90DF2C-FF70-4D5A-9D08-369CA5DCC70E}" destId="{1B6D7E16-B33C-4275-B963-76F8DE443866}" srcOrd="1" destOrd="0" presId="urn:microsoft.com/office/officeart/2008/layout/LinedList"/>
    <dgm:cxn modelId="{FCFAF2BE-6AC1-43DD-A904-197E37F1CD60}" type="presParOf" srcId="{5DFADE38-EE43-48F9-94CA-5CA67F0285FE}" destId="{EBFBE548-6038-4DBA-B1CB-580BC60C0710}" srcOrd="6" destOrd="0" presId="urn:microsoft.com/office/officeart/2008/layout/LinedList"/>
    <dgm:cxn modelId="{9A67ED6E-2000-4D33-9061-68487164731B}" type="presParOf" srcId="{5DFADE38-EE43-48F9-94CA-5CA67F0285FE}" destId="{54001014-68F0-4C3D-A35D-FB741CD499C3}" srcOrd="7" destOrd="0" presId="urn:microsoft.com/office/officeart/2008/layout/LinedList"/>
    <dgm:cxn modelId="{34ED1901-5F6F-4139-BF25-D4699B8DB39E}" type="presParOf" srcId="{54001014-68F0-4C3D-A35D-FB741CD499C3}" destId="{AE54E2C7-D993-440B-89C0-8A25A8C6354B}" srcOrd="0" destOrd="0" presId="urn:microsoft.com/office/officeart/2008/layout/LinedList"/>
    <dgm:cxn modelId="{92AF1DF1-8BA1-4124-90AF-39A88852A3D4}" type="presParOf" srcId="{54001014-68F0-4C3D-A35D-FB741CD499C3}" destId="{640D9726-0E5A-41EC-9669-5B68B054A3F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6CA87E-8CB2-46A7-B23B-DD4C921BCF57}">
      <dsp:nvSpPr>
        <dsp:cNvPr id="0" name=""/>
        <dsp:cNvSpPr/>
      </dsp:nvSpPr>
      <dsp:spPr>
        <a:xfrm>
          <a:off x="0" y="0"/>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7021FA-1C5A-4449-81C0-EB09238DF748}">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#3. Explain the epidemiology, etiology, pathophysiology, clinical presentation, diagnostic findings, and treatment of Diseases of the Stomach and Duodenum including:</a:t>
          </a:r>
        </a:p>
      </dsp:txBody>
      <dsp:txXfrm>
        <a:off x="0" y="0"/>
        <a:ext cx="6900512" cy="1384035"/>
      </dsp:txXfrm>
    </dsp:sp>
    <dsp:sp modelId="{861486FD-E291-4464-AEBD-2535E63BB2E9}">
      <dsp:nvSpPr>
        <dsp:cNvPr id="0" name=""/>
        <dsp:cNvSpPr/>
      </dsp:nvSpPr>
      <dsp:spPr>
        <a:xfrm>
          <a:off x="0" y="1384035"/>
          <a:ext cx="6900512" cy="0"/>
        </a:xfrm>
        <a:prstGeom prst="line">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6B8F7D-95E4-4E0F-993B-87E7CF23975E}">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dirty="0">
              <a:solidFill>
                <a:srgbClr val="FF0000"/>
              </a:solidFill>
            </a:rPr>
            <a:t>Gastritis, Gastroparesis, Peptic ulcer disease, Pyloric stenosis, Gastrointestinal Bleeding</a:t>
          </a:r>
          <a:endParaRPr lang="en-US" sz="2200" kern="1200" dirty="0">
            <a:solidFill>
              <a:srgbClr val="FF0000"/>
            </a:solidFill>
          </a:endParaRPr>
        </a:p>
      </dsp:txBody>
      <dsp:txXfrm>
        <a:off x="0" y="1384035"/>
        <a:ext cx="6900512" cy="1384035"/>
      </dsp:txXfrm>
    </dsp:sp>
    <dsp:sp modelId="{32722345-C8AB-4D27-89D9-1C2EF0581BDE}">
      <dsp:nvSpPr>
        <dsp:cNvPr id="0" name=""/>
        <dsp:cNvSpPr/>
      </dsp:nvSpPr>
      <dsp:spPr>
        <a:xfrm>
          <a:off x="0" y="2768070"/>
          <a:ext cx="6900512" cy="0"/>
        </a:xfrm>
        <a:prstGeom prst="line">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E8368C-24E6-44B2-AD11-61F0D1F858A6}">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#4. Explain the epidemiology, etiology, pathophysiology, clinical presentation, diagnostic findings, and treatment of Diseases of the Small Intestine including:</a:t>
          </a:r>
        </a:p>
      </dsp:txBody>
      <dsp:txXfrm>
        <a:off x="0" y="2768070"/>
        <a:ext cx="6900512" cy="1384035"/>
      </dsp:txXfrm>
    </dsp:sp>
    <dsp:sp modelId="{EBFBE548-6038-4DBA-B1CB-580BC60C0710}">
      <dsp:nvSpPr>
        <dsp:cNvPr id="0" name=""/>
        <dsp:cNvSpPr/>
      </dsp:nvSpPr>
      <dsp:spPr>
        <a:xfrm>
          <a:off x="0" y="4152105"/>
          <a:ext cx="6900512"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54E2C7-D993-440B-89C0-8A25A8C6354B}">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1" kern="1200" dirty="0">
              <a:solidFill>
                <a:srgbClr val="FF0000"/>
              </a:solidFill>
            </a:rPr>
            <a:t>Appendicitis, Celiac disease, Intussusception, Obstruction, Polyps</a:t>
          </a:r>
          <a:endParaRPr lang="en-US" sz="2200" kern="1200" dirty="0">
            <a:solidFill>
              <a:srgbClr val="FF0000"/>
            </a:solidFill>
          </a:endParaRPr>
        </a:p>
      </dsp:txBody>
      <dsp:txXfrm>
        <a:off x="0" y="4152105"/>
        <a:ext cx="6900512" cy="13840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044960-8162-406D-B524-CAB2DE6999BA}"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F603C7-9193-4C5D-859C-0B16BAE55013}" type="slidenum">
              <a:rPr lang="en-US" smtClean="0"/>
              <a:t>‹#›</a:t>
            </a:fld>
            <a:endParaRPr lang="en-US"/>
          </a:p>
        </p:txBody>
      </p:sp>
    </p:spTree>
    <p:extLst>
      <p:ext uri="{BB962C8B-B14F-4D97-AF65-F5344CB8AC3E}">
        <p14:creationId xmlns:p14="http://schemas.microsoft.com/office/powerpoint/2010/main" val="3275630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pubmed.ncbi.nlm.nih.gov/40520897"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gi.org/journals-publications/ebgi/schoenfeld_sep2024/"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nejm.org/doi/full/10.1056/NEJMra2020927"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jamanetwork.com/journals/jama/fullarticle/10.1001/jama.2024.19094?utm_source=openevidence&amp;utm_medium=referral"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www.nejm.org/doi/full/10.1056/NEJMcp1603455" TargetMode="External"/><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onlinelibrary.wiley.com/doi/10.1111/apt.17949" TargetMode="External"/><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onlinelibrary.wiley.com/doi/10.1111/apt.17859" TargetMode="External"/><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s://www.google.com/url?sa=i&amp;source=web&amp;rct=j&amp;url=https://www.mdcalc.com/calc/617/alvarado-score-acute-appendicitis&amp;ved=2ahUKEwjIwJb37PKVAxW45MkDHSApCI0Qy_kOegoIAggACAAICBAF&amp;opi=89978449&amp;cd&amp;psig=AOvVaw3dn-Y7-IP_Lbqn-E9Te2X6&amp;ust=1785241488286000" TargetMode="External"/><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2</a:t>
            </a:fld>
            <a:endParaRPr lang="en-US"/>
          </a:p>
        </p:txBody>
      </p:sp>
    </p:spTree>
    <p:extLst>
      <p:ext uri="{BB962C8B-B14F-4D97-AF65-F5344CB8AC3E}">
        <p14:creationId xmlns:p14="http://schemas.microsoft.com/office/powerpoint/2010/main" val="3325728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8A9DDEF2-A90D-42B9-A327-D04790AD2C52}"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39851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6</a:t>
            </a:fld>
            <a:endParaRPr lang="en-US"/>
          </a:p>
        </p:txBody>
      </p:sp>
    </p:spTree>
    <p:extLst>
      <p:ext uri="{BB962C8B-B14F-4D97-AF65-F5344CB8AC3E}">
        <p14:creationId xmlns:p14="http://schemas.microsoft.com/office/powerpoint/2010/main" val="816157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7</a:t>
            </a:fld>
            <a:endParaRPr lang="en-US"/>
          </a:p>
        </p:txBody>
      </p:sp>
    </p:spTree>
    <p:extLst>
      <p:ext uri="{BB962C8B-B14F-4D97-AF65-F5344CB8AC3E}">
        <p14:creationId xmlns:p14="http://schemas.microsoft.com/office/powerpoint/2010/main" val="240634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9</a:t>
            </a:fld>
            <a:endParaRPr lang="en-US"/>
          </a:p>
        </p:txBody>
      </p:sp>
    </p:spTree>
    <p:extLst>
      <p:ext uri="{BB962C8B-B14F-4D97-AF65-F5344CB8AC3E}">
        <p14:creationId xmlns:p14="http://schemas.microsoft.com/office/powerpoint/2010/main" val="609323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10</a:t>
            </a:fld>
            <a:endParaRPr lang="en-US"/>
          </a:p>
        </p:txBody>
      </p:sp>
    </p:spTree>
    <p:extLst>
      <p:ext uri="{BB962C8B-B14F-4D97-AF65-F5344CB8AC3E}">
        <p14:creationId xmlns:p14="http://schemas.microsoft.com/office/powerpoint/2010/main" val="808151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12</a:t>
            </a:fld>
            <a:endParaRPr lang="en-US"/>
          </a:p>
        </p:txBody>
      </p:sp>
    </p:spTree>
    <p:extLst>
      <p:ext uri="{BB962C8B-B14F-4D97-AF65-F5344CB8AC3E}">
        <p14:creationId xmlns:p14="http://schemas.microsoft.com/office/powerpoint/2010/main" val="1978154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13</a:t>
            </a:fld>
            <a:endParaRPr lang="en-US"/>
          </a:p>
        </p:txBody>
      </p:sp>
    </p:spTree>
    <p:extLst>
      <p:ext uri="{BB962C8B-B14F-4D97-AF65-F5344CB8AC3E}">
        <p14:creationId xmlns:p14="http://schemas.microsoft.com/office/powerpoint/2010/main" val="22102665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14</a:t>
            </a:fld>
            <a:endParaRPr lang="en-US"/>
          </a:p>
        </p:txBody>
      </p:sp>
    </p:spTree>
    <p:extLst>
      <p:ext uri="{BB962C8B-B14F-4D97-AF65-F5344CB8AC3E}">
        <p14:creationId xmlns:p14="http://schemas.microsoft.com/office/powerpoint/2010/main" val="28593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15</a:t>
            </a:fld>
            <a:endParaRPr lang="en-US"/>
          </a:p>
        </p:txBody>
      </p:sp>
    </p:spTree>
    <p:extLst>
      <p:ext uri="{BB962C8B-B14F-4D97-AF65-F5344CB8AC3E}">
        <p14:creationId xmlns:p14="http://schemas.microsoft.com/office/powerpoint/2010/main" val="327478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r>
              <a:rPr lang="en-US" u="sng" dirty="0">
                <a:hlinkClick r:id="rId3"/>
              </a:rPr>
              <a:t>Global, Regional, and National Burden of Gastritis and Duodenitis From 1990 to 2021 With Projections to 2050: A Systematic Analysis of the Global Burden of Disease Study 2021.</a:t>
            </a:r>
            <a:endParaRPr lang="en-US" dirty="0"/>
          </a:p>
          <a:p>
            <a:r>
              <a:rPr lang="en-US" dirty="0"/>
              <a:t>International Journal of Medical Sciences. 2025. Wang L, Jiang W, Li H.</a:t>
            </a:r>
          </a:p>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21</a:t>
            </a:fld>
            <a:endParaRPr lang="en-US"/>
          </a:p>
        </p:txBody>
      </p:sp>
    </p:spTree>
    <p:extLst>
      <p:ext uri="{BB962C8B-B14F-4D97-AF65-F5344CB8AC3E}">
        <p14:creationId xmlns:p14="http://schemas.microsoft.com/office/powerpoint/2010/main" val="3357016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22</a:t>
            </a:fld>
            <a:endParaRPr lang="en-US"/>
          </a:p>
        </p:txBody>
      </p:sp>
    </p:spTree>
    <p:extLst>
      <p:ext uri="{BB962C8B-B14F-4D97-AF65-F5344CB8AC3E}">
        <p14:creationId xmlns:p14="http://schemas.microsoft.com/office/powerpoint/2010/main" val="2582854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23</a:t>
            </a:fld>
            <a:endParaRPr lang="en-US"/>
          </a:p>
        </p:txBody>
      </p:sp>
    </p:spTree>
    <p:extLst>
      <p:ext uri="{BB962C8B-B14F-4D97-AF65-F5344CB8AC3E}">
        <p14:creationId xmlns:p14="http://schemas.microsoft.com/office/powerpoint/2010/main" val="9069504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105DA-0421-C1CC-B2AB-5E63FE4D5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5D3AEF-D86D-B9AF-A637-6D3534D071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9C41E-9889-4143-7980-09DA19A1A7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7DFF6A-DFC2-8F1E-E514-413C09142D2C}"/>
              </a:ext>
            </a:extLst>
          </p:cNvPr>
          <p:cNvSpPr>
            <a:spLocks noGrp="1"/>
          </p:cNvSpPr>
          <p:nvPr>
            <p:ph type="sldNum" sz="quarter" idx="5"/>
          </p:nvPr>
        </p:nvSpPr>
        <p:spPr/>
        <p:txBody>
          <a:bodyPr/>
          <a:lstStyle/>
          <a:p>
            <a:fld id="{C0F603C7-9193-4C5D-859C-0B16BAE55013}" type="slidenum">
              <a:rPr lang="en-US" smtClean="0"/>
              <a:t>24</a:t>
            </a:fld>
            <a:endParaRPr lang="en-US"/>
          </a:p>
        </p:txBody>
      </p:sp>
    </p:spTree>
    <p:extLst>
      <p:ext uri="{BB962C8B-B14F-4D97-AF65-F5344CB8AC3E}">
        <p14:creationId xmlns:p14="http://schemas.microsoft.com/office/powerpoint/2010/main" val="1750098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B1FAD-CDED-85DC-63A9-BE83DE0CD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F835D-33C4-0E52-BFF4-AED17523A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4DEAF-01D3-3C37-4536-044AABB329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3A7ADD-3552-F37B-55A3-0D48C25E2A2E}"/>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8386664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Vitamin B12 deficiency symptoms commonly include </a:t>
            </a:r>
            <a:r>
              <a:rPr lang="en-US" dirty="0"/>
              <a:t>extreme fatigue, numbness or tingling in the hands and feet, and a sore, red tongue. </a:t>
            </a:r>
          </a:p>
        </p:txBody>
      </p:sp>
      <p:sp>
        <p:nvSpPr>
          <p:cNvPr id="4" name="Slide Number Placeholder 3"/>
          <p:cNvSpPr>
            <a:spLocks noGrp="1"/>
          </p:cNvSpPr>
          <p:nvPr>
            <p:ph type="sldNum" sz="quarter" idx="5"/>
          </p:nvPr>
        </p:nvSpPr>
        <p:spPr/>
        <p:txBody>
          <a:bodyPr/>
          <a:lstStyle/>
          <a:p>
            <a:fld id="{C0F603C7-9193-4C5D-859C-0B16BAE55013}" type="slidenum">
              <a:rPr lang="en-US" smtClean="0"/>
              <a:t>27</a:t>
            </a:fld>
            <a:endParaRPr lang="en-US"/>
          </a:p>
        </p:txBody>
      </p:sp>
    </p:spTree>
    <p:extLst>
      <p:ext uri="{BB962C8B-B14F-4D97-AF65-F5344CB8AC3E}">
        <p14:creationId xmlns:p14="http://schemas.microsoft.com/office/powerpoint/2010/main" val="10740381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28</a:t>
            </a:fld>
            <a:endParaRPr lang="en-US"/>
          </a:p>
        </p:txBody>
      </p:sp>
    </p:spTree>
    <p:extLst>
      <p:ext uri="{BB962C8B-B14F-4D97-AF65-F5344CB8AC3E}">
        <p14:creationId xmlns:p14="http://schemas.microsoft.com/office/powerpoint/2010/main" val="13254446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29</a:t>
            </a:fld>
            <a:endParaRPr lang="en-US"/>
          </a:p>
        </p:txBody>
      </p:sp>
    </p:spTree>
    <p:extLst>
      <p:ext uri="{BB962C8B-B14F-4D97-AF65-F5344CB8AC3E}">
        <p14:creationId xmlns:p14="http://schemas.microsoft.com/office/powerpoint/2010/main" val="2693618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30</a:t>
            </a:fld>
            <a:endParaRPr lang="en-US"/>
          </a:p>
        </p:txBody>
      </p:sp>
    </p:spTree>
    <p:extLst>
      <p:ext uri="{BB962C8B-B14F-4D97-AF65-F5344CB8AC3E}">
        <p14:creationId xmlns:p14="http://schemas.microsoft.com/office/powerpoint/2010/main" val="38378199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31</a:t>
            </a:fld>
            <a:endParaRPr lang="en-US"/>
          </a:p>
        </p:txBody>
      </p:sp>
    </p:spTree>
    <p:extLst>
      <p:ext uri="{BB962C8B-B14F-4D97-AF65-F5344CB8AC3E}">
        <p14:creationId xmlns:p14="http://schemas.microsoft.com/office/powerpoint/2010/main" val="2735669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ACG Guideline on Treatment of Helicobacter pylori: New Recommendations… Will Practice Change? - American College of Gastroenterology</a:t>
            </a:r>
            <a:endParaRPr lang="en-US" dirty="0"/>
          </a:p>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32</a:t>
            </a:fld>
            <a:endParaRPr lang="en-US"/>
          </a:p>
        </p:txBody>
      </p:sp>
    </p:spTree>
    <p:extLst>
      <p:ext uri="{BB962C8B-B14F-4D97-AF65-F5344CB8AC3E}">
        <p14:creationId xmlns:p14="http://schemas.microsoft.com/office/powerpoint/2010/main" val="42453433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5"/>
          </p:nvPr>
        </p:nvSpPr>
        <p:spPr/>
        <p:txBody>
          <a:bodyPr/>
          <a:lstStyle/>
          <a:p>
            <a:fld id="{C0F603C7-9193-4C5D-859C-0B16BAE55013}" type="slidenum">
              <a:rPr lang="en-US" smtClean="0"/>
              <a:t>33</a:t>
            </a:fld>
            <a:endParaRPr lang="en-US"/>
          </a:p>
        </p:txBody>
      </p:sp>
    </p:spTree>
    <p:extLst>
      <p:ext uri="{BB962C8B-B14F-4D97-AF65-F5344CB8AC3E}">
        <p14:creationId xmlns:p14="http://schemas.microsoft.com/office/powerpoint/2010/main" val="5107977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34</a:t>
            </a:fld>
            <a:endParaRPr lang="en-US"/>
          </a:p>
        </p:txBody>
      </p:sp>
    </p:spTree>
    <p:extLst>
      <p:ext uri="{BB962C8B-B14F-4D97-AF65-F5344CB8AC3E}">
        <p14:creationId xmlns:p14="http://schemas.microsoft.com/office/powerpoint/2010/main" val="28751558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Dyspepsia</a:t>
            </a:r>
            <a:r>
              <a:rPr lang="en-US" dirty="0"/>
              <a:t>: Upper abdominal pain or a burning feeling after eating</a:t>
            </a:r>
          </a:p>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35</a:t>
            </a:fld>
            <a:endParaRPr lang="en-US"/>
          </a:p>
        </p:txBody>
      </p:sp>
    </p:spTree>
    <p:extLst>
      <p:ext uri="{BB962C8B-B14F-4D97-AF65-F5344CB8AC3E}">
        <p14:creationId xmlns:p14="http://schemas.microsoft.com/office/powerpoint/2010/main" val="15388017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37</a:t>
            </a:fld>
            <a:endParaRPr lang="en-US"/>
          </a:p>
        </p:txBody>
      </p:sp>
    </p:spTree>
    <p:extLst>
      <p:ext uri="{BB962C8B-B14F-4D97-AF65-F5344CB8AC3E}">
        <p14:creationId xmlns:p14="http://schemas.microsoft.com/office/powerpoint/2010/main" val="10228279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going on??</a:t>
            </a:r>
          </a:p>
        </p:txBody>
      </p:sp>
      <p:sp>
        <p:nvSpPr>
          <p:cNvPr id="4" name="Slide Number Placeholder 3"/>
          <p:cNvSpPr>
            <a:spLocks noGrp="1"/>
          </p:cNvSpPr>
          <p:nvPr>
            <p:ph type="sldNum" sz="quarter" idx="5"/>
          </p:nvPr>
        </p:nvSpPr>
        <p:spPr/>
        <p:txBody>
          <a:bodyPr/>
          <a:lstStyle/>
          <a:p>
            <a:fld id="{C0F603C7-9193-4C5D-859C-0B16BAE55013}" type="slidenum">
              <a:rPr lang="en-US" smtClean="0"/>
              <a:t>38</a:t>
            </a:fld>
            <a:endParaRPr lang="en-US"/>
          </a:p>
        </p:txBody>
      </p:sp>
    </p:spTree>
    <p:extLst>
      <p:ext uri="{BB962C8B-B14F-4D97-AF65-F5344CB8AC3E}">
        <p14:creationId xmlns:p14="http://schemas.microsoft.com/office/powerpoint/2010/main" val="30555923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sng" kern="1200" dirty="0">
                <a:solidFill>
                  <a:schemeClr val="tx1"/>
                </a:solidFill>
                <a:effectLst/>
                <a:latin typeface="+mn-lt"/>
                <a:ea typeface="+mn-ea"/>
                <a:cs typeface="+mn-cs"/>
                <a:hlinkClick r:id="rId3"/>
              </a:rPr>
              <a:t>Gastric Emptying Abnormalities in Diabetes Mellitus.</a:t>
            </a:r>
            <a:r>
              <a:rPr lang="en-US" sz="1200" b="0" i="0" kern="1200" dirty="0">
                <a:solidFill>
                  <a:schemeClr val="tx1"/>
                </a:solidFill>
                <a:effectLst/>
                <a:latin typeface="+mn-lt"/>
                <a:ea typeface="+mn-ea"/>
                <a:cs typeface="+mn-cs"/>
              </a:rPr>
              <a:t> N Engl J Med. May 5, 2021.</a:t>
            </a:r>
          </a:p>
          <a:p>
            <a:r>
              <a:rPr lang="en-US" sz="1200" b="0" i="0" kern="1200" dirty="0">
                <a:solidFill>
                  <a:schemeClr val="tx1"/>
                </a:solidFill>
                <a:effectLst/>
                <a:latin typeface="+mn-lt"/>
                <a:ea typeface="+mn-ea"/>
                <a:cs typeface="+mn-cs"/>
              </a:rPr>
              <a:t>Used under license from The New England Journal of Medicine.</a:t>
            </a:r>
          </a:p>
          <a:p>
            <a:r>
              <a:rPr lang="en-US" dirty="0"/>
              <a:t>Get a better pic</a:t>
            </a:r>
          </a:p>
        </p:txBody>
      </p:sp>
      <p:sp>
        <p:nvSpPr>
          <p:cNvPr id="4" name="Slide Number Placeholder 3"/>
          <p:cNvSpPr>
            <a:spLocks noGrp="1"/>
          </p:cNvSpPr>
          <p:nvPr>
            <p:ph type="sldNum" sz="quarter" idx="5"/>
          </p:nvPr>
        </p:nvSpPr>
        <p:spPr/>
        <p:txBody>
          <a:bodyPr/>
          <a:lstStyle/>
          <a:p>
            <a:fld id="{C0F603C7-9193-4C5D-859C-0B16BAE55013}" type="slidenum">
              <a:rPr lang="en-US" smtClean="0"/>
              <a:t>39</a:t>
            </a:fld>
            <a:endParaRPr lang="en-US"/>
          </a:p>
        </p:txBody>
      </p:sp>
    </p:spTree>
    <p:extLst>
      <p:ext uri="{BB962C8B-B14F-4D97-AF65-F5344CB8AC3E}">
        <p14:creationId xmlns:p14="http://schemas.microsoft.com/office/powerpoint/2010/main" val="5221943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**Main pathophysiological mechanisms associated with diabetic gastroparesis development. AGE—advanced glycation end-product </a:t>
            </a:r>
          </a:p>
          <a:p>
            <a:r>
              <a:rPr lang="en-US" sz="1200" b="0" i="0" kern="1200" dirty="0" err="1">
                <a:solidFill>
                  <a:schemeClr val="tx1"/>
                </a:solidFill>
                <a:effectLst/>
                <a:latin typeface="+mn-lt"/>
                <a:ea typeface="+mn-ea"/>
                <a:cs typeface="+mn-cs"/>
              </a:rPr>
              <a:t>nNOS</a:t>
            </a:r>
            <a:r>
              <a:rPr lang="en-US" sz="1200" b="0" i="0" kern="1200" dirty="0">
                <a:solidFill>
                  <a:schemeClr val="tx1"/>
                </a:solidFill>
                <a:effectLst/>
                <a:latin typeface="+mn-lt"/>
                <a:ea typeface="+mn-ea"/>
                <a:cs typeface="+mn-cs"/>
              </a:rPr>
              <a:t>: Neuronal Nitric Oxidase: </a:t>
            </a:r>
            <a:r>
              <a:rPr lang="en-US" sz="1200" b="0" u="none" strike="noStrike" kern="1200" dirty="0">
                <a:solidFill>
                  <a:schemeClr val="tx1"/>
                </a:solidFill>
                <a:effectLst/>
                <a:latin typeface="+mn-lt"/>
                <a:ea typeface="+mn-ea"/>
                <a:cs typeface="+mn-cs"/>
              </a:rPr>
              <a:t>an enzyme that synthesizes nitric oxide (NO) </a:t>
            </a:r>
            <a:r>
              <a:rPr lang="en-US" dirty="0"/>
              <a:t>regulates neurotransmission, synaptic plasticity, learning, and memory. It also regulates blood pressure, </a:t>
            </a:r>
            <a:r>
              <a:rPr lang="en-US" b="1" dirty="0"/>
              <a:t>muscle contractility,</a:t>
            </a:r>
            <a:r>
              <a:rPr lang="en-US" dirty="0"/>
              <a:t> and cardiovascular homeostasis</a:t>
            </a:r>
          </a:p>
        </p:txBody>
      </p:sp>
      <p:sp>
        <p:nvSpPr>
          <p:cNvPr id="4" name="Slide Number Placeholder 3"/>
          <p:cNvSpPr>
            <a:spLocks noGrp="1"/>
          </p:cNvSpPr>
          <p:nvPr>
            <p:ph type="sldNum" sz="quarter" idx="5"/>
          </p:nvPr>
        </p:nvSpPr>
        <p:spPr/>
        <p:txBody>
          <a:bodyPr/>
          <a:lstStyle/>
          <a:p>
            <a:fld id="{C0F603C7-9193-4C5D-859C-0B16BAE55013}" type="slidenum">
              <a:rPr lang="en-US" smtClean="0"/>
              <a:t>40</a:t>
            </a:fld>
            <a:endParaRPr lang="en-US"/>
          </a:p>
        </p:txBody>
      </p:sp>
    </p:spTree>
    <p:extLst>
      <p:ext uri="{BB962C8B-B14F-4D97-AF65-F5344CB8AC3E}">
        <p14:creationId xmlns:p14="http://schemas.microsoft.com/office/powerpoint/2010/main" val="11148819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41</a:t>
            </a:fld>
            <a:endParaRPr lang="en-US"/>
          </a:p>
        </p:txBody>
      </p:sp>
    </p:spTree>
    <p:extLst>
      <p:ext uri="{BB962C8B-B14F-4D97-AF65-F5344CB8AC3E}">
        <p14:creationId xmlns:p14="http://schemas.microsoft.com/office/powerpoint/2010/main" val="39539410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43</a:t>
            </a:fld>
            <a:endParaRPr lang="en-US"/>
          </a:p>
        </p:txBody>
      </p:sp>
    </p:spTree>
    <p:extLst>
      <p:ext uri="{BB962C8B-B14F-4D97-AF65-F5344CB8AC3E}">
        <p14:creationId xmlns:p14="http://schemas.microsoft.com/office/powerpoint/2010/main" val="22577798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**Motilin agonist: stimulate gut muscle contractions, accelerate stomach emptying</a:t>
            </a:r>
          </a:p>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44</a:t>
            </a:fld>
            <a:endParaRPr lang="en-US"/>
          </a:p>
        </p:txBody>
      </p:sp>
    </p:spTree>
    <p:extLst>
      <p:ext uri="{BB962C8B-B14F-4D97-AF65-F5344CB8AC3E}">
        <p14:creationId xmlns:p14="http://schemas.microsoft.com/office/powerpoint/2010/main" val="21540048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45</a:t>
            </a:fld>
            <a:endParaRPr lang="en-US"/>
          </a:p>
        </p:txBody>
      </p:sp>
    </p:spTree>
    <p:extLst>
      <p:ext uri="{BB962C8B-B14F-4D97-AF65-F5344CB8AC3E}">
        <p14:creationId xmlns:p14="http://schemas.microsoft.com/office/powerpoint/2010/main" val="7806572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46</a:t>
            </a:fld>
            <a:endParaRPr lang="en-US"/>
          </a:p>
        </p:txBody>
      </p:sp>
    </p:spTree>
    <p:extLst>
      <p:ext uri="{BB962C8B-B14F-4D97-AF65-F5344CB8AC3E}">
        <p14:creationId xmlns:p14="http://schemas.microsoft.com/office/powerpoint/2010/main" val="21201601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47</a:t>
            </a:fld>
            <a:endParaRPr lang="en-US"/>
          </a:p>
        </p:txBody>
      </p:sp>
    </p:spTree>
    <p:extLst>
      <p:ext uri="{BB962C8B-B14F-4D97-AF65-F5344CB8AC3E}">
        <p14:creationId xmlns:p14="http://schemas.microsoft.com/office/powerpoint/2010/main" val="6010175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49</a:t>
            </a:fld>
            <a:endParaRPr lang="en-US"/>
          </a:p>
        </p:txBody>
      </p:sp>
    </p:spTree>
    <p:extLst>
      <p:ext uri="{BB962C8B-B14F-4D97-AF65-F5344CB8AC3E}">
        <p14:creationId xmlns:p14="http://schemas.microsoft.com/office/powerpoint/2010/main" val="23167167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sng" kern="1200" dirty="0">
                <a:solidFill>
                  <a:schemeClr val="tx1"/>
                </a:solidFill>
                <a:effectLst/>
                <a:latin typeface="+mn-lt"/>
                <a:ea typeface="+mn-ea"/>
                <a:cs typeface="+mn-cs"/>
                <a:hlinkClick r:id="rId3"/>
              </a:rPr>
              <a:t>Peptic Ulcer Disease: A Review.</a:t>
            </a:r>
            <a:r>
              <a:rPr lang="en-US" sz="1200" b="0" i="0" kern="1200" dirty="0">
                <a:solidFill>
                  <a:schemeClr val="tx1"/>
                </a:solidFill>
                <a:effectLst/>
                <a:latin typeface="+mn-lt"/>
                <a:ea typeface="+mn-ea"/>
                <a:cs typeface="+mn-cs"/>
              </a:rPr>
              <a:t> JAMA. December 2, 2024.</a:t>
            </a:r>
          </a:p>
          <a:p>
            <a:r>
              <a:rPr lang="en-US" sz="1200" b="0" i="0" kern="1200" dirty="0">
                <a:solidFill>
                  <a:schemeClr val="tx1"/>
                </a:solidFill>
                <a:effectLst/>
                <a:latin typeface="+mn-lt"/>
                <a:ea typeface="+mn-ea"/>
                <a:cs typeface="+mn-cs"/>
              </a:rPr>
              <a:t>Content used under license from the JAMA Network® © American Medical Association</a:t>
            </a:r>
          </a:p>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51</a:t>
            </a:fld>
            <a:endParaRPr lang="en-US"/>
          </a:p>
        </p:txBody>
      </p:sp>
    </p:spTree>
    <p:extLst>
      <p:ext uri="{BB962C8B-B14F-4D97-AF65-F5344CB8AC3E}">
        <p14:creationId xmlns:p14="http://schemas.microsoft.com/office/powerpoint/2010/main" val="2007189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52</a:t>
            </a:fld>
            <a:endParaRPr lang="en-US"/>
          </a:p>
        </p:txBody>
      </p:sp>
    </p:spTree>
    <p:extLst>
      <p:ext uri="{BB962C8B-B14F-4D97-AF65-F5344CB8AC3E}">
        <p14:creationId xmlns:p14="http://schemas.microsoft.com/office/powerpoint/2010/main" val="32941740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53</a:t>
            </a:fld>
            <a:endParaRPr lang="en-US"/>
          </a:p>
        </p:txBody>
      </p:sp>
    </p:spTree>
    <p:extLst>
      <p:ext uri="{BB962C8B-B14F-4D97-AF65-F5344CB8AC3E}">
        <p14:creationId xmlns:p14="http://schemas.microsoft.com/office/powerpoint/2010/main" val="20969594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54</a:t>
            </a:fld>
            <a:endParaRPr lang="en-US"/>
          </a:p>
        </p:txBody>
      </p:sp>
    </p:spTree>
    <p:extLst>
      <p:ext uri="{BB962C8B-B14F-4D97-AF65-F5344CB8AC3E}">
        <p14:creationId xmlns:p14="http://schemas.microsoft.com/office/powerpoint/2010/main" val="33569276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59</a:t>
            </a:fld>
            <a:endParaRPr lang="en-US"/>
          </a:p>
        </p:txBody>
      </p:sp>
    </p:spTree>
    <p:extLst>
      <p:ext uri="{BB962C8B-B14F-4D97-AF65-F5344CB8AC3E}">
        <p14:creationId xmlns:p14="http://schemas.microsoft.com/office/powerpoint/2010/main" val="26680381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60</a:t>
            </a:fld>
            <a:endParaRPr lang="en-US"/>
          </a:p>
        </p:txBody>
      </p:sp>
    </p:spTree>
    <p:extLst>
      <p:ext uri="{BB962C8B-B14F-4D97-AF65-F5344CB8AC3E}">
        <p14:creationId xmlns:p14="http://schemas.microsoft.com/office/powerpoint/2010/main" val="36402573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61</a:t>
            </a:fld>
            <a:endParaRPr lang="en-US"/>
          </a:p>
        </p:txBody>
      </p:sp>
    </p:spTree>
    <p:extLst>
      <p:ext uri="{BB962C8B-B14F-4D97-AF65-F5344CB8AC3E}">
        <p14:creationId xmlns:p14="http://schemas.microsoft.com/office/powerpoint/2010/main" val="6772119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65</a:t>
            </a:fld>
            <a:endParaRPr lang="en-US"/>
          </a:p>
        </p:txBody>
      </p:sp>
    </p:spTree>
    <p:extLst>
      <p:ext uri="{BB962C8B-B14F-4D97-AF65-F5344CB8AC3E}">
        <p14:creationId xmlns:p14="http://schemas.microsoft.com/office/powerpoint/2010/main" val="18322164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67</a:t>
            </a:fld>
            <a:endParaRPr lang="en-US"/>
          </a:p>
        </p:txBody>
      </p:sp>
    </p:spTree>
    <p:extLst>
      <p:ext uri="{BB962C8B-B14F-4D97-AF65-F5344CB8AC3E}">
        <p14:creationId xmlns:p14="http://schemas.microsoft.com/office/powerpoint/2010/main" val="16552319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69</a:t>
            </a:fld>
            <a:endParaRPr lang="en-US"/>
          </a:p>
        </p:txBody>
      </p:sp>
    </p:spTree>
    <p:extLst>
      <p:ext uri="{BB962C8B-B14F-4D97-AF65-F5344CB8AC3E}">
        <p14:creationId xmlns:p14="http://schemas.microsoft.com/office/powerpoint/2010/main" val="13090759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C0F603C7-9193-4C5D-859C-0B16BAE55013}" type="slidenum">
              <a:rPr lang="en-US" smtClean="0"/>
              <a:t>71</a:t>
            </a:fld>
            <a:endParaRPr lang="en-US"/>
          </a:p>
        </p:txBody>
      </p:sp>
    </p:spTree>
    <p:extLst>
      <p:ext uri="{BB962C8B-B14F-4D97-AF65-F5344CB8AC3E}">
        <p14:creationId xmlns:p14="http://schemas.microsoft.com/office/powerpoint/2010/main" val="35749837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8C78-358F-DE47-F5F7-63EBA05A0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7C808-C8F5-777E-CDB9-4CDBC21DB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A3983-1B99-1E6B-4A4D-0B7EE63AFA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02D61E-C4BD-5728-98A2-5448D840935E}"/>
              </a:ext>
            </a:extLst>
          </p:cNvPr>
          <p:cNvSpPr>
            <a:spLocks noGrp="1"/>
          </p:cNvSpPr>
          <p:nvPr>
            <p:ph type="sldNum" sz="quarter" idx="5"/>
          </p:nvPr>
        </p:nvSpPr>
        <p:spPr/>
        <p:txBody>
          <a:bodyPr/>
          <a:lstStyle/>
          <a:p>
            <a:fld id="{C0F603C7-9193-4C5D-859C-0B16BAE55013}" type="slidenum">
              <a:rPr lang="en-US" smtClean="0"/>
              <a:t>76</a:t>
            </a:fld>
            <a:endParaRPr lang="en-US"/>
          </a:p>
        </p:txBody>
      </p:sp>
    </p:spTree>
    <p:extLst>
      <p:ext uri="{BB962C8B-B14F-4D97-AF65-F5344CB8AC3E}">
        <p14:creationId xmlns:p14="http://schemas.microsoft.com/office/powerpoint/2010/main" val="15666972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1D130-03C2-63A2-3572-BDBCE73BE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3434-3FE8-C372-5385-E3BCD0B91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96E9D1-A9CC-8D72-78C8-ED0102C7D9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A8A0E2-6CB9-00CB-7386-6B5342A9567D}"/>
              </a:ext>
            </a:extLst>
          </p:cNvPr>
          <p:cNvSpPr>
            <a:spLocks noGrp="1"/>
          </p:cNvSpPr>
          <p:nvPr>
            <p:ph type="sldNum" sz="quarter" idx="5"/>
          </p:nvPr>
        </p:nvSpPr>
        <p:spPr/>
        <p:txBody>
          <a:bodyPr/>
          <a:lstStyle/>
          <a:p>
            <a:fld id="{C0F603C7-9193-4C5D-859C-0B16BAE55013}" type="slidenum">
              <a:rPr lang="en-US" smtClean="0"/>
              <a:t>77</a:t>
            </a:fld>
            <a:endParaRPr lang="en-US"/>
          </a:p>
        </p:txBody>
      </p:sp>
    </p:spTree>
    <p:extLst>
      <p:ext uri="{BB962C8B-B14F-4D97-AF65-F5344CB8AC3E}">
        <p14:creationId xmlns:p14="http://schemas.microsoft.com/office/powerpoint/2010/main" val="29002783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80</a:t>
            </a:fld>
            <a:endParaRPr lang="en-US"/>
          </a:p>
        </p:txBody>
      </p:sp>
    </p:spTree>
    <p:extLst>
      <p:ext uri="{BB962C8B-B14F-4D97-AF65-F5344CB8AC3E}">
        <p14:creationId xmlns:p14="http://schemas.microsoft.com/office/powerpoint/2010/main" val="15623687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hlinkClick r:id="rId3"/>
              </a:rPr>
              <a:t>Acute Lower Gastrointestinal Bleeding.</a:t>
            </a:r>
            <a:r>
              <a:rPr lang="en-US" sz="1200" b="0" i="0" kern="1200" dirty="0">
                <a:solidFill>
                  <a:schemeClr val="tx1"/>
                </a:solidFill>
                <a:effectLst/>
                <a:latin typeface="+mn-lt"/>
                <a:ea typeface="+mn-ea"/>
                <a:cs typeface="+mn-cs"/>
              </a:rPr>
              <a:t> N Engl J Med. March 15, 2017.</a:t>
            </a:r>
          </a:p>
          <a:p>
            <a:r>
              <a:rPr lang="en-US" sz="1200" b="0" i="0" kern="1200" dirty="0">
                <a:solidFill>
                  <a:schemeClr val="tx1"/>
                </a:solidFill>
                <a:effectLst/>
                <a:latin typeface="+mn-lt"/>
                <a:ea typeface="+mn-ea"/>
                <a:cs typeface="+mn-cs"/>
              </a:rPr>
              <a:t>Used under license from The New England Journal of Medicine.</a:t>
            </a:r>
          </a:p>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82</a:t>
            </a:fld>
            <a:endParaRPr lang="en-US"/>
          </a:p>
        </p:txBody>
      </p:sp>
    </p:spTree>
    <p:extLst>
      <p:ext uri="{BB962C8B-B14F-4D97-AF65-F5344CB8AC3E}">
        <p14:creationId xmlns:p14="http://schemas.microsoft.com/office/powerpoint/2010/main" val="3754791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Figure 1. </a:t>
            </a:r>
            <a:r>
              <a:rPr lang="en-US" sz="1200" b="0" i="0" kern="1200" dirty="0">
                <a:solidFill>
                  <a:schemeClr val="tx1"/>
                </a:solidFill>
                <a:effectLst/>
                <a:latin typeface="+mn-lt"/>
                <a:ea typeface="+mn-ea"/>
                <a:cs typeface="+mn-cs"/>
              </a:rPr>
              <a:t>Pre‐endoscopic management for patients with acute upper gastrointestinal bleeding.</a:t>
            </a:r>
          </a:p>
          <a:p>
            <a:r>
              <a:rPr lang="en-US" sz="1200" b="0" i="0" u="none" strike="noStrike" kern="1200" dirty="0">
                <a:solidFill>
                  <a:schemeClr val="tx1"/>
                </a:solidFill>
                <a:effectLst/>
                <a:latin typeface="+mn-lt"/>
                <a:ea typeface="+mn-ea"/>
                <a:cs typeface="+mn-cs"/>
                <a:hlinkClick r:id="rId3"/>
              </a:rPr>
              <a:t>Review article: Upper gastrointestinal bleeding – review of current evidence and implications for management.</a:t>
            </a:r>
            <a:r>
              <a:rPr lang="en-US" sz="1200" b="0" i="0" kern="1200" dirty="0">
                <a:solidFill>
                  <a:schemeClr val="tx1"/>
                </a:solidFill>
                <a:effectLst/>
                <a:latin typeface="+mn-lt"/>
                <a:ea typeface="+mn-ea"/>
                <a:cs typeface="+mn-cs"/>
              </a:rPr>
              <a:t> Aliment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Ther. April 30, 2024</a:t>
            </a:r>
          </a:p>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85</a:t>
            </a:fld>
            <a:endParaRPr lang="en-US"/>
          </a:p>
        </p:txBody>
      </p:sp>
    </p:spTree>
    <p:extLst>
      <p:ext uri="{BB962C8B-B14F-4D97-AF65-F5344CB8AC3E}">
        <p14:creationId xmlns:p14="http://schemas.microsoft.com/office/powerpoint/2010/main" val="11784460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a:t>
            </a:r>
            <a:r>
              <a:rPr lang="en-US" sz="1200" b="1" u="none" strike="noStrike" kern="1200" dirty="0">
                <a:solidFill>
                  <a:schemeClr val="tx1"/>
                </a:solidFill>
                <a:effectLst/>
                <a:latin typeface="+mn-lt"/>
                <a:ea typeface="+mn-ea"/>
                <a:cs typeface="+mn-cs"/>
              </a:rPr>
              <a:t>Endoscopic hemostasis:</a:t>
            </a:r>
            <a:r>
              <a:rPr lang="en-US" dirty="0"/>
              <a:t> Stopping blood leaks inside the body with a small camera tool sent down the throat or rectum</a:t>
            </a:r>
          </a:p>
          <a:p>
            <a:r>
              <a:rPr lang="en-US" dirty="0"/>
              <a:t>Erythromycin is given during upper gastrointestinal (GI) bleeding not for its antibiotic properties, but as a </a:t>
            </a:r>
            <a:r>
              <a:rPr lang="en-US" sz="1200" b="1" u="none" strike="noStrike" kern="1200" dirty="0">
                <a:solidFill>
                  <a:schemeClr val="tx1"/>
                </a:solidFill>
                <a:effectLst/>
                <a:latin typeface="+mn-lt"/>
                <a:ea typeface="+mn-ea"/>
                <a:cs typeface="+mn-cs"/>
              </a:rPr>
              <a:t>prokinetic agent</a:t>
            </a:r>
            <a:r>
              <a:rPr lang="en-US" dirty="0"/>
              <a:t> (to stimulate gut movement) that clears blood and clots from the stomach before an endoscopy-MOTILIN AGONIST</a:t>
            </a:r>
          </a:p>
        </p:txBody>
      </p:sp>
      <p:sp>
        <p:nvSpPr>
          <p:cNvPr id="4" name="Slide Number Placeholder 3"/>
          <p:cNvSpPr>
            <a:spLocks noGrp="1"/>
          </p:cNvSpPr>
          <p:nvPr>
            <p:ph type="sldNum" sz="quarter" idx="5"/>
          </p:nvPr>
        </p:nvSpPr>
        <p:spPr/>
        <p:txBody>
          <a:bodyPr/>
          <a:lstStyle/>
          <a:p>
            <a:fld id="{C0F603C7-9193-4C5D-859C-0B16BAE55013}" type="slidenum">
              <a:rPr lang="en-US" smtClean="0"/>
              <a:t>86</a:t>
            </a:fld>
            <a:endParaRPr lang="en-US"/>
          </a:p>
        </p:txBody>
      </p:sp>
    </p:spTree>
    <p:extLst>
      <p:ext uri="{BB962C8B-B14F-4D97-AF65-F5344CB8AC3E}">
        <p14:creationId xmlns:p14="http://schemas.microsoft.com/office/powerpoint/2010/main" val="29202243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Oakland Score of ≤ 8 (out of a possible 35) identifies patients with acute lower gastrointestinal bleeding who are at low risk for adverse events and are generally safe for outpatient management and discharge</a:t>
            </a:r>
          </a:p>
        </p:txBody>
      </p:sp>
      <p:sp>
        <p:nvSpPr>
          <p:cNvPr id="4" name="Slide Number Placeholder 3"/>
          <p:cNvSpPr>
            <a:spLocks noGrp="1"/>
          </p:cNvSpPr>
          <p:nvPr>
            <p:ph type="sldNum" sz="quarter" idx="5"/>
          </p:nvPr>
        </p:nvSpPr>
        <p:spPr/>
        <p:txBody>
          <a:bodyPr/>
          <a:lstStyle/>
          <a:p>
            <a:fld id="{C0F603C7-9193-4C5D-859C-0B16BAE55013}" type="slidenum">
              <a:rPr lang="en-US" smtClean="0"/>
              <a:t>87</a:t>
            </a:fld>
            <a:endParaRPr lang="en-US"/>
          </a:p>
        </p:txBody>
      </p:sp>
    </p:spTree>
    <p:extLst>
      <p:ext uri="{BB962C8B-B14F-4D97-AF65-F5344CB8AC3E}">
        <p14:creationId xmlns:p14="http://schemas.microsoft.com/office/powerpoint/2010/main" val="25119006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sng" kern="1200" dirty="0">
                <a:solidFill>
                  <a:schemeClr val="tx1"/>
                </a:solidFill>
                <a:effectLst/>
                <a:latin typeface="+mn-lt"/>
                <a:ea typeface="+mn-ea"/>
                <a:cs typeface="+mn-cs"/>
                <a:hlinkClick r:id="rId3"/>
              </a:rPr>
              <a:t>Review article: Advances in the management of lower gastrointestinal bleeding.</a:t>
            </a:r>
            <a:r>
              <a:rPr lang="en-US" sz="1200" b="0" i="0" kern="1200" dirty="0">
                <a:solidFill>
                  <a:schemeClr val="tx1"/>
                </a:solidFill>
                <a:effectLst/>
                <a:latin typeface="+mn-lt"/>
                <a:ea typeface="+mn-ea"/>
                <a:cs typeface="+mn-cs"/>
              </a:rPr>
              <a:t> Aliment </a:t>
            </a:r>
            <a:r>
              <a:rPr lang="en-US" sz="1200" b="0" i="0" kern="1200" dirty="0" err="1">
                <a:solidFill>
                  <a:schemeClr val="tx1"/>
                </a:solidFill>
                <a:effectLst/>
                <a:latin typeface="+mn-lt"/>
                <a:ea typeface="+mn-ea"/>
                <a:cs typeface="+mn-cs"/>
              </a:rPr>
              <a:t>Pharmacol</a:t>
            </a:r>
            <a:r>
              <a:rPr lang="en-US" sz="1200" b="0" i="0" kern="1200" dirty="0">
                <a:solidFill>
                  <a:schemeClr val="tx1"/>
                </a:solidFill>
                <a:effectLst/>
                <a:latin typeface="+mn-lt"/>
                <a:ea typeface="+mn-ea"/>
                <a:cs typeface="+mn-cs"/>
              </a:rPr>
              <a:t> Ther. February 29, 2024.</a:t>
            </a:r>
          </a:p>
          <a:p>
            <a:r>
              <a:rPr lang="en-US" sz="1200" b="0" i="0" kern="1200" dirty="0">
                <a:solidFill>
                  <a:schemeClr val="tx1"/>
                </a:solidFill>
                <a:effectLst/>
                <a:latin typeface="+mn-lt"/>
                <a:ea typeface="+mn-ea"/>
                <a:cs typeface="+mn-cs"/>
              </a:rPr>
              <a:t>Used under license from Wiley.</a:t>
            </a:r>
          </a:p>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88</a:t>
            </a:fld>
            <a:endParaRPr lang="en-US"/>
          </a:p>
        </p:txBody>
      </p:sp>
    </p:spTree>
    <p:extLst>
      <p:ext uri="{BB962C8B-B14F-4D97-AF65-F5344CB8AC3E}">
        <p14:creationId xmlns:p14="http://schemas.microsoft.com/office/powerpoint/2010/main" val="16560015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Glasgow-Blatchford Score (GBS)</a:t>
            </a:r>
            <a:r>
              <a:rPr lang="en-US" dirty="0"/>
              <a:t> (range 0–23): Best validated for predicting need for intervention (transfusion, endoscopy, surgery) or death. A GBS </a:t>
            </a:r>
            <a:r>
              <a:rPr lang="en-US" b="1" dirty="0"/>
              <a:t>≤1</a:t>
            </a:r>
            <a:r>
              <a:rPr lang="en-US" dirty="0"/>
              <a:t> identifies very low-risk patients who may be safely managed as outpatients. A GBS </a:t>
            </a:r>
            <a:r>
              <a:rPr lang="en-US" b="1" dirty="0"/>
              <a:t>≥7</a:t>
            </a:r>
            <a:r>
              <a:rPr lang="en-US" dirty="0"/>
              <a:t> predicts likely need for endoscopic therapy. </a:t>
            </a:r>
          </a:p>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89</a:t>
            </a:fld>
            <a:endParaRPr lang="en-US"/>
          </a:p>
        </p:txBody>
      </p:sp>
    </p:spTree>
    <p:extLst>
      <p:ext uri="{BB962C8B-B14F-4D97-AF65-F5344CB8AC3E}">
        <p14:creationId xmlns:p14="http://schemas.microsoft.com/office/powerpoint/2010/main" val="255184567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033B5-484D-7694-C7E1-F62417C0A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A5D1B-DD0D-FBD9-0804-43A5DD6E9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366E85-89D3-92E3-4EB1-F5A9B9F70A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A8280E-0447-5274-4EDE-DA7894E99837}"/>
              </a:ext>
            </a:extLst>
          </p:cNvPr>
          <p:cNvSpPr>
            <a:spLocks noGrp="1"/>
          </p:cNvSpPr>
          <p:nvPr>
            <p:ph type="sldNum" sz="quarter" idx="5"/>
          </p:nvPr>
        </p:nvSpPr>
        <p:spPr/>
        <p:txBody>
          <a:bodyPr/>
          <a:lstStyle/>
          <a:p>
            <a:fld id="{C0F603C7-9193-4C5D-859C-0B16BAE55013}" type="slidenum">
              <a:rPr lang="en-US" smtClean="0"/>
              <a:t>90</a:t>
            </a:fld>
            <a:endParaRPr lang="en-US"/>
          </a:p>
        </p:txBody>
      </p:sp>
    </p:spTree>
    <p:extLst>
      <p:ext uri="{BB962C8B-B14F-4D97-AF65-F5344CB8AC3E}">
        <p14:creationId xmlns:p14="http://schemas.microsoft.com/office/powerpoint/2010/main" val="38204757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67925-8C25-1878-5B57-8DB85DE41B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13F30-88B2-5B8B-8BA8-38C64303CD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55D7B0-1AE9-99EC-92C0-4EBE8326F7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6154AC-236D-4245-DAFC-D792BB15A926}"/>
              </a:ext>
            </a:extLst>
          </p:cNvPr>
          <p:cNvSpPr>
            <a:spLocks noGrp="1"/>
          </p:cNvSpPr>
          <p:nvPr>
            <p:ph type="sldNum" sz="quarter" idx="5"/>
          </p:nvPr>
        </p:nvSpPr>
        <p:spPr/>
        <p:txBody>
          <a:bodyPr/>
          <a:lstStyle/>
          <a:p>
            <a:fld id="{C0F603C7-9193-4C5D-859C-0B16BAE55013}" type="slidenum">
              <a:rPr lang="en-US" smtClean="0"/>
              <a:t>91</a:t>
            </a:fld>
            <a:endParaRPr lang="en-US"/>
          </a:p>
        </p:txBody>
      </p:sp>
    </p:spTree>
    <p:extLst>
      <p:ext uri="{BB962C8B-B14F-4D97-AF65-F5344CB8AC3E}">
        <p14:creationId xmlns:p14="http://schemas.microsoft.com/office/powerpoint/2010/main" val="33243954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94</a:t>
            </a:fld>
            <a:endParaRPr lang="en-US"/>
          </a:p>
        </p:txBody>
      </p:sp>
    </p:spTree>
    <p:extLst>
      <p:ext uri="{BB962C8B-B14F-4D97-AF65-F5344CB8AC3E}">
        <p14:creationId xmlns:p14="http://schemas.microsoft.com/office/powerpoint/2010/main" val="48879782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C0F603C7-9193-4C5D-859C-0B16BAE55013}" type="slidenum">
              <a:rPr lang="en-US" smtClean="0"/>
              <a:t>95</a:t>
            </a:fld>
            <a:endParaRPr lang="en-US"/>
          </a:p>
        </p:txBody>
      </p:sp>
    </p:spTree>
    <p:extLst>
      <p:ext uri="{BB962C8B-B14F-4D97-AF65-F5344CB8AC3E}">
        <p14:creationId xmlns:p14="http://schemas.microsoft.com/office/powerpoint/2010/main" val="28028564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97</a:t>
            </a:fld>
            <a:endParaRPr lang="en-US"/>
          </a:p>
        </p:txBody>
      </p:sp>
    </p:spTree>
    <p:extLst>
      <p:ext uri="{BB962C8B-B14F-4D97-AF65-F5344CB8AC3E}">
        <p14:creationId xmlns:p14="http://schemas.microsoft.com/office/powerpoint/2010/main" val="21983102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ASIS</a:t>
            </a:r>
            <a:r>
              <a:rPr lang="en-US" sz="1200" kern="1200" dirty="0">
                <a:solidFill>
                  <a:schemeClr val="tx1"/>
                </a:solidFill>
                <a:effectLst/>
                <a:latin typeface="+mn-lt"/>
                <a:ea typeface="+mn-ea"/>
                <a:cs typeface="+mn-cs"/>
              </a:rPr>
              <a:t> stands for the </a:t>
            </a:r>
            <a:r>
              <a:rPr lang="en-US" sz="1200" b="1" kern="1200" dirty="0">
                <a:solidFill>
                  <a:schemeClr val="tx1"/>
                </a:solidFill>
                <a:effectLst/>
                <a:latin typeface="+mn-lt"/>
                <a:ea typeface="+mn-ea"/>
                <a:cs typeface="+mn-cs"/>
              </a:rPr>
              <a:t>Anterior Superior Iliac Spine</a:t>
            </a:r>
            <a:r>
              <a:rPr lang="en-US" sz="1200" kern="1200" dirty="0">
                <a:solidFill>
                  <a:schemeClr val="tx1"/>
                </a:solidFill>
                <a:effectLst/>
                <a:latin typeface="+mn-lt"/>
                <a:ea typeface="+mn-ea"/>
                <a:cs typeface="+mn-cs"/>
              </a:rPr>
              <a:t>.</a:t>
            </a:r>
            <a:r>
              <a:rPr lang="en-US" dirty="0"/>
              <a:t> </a:t>
            </a:r>
          </a:p>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98</a:t>
            </a:fld>
            <a:endParaRPr lang="en-US"/>
          </a:p>
        </p:txBody>
      </p:sp>
    </p:spTree>
    <p:extLst>
      <p:ext uri="{BB962C8B-B14F-4D97-AF65-F5344CB8AC3E}">
        <p14:creationId xmlns:p14="http://schemas.microsoft.com/office/powerpoint/2010/main" val="310513613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100</a:t>
            </a:fld>
            <a:endParaRPr lang="en-US"/>
          </a:p>
        </p:txBody>
      </p:sp>
    </p:spTree>
    <p:extLst>
      <p:ext uri="{BB962C8B-B14F-4D97-AF65-F5344CB8AC3E}">
        <p14:creationId xmlns:p14="http://schemas.microsoft.com/office/powerpoint/2010/main" val="243610451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sz="1200" b="0" u="none" strike="noStrike" kern="1200" dirty="0">
                <a:solidFill>
                  <a:schemeClr val="tx1"/>
                </a:solidFill>
                <a:effectLst/>
                <a:latin typeface="+mn-lt"/>
                <a:ea typeface="+mn-ea"/>
                <a:cs typeface="+mn-cs"/>
                <a:hlinkClick r:id="rId3"/>
              </a:rPr>
              <a:t>Alvarado score</a:t>
            </a:r>
            <a:r>
              <a:rPr lang="en-US" dirty="0"/>
              <a:t> is a clinical tool used to help doctors check if a person has acute appendicitis. It adds up points based on signs, symptoms, and blood test results to see how likely it is that the appendix is infected.</a:t>
            </a:r>
          </a:p>
          <a:p>
            <a:r>
              <a:rPr lang="en-US" dirty="0"/>
              <a:t>The Appendicitis Inflammatory Response (AIR) score uses clinical symptoms and laboratory markers to stratify the likelihood of acute appendicitis. Ranging from 0 to 12, it is heavily favored over the older Alvarado score for its inclusion of C-Reactive Protein (CRP) to accurately gauge disease severity</a:t>
            </a:r>
          </a:p>
        </p:txBody>
      </p:sp>
      <p:sp>
        <p:nvSpPr>
          <p:cNvPr id="4" name="Slide Number Placeholder 3"/>
          <p:cNvSpPr>
            <a:spLocks noGrp="1"/>
          </p:cNvSpPr>
          <p:nvPr>
            <p:ph type="sldNum" sz="quarter" idx="5"/>
          </p:nvPr>
        </p:nvSpPr>
        <p:spPr/>
        <p:txBody>
          <a:bodyPr/>
          <a:lstStyle/>
          <a:p>
            <a:fld id="{C0F603C7-9193-4C5D-859C-0B16BAE55013}" type="slidenum">
              <a:rPr lang="en-US" smtClean="0"/>
              <a:t>101</a:t>
            </a:fld>
            <a:endParaRPr lang="en-US"/>
          </a:p>
        </p:txBody>
      </p:sp>
    </p:spTree>
    <p:extLst>
      <p:ext uri="{BB962C8B-B14F-4D97-AF65-F5344CB8AC3E}">
        <p14:creationId xmlns:p14="http://schemas.microsoft.com/office/powerpoint/2010/main" val="35745937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2025 Edition of the World Society of Emergency Surgery (WSES) Jerusalem Guidelines</a:t>
            </a:r>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104</a:t>
            </a:fld>
            <a:endParaRPr lang="en-US"/>
          </a:p>
        </p:txBody>
      </p:sp>
    </p:spTree>
    <p:extLst>
      <p:ext uri="{BB962C8B-B14F-4D97-AF65-F5344CB8AC3E}">
        <p14:creationId xmlns:p14="http://schemas.microsoft.com/office/powerpoint/2010/main" val="349418289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106</a:t>
            </a:fld>
            <a:endParaRPr lang="en-US"/>
          </a:p>
        </p:txBody>
      </p:sp>
    </p:spTree>
    <p:extLst>
      <p:ext uri="{BB962C8B-B14F-4D97-AF65-F5344CB8AC3E}">
        <p14:creationId xmlns:p14="http://schemas.microsoft.com/office/powerpoint/2010/main" val="297445316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107</a:t>
            </a:fld>
            <a:endParaRPr lang="en-US"/>
          </a:p>
        </p:txBody>
      </p:sp>
    </p:spTree>
    <p:extLst>
      <p:ext uri="{BB962C8B-B14F-4D97-AF65-F5344CB8AC3E}">
        <p14:creationId xmlns:p14="http://schemas.microsoft.com/office/powerpoint/2010/main" val="195309028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108</a:t>
            </a:fld>
            <a:endParaRPr lang="en-US"/>
          </a:p>
        </p:txBody>
      </p:sp>
    </p:spTree>
    <p:extLst>
      <p:ext uri="{BB962C8B-B14F-4D97-AF65-F5344CB8AC3E}">
        <p14:creationId xmlns:p14="http://schemas.microsoft.com/office/powerpoint/2010/main" val="277848113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112</a:t>
            </a:fld>
            <a:endParaRPr lang="en-US"/>
          </a:p>
        </p:txBody>
      </p:sp>
    </p:spTree>
    <p:extLst>
      <p:ext uri="{BB962C8B-B14F-4D97-AF65-F5344CB8AC3E}">
        <p14:creationId xmlns:p14="http://schemas.microsoft.com/office/powerpoint/2010/main" val="368302289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113</a:t>
            </a:fld>
            <a:endParaRPr lang="en-US"/>
          </a:p>
        </p:txBody>
      </p:sp>
    </p:spTree>
    <p:extLst>
      <p:ext uri="{BB962C8B-B14F-4D97-AF65-F5344CB8AC3E}">
        <p14:creationId xmlns:p14="http://schemas.microsoft.com/office/powerpoint/2010/main" val="35493016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114</a:t>
            </a:fld>
            <a:endParaRPr lang="en-US"/>
          </a:p>
        </p:txBody>
      </p:sp>
    </p:spTree>
    <p:extLst>
      <p:ext uri="{BB962C8B-B14F-4D97-AF65-F5344CB8AC3E}">
        <p14:creationId xmlns:p14="http://schemas.microsoft.com/office/powerpoint/2010/main" val="100988710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C0F603C7-9193-4C5D-859C-0B16BAE55013}" type="slidenum">
              <a:rPr lang="en-US" smtClean="0"/>
              <a:t>115</a:t>
            </a:fld>
            <a:endParaRPr lang="en-US"/>
          </a:p>
        </p:txBody>
      </p:sp>
    </p:spTree>
    <p:extLst>
      <p:ext uri="{BB962C8B-B14F-4D97-AF65-F5344CB8AC3E}">
        <p14:creationId xmlns:p14="http://schemas.microsoft.com/office/powerpoint/2010/main" val="340136339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116</a:t>
            </a:fld>
            <a:endParaRPr lang="en-US"/>
          </a:p>
        </p:txBody>
      </p:sp>
    </p:spTree>
    <p:extLst>
      <p:ext uri="{BB962C8B-B14F-4D97-AF65-F5344CB8AC3E}">
        <p14:creationId xmlns:p14="http://schemas.microsoft.com/office/powerpoint/2010/main" val="330074244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117</a:t>
            </a:fld>
            <a:endParaRPr lang="en-US"/>
          </a:p>
        </p:txBody>
      </p:sp>
    </p:spTree>
    <p:extLst>
      <p:ext uri="{BB962C8B-B14F-4D97-AF65-F5344CB8AC3E}">
        <p14:creationId xmlns:p14="http://schemas.microsoft.com/office/powerpoint/2010/main" val="214120100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118</a:t>
            </a:fld>
            <a:endParaRPr lang="en-US"/>
          </a:p>
        </p:txBody>
      </p:sp>
    </p:spTree>
    <p:extLst>
      <p:ext uri="{BB962C8B-B14F-4D97-AF65-F5344CB8AC3E}">
        <p14:creationId xmlns:p14="http://schemas.microsoft.com/office/powerpoint/2010/main" val="255740323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120</a:t>
            </a:fld>
            <a:endParaRPr lang="en-US"/>
          </a:p>
        </p:txBody>
      </p:sp>
    </p:spTree>
    <p:extLst>
      <p:ext uri="{BB962C8B-B14F-4D97-AF65-F5344CB8AC3E}">
        <p14:creationId xmlns:p14="http://schemas.microsoft.com/office/powerpoint/2010/main" val="383684250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125</a:t>
            </a:fld>
            <a:endParaRPr lang="en-US"/>
          </a:p>
        </p:txBody>
      </p:sp>
    </p:spTree>
    <p:extLst>
      <p:ext uri="{BB962C8B-B14F-4D97-AF65-F5344CB8AC3E}">
        <p14:creationId xmlns:p14="http://schemas.microsoft.com/office/powerpoint/2010/main" val="104108128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130</a:t>
            </a:fld>
            <a:endParaRPr lang="en-US"/>
          </a:p>
        </p:txBody>
      </p:sp>
    </p:spTree>
    <p:extLst>
      <p:ext uri="{BB962C8B-B14F-4D97-AF65-F5344CB8AC3E}">
        <p14:creationId xmlns:p14="http://schemas.microsoft.com/office/powerpoint/2010/main" val="404230477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131</a:t>
            </a:fld>
            <a:endParaRPr lang="en-US"/>
          </a:p>
        </p:txBody>
      </p:sp>
    </p:spTree>
    <p:extLst>
      <p:ext uri="{BB962C8B-B14F-4D97-AF65-F5344CB8AC3E}">
        <p14:creationId xmlns:p14="http://schemas.microsoft.com/office/powerpoint/2010/main" val="269255136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135</a:t>
            </a:fld>
            <a:endParaRPr lang="en-US"/>
          </a:p>
        </p:txBody>
      </p:sp>
    </p:spTree>
    <p:extLst>
      <p:ext uri="{BB962C8B-B14F-4D97-AF65-F5344CB8AC3E}">
        <p14:creationId xmlns:p14="http://schemas.microsoft.com/office/powerpoint/2010/main" val="119089809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141</a:t>
            </a:fld>
            <a:endParaRPr lang="en-US"/>
          </a:p>
        </p:txBody>
      </p:sp>
    </p:spTree>
    <p:extLst>
      <p:ext uri="{BB962C8B-B14F-4D97-AF65-F5344CB8AC3E}">
        <p14:creationId xmlns:p14="http://schemas.microsoft.com/office/powerpoint/2010/main" val="23691694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film</a:t>
            </a:r>
          </a:p>
        </p:txBody>
      </p:sp>
      <p:sp>
        <p:nvSpPr>
          <p:cNvPr id="4" name="Slide Number Placeholder 3"/>
          <p:cNvSpPr>
            <a:spLocks noGrp="1"/>
          </p:cNvSpPr>
          <p:nvPr>
            <p:ph type="sldNum" sz="quarter" idx="5"/>
          </p:nvPr>
        </p:nvSpPr>
        <p:spPr/>
        <p:txBody>
          <a:bodyPr/>
          <a:lstStyle/>
          <a:p>
            <a:fld id="{C0F603C7-9193-4C5D-859C-0B16BAE55013}" type="slidenum">
              <a:rPr lang="en-US" smtClean="0"/>
              <a:t>147</a:t>
            </a:fld>
            <a:endParaRPr lang="en-US"/>
          </a:p>
        </p:txBody>
      </p:sp>
    </p:spTree>
    <p:extLst>
      <p:ext uri="{BB962C8B-B14F-4D97-AF65-F5344CB8AC3E}">
        <p14:creationId xmlns:p14="http://schemas.microsoft.com/office/powerpoint/2010/main" val="400842604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150</a:t>
            </a:fld>
            <a:endParaRPr lang="en-US"/>
          </a:p>
        </p:txBody>
      </p:sp>
    </p:spTree>
    <p:extLst>
      <p:ext uri="{BB962C8B-B14F-4D97-AF65-F5344CB8AC3E}">
        <p14:creationId xmlns:p14="http://schemas.microsoft.com/office/powerpoint/2010/main" val="246629648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PTEN (Tumor Suppressor Gene)</a:t>
            </a:r>
          </a:p>
        </p:txBody>
      </p:sp>
      <p:sp>
        <p:nvSpPr>
          <p:cNvPr id="4" name="Slide Number Placeholder 3"/>
          <p:cNvSpPr>
            <a:spLocks noGrp="1"/>
          </p:cNvSpPr>
          <p:nvPr>
            <p:ph type="sldNum" sz="quarter" idx="5"/>
          </p:nvPr>
        </p:nvSpPr>
        <p:spPr/>
        <p:txBody>
          <a:bodyPr/>
          <a:lstStyle/>
          <a:p>
            <a:fld id="{C0F603C7-9193-4C5D-859C-0B16BAE55013}" type="slidenum">
              <a:rPr lang="en-US" smtClean="0"/>
              <a:t>154</a:t>
            </a:fld>
            <a:endParaRPr lang="en-US"/>
          </a:p>
        </p:txBody>
      </p:sp>
    </p:spTree>
    <p:extLst>
      <p:ext uri="{BB962C8B-B14F-4D97-AF65-F5344CB8AC3E}">
        <p14:creationId xmlns:p14="http://schemas.microsoft.com/office/powerpoint/2010/main" val="352415664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155</a:t>
            </a:fld>
            <a:endParaRPr lang="en-US"/>
          </a:p>
        </p:txBody>
      </p:sp>
    </p:spTree>
    <p:extLst>
      <p:ext uri="{BB962C8B-B14F-4D97-AF65-F5344CB8AC3E}">
        <p14:creationId xmlns:p14="http://schemas.microsoft.com/office/powerpoint/2010/main" val="138515516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inside lumen looks like when scoped</a:t>
            </a:r>
          </a:p>
        </p:txBody>
      </p:sp>
      <p:sp>
        <p:nvSpPr>
          <p:cNvPr id="4" name="Slide Number Placeholder 3"/>
          <p:cNvSpPr>
            <a:spLocks noGrp="1"/>
          </p:cNvSpPr>
          <p:nvPr>
            <p:ph type="sldNum" sz="quarter" idx="5"/>
          </p:nvPr>
        </p:nvSpPr>
        <p:spPr/>
        <p:txBody>
          <a:bodyPr/>
          <a:lstStyle/>
          <a:p>
            <a:fld id="{C0F603C7-9193-4C5D-859C-0B16BAE55013}" type="slidenum">
              <a:rPr lang="en-US" smtClean="0"/>
              <a:t>157</a:t>
            </a:fld>
            <a:endParaRPr lang="en-US"/>
          </a:p>
        </p:txBody>
      </p:sp>
    </p:spTree>
    <p:extLst>
      <p:ext uri="{BB962C8B-B14F-4D97-AF65-F5344CB8AC3E}">
        <p14:creationId xmlns:p14="http://schemas.microsoft.com/office/powerpoint/2010/main" val="162911385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159</a:t>
            </a:fld>
            <a:endParaRPr lang="en-US"/>
          </a:p>
        </p:txBody>
      </p:sp>
    </p:spTree>
    <p:extLst>
      <p:ext uri="{BB962C8B-B14F-4D97-AF65-F5344CB8AC3E}">
        <p14:creationId xmlns:p14="http://schemas.microsoft.com/office/powerpoint/2010/main" val="244186971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160</a:t>
            </a:fld>
            <a:endParaRPr lang="en-US"/>
          </a:p>
        </p:txBody>
      </p:sp>
    </p:spTree>
    <p:extLst>
      <p:ext uri="{BB962C8B-B14F-4D97-AF65-F5344CB8AC3E}">
        <p14:creationId xmlns:p14="http://schemas.microsoft.com/office/powerpoint/2010/main" val="104357726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83F26-4BF5-CC6F-FE35-C4034C12C5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224AA-BE00-3964-F452-1D3166F5BA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B9834-6413-156B-3869-ED0BBB2B8E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2F0A61-1C18-36AE-B375-2FCE97F48DDB}"/>
              </a:ext>
            </a:extLst>
          </p:cNvPr>
          <p:cNvSpPr>
            <a:spLocks noGrp="1"/>
          </p:cNvSpPr>
          <p:nvPr>
            <p:ph type="sldNum" sz="quarter" idx="5"/>
          </p:nvPr>
        </p:nvSpPr>
        <p:spPr/>
        <p:txBody>
          <a:bodyPr/>
          <a:lstStyle/>
          <a:p>
            <a:fld id="{C0F603C7-9193-4C5D-859C-0B16BAE55013}" type="slidenum">
              <a:rPr lang="en-US" smtClean="0"/>
              <a:t>162</a:t>
            </a:fld>
            <a:endParaRPr lang="en-US"/>
          </a:p>
        </p:txBody>
      </p:sp>
    </p:spTree>
    <p:extLst>
      <p:ext uri="{BB962C8B-B14F-4D97-AF65-F5344CB8AC3E}">
        <p14:creationId xmlns:p14="http://schemas.microsoft.com/office/powerpoint/2010/main" val="223375504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EEBC9-CDAC-F8D9-6617-2275E8ED7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245A4-27B3-D279-F041-068188D9FC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633DAC-5E10-6926-E552-8504F5E883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D745FC-7086-B50A-4E7E-EF49472513C0}"/>
              </a:ext>
            </a:extLst>
          </p:cNvPr>
          <p:cNvSpPr>
            <a:spLocks noGrp="1"/>
          </p:cNvSpPr>
          <p:nvPr>
            <p:ph type="sldNum" sz="quarter" idx="5"/>
          </p:nvPr>
        </p:nvSpPr>
        <p:spPr/>
        <p:txBody>
          <a:bodyPr/>
          <a:lstStyle/>
          <a:p>
            <a:fld id="{C0F603C7-9193-4C5D-859C-0B16BAE55013}" type="slidenum">
              <a:rPr lang="en-US" smtClean="0"/>
              <a:t>163</a:t>
            </a:fld>
            <a:endParaRPr lang="en-US"/>
          </a:p>
        </p:txBody>
      </p:sp>
    </p:spTree>
    <p:extLst>
      <p:ext uri="{BB962C8B-B14F-4D97-AF65-F5344CB8AC3E}">
        <p14:creationId xmlns:p14="http://schemas.microsoft.com/office/powerpoint/2010/main" val="184280976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14D16-A35F-ADF0-C73E-B5E592568B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44D76-8C73-1DEE-D382-81F157FD54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318CA-F4C6-EB47-5124-B0093F0C3A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27FF42-4BAC-4AF0-0C01-7073160E8FAD}"/>
              </a:ext>
            </a:extLst>
          </p:cNvPr>
          <p:cNvSpPr>
            <a:spLocks noGrp="1"/>
          </p:cNvSpPr>
          <p:nvPr>
            <p:ph type="sldNum" sz="quarter" idx="5"/>
          </p:nvPr>
        </p:nvSpPr>
        <p:spPr/>
        <p:txBody>
          <a:bodyPr/>
          <a:lstStyle/>
          <a:p>
            <a:fld id="{C0F603C7-9193-4C5D-859C-0B16BAE55013}" type="slidenum">
              <a:rPr lang="en-US" smtClean="0"/>
              <a:t>164</a:t>
            </a:fld>
            <a:endParaRPr lang="en-US"/>
          </a:p>
        </p:txBody>
      </p:sp>
    </p:spTree>
    <p:extLst>
      <p:ext uri="{BB962C8B-B14F-4D97-AF65-F5344CB8AC3E}">
        <p14:creationId xmlns:p14="http://schemas.microsoft.com/office/powerpoint/2010/main" val="393659605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603C7-9193-4C5D-859C-0B16BAE55013}" type="slidenum">
              <a:rPr lang="en-US" smtClean="0"/>
              <a:t>168</a:t>
            </a:fld>
            <a:endParaRPr lang="en-US"/>
          </a:p>
        </p:txBody>
      </p:sp>
    </p:spTree>
    <p:extLst>
      <p:ext uri="{BB962C8B-B14F-4D97-AF65-F5344CB8AC3E}">
        <p14:creationId xmlns:p14="http://schemas.microsoft.com/office/powerpoint/2010/main" val="312559655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9DDEF2-A90D-42B9-A327-D04790AD2C52}" type="slidenum">
              <a:rPr lang="en-US" smtClean="0"/>
              <a:t>169</a:t>
            </a:fld>
            <a:endParaRPr lang="en-US"/>
          </a:p>
        </p:txBody>
      </p:sp>
    </p:spTree>
    <p:extLst>
      <p:ext uri="{BB962C8B-B14F-4D97-AF65-F5344CB8AC3E}">
        <p14:creationId xmlns:p14="http://schemas.microsoft.com/office/powerpoint/2010/main" val="1704318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8F6FC-AEAF-46FB-77A8-49F6673F52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B7D74D-A83A-6D52-6A27-808430E1F2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1A5291-3DCC-DA9F-EDE5-88951775A8F3}"/>
              </a:ext>
            </a:extLst>
          </p:cNvPr>
          <p:cNvSpPr>
            <a:spLocks noGrp="1"/>
          </p:cNvSpPr>
          <p:nvPr>
            <p:ph type="dt" sz="half" idx="10"/>
          </p:nvPr>
        </p:nvSpPr>
        <p:spPr/>
        <p:txBody>
          <a:bodyPr/>
          <a:lstStyle/>
          <a:p>
            <a:fld id="{33156D0D-4408-44CA-B4A4-A3B724A5B6F5}" type="datetimeFigureOut">
              <a:rPr lang="en-US" smtClean="0"/>
              <a:t>7/28/2026</a:t>
            </a:fld>
            <a:endParaRPr lang="en-US"/>
          </a:p>
        </p:txBody>
      </p:sp>
      <p:sp>
        <p:nvSpPr>
          <p:cNvPr id="5" name="Footer Placeholder 4">
            <a:extLst>
              <a:ext uri="{FF2B5EF4-FFF2-40B4-BE49-F238E27FC236}">
                <a16:creationId xmlns:a16="http://schemas.microsoft.com/office/drawing/2014/main" id="{79D38747-0180-D6DA-D56E-EF76C0EC3C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3A966-9575-C52F-70B2-3C35B3206EA3}"/>
              </a:ext>
            </a:extLst>
          </p:cNvPr>
          <p:cNvSpPr>
            <a:spLocks noGrp="1"/>
          </p:cNvSpPr>
          <p:nvPr>
            <p:ph type="sldNum" sz="quarter" idx="12"/>
          </p:nvPr>
        </p:nvSpPr>
        <p:spPr/>
        <p:txBody>
          <a:bodyPr/>
          <a:lstStyle/>
          <a:p>
            <a:fld id="{3FD8FB0E-6741-4CE6-A9D7-09643874248B}" type="slidenum">
              <a:rPr lang="en-US" smtClean="0"/>
              <a:t>‹#›</a:t>
            </a:fld>
            <a:endParaRPr lang="en-US"/>
          </a:p>
        </p:txBody>
      </p:sp>
    </p:spTree>
    <p:extLst>
      <p:ext uri="{BB962C8B-B14F-4D97-AF65-F5344CB8AC3E}">
        <p14:creationId xmlns:p14="http://schemas.microsoft.com/office/powerpoint/2010/main" val="3882647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016F-E33A-5168-3212-F43E5A121A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8790EC-AD9C-9BA5-2681-7EB1E09996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BC8B56-EB56-FE4C-419A-343CED8C0A31}"/>
              </a:ext>
            </a:extLst>
          </p:cNvPr>
          <p:cNvSpPr>
            <a:spLocks noGrp="1"/>
          </p:cNvSpPr>
          <p:nvPr>
            <p:ph type="dt" sz="half" idx="10"/>
          </p:nvPr>
        </p:nvSpPr>
        <p:spPr/>
        <p:txBody>
          <a:bodyPr/>
          <a:lstStyle/>
          <a:p>
            <a:fld id="{33156D0D-4408-44CA-B4A4-A3B724A5B6F5}" type="datetimeFigureOut">
              <a:rPr lang="en-US" smtClean="0"/>
              <a:t>7/28/2026</a:t>
            </a:fld>
            <a:endParaRPr lang="en-US"/>
          </a:p>
        </p:txBody>
      </p:sp>
      <p:sp>
        <p:nvSpPr>
          <p:cNvPr id="5" name="Footer Placeholder 4">
            <a:extLst>
              <a:ext uri="{FF2B5EF4-FFF2-40B4-BE49-F238E27FC236}">
                <a16:creationId xmlns:a16="http://schemas.microsoft.com/office/drawing/2014/main" id="{A51BC260-9749-91EB-A21F-F0CD1FCDEB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DF59C2-AF45-BE0D-F1B0-4754AB3132CA}"/>
              </a:ext>
            </a:extLst>
          </p:cNvPr>
          <p:cNvSpPr>
            <a:spLocks noGrp="1"/>
          </p:cNvSpPr>
          <p:nvPr>
            <p:ph type="sldNum" sz="quarter" idx="12"/>
          </p:nvPr>
        </p:nvSpPr>
        <p:spPr/>
        <p:txBody>
          <a:bodyPr/>
          <a:lstStyle/>
          <a:p>
            <a:fld id="{3FD8FB0E-6741-4CE6-A9D7-09643874248B}" type="slidenum">
              <a:rPr lang="en-US" smtClean="0"/>
              <a:t>‹#›</a:t>
            </a:fld>
            <a:endParaRPr lang="en-US"/>
          </a:p>
        </p:txBody>
      </p:sp>
    </p:spTree>
    <p:extLst>
      <p:ext uri="{BB962C8B-B14F-4D97-AF65-F5344CB8AC3E}">
        <p14:creationId xmlns:p14="http://schemas.microsoft.com/office/powerpoint/2010/main" val="3887650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9F1CA-6361-7EB6-BD8C-7BC2CCB336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1E4C2D-3FD6-8192-D2A3-86A95D3FC9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E90693-558D-E8EA-EAD0-C311B8D6459B}"/>
              </a:ext>
            </a:extLst>
          </p:cNvPr>
          <p:cNvSpPr>
            <a:spLocks noGrp="1"/>
          </p:cNvSpPr>
          <p:nvPr>
            <p:ph type="dt" sz="half" idx="10"/>
          </p:nvPr>
        </p:nvSpPr>
        <p:spPr/>
        <p:txBody>
          <a:bodyPr/>
          <a:lstStyle/>
          <a:p>
            <a:fld id="{33156D0D-4408-44CA-B4A4-A3B724A5B6F5}" type="datetimeFigureOut">
              <a:rPr lang="en-US" smtClean="0"/>
              <a:t>7/28/2026</a:t>
            </a:fld>
            <a:endParaRPr lang="en-US"/>
          </a:p>
        </p:txBody>
      </p:sp>
      <p:sp>
        <p:nvSpPr>
          <p:cNvPr id="5" name="Footer Placeholder 4">
            <a:extLst>
              <a:ext uri="{FF2B5EF4-FFF2-40B4-BE49-F238E27FC236}">
                <a16:creationId xmlns:a16="http://schemas.microsoft.com/office/drawing/2014/main" id="{A30177FF-C858-D199-BE6C-B6991BC90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5812FD-BCAF-9713-7863-5D32E72C8C70}"/>
              </a:ext>
            </a:extLst>
          </p:cNvPr>
          <p:cNvSpPr>
            <a:spLocks noGrp="1"/>
          </p:cNvSpPr>
          <p:nvPr>
            <p:ph type="sldNum" sz="quarter" idx="12"/>
          </p:nvPr>
        </p:nvSpPr>
        <p:spPr/>
        <p:txBody>
          <a:bodyPr/>
          <a:lstStyle/>
          <a:p>
            <a:fld id="{3FD8FB0E-6741-4CE6-A9D7-09643874248B}" type="slidenum">
              <a:rPr lang="en-US" smtClean="0"/>
              <a:t>‹#›</a:t>
            </a:fld>
            <a:endParaRPr lang="en-US"/>
          </a:p>
        </p:txBody>
      </p:sp>
    </p:spTree>
    <p:extLst>
      <p:ext uri="{BB962C8B-B14F-4D97-AF65-F5344CB8AC3E}">
        <p14:creationId xmlns:p14="http://schemas.microsoft.com/office/powerpoint/2010/main" val="1182519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F45C6-DE5E-1484-FCA0-AC6A1C17BD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ECEB37-4497-EB6A-FF89-4D80F90865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AF9E43-A4A5-16C2-930C-98D8E72E4B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7373B6-D311-BACF-3B49-1D095CD8C803}"/>
              </a:ext>
            </a:extLst>
          </p:cNvPr>
          <p:cNvSpPr>
            <a:spLocks noGrp="1"/>
          </p:cNvSpPr>
          <p:nvPr>
            <p:ph type="dt" sz="half" idx="10"/>
          </p:nvPr>
        </p:nvSpPr>
        <p:spPr/>
        <p:txBody>
          <a:bodyPr/>
          <a:lstStyle/>
          <a:p>
            <a:fld id="{33156D0D-4408-44CA-B4A4-A3B724A5B6F5}" type="datetimeFigureOut">
              <a:rPr lang="en-US" smtClean="0"/>
              <a:t>7/28/2026</a:t>
            </a:fld>
            <a:endParaRPr lang="en-US"/>
          </a:p>
        </p:txBody>
      </p:sp>
      <p:sp>
        <p:nvSpPr>
          <p:cNvPr id="6" name="Footer Placeholder 5">
            <a:extLst>
              <a:ext uri="{FF2B5EF4-FFF2-40B4-BE49-F238E27FC236}">
                <a16:creationId xmlns:a16="http://schemas.microsoft.com/office/drawing/2014/main" id="{9DFDB9EA-795E-00A9-3AAF-C27833CC1C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972C36-6DF4-760E-CD24-214AF0C77DA4}"/>
              </a:ext>
            </a:extLst>
          </p:cNvPr>
          <p:cNvSpPr>
            <a:spLocks noGrp="1"/>
          </p:cNvSpPr>
          <p:nvPr>
            <p:ph type="sldNum" sz="quarter" idx="12"/>
          </p:nvPr>
        </p:nvSpPr>
        <p:spPr/>
        <p:txBody>
          <a:bodyPr/>
          <a:lstStyle/>
          <a:p>
            <a:fld id="{3FD8FB0E-6741-4CE6-A9D7-09643874248B}" type="slidenum">
              <a:rPr lang="en-US" smtClean="0"/>
              <a:t>‹#›</a:t>
            </a:fld>
            <a:endParaRPr lang="en-US"/>
          </a:p>
        </p:txBody>
      </p:sp>
    </p:spTree>
    <p:extLst>
      <p:ext uri="{BB962C8B-B14F-4D97-AF65-F5344CB8AC3E}">
        <p14:creationId xmlns:p14="http://schemas.microsoft.com/office/powerpoint/2010/main" val="1074954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AA63B-445F-B192-B044-7DD63B8813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0B18BC-0BBC-9A3F-2777-C393B8075E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CC9913-F57C-64EA-4D58-956B27DCAF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46072C-378E-21F7-487A-9B0FB5BA3D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98AB33-B723-E03E-C441-0B97352574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40236A-9F76-66F4-EA8E-E926724111B2}"/>
              </a:ext>
            </a:extLst>
          </p:cNvPr>
          <p:cNvSpPr>
            <a:spLocks noGrp="1"/>
          </p:cNvSpPr>
          <p:nvPr>
            <p:ph type="dt" sz="half" idx="10"/>
          </p:nvPr>
        </p:nvSpPr>
        <p:spPr/>
        <p:txBody>
          <a:bodyPr/>
          <a:lstStyle/>
          <a:p>
            <a:fld id="{33156D0D-4408-44CA-B4A4-A3B724A5B6F5}" type="datetimeFigureOut">
              <a:rPr lang="en-US" smtClean="0"/>
              <a:t>7/28/2026</a:t>
            </a:fld>
            <a:endParaRPr lang="en-US"/>
          </a:p>
        </p:txBody>
      </p:sp>
      <p:sp>
        <p:nvSpPr>
          <p:cNvPr id="8" name="Footer Placeholder 7">
            <a:extLst>
              <a:ext uri="{FF2B5EF4-FFF2-40B4-BE49-F238E27FC236}">
                <a16:creationId xmlns:a16="http://schemas.microsoft.com/office/drawing/2014/main" id="{1AF1A1F4-DAA7-94D8-0211-B605E2ED8A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D64AAA-88FF-BA4E-A39A-D59FA9161AA2}"/>
              </a:ext>
            </a:extLst>
          </p:cNvPr>
          <p:cNvSpPr>
            <a:spLocks noGrp="1"/>
          </p:cNvSpPr>
          <p:nvPr>
            <p:ph type="sldNum" sz="quarter" idx="12"/>
          </p:nvPr>
        </p:nvSpPr>
        <p:spPr/>
        <p:txBody>
          <a:bodyPr/>
          <a:lstStyle/>
          <a:p>
            <a:fld id="{3FD8FB0E-6741-4CE6-A9D7-09643874248B}" type="slidenum">
              <a:rPr lang="en-US" smtClean="0"/>
              <a:t>‹#›</a:t>
            </a:fld>
            <a:endParaRPr lang="en-US"/>
          </a:p>
        </p:txBody>
      </p:sp>
    </p:spTree>
    <p:extLst>
      <p:ext uri="{BB962C8B-B14F-4D97-AF65-F5344CB8AC3E}">
        <p14:creationId xmlns:p14="http://schemas.microsoft.com/office/powerpoint/2010/main" val="226769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26DA7-BEEA-59E4-1A26-9ADF6E11AE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200C34-1EC2-5065-3E03-C3E2CBC05DC2}"/>
              </a:ext>
            </a:extLst>
          </p:cNvPr>
          <p:cNvSpPr>
            <a:spLocks noGrp="1"/>
          </p:cNvSpPr>
          <p:nvPr>
            <p:ph type="dt" sz="half" idx="10"/>
          </p:nvPr>
        </p:nvSpPr>
        <p:spPr/>
        <p:txBody>
          <a:bodyPr/>
          <a:lstStyle/>
          <a:p>
            <a:fld id="{33156D0D-4408-44CA-B4A4-A3B724A5B6F5}" type="datetimeFigureOut">
              <a:rPr lang="en-US" smtClean="0"/>
              <a:t>7/28/2026</a:t>
            </a:fld>
            <a:endParaRPr lang="en-US"/>
          </a:p>
        </p:txBody>
      </p:sp>
      <p:sp>
        <p:nvSpPr>
          <p:cNvPr id="4" name="Footer Placeholder 3">
            <a:extLst>
              <a:ext uri="{FF2B5EF4-FFF2-40B4-BE49-F238E27FC236}">
                <a16:creationId xmlns:a16="http://schemas.microsoft.com/office/drawing/2014/main" id="{8B3CC1D5-32D7-1B94-054C-052F994B29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47F436-3578-1F4B-B57F-9E7EAF8D77F0}"/>
              </a:ext>
            </a:extLst>
          </p:cNvPr>
          <p:cNvSpPr>
            <a:spLocks noGrp="1"/>
          </p:cNvSpPr>
          <p:nvPr>
            <p:ph type="sldNum" sz="quarter" idx="12"/>
          </p:nvPr>
        </p:nvSpPr>
        <p:spPr/>
        <p:txBody>
          <a:bodyPr/>
          <a:lstStyle/>
          <a:p>
            <a:fld id="{3FD8FB0E-6741-4CE6-A9D7-09643874248B}" type="slidenum">
              <a:rPr lang="en-US" smtClean="0"/>
              <a:t>‹#›</a:t>
            </a:fld>
            <a:endParaRPr lang="en-US"/>
          </a:p>
        </p:txBody>
      </p:sp>
    </p:spTree>
    <p:extLst>
      <p:ext uri="{BB962C8B-B14F-4D97-AF65-F5344CB8AC3E}">
        <p14:creationId xmlns:p14="http://schemas.microsoft.com/office/powerpoint/2010/main" val="497996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BDB49B-BF25-939C-E788-8FEACDE3E6E0}"/>
              </a:ext>
            </a:extLst>
          </p:cNvPr>
          <p:cNvSpPr>
            <a:spLocks noGrp="1"/>
          </p:cNvSpPr>
          <p:nvPr>
            <p:ph type="dt" sz="half" idx="10"/>
          </p:nvPr>
        </p:nvSpPr>
        <p:spPr/>
        <p:txBody>
          <a:bodyPr/>
          <a:lstStyle/>
          <a:p>
            <a:fld id="{33156D0D-4408-44CA-B4A4-A3B724A5B6F5}" type="datetimeFigureOut">
              <a:rPr lang="en-US" smtClean="0"/>
              <a:t>7/28/2026</a:t>
            </a:fld>
            <a:endParaRPr lang="en-US"/>
          </a:p>
        </p:txBody>
      </p:sp>
      <p:sp>
        <p:nvSpPr>
          <p:cNvPr id="3" name="Footer Placeholder 2">
            <a:extLst>
              <a:ext uri="{FF2B5EF4-FFF2-40B4-BE49-F238E27FC236}">
                <a16:creationId xmlns:a16="http://schemas.microsoft.com/office/drawing/2014/main" id="{FB2DEDC2-7598-D0DF-7D15-AFACCD3114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FD7B7A-6093-A58A-981F-A2F5C55A4400}"/>
              </a:ext>
            </a:extLst>
          </p:cNvPr>
          <p:cNvSpPr>
            <a:spLocks noGrp="1"/>
          </p:cNvSpPr>
          <p:nvPr>
            <p:ph type="sldNum" sz="quarter" idx="12"/>
          </p:nvPr>
        </p:nvSpPr>
        <p:spPr/>
        <p:txBody>
          <a:bodyPr/>
          <a:lstStyle/>
          <a:p>
            <a:fld id="{3FD8FB0E-6741-4CE6-A9D7-09643874248B}" type="slidenum">
              <a:rPr lang="en-US" smtClean="0"/>
              <a:t>‹#›</a:t>
            </a:fld>
            <a:endParaRPr lang="en-US"/>
          </a:p>
        </p:txBody>
      </p:sp>
    </p:spTree>
    <p:extLst>
      <p:ext uri="{BB962C8B-B14F-4D97-AF65-F5344CB8AC3E}">
        <p14:creationId xmlns:p14="http://schemas.microsoft.com/office/powerpoint/2010/main" val="2689566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4552C-5577-B7AD-2011-D30190F862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6F4385-994C-6062-0E92-EB37164206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380A4F-567A-A26D-FEDD-A3E14BEFB5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9170AB-B660-B31B-A058-66EB72BB1135}"/>
              </a:ext>
            </a:extLst>
          </p:cNvPr>
          <p:cNvSpPr>
            <a:spLocks noGrp="1"/>
          </p:cNvSpPr>
          <p:nvPr>
            <p:ph type="dt" sz="half" idx="10"/>
          </p:nvPr>
        </p:nvSpPr>
        <p:spPr/>
        <p:txBody>
          <a:bodyPr/>
          <a:lstStyle/>
          <a:p>
            <a:fld id="{33156D0D-4408-44CA-B4A4-A3B724A5B6F5}" type="datetimeFigureOut">
              <a:rPr lang="en-US" smtClean="0"/>
              <a:t>7/28/2026</a:t>
            </a:fld>
            <a:endParaRPr lang="en-US"/>
          </a:p>
        </p:txBody>
      </p:sp>
      <p:sp>
        <p:nvSpPr>
          <p:cNvPr id="6" name="Footer Placeholder 5">
            <a:extLst>
              <a:ext uri="{FF2B5EF4-FFF2-40B4-BE49-F238E27FC236}">
                <a16:creationId xmlns:a16="http://schemas.microsoft.com/office/drawing/2014/main" id="{EAB88072-7564-7DB9-E400-CCFE190FD2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C2E43B-A4AD-2475-7C7A-072D3FB363CF}"/>
              </a:ext>
            </a:extLst>
          </p:cNvPr>
          <p:cNvSpPr>
            <a:spLocks noGrp="1"/>
          </p:cNvSpPr>
          <p:nvPr>
            <p:ph type="sldNum" sz="quarter" idx="12"/>
          </p:nvPr>
        </p:nvSpPr>
        <p:spPr/>
        <p:txBody>
          <a:bodyPr/>
          <a:lstStyle/>
          <a:p>
            <a:fld id="{3FD8FB0E-6741-4CE6-A9D7-09643874248B}" type="slidenum">
              <a:rPr lang="en-US" smtClean="0"/>
              <a:t>‹#›</a:t>
            </a:fld>
            <a:endParaRPr lang="en-US"/>
          </a:p>
        </p:txBody>
      </p:sp>
    </p:spTree>
    <p:extLst>
      <p:ext uri="{BB962C8B-B14F-4D97-AF65-F5344CB8AC3E}">
        <p14:creationId xmlns:p14="http://schemas.microsoft.com/office/powerpoint/2010/main" val="3888031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C181C-FDF0-E6EB-318A-2C3461B2BF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8AE5AB-1360-E2B3-8456-65BED8A378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467888-2A49-B6A9-69BA-4BABC2D51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49DDE3-31B0-9779-B2BB-622FEEBC2E10}"/>
              </a:ext>
            </a:extLst>
          </p:cNvPr>
          <p:cNvSpPr>
            <a:spLocks noGrp="1"/>
          </p:cNvSpPr>
          <p:nvPr>
            <p:ph type="dt" sz="half" idx="10"/>
          </p:nvPr>
        </p:nvSpPr>
        <p:spPr/>
        <p:txBody>
          <a:bodyPr/>
          <a:lstStyle/>
          <a:p>
            <a:fld id="{33156D0D-4408-44CA-B4A4-A3B724A5B6F5}" type="datetimeFigureOut">
              <a:rPr lang="en-US" smtClean="0"/>
              <a:t>7/28/2026</a:t>
            </a:fld>
            <a:endParaRPr lang="en-US"/>
          </a:p>
        </p:txBody>
      </p:sp>
      <p:sp>
        <p:nvSpPr>
          <p:cNvPr id="6" name="Footer Placeholder 5">
            <a:extLst>
              <a:ext uri="{FF2B5EF4-FFF2-40B4-BE49-F238E27FC236}">
                <a16:creationId xmlns:a16="http://schemas.microsoft.com/office/drawing/2014/main" id="{B86473E8-6744-BD3B-43FC-C1D050029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4479D1-DF32-5452-E024-22BCFC937763}"/>
              </a:ext>
            </a:extLst>
          </p:cNvPr>
          <p:cNvSpPr>
            <a:spLocks noGrp="1"/>
          </p:cNvSpPr>
          <p:nvPr>
            <p:ph type="sldNum" sz="quarter" idx="12"/>
          </p:nvPr>
        </p:nvSpPr>
        <p:spPr/>
        <p:txBody>
          <a:bodyPr/>
          <a:lstStyle/>
          <a:p>
            <a:fld id="{3FD8FB0E-6741-4CE6-A9D7-09643874248B}" type="slidenum">
              <a:rPr lang="en-US" smtClean="0"/>
              <a:t>‹#›</a:t>
            </a:fld>
            <a:endParaRPr lang="en-US"/>
          </a:p>
        </p:txBody>
      </p:sp>
    </p:spTree>
    <p:extLst>
      <p:ext uri="{BB962C8B-B14F-4D97-AF65-F5344CB8AC3E}">
        <p14:creationId xmlns:p14="http://schemas.microsoft.com/office/powerpoint/2010/main" val="1290311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770B-4FAF-E3FA-78B0-5B121E9F21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0AE537-38CF-14DA-BC36-C5E8371534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FD806D-39FF-7472-35E6-CD67C80A9F09}"/>
              </a:ext>
            </a:extLst>
          </p:cNvPr>
          <p:cNvSpPr>
            <a:spLocks noGrp="1"/>
          </p:cNvSpPr>
          <p:nvPr>
            <p:ph type="dt" sz="half" idx="10"/>
          </p:nvPr>
        </p:nvSpPr>
        <p:spPr/>
        <p:txBody>
          <a:bodyPr/>
          <a:lstStyle/>
          <a:p>
            <a:fld id="{33156D0D-4408-44CA-B4A4-A3B724A5B6F5}" type="datetimeFigureOut">
              <a:rPr lang="en-US" smtClean="0"/>
              <a:t>7/28/2026</a:t>
            </a:fld>
            <a:endParaRPr lang="en-US"/>
          </a:p>
        </p:txBody>
      </p:sp>
      <p:sp>
        <p:nvSpPr>
          <p:cNvPr id="5" name="Footer Placeholder 4">
            <a:extLst>
              <a:ext uri="{FF2B5EF4-FFF2-40B4-BE49-F238E27FC236}">
                <a16:creationId xmlns:a16="http://schemas.microsoft.com/office/drawing/2014/main" id="{0487FBE5-AB39-7E94-65AC-7F8F69D134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649A-7AB9-40CE-A9C3-3FF54A06474C}"/>
              </a:ext>
            </a:extLst>
          </p:cNvPr>
          <p:cNvSpPr>
            <a:spLocks noGrp="1"/>
          </p:cNvSpPr>
          <p:nvPr>
            <p:ph type="sldNum" sz="quarter" idx="12"/>
          </p:nvPr>
        </p:nvSpPr>
        <p:spPr/>
        <p:txBody>
          <a:bodyPr/>
          <a:lstStyle/>
          <a:p>
            <a:fld id="{3FD8FB0E-6741-4CE6-A9D7-09643874248B}" type="slidenum">
              <a:rPr lang="en-US" smtClean="0"/>
              <a:t>‹#›</a:t>
            </a:fld>
            <a:endParaRPr lang="en-US"/>
          </a:p>
        </p:txBody>
      </p:sp>
    </p:spTree>
    <p:extLst>
      <p:ext uri="{BB962C8B-B14F-4D97-AF65-F5344CB8AC3E}">
        <p14:creationId xmlns:p14="http://schemas.microsoft.com/office/powerpoint/2010/main" val="37809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9C3F94-3058-C91F-9FAD-B1DDFF37C8E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5A942B-420C-26F6-7E4F-72080CB323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F35921-1401-89D0-3589-7818E620A244}"/>
              </a:ext>
            </a:extLst>
          </p:cNvPr>
          <p:cNvSpPr>
            <a:spLocks noGrp="1"/>
          </p:cNvSpPr>
          <p:nvPr>
            <p:ph type="dt" sz="half" idx="10"/>
          </p:nvPr>
        </p:nvSpPr>
        <p:spPr/>
        <p:txBody>
          <a:bodyPr/>
          <a:lstStyle/>
          <a:p>
            <a:fld id="{33156D0D-4408-44CA-B4A4-A3B724A5B6F5}" type="datetimeFigureOut">
              <a:rPr lang="en-US" smtClean="0"/>
              <a:t>7/28/2026</a:t>
            </a:fld>
            <a:endParaRPr lang="en-US"/>
          </a:p>
        </p:txBody>
      </p:sp>
      <p:sp>
        <p:nvSpPr>
          <p:cNvPr id="5" name="Footer Placeholder 4">
            <a:extLst>
              <a:ext uri="{FF2B5EF4-FFF2-40B4-BE49-F238E27FC236}">
                <a16:creationId xmlns:a16="http://schemas.microsoft.com/office/drawing/2014/main" id="{8786C078-2F43-2185-BF28-697720F9E1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639F9C-206F-ED57-CC51-EB00DEF47BE8}"/>
              </a:ext>
            </a:extLst>
          </p:cNvPr>
          <p:cNvSpPr>
            <a:spLocks noGrp="1"/>
          </p:cNvSpPr>
          <p:nvPr>
            <p:ph type="sldNum" sz="quarter" idx="12"/>
          </p:nvPr>
        </p:nvSpPr>
        <p:spPr/>
        <p:txBody>
          <a:bodyPr/>
          <a:lstStyle/>
          <a:p>
            <a:fld id="{3FD8FB0E-6741-4CE6-A9D7-09643874248B}" type="slidenum">
              <a:rPr lang="en-US" smtClean="0"/>
              <a:t>‹#›</a:t>
            </a:fld>
            <a:endParaRPr lang="en-US"/>
          </a:p>
        </p:txBody>
      </p:sp>
    </p:spTree>
    <p:extLst>
      <p:ext uri="{BB962C8B-B14F-4D97-AF65-F5344CB8AC3E}">
        <p14:creationId xmlns:p14="http://schemas.microsoft.com/office/powerpoint/2010/main" val="1341772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2763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D70987-E230-A3F4-1C64-7C2614D737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A7317A-7683-1409-5E4C-BC3ADBB83B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9FD30-AFE4-3A4D-2A2A-2C8AFF0A39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156D0D-4408-44CA-B4A4-A3B724A5B6F5}" type="datetimeFigureOut">
              <a:rPr lang="en-US" smtClean="0"/>
              <a:t>7/28/2026</a:t>
            </a:fld>
            <a:endParaRPr lang="en-US"/>
          </a:p>
        </p:txBody>
      </p:sp>
      <p:sp>
        <p:nvSpPr>
          <p:cNvPr id="5" name="Footer Placeholder 4">
            <a:extLst>
              <a:ext uri="{FF2B5EF4-FFF2-40B4-BE49-F238E27FC236}">
                <a16:creationId xmlns:a16="http://schemas.microsoft.com/office/drawing/2014/main" id="{A6B74AC2-EC21-FFAC-0C73-976CA6A234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21E150-A080-1320-072D-0333412803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D8FB0E-6741-4CE6-A9D7-09643874248B}" type="slidenum">
              <a:rPr lang="en-US" smtClean="0"/>
              <a:t>‹#›</a:t>
            </a:fld>
            <a:endParaRPr lang="en-US"/>
          </a:p>
        </p:txBody>
      </p:sp>
    </p:spTree>
    <p:extLst>
      <p:ext uri="{BB962C8B-B14F-4D97-AF65-F5344CB8AC3E}">
        <p14:creationId xmlns:p14="http://schemas.microsoft.com/office/powerpoint/2010/main" val="1700222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s://www.openevidence.com/rare-disease/scleroderma"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hyperlink" Target="https://www.openevidence.com/rare-disease/amyloidosis"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7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g"/><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11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hyperlink" Target="https://www.openevidence.com/rare-disease/dermatitis-herpetiformis" TargetMode="External"/><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hyperlink" Target="https://www.openevidence.com/rare-disease/dermatitis-herpetiformis" TargetMode="External"/><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s://www.openevidence.com/rare-disease/down-syndrome" TargetMode="Externa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51.jpg"/></Relationships>
</file>

<file path=ppt/slides/_rels/slide126.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hyperlink" Target="https://www.openevidence.com/rare-disease/neurofibroma" TargetMode="Externa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hyperlink" Target="https://www.openevidence.com/rare-disease/peutz-jeghers-syndrome" TargetMode="External"/><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64.jpeg"/></Relationships>
</file>

<file path=ppt/slides/_rels/slide15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hyperlink" Target="https://pubmed.ncbi.nlm.nih.gov/38622968" TargetMode="External"/><Relationship Id="rId2" Type="http://schemas.openxmlformats.org/officeDocument/2006/relationships/hyperlink" Target="https://pubmed.ncbi.nlm.nih.gov/4052089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icroscopic view of cells">
            <a:extLst>
              <a:ext uri="{FF2B5EF4-FFF2-40B4-BE49-F238E27FC236}">
                <a16:creationId xmlns:a16="http://schemas.microsoft.com/office/drawing/2014/main" id="{EAEC84E2-5F39-4517-3D8E-09F012952A7D}"/>
              </a:ext>
            </a:extLst>
          </p:cNvPr>
          <p:cNvPicPr>
            <a:picLocks noChangeAspect="1"/>
          </p:cNvPicPr>
          <p:nvPr/>
        </p:nvPicPr>
        <p:blipFill>
          <a:blip r:embed="rId2">
            <a:alphaModFix amt="50000"/>
          </a:blip>
          <a:srcRect t="142" b="15272"/>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F78A85F4-D071-D0A9-BBC7-1DA2D19AA6D4}"/>
              </a:ext>
            </a:extLst>
          </p:cNvPr>
          <p:cNvSpPr>
            <a:spLocks noGrp="1"/>
          </p:cNvSpPr>
          <p:nvPr>
            <p:ph type="ctrTitle"/>
          </p:nvPr>
        </p:nvSpPr>
        <p:spPr>
          <a:xfrm>
            <a:off x="1524000" y="1122362"/>
            <a:ext cx="9144000" cy="2900518"/>
          </a:xfrm>
        </p:spPr>
        <p:txBody>
          <a:bodyPr>
            <a:normAutofit/>
          </a:bodyPr>
          <a:lstStyle/>
          <a:p>
            <a:r>
              <a:rPr lang="en-US">
                <a:solidFill>
                  <a:srgbClr val="FFFFFF"/>
                </a:solidFill>
              </a:rPr>
              <a:t>The Gastrointestinal System</a:t>
            </a:r>
          </a:p>
        </p:txBody>
      </p:sp>
      <p:sp>
        <p:nvSpPr>
          <p:cNvPr id="3" name="Subtitle 2">
            <a:extLst>
              <a:ext uri="{FF2B5EF4-FFF2-40B4-BE49-F238E27FC236}">
                <a16:creationId xmlns:a16="http://schemas.microsoft.com/office/drawing/2014/main" id="{6DDB4AB1-3FD6-0399-C43B-61E159000B24}"/>
              </a:ext>
            </a:extLst>
          </p:cNvPr>
          <p:cNvSpPr>
            <a:spLocks noGrp="1"/>
          </p:cNvSpPr>
          <p:nvPr>
            <p:ph type="subTitle" idx="1"/>
          </p:nvPr>
        </p:nvSpPr>
        <p:spPr>
          <a:xfrm>
            <a:off x="1524000" y="4159404"/>
            <a:ext cx="9144000" cy="1098395"/>
          </a:xfrm>
        </p:spPr>
        <p:txBody>
          <a:bodyPr>
            <a:normAutofit/>
          </a:bodyPr>
          <a:lstStyle/>
          <a:p>
            <a:r>
              <a:rPr lang="en-US" sz="1100" b="1">
                <a:solidFill>
                  <a:srgbClr val="FFFFFF"/>
                </a:solidFill>
              </a:rPr>
              <a:t>Gastric, Duodenal &amp; Small Intestinal Disorders</a:t>
            </a:r>
            <a:endParaRPr lang="en-US" sz="1100">
              <a:solidFill>
                <a:srgbClr val="FFFFFF"/>
              </a:solidFill>
            </a:endParaRPr>
          </a:p>
          <a:p>
            <a:r>
              <a:rPr lang="en-US" sz="1100">
                <a:solidFill>
                  <a:srgbClr val="FFFFFF"/>
                </a:solidFill>
              </a:rPr>
              <a:t>PAS 523 Clinical Medicine II</a:t>
            </a:r>
          </a:p>
          <a:p>
            <a:r>
              <a:rPr lang="en-US" sz="1100">
                <a:solidFill>
                  <a:srgbClr val="FFFFFF"/>
                </a:solidFill>
              </a:rPr>
              <a:t>Summer 2026</a:t>
            </a:r>
          </a:p>
          <a:p>
            <a:r>
              <a:rPr lang="en-US" sz="1100">
                <a:solidFill>
                  <a:srgbClr val="FFFFFF"/>
                </a:solidFill>
              </a:rPr>
              <a:t>Dr. Melanie Barriffe, DMSc, MS, PA-C</a:t>
            </a:r>
          </a:p>
        </p:txBody>
      </p:sp>
    </p:spTree>
    <p:extLst>
      <p:ext uri="{BB962C8B-B14F-4D97-AF65-F5344CB8AC3E}">
        <p14:creationId xmlns:p14="http://schemas.microsoft.com/office/powerpoint/2010/main" val="52890237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CFC68-6971-E1D0-961B-8AE039AF167D}"/>
              </a:ext>
            </a:extLst>
          </p:cNvPr>
          <p:cNvSpPr>
            <a:spLocks noGrp="1"/>
          </p:cNvSpPr>
          <p:nvPr>
            <p:ph type="title"/>
          </p:nvPr>
        </p:nvSpPr>
        <p:spPr>
          <a:xfrm>
            <a:off x="635000" y="640823"/>
            <a:ext cx="3418659" cy="5583148"/>
          </a:xfrm>
        </p:spPr>
        <p:txBody>
          <a:bodyPr anchor="ctr">
            <a:normAutofit/>
          </a:bodyPr>
          <a:lstStyle/>
          <a:p>
            <a:r>
              <a:rPr lang="en-US" sz="5000"/>
              <a:t>Instructional Learning Objectives-Module N</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89DA988-2078-D6E7-5D76-AC3857E43E9F}"/>
              </a:ext>
            </a:extLst>
          </p:cNvPr>
          <p:cNvGraphicFramePr>
            <a:graphicFrameLocks noGrp="1"/>
          </p:cNvGraphicFramePr>
          <p:nvPr>
            <p:ph idx="1"/>
            <p:extLst>
              <p:ext uri="{D42A27DB-BD31-4B8C-83A1-F6EECF244321}">
                <p14:modId xmlns:p14="http://schemas.microsoft.com/office/powerpoint/2010/main" val="26943393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459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3" name="Rectangle 1032">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5" name="Rectangle 1034">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559294"/>
            <a:ext cx="12191999" cy="6298279"/>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7" name="Rectangle 1036">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72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35DF209-6118-45AD-4EEB-DFD3A0127A37}"/>
              </a:ext>
            </a:extLst>
          </p:cNvPr>
          <p:cNvSpPr>
            <a:spLocks noGrp="1"/>
          </p:cNvSpPr>
          <p:nvPr>
            <p:ph type="title"/>
          </p:nvPr>
        </p:nvSpPr>
        <p:spPr>
          <a:xfrm>
            <a:off x="1145136" y="1028700"/>
            <a:ext cx="9947305" cy="1090657"/>
          </a:xfrm>
        </p:spPr>
        <p:txBody>
          <a:bodyPr vert="horz" lIns="91440" tIns="45720" rIns="91440" bIns="45720" rtlCol="0" anchor="b">
            <a:normAutofit/>
          </a:bodyPr>
          <a:lstStyle/>
          <a:p>
            <a:pPr algn="ctr"/>
            <a:r>
              <a:rPr lang="en-US" sz="4800" dirty="0">
                <a:solidFill>
                  <a:srgbClr val="FFFFFF"/>
                </a:solidFill>
              </a:rPr>
              <a:t>PANCE Question</a:t>
            </a:r>
          </a:p>
        </p:txBody>
      </p:sp>
      <p:sp>
        <p:nvSpPr>
          <p:cNvPr id="3" name="Text Placeholder 2">
            <a:extLst>
              <a:ext uri="{FF2B5EF4-FFF2-40B4-BE49-F238E27FC236}">
                <a16:creationId xmlns:a16="http://schemas.microsoft.com/office/drawing/2014/main" id="{B527FC81-46C3-9CE7-CE67-A07371D04A31}"/>
              </a:ext>
            </a:extLst>
          </p:cNvPr>
          <p:cNvSpPr>
            <a:spLocks noGrp="1"/>
          </p:cNvSpPr>
          <p:nvPr>
            <p:ph type="body" idx="1"/>
          </p:nvPr>
        </p:nvSpPr>
        <p:spPr>
          <a:xfrm>
            <a:off x="1524000" y="2214188"/>
            <a:ext cx="9144000" cy="492440"/>
          </a:xfrm>
        </p:spPr>
        <p:txBody>
          <a:bodyPr vert="horz" lIns="91440" tIns="45720" rIns="91440" bIns="45720" rtlCol="0">
            <a:normAutofit/>
          </a:bodyPr>
          <a:lstStyle/>
          <a:p>
            <a:pPr algn="ctr"/>
            <a:r>
              <a:rPr lang="en-US" sz="2000" dirty="0">
                <a:solidFill>
                  <a:srgbClr val="FFFFFF"/>
                </a:solidFill>
              </a:rPr>
              <a:t>GI</a:t>
            </a:r>
          </a:p>
        </p:txBody>
      </p:sp>
      <p:sp>
        <p:nvSpPr>
          <p:cNvPr id="1039" name="Freeform: Shape 1038">
            <a:extLst>
              <a:ext uri="{FF2B5EF4-FFF2-40B4-BE49-F238E27FC236}">
                <a16:creationId xmlns:a16="http://schemas.microsoft.com/office/drawing/2014/main" id="{32B3ACB3-D689-442E-8A40-8680B0FEB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4063256" y="400727"/>
            <a:ext cx="4065484" cy="8849062"/>
          </a:xfrm>
          <a:custGeom>
            <a:avLst/>
            <a:gdLst>
              <a:gd name="connsiteX0" fmla="*/ 0 w 4065484"/>
              <a:gd name="connsiteY0" fmla="*/ 4424531 h 8849062"/>
              <a:gd name="connsiteX1" fmla="*/ 3899197 w 4065484"/>
              <a:gd name="connsiteY1" fmla="*/ 8840480 h 8849062"/>
              <a:gd name="connsiteX2" fmla="*/ 4065484 w 4065484"/>
              <a:gd name="connsiteY2" fmla="*/ 8849062 h 8849062"/>
              <a:gd name="connsiteX3" fmla="*/ 4065483 w 4065484"/>
              <a:gd name="connsiteY3" fmla="*/ 0 h 8849062"/>
              <a:gd name="connsiteX4" fmla="*/ 3899197 w 4065484"/>
              <a:gd name="connsiteY4" fmla="*/ 8581 h 8849062"/>
              <a:gd name="connsiteX5" fmla="*/ 0 w 4065484"/>
              <a:gd name="connsiteY5" fmla="*/ 4424531 h 884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65484" h="8849062">
                <a:moveTo>
                  <a:pt x="0" y="4424531"/>
                </a:moveTo>
                <a:cubicBezTo>
                  <a:pt x="0" y="6722831"/>
                  <a:pt x="1709076" y="8613167"/>
                  <a:pt x="3899197" y="8840480"/>
                </a:cubicBezTo>
                <a:lnTo>
                  <a:pt x="4065484" y="8849062"/>
                </a:lnTo>
                <a:lnTo>
                  <a:pt x="4065483" y="0"/>
                </a:lnTo>
                <a:lnTo>
                  <a:pt x="3899197" y="8581"/>
                </a:lnTo>
                <a:cubicBezTo>
                  <a:pt x="1709075" y="235897"/>
                  <a:pt x="0" y="2126232"/>
                  <a:pt x="0" y="4424531"/>
                </a:cubicBezTo>
                <a:close/>
              </a:path>
            </a:pathLst>
          </a:custGeom>
          <a:gradFill flip="none" rotWithShape="1">
            <a:gsLst>
              <a:gs pos="0">
                <a:schemeClr val="accent1">
                  <a:alpha val="5000"/>
                </a:schemeClr>
              </a:gs>
              <a:gs pos="68000">
                <a:schemeClr val="accent1">
                  <a:alpha val="15000"/>
                </a:schemeClr>
              </a:gs>
            </a:gsLst>
            <a:lin ang="21594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26" name="Picture 2" descr="Quiz Question Images – Browse 73,627 ...">
            <a:extLst>
              <a:ext uri="{FF2B5EF4-FFF2-40B4-BE49-F238E27FC236}">
                <a16:creationId xmlns:a16="http://schemas.microsoft.com/office/drawing/2014/main" id="{7ED17385-A01C-65F3-3944-B86FC4C502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179" r="-2" b="14599"/>
          <a:stretch>
            <a:fillRect/>
          </a:stretch>
        </p:blipFill>
        <p:spPr bwMode="auto">
          <a:xfrm>
            <a:off x="2343302" y="3351745"/>
            <a:ext cx="7519558" cy="3506255"/>
          </a:xfrm>
          <a:custGeom>
            <a:avLst/>
            <a:gdLst/>
            <a:ahLst/>
            <a:cxnLst/>
            <a:rect l="l" t="t" r="r" b="b"/>
            <a:pathLst>
              <a:path w="7519558" h="3506255">
                <a:moveTo>
                  <a:pt x="3759779" y="0"/>
                </a:moveTo>
                <a:cubicBezTo>
                  <a:pt x="5713450" y="0"/>
                  <a:pt x="7320331" y="1484777"/>
                  <a:pt x="7513560" y="3387468"/>
                </a:cubicBezTo>
                <a:lnTo>
                  <a:pt x="7519558" y="3506255"/>
                </a:lnTo>
                <a:lnTo>
                  <a:pt x="0" y="3506255"/>
                </a:lnTo>
                <a:lnTo>
                  <a:pt x="5998" y="3387468"/>
                </a:lnTo>
                <a:cubicBezTo>
                  <a:pt x="199227" y="1484777"/>
                  <a:pt x="1806109" y="0"/>
                  <a:pt x="3759779"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307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3222BA-0499-9252-37BD-FDFA5490269A}"/>
              </a:ext>
            </a:extLst>
          </p:cNvPr>
          <p:cNvSpPr>
            <a:spLocks noGrp="1"/>
          </p:cNvSpPr>
          <p:nvPr>
            <p:ph type="title"/>
          </p:nvPr>
        </p:nvSpPr>
        <p:spPr>
          <a:xfrm>
            <a:off x="838200" y="365125"/>
            <a:ext cx="10515600" cy="1325563"/>
          </a:xfrm>
        </p:spPr>
        <p:txBody>
          <a:bodyPr>
            <a:normAutofit/>
          </a:bodyPr>
          <a:lstStyle/>
          <a:p>
            <a:r>
              <a:rPr lang="en-US" sz="5400"/>
              <a:t>PANCE Question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AB60780-1191-66BD-5FC3-6350C8EF246F}"/>
              </a:ext>
            </a:extLst>
          </p:cNvPr>
          <p:cNvSpPr>
            <a:spLocks noGrp="1"/>
          </p:cNvSpPr>
          <p:nvPr>
            <p:ph idx="1"/>
          </p:nvPr>
        </p:nvSpPr>
        <p:spPr>
          <a:xfrm>
            <a:off x="838200" y="1929384"/>
            <a:ext cx="10515600" cy="4251960"/>
          </a:xfrm>
        </p:spPr>
        <p:txBody>
          <a:bodyPr>
            <a:normAutofit/>
          </a:bodyPr>
          <a:lstStyle/>
          <a:p>
            <a:r>
              <a:rPr lang="en-US" sz="2200"/>
              <a:t>A 28-year-old female presents to the emergency department complaining of right lower quadrant abdominal pain that has been present for the past 5 days. She has experienced anorexia, nausea, and subjective fevers.</a:t>
            </a:r>
          </a:p>
          <a:p>
            <a:r>
              <a:rPr lang="en-US" sz="2200"/>
              <a:t>On PE, her temperature is 38.6°C (101.5°F), heart rate is 108 bpm, and blood pressure is 112/74 mmHg. Abdominal examination reveals a tender palpable, firm mass in the right lower quadrant with localized guarding.</a:t>
            </a:r>
          </a:p>
          <a:p>
            <a:r>
              <a:rPr lang="en-US" sz="2200"/>
              <a:t>A CT scan of the abdomen and pelvis with IV contrast demonstrates a </a:t>
            </a:r>
            <a:r>
              <a:rPr lang="en-US" sz="2200" u="sng"/>
              <a:t>ruptured appendix </a:t>
            </a:r>
            <a:r>
              <a:rPr lang="en-US" sz="2200"/>
              <a:t>with a well-circumscribed, 5.0 cm periappendiceal abscess.</a:t>
            </a:r>
          </a:p>
          <a:p>
            <a:endParaRPr lang="en-US" sz="2200"/>
          </a:p>
        </p:txBody>
      </p:sp>
    </p:spTree>
    <p:extLst>
      <p:ext uri="{BB962C8B-B14F-4D97-AF65-F5344CB8AC3E}">
        <p14:creationId xmlns:p14="http://schemas.microsoft.com/office/powerpoint/2010/main" val="515366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22EB1E-82DD-032D-0C75-79D5223E4310}"/>
              </a:ext>
            </a:extLst>
          </p:cNvPr>
          <p:cNvSpPr>
            <a:spLocks noGrp="1"/>
          </p:cNvSpPr>
          <p:nvPr>
            <p:ph type="title"/>
          </p:nvPr>
        </p:nvSpPr>
        <p:spPr>
          <a:xfrm>
            <a:off x="838200" y="365125"/>
            <a:ext cx="10515600" cy="1325563"/>
          </a:xfrm>
        </p:spPr>
        <p:txBody>
          <a:bodyPr>
            <a:normAutofit/>
          </a:bodyPr>
          <a:lstStyle/>
          <a:p>
            <a:r>
              <a:rPr lang="en-US" sz="4200"/>
              <a:t>Which of the following is the most appropriate </a:t>
            </a:r>
            <a:r>
              <a:rPr lang="en-US" sz="4200" b="1"/>
              <a:t>initial</a:t>
            </a:r>
            <a:r>
              <a:rPr lang="en-US" sz="4200"/>
              <a:t> management for this patient?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B6213AC-462C-F5FF-68D7-AAD7FB86E845}"/>
              </a:ext>
            </a:extLst>
          </p:cNvPr>
          <p:cNvSpPr>
            <a:spLocks noGrp="1"/>
          </p:cNvSpPr>
          <p:nvPr>
            <p:ph idx="1"/>
          </p:nvPr>
        </p:nvSpPr>
        <p:spPr>
          <a:xfrm>
            <a:off x="838200" y="1929384"/>
            <a:ext cx="10515600" cy="4251960"/>
          </a:xfrm>
        </p:spPr>
        <p:txBody>
          <a:bodyPr>
            <a:normAutofit/>
          </a:bodyPr>
          <a:lstStyle/>
          <a:p>
            <a:r>
              <a:rPr lang="en-US" sz="2200"/>
              <a:t>A) Immediate open appendectomy</a:t>
            </a:r>
          </a:p>
          <a:p>
            <a:pPr marL="0" indent="0">
              <a:buNone/>
            </a:pPr>
            <a:endParaRPr lang="en-US" sz="2200"/>
          </a:p>
          <a:p>
            <a:r>
              <a:rPr lang="en-US" sz="2200"/>
              <a:t>B) Immediate laparoscopic appendectomy</a:t>
            </a:r>
          </a:p>
          <a:p>
            <a:pPr marL="0" indent="0">
              <a:buNone/>
            </a:pPr>
            <a:endParaRPr lang="en-US" sz="2200"/>
          </a:p>
          <a:p>
            <a:r>
              <a:rPr lang="en-US" sz="2200"/>
              <a:t>C) Intravenous antibiotics and CT-guided percutaneous drainage</a:t>
            </a:r>
          </a:p>
          <a:p>
            <a:pPr marL="0" indent="0">
              <a:buNone/>
            </a:pPr>
            <a:endParaRPr lang="en-US" sz="2200"/>
          </a:p>
          <a:p>
            <a:r>
              <a:rPr lang="en-US" sz="2200"/>
              <a:t>D) Diagnostic laparoscopy with extensive peritoneal lavage</a:t>
            </a:r>
          </a:p>
          <a:p>
            <a:pPr marL="0" indent="0">
              <a:buNone/>
            </a:pPr>
            <a:endParaRPr lang="en-US" sz="2200"/>
          </a:p>
          <a:p>
            <a:r>
              <a:rPr lang="en-US" sz="2200"/>
              <a:t>E) Discharge home with a 14-day course of oral antibiotics</a:t>
            </a:r>
          </a:p>
          <a:p>
            <a:endParaRPr lang="en-US" sz="2200"/>
          </a:p>
        </p:txBody>
      </p:sp>
    </p:spTree>
    <p:extLst>
      <p:ext uri="{BB962C8B-B14F-4D97-AF65-F5344CB8AC3E}">
        <p14:creationId xmlns:p14="http://schemas.microsoft.com/office/powerpoint/2010/main" val="3115721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B9064D-783B-D005-A587-B2C4E00D8F91}"/>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000"/>
              <a:t>Mechanisms Review</a:t>
            </a:r>
          </a:p>
        </p:txBody>
      </p:sp>
      <p:sp>
        <p:nvSpPr>
          <p:cNvPr id="3" name="Text Placeholder 2">
            <a:extLst>
              <a:ext uri="{FF2B5EF4-FFF2-40B4-BE49-F238E27FC236}">
                <a16:creationId xmlns:a16="http://schemas.microsoft.com/office/drawing/2014/main" id="{14C3EF3B-6EB1-90DB-514C-632A5B11A135}"/>
              </a:ext>
            </a:extLst>
          </p:cNvPr>
          <p:cNvSpPr>
            <a:spLocks noGrp="1"/>
          </p:cNvSpPr>
          <p:nvPr>
            <p:ph type="body" idx="1"/>
          </p:nvPr>
        </p:nvSpPr>
        <p:spPr>
          <a:xfrm>
            <a:off x="890339" y="4636008"/>
            <a:ext cx="3734014" cy="1572768"/>
          </a:xfrm>
        </p:spPr>
        <p:txBody>
          <a:bodyPr vert="horz" lIns="91440" tIns="45720" rIns="91440" bIns="45720" rtlCol="0">
            <a:normAutofit/>
          </a:bodyPr>
          <a:lstStyle/>
          <a:p>
            <a:r>
              <a:rPr lang="en-US">
                <a:solidFill>
                  <a:schemeClr val="tx1"/>
                </a:solidFill>
              </a:rPr>
              <a:t>A&amp;P/Pathophysiology</a:t>
            </a:r>
          </a:p>
        </p:txBody>
      </p:sp>
      <p:sp>
        <p:nvSpPr>
          <p:cNvPr id="14"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Scan of a human brain in a neurology clinic">
            <a:extLst>
              <a:ext uri="{FF2B5EF4-FFF2-40B4-BE49-F238E27FC236}">
                <a16:creationId xmlns:a16="http://schemas.microsoft.com/office/drawing/2014/main" id="{6293A961-6408-E254-2AE1-C533EE59C8BC}"/>
              </a:ext>
            </a:extLst>
          </p:cNvPr>
          <p:cNvPicPr>
            <a:picLocks noChangeAspect="1"/>
          </p:cNvPicPr>
          <p:nvPr/>
        </p:nvPicPr>
        <p:blipFill>
          <a:blip r:embed="rId3"/>
          <a:srcRect l="24773"/>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393481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94FC4-4A6D-F0AA-688A-E5CA5B4E8A27}"/>
              </a:ext>
            </a:extLst>
          </p:cNvPr>
          <p:cNvSpPr>
            <a:spLocks noGrp="1"/>
          </p:cNvSpPr>
          <p:nvPr>
            <p:ph type="title"/>
          </p:nvPr>
        </p:nvSpPr>
        <p:spPr/>
        <p:txBody>
          <a:bodyPr/>
          <a:lstStyle/>
          <a:p>
            <a:r>
              <a:rPr lang="en-US" dirty="0"/>
              <a:t>Review of the Stomach/Duodenum and Small Intestine Anatomy</a:t>
            </a:r>
          </a:p>
        </p:txBody>
      </p:sp>
      <p:pic>
        <p:nvPicPr>
          <p:cNvPr id="4" name="Content Placeholder 3" descr="How Your Gastrointestinal Tract Works - MU Health Care">
            <a:extLst>
              <a:ext uri="{FF2B5EF4-FFF2-40B4-BE49-F238E27FC236}">
                <a16:creationId xmlns:a16="http://schemas.microsoft.com/office/drawing/2014/main" id="{0815E248-4A39-BA18-AA15-1344EF804191}"/>
              </a:ext>
            </a:extLst>
          </p:cNvPr>
          <p:cNvPicPr>
            <a:picLocks noGrp="1" noChangeAspect="1"/>
          </p:cNvPicPr>
          <p:nvPr>
            <p:ph idx="1"/>
          </p:nvPr>
        </p:nvPicPr>
        <p:blipFill>
          <a:blip r:embed="rId3"/>
          <a:stretch>
            <a:fillRect/>
          </a:stretch>
        </p:blipFill>
        <p:spPr>
          <a:xfrm>
            <a:off x="4199886" y="1851750"/>
            <a:ext cx="3792227" cy="4351338"/>
          </a:xfrm>
          <a:prstGeom prst="rect">
            <a:avLst/>
          </a:prstGeom>
        </p:spPr>
      </p:pic>
    </p:spTree>
    <p:extLst>
      <p:ext uri="{BB962C8B-B14F-4D97-AF65-F5344CB8AC3E}">
        <p14:creationId xmlns:p14="http://schemas.microsoft.com/office/powerpoint/2010/main" val="4264668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21E4F-8668-4586-FFC6-2EF7BE1C64E4}"/>
              </a:ext>
            </a:extLst>
          </p:cNvPr>
          <p:cNvSpPr>
            <a:spLocks noGrp="1"/>
          </p:cNvSpPr>
          <p:nvPr>
            <p:ph type="title"/>
          </p:nvPr>
        </p:nvSpPr>
        <p:spPr/>
        <p:txBody>
          <a:bodyPr/>
          <a:lstStyle/>
          <a:p>
            <a:r>
              <a:rPr lang="en-US" dirty="0"/>
              <a:t>Lining of the Stomach</a:t>
            </a:r>
          </a:p>
        </p:txBody>
      </p:sp>
      <p:pic>
        <p:nvPicPr>
          <p:cNvPr id="4" name="Content Placeholder 3" descr="What Is Gastritis? - Causes, Symptoms, &amp; Treatment | Study.com">
            <a:extLst>
              <a:ext uri="{FF2B5EF4-FFF2-40B4-BE49-F238E27FC236}">
                <a16:creationId xmlns:a16="http://schemas.microsoft.com/office/drawing/2014/main" id="{80C3D56E-54DC-DF51-ED41-646D952DB964}"/>
              </a:ext>
            </a:extLst>
          </p:cNvPr>
          <p:cNvPicPr>
            <a:picLocks noGrp="1" noChangeAspect="1"/>
          </p:cNvPicPr>
          <p:nvPr>
            <p:ph idx="1"/>
          </p:nvPr>
        </p:nvPicPr>
        <p:blipFill>
          <a:blip r:embed="rId2"/>
          <a:stretch>
            <a:fillRect/>
          </a:stretch>
        </p:blipFill>
        <p:spPr>
          <a:xfrm>
            <a:off x="2397760" y="2418080"/>
            <a:ext cx="7782560" cy="3332480"/>
          </a:xfrm>
          <a:prstGeom prst="rect">
            <a:avLst/>
          </a:prstGeom>
        </p:spPr>
      </p:pic>
    </p:spTree>
    <p:extLst>
      <p:ext uri="{BB962C8B-B14F-4D97-AF65-F5344CB8AC3E}">
        <p14:creationId xmlns:p14="http://schemas.microsoft.com/office/powerpoint/2010/main" val="4018998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248085-3805-4584-908B-65C3D7F114C8}"/>
              </a:ext>
            </a:extLst>
          </p:cNvPr>
          <p:cNvSpPr>
            <a:spLocks noGrp="1"/>
          </p:cNvSpPr>
          <p:nvPr>
            <p:ph type="sldNum" sz="quarter" idx="12"/>
          </p:nvPr>
        </p:nvSpPr>
        <p:spPr/>
        <p:txBody>
          <a:bodyPr/>
          <a:lstStyle/>
          <a:p>
            <a:fld id="{A5F20A65-3D46-45E0-8BDB-2F40D0418B32}" type="slidenum">
              <a:rPr lang="en-US" smtClean="0"/>
              <a:t>9</a:t>
            </a:fld>
            <a:endParaRPr lang="en-US" dirty="0"/>
          </a:p>
        </p:txBody>
      </p:sp>
      <p:pic>
        <p:nvPicPr>
          <p:cNvPr id="3074" name="Picture 2" descr="The Stomach – Anatomical Basis of Injury">
            <a:extLst>
              <a:ext uri="{FF2B5EF4-FFF2-40B4-BE49-F238E27FC236}">
                <a16:creationId xmlns:a16="http://schemas.microsoft.com/office/drawing/2014/main" id="{B2664204-4A88-4D93-A714-07D6B715717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24000" y="136526"/>
            <a:ext cx="9067800" cy="672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269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10A4D8-8350-4890-8643-8386AA83A0D5}"/>
              </a:ext>
            </a:extLst>
          </p:cNvPr>
          <p:cNvSpPr>
            <a:spLocks noGrp="1"/>
          </p:cNvSpPr>
          <p:nvPr>
            <p:ph type="sldNum" sz="quarter" idx="12"/>
          </p:nvPr>
        </p:nvSpPr>
        <p:spPr/>
        <p:txBody>
          <a:bodyPr/>
          <a:lstStyle/>
          <a:p>
            <a:fld id="{A5F20A65-3D46-45E0-8BDB-2F40D0418B32}" type="slidenum">
              <a:rPr lang="en-US" smtClean="0"/>
              <a:t>10</a:t>
            </a:fld>
            <a:endParaRPr lang="en-US" dirty="0"/>
          </a:p>
        </p:txBody>
      </p:sp>
      <p:pic>
        <p:nvPicPr>
          <p:cNvPr id="2050" name="Picture 2" descr="Lecture 22 the digestive tract | Human anatomy and physiology, Phlebotomy  study, Anatomy and physiology">
            <a:extLst>
              <a:ext uri="{FF2B5EF4-FFF2-40B4-BE49-F238E27FC236}">
                <a16:creationId xmlns:a16="http://schemas.microsoft.com/office/drawing/2014/main" id="{56B090C3-443E-4BCB-9130-1527D225F57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24000" y="1"/>
            <a:ext cx="9067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0719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 — MICROANATOMY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Gastric Mucosa: Specialized Cells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213361" y="2505097"/>
            <a:ext cx="6534344" cy="3758543"/>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gastric_mucosa_cells.jpeg"/>
          <p:cNvPicPr>
            <a:picLocks noChangeAspect="1"/>
          </p:cNvPicPr>
          <p:nvPr/>
        </p:nvPicPr>
        <p:blipFill>
          <a:blip r:embed="rId3"/>
          <a:stretch>
            <a:fillRect/>
          </a:stretch>
        </p:blipFill>
        <p:spPr>
          <a:xfrm>
            <a:off x="336902" y="2666286"/>
            <a:ext cx="6328877" cy="3368753"/>
          </a:xfrm>
          <a:prstGeom prst="rect">
            <a:avLst/>
          </a:prstGeom>
        </p:spPr>
      </p:pic>
      <p:sp>
        <p:nvSpPr>
          <p:cNvPr id="7" name="Text 4"/>
          <p:cNvSpPr/>
          <p:nvPr/>
        </p:nvSpPr>
        <p:spPr>
          <a:xfrm>
            <a:off x="7028120" y="1856232"/>
            <a:ext cx="4950519"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Mucous cells — protective mucus &amp; bicarbonate</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Parietal cells — HCl + intrinsic factor</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Chief cells — pepsinogen → pepsin: begins protein digestion</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G cells (antrum) — gastrin</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14 / 46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0857A79C-D63F-4B07-A31E-BD44818584F6}"/>
              </a:ext>
            </a:extLst>
          </p:cNvPr>
          <p:cNvSpPr>
            <a:spLocks noGrp="1"/>
          </p:cNvSpPr>
          <p:nvPr>
            <p:ph type="title"/>
          </p:nvPr>
        </p:nvSpPr>
        <p:spPr>
          <a:xfrm>
            <a:off x="640080" y="325369"/>
            <a:ext cx="4368602" cy="1956841"/>
          </a:xfrm>
        </p:spPr>
        <p:txBody>
          <a:bodyPr anchor="b">
            <a:normAutofit/>
          </a:bodyPr>
          <a:lstStyle/>
          <a:p>
            <a:r>
              <a:rPr lang="en-US" sz="4200"/>
              <a:t>Special Cells in the Gastric Mucosa</a:t>
            </a:r>
          </a:p>
        </p:txBody>
      </p:sp>
      <p:sp>
        <p:nvSpPr>
          <p:cNvPr id="1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40080" y="2872899"/>
            <a:ext cx="4243589" cy="3320668"/>
          </a:xfrm>
        </p:spPr>
        <p:txBody>
          <a:bodyPr>
            <a:normAutofit/>
          </a:bodyPr>
          <a:lstStyle/>
          <a:p>
            <a:r>
              <a:rPr lang="en-US" sz="1500" b="1" dirty="0"/>
              <a:t>Mucus cells:</a:t>
            </a:r>
          </a:p>
          <a:p>
            <a:pPr marL="457200" lvl="1" indent="0">
              <a:buNone/>
            </a:pPr>
            <a:r>
              <a:rPr lang="en-US" sz="1500" b="1" dirty="0"/>
              <a:t>1. Foveolar (surface mucus) cells </a:t>
            </a:r>
            <a:r>
              <a:rPr lang="en-US" sz="1500" dirty="0"/>
              <a:t>– cover the epithelial surface of the stomach</a:t>
            </a:r>
            <a:r>
              <a:rPr lang="en-US" sz="1500" b="1" dirty="0"/>
              <a:t>.</a:t>
            </a:r>
          </a:p>
          <a:p>
            <a:pPr marL="457200" lvl="1" indent="0">
              <a:buNone/>
            </a:pPr>
            <a:endParaRPr lang="en-US" sz="1500" b="1" dirty="0"/>
          </a:p>
          <a:p>
            <a:pPr marL="457200" lvl="1" indent="0">
              <a:buNone/>
            </a:pPr>
            <a:r>
              <a:rPr lang="en-US" sz="1500" b="1" dirty="0"/>
              <a:t>2. Mucus neck cells – </a:t>
            </a:r>
            <a:r>
              <a:rPr lang="en-US" sz="1500" dirty="0"/>
              <a:t>at the neck (upper portion) of the gastric pit/gland</a:t>
            </a:r>
            <a:r>
              <a:rPr lang="en-US" sz="1500" b="1" dirty="0"/>
              <a:t>.</a:t>
            </a:r>
          </a:p>
          <a:p>
            <a:pPr marL="457200" lvl="1" indent="0">
              <a:buNone/>
            </a:pPr>
            <a:endParaRPr lang="en-US" sz="1500" b="1" dirty="0"/>
          </a:p>
          <a:p>
            <a:pPr marL="457200" lvl="1" indent="0">
              <a:buNone/>
            </a:pPr>
            <a:r>
              <a:rPr lang="en-US" sz="1500" b="1" dirty="0">
                <a:solidFill>
                  <a:srgbClr val="FF0000"/>
                </a:solidFill>
              </a:rPr>
              <a:t>Function:  These cells secrete mucus and bicarbonate ions to help protect lining from autodigestion by HCl and pepsin</a:t>
            </a:r>
            <a:r>
              <a:rPr lang="en-US" sz="1500" b="1" dirty="0"/>
              <a:t>.</a:t>
            </a:r>
          </a:p>
        </p:txBody>
      </p:sp>
      <p:pic>
        <p:nvPicPr>
          <p:cNvPr id="9" name="Picture 8" descr="Microscopic view of cells">
            <a:extLst>
              <a:ext uri="{FF2B5EF4-FFF2-40B4-BE49-F238E27FC236}">
                <a16:creationId xmlns:a16="http://schemas.microsoft.com/office/drawing/2014/main" id="{ED6BEFA0-71C5-6714-3939-FB730673EA5B}"/>
              </a:ext>
            </a:extLst>
          </p:cNvPr>
          <p:cNvPicPr>
            <a:picLocks noChangeAspect="1"/>
          </p:cNvPicPr>
          <p:nvPr/>
        </p:nvPicPr>
        <p:blipFill>
          <a:blip r:embed="rId3"/>
          <a:srcRect l="10108" r="2319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Slide Number Placeholder 3"/>
          <p:cNvSpPr>
            <a:spLocks noGrp="1"/>
          </p:cNvSpPr>
          <p:nvPr>
            <p:ph type="sldNum" sz="quarter" idx="12"/>
          </p:nvPr>
        </p:nvSpPr>
        <p:spPr>
          <a:xfrm>
            <a:off x="10439400" y="6356350"/>
            <a:ext cx="914400" cy="365125"/>
          </a:xfrm>
        </p:spPr>
        <p:txBody>
          <a:bodyPr>
            <a:normAutofit/>
          </a:bodyPr>
          <a:lstStyle/>
          <a:p>
            <a:pPr>
              <a:spcAft>
                <a:spcPts val="600"/>
              </a:spcAft>
            </a:pPr>
            <a:fld id="{A5F20A65-3D46-45E0-8BDB-2F40D0418B32}" type="slidenum">
              <a:rPr lang="en-US">
                <a:solidFill>
                  <a:srgbClr val="FFFFFF"/>
                </a:solidFill>
              </a:rPr>
              <a:pPr>
                <a:spcAft>
                  <a:spcPts val="600"/>
                </a:spcAft>
              </a:pPr>
              <a:t>12</a:t>
            </a:fld>
            <a:endParaRPr lang="en-US">
              <a:solidFill>
                <a:srgbClr val="FFFFFF"/>
              </a:solidFill>
            </a:endParaRPr>
          </a:p>
        </p:txBody>
      </p:sp>
    </p:spTree>
    <p:extLst>
      <p:ext uri="{BB962C8B-B14F-4D97-AF65-F5344CB8AC3E}">
        <p14:creationId xmlns:p14="http://schemas.microsoft.com/office/powerpoint/2010/main" val="2439142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0857A79C-D63F-4B07-A31E-BD44818584F6}"/>
              </a:ext>
            </a:extLst>
          </p:cNvPr>
          <p:cNvSpPr>
            <a:spLocks noGrp="1"/>
          </p:cNvSpPr>
          <p:nvPr>
            <p:ph type="title"/>
          </p:nvPr>
        </p:nvSpPr>
        <p:spPr>
          <a:xfrm>
            <a:off x="572493" y="238539"/>
            <a:ext cx="11018520" cy="1434415"/>
          </a:xfrm>
        </p:spPr>
        <p:txBody>
          <a:bodyPr anchor="b">
            <a:normAutofit/>
          </a:bodyPr>
          <a:lstStyle/>
          <a:p>
            <a:r>
              <a:rPr lang="en-US" sz="5400"/>
              <a:t>Special Cells in the Gastric Mucosa</a:t>
            </a:r>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72493" y="2071316"/>
            <a:ext cx="6713552" cy="4119172"/>
          </a:xfrm>
        </p:spPr>
        <p:txBody>
          <a:bodyPr anchor="t">
            <a:normAutofit/>
          </a:bodyPr>
          <a:lstStyle/>
          <a:p>
            <a:r>
              <a:rPr lang="en-US" sz="2000" b="1" dirty="0"/>
              <a:t>Chief cells:</a:t>
            </a:r>
          </a:p>
          <a:p>
            <a:pPr lvl="1"/>
            <a:r>
              <a:rPr lang="en-US" sz="2000" b="1" dirty="0"/>
              <a:t>Located primarily in the fundus of the stomach</a:t>
            </a:r>
            <a:r>
              <a:rPr lang="en-US" sz="2000" dirty="0"/>
              <a:t>; stimulated by the </a:t>
            </a:r>
            <a:r>
              <a:rPr lang="en-US" sz="2000" dirty="0" err="1"/>
              <a:t>vagus</a:t>
            </a:r>
            <a:r>
              <a:rPr lang="en-US" sz="2000" dirty="0"/>
              <a:t> nerve and gastrin.</a:t>
            </a:r>
          </a:p>
          <a:p>
            <a:pPr marL="457200" lvl="1" indent="0">
              <a:buNone/>
            </a:pPr>
            <a:endParaRPr lang="en-US" sz="2000" b="1" dirty="0"/>
          </a:p>
          <a:p>
            <a:pPr lvl="1"/>
            <a:r>
              <a:rPr lang="en-US" sz="2000" b="1" dirty="0"/>
              <a:t>Chief cells secrete pepsinogen.</a:t>
            </a:r>
          </a:p>
          <a:p>
            <a:pPr lvl="2"/>
            <a:r>
              <a:rPr lang="en-US" dirty="0"/>
              <a:t>Pepsinogen is a proenzyme (inactive form) of </a:t>
            </a:r>
            <a:r>
              <a:rPr lang="en-US" u="sng" dirty="0"/>
              <a:t>pepsin</a:t>
            </a:r>
            <a:r>
              <a:rPr lang="en-US" b="1" dirty="0"/>
              <a:t>.</a:t>
            </a:r>
            <a:endParaRPr lang="en-US" dirty="0"/>
          </a:p>
          <a:p>
            <a:pPr lvl="2"/>
            <a:r>
              <a:rPr lang="en-US" dirty="0"/>
              <a:t>Pepsinogen is converted to pepsin by HCl (acidic environment).</a:t>
            </a:r>
          </a:p>
          <a:p>
            <a:pPr marL="457200" lvl="1" indent="0">
              <a:buNone/>
            </a:pPr>
            <a:endParaRPr lang="en-US" sz="2000" b="1" dirty="0"/>
          </a:p>
          <a:p>
            <a:pPr lvl="1"/>
            <a:r>
              <a:rPr lang="en-US" sz="2000" b="1" u="sng" dirty="0">
                <a:solidFill>
                  <a:srgbClr val="FF0000"/>
                </a:solidFill>
              </a:rPr>
              <a:t>Pepsin</a:t>
            </a:r>
            <a:r>
              <a:rPr lang="en-US" sz="2000" b="1" dirty="0">
                <a:solidFill>
                  <a:srgbClr val="FF0000"/>
                </a:solidFill>
              </a:rPr>
              <a:t> digests proteins</a:t>
            </a:r>
            <a:r>
              <a:rPr lang="en-US" sz="2000" dirty="0">
                <a:solidFill>
                  <a:srgbClr val="FF0000"/>
                </a:solidFill>
              </a:rPr>
              <a:t>.</a:t>
            </a:r>
          </a:p>
          <a:p>
            <a:pPr marL="57150" indent="0">
              <a:buNone/>
            </a:pPr>
            <a:endParaRPr lang="en-US" sz="2000" dirty="0"/>
          </a:p>
        </p:txBody>
      </p:sp>
      <p:pic>
        <p:nvPicPr>
          <p:cNvPr id="2" name="Picture 1" descr="Human stomach anatomy internal organ 3d rendering | Premium Photo">
            <a:extLst>
              <a:ext uri="{FF2B5EF4-FFF2-40B4-BE49-F238E27FC236}">
                <a16:creationId xmlns:a16="http://schemas.microsoft.com/office/drawing/2014/main" id="{13CE0CC5-ABFA-E408-6BFF-61E6D7BC08E3}"/>
              </a:ext>
            </a:extLst>
          </p:cNvPr>
          <p:cNvPicPr>
            <a:picLocks noChangeAspect="1"/>
          </p:cNvPicPr>
          <p:nvPr/>
        </p:nvPicPr>
        <p:blipFill>
          <a:blip r:embed="rId3"/>
          <a:srcRect l="3795" r="-3" b="-3"/>
          <a:stretch>
            <a:fillRect/>
          </a:stretch>
        </p:blipFill>
        <p:spPr>
          <a:xfrm>
            <a:off x="7675658" y="2093976"/>
            <a:ext cx="3941064" cy="4096512"/>
          </a:xfrm>
          <a:prstGeom prst="rect">
            <a:avLst/>
          </a:prstGeom>
        </p:spPr>
      </p:pic>
      <p:sp>
        <p:nvSpPr>
          <p:cNvPr id="4" name="Slide Number Placeholder 3"/>
          <p:cNvSpPr>
            <a:spLocks noGrp="1"/>
          </p:cNvSpPr>
          <p:nvPr>
            <p:ph type="sldNum" sz="quarter" idx="12"/>
          </p:nvPr>
        </p:nvSpPr>
        <p:spPr>
          <a:xfrm>
            <a:off x="8610600" y="6356350"/>
            <a:ext cx="2743200" cy="365125"/>
          </a:xfrm>
        </p:spPr>
        <p:txBody>
          <a:bodyPr>
            <a:normAutofit/>
          </a:bodyPr>
          <a:lstStyle/>
          <a:p>
            <a:pPr>
              <a:spcAft>
                <a:spcPts val="600"/>
              </a:spcAft>
            </a:pPr>
            <a:fld id="{A5F20A65-3D46-45E0-8BDB-2F40D0418B32}" type="slidenum">
              <a:rPr lang="en-US" smtClean="0"/>
              <a:pPr>
                <a:spcAft>
                  <a:spcPts val="600"/>
                </a:spcAft>
              </a:pPr>
              <a:t>13</a:t>
            </a:fld>
            <a:endParaRPr lang="en-US"/>
          </a:p>
        </p:txBody>
      </p:sp>
    </p:spTree>
    <p:extLst>
      <p:ext uri="{BB962C8B-B14F-4D97-AF65-F5344CB8AC3E}">
        <p14:creationId xmlns:p14="http://schemas.microsoft.com/office/powerpoint/2010/main" val="892898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773A98-870F-6276-ED99-DF9ED5A65E09}"/>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b="1"/>
              <a:t>Mystery Case</a:t>
            </a:r>
          </a:p>
        </p:txBody>
      </p:sp>
      <p:sp>
        <p:nvSpPr>
          <p:cNvPr id="3" name="Text Placeholder 2">
            <a:extLst>
              <a:ext uri="{FF2B5EF4-FFF2-40B4-BE49-F238E27FC236}">
                <a16:creationId xmlns:a16="http://schemas.microsoft.com/office/drawing/2014/main" id="{1D216CFB-9CAF-30CB-5C84-FD73B5857508}"/>
              </a:ext>
            </a:extLst>
          </p:cNvPr>
          <p:cNvSpPr>
            <a:spLocks noGrp="1"/>
          </p:cNvSpPr>
          <p:nvPr>
            <p:ph type="body" idx="1"/>
          </p:nvPr>
        </p:nvSpPr>
        <p:spPr>
          <a:xfrm>
            <a:off x="890339" y="4636008"/>
            <a:ext cx="3734014" cy="1572768"/>
          </a:xfrm>
        </p:spPr>
        <p:txBody>
          <a:bodyPr vert="horz" lIns="91440" tIns="45720" rIns="91440" bIns="45720" rtlCol="0">
            <a:normAutofit/>
          </a:bodyPr>
          <a:lstStyle/>
          <a:p>
            <a:endParaRPr lang="en-US">
              <a:solidFill>
                <a:schemeClr val="tx1"/>
              </a:solidFill>
            </a:endParaRPr>
          </a:p>
        </p:txBody>
      </p:sp>
      <p:sp>
        <p:nvSpPr>
          <p:cNvPr id="12"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780+ Adult Little Red Riding Hood Costume Stock Photos, Pictures &amp;  Royalty-Free Images - iStock">
            <a:extLst>
              <a:ext uri="{FF2B5EF4-FFF2-40B4-BE49-F238E27FC236}">
                <a16:creationId xmlns:a16="http://schemas.microsoft.com/office/drawing/2014/main" id="{78D69DDF-1449-9922-9F3E-182CAD0220DF}"/>
              </a:ext>
            </a:extLst>
          </p:cNvPr>
          <p:cNvPicPr>
            <a:picLocks noChangeAspect="1"/>
          </p:cNvPicPr>
          <p:nvPr/>
        </p:nvPicPr>
        <p:blipFill>
          <a:blip r:embed="rId3"/>
          <a:srcRect l="18121" r="14926"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671291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0F09CD-476B-1EF6-2B64-1FACF748DF8A}"/>
              </a:ext>
            </a:extLst>
          </p:cNvPr>
          <p:cNvSpPr>
            <a:spLocks noGrp="1"/>
          </p:cNvSpPr>
          <p:nvPr>
            <p:ph type="title"/>
          </p:nvPr>
        </p:nvSpPr>
        <p:spPr>
          <a:xfrm>
            <a:off x="640080" y="325369"/>
            <a:ext cx="4368602" cy="1956841"/>
          </a:xfrm>
        </p:spPr>
        <p:txBody>
          <a:bodyPr anchor="b">
            <a:normAutofit/>
          </a:bodyPr>
          <a:lstStyle/>
          <a:p>
            <a:r>
              <a:rPr lang="en-US" sz="5400" b="1"/>
              <a:t>Mystery Case</a:t>
            </a:r>
            <a:endParaRPr lang="en-US" sz="5400"/>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E70A254-DEE0-396A-8CC6-2766ABE0A310}"/>
              </a:ext>
            </a:extLst>
          </p:cNvPr>
          <p:cNvSpPr>
            <a:spLocks noGrp="1"/>
          </p:cNvSpPr>
          <p:nvPr>
            <p:ph idx="1"/>
          </p:nvPr>
        </p:nvSpPr>
        <p:spPr>
          <a:xfrm>
            <a:off x="640080" y="2872899"/>
            <a:ext cx="4243589" cy="3320668"/>
          </a:xfrm>
        </p:spPr>
        <p:txBody>
          <a:bodyPr>
            <a:normAutofit/>
          </a:bodyPr>
          <a:lstStyle/>
          <a:p>
            <a:r>
              <a:rPr lang="en-US" sz="2000" dirty="0"/>
              <a:t>Ms. Riding Hood is a 24 year old female with no significant PMH.  She comes to the clinic today with </a:t>
            </a:r>
            <a:r>
              <a:rPr lang="en-US" sz="2000" b="1" u="sng" dirty="0">
                <a:solidFill>
                  <a:srgbClr val="FF0000"/>
                </a:solidFill>
              </a:rPr>
              <a:t>burning epigastric </a:t>
            </a:r>
            <a:r>
              <a:rPr lang="en-US" sz="2000" b="1" u="sng" dirty="0" err="1">
                <a:solidFill>
                  <a:srgbClr val="FF0000"/>
                </a:solidFill>
              </a:rPr>
              <a:t>abd</a:t>
            </a:r>
            <a:r>
              <a:rPr lang="en-US" sz="2000" b="1" u="sng" dirty="0">
                <a:solidFill>
                  <a:srgbClr val="FF0000"/>
                </a:solidFill>
              </a:rPr>
              <a:t> pain, nausea, vomiting, bloating, early satiety </a:t>
            </a:r>
            <a:r>
              <a:rPr lang="en-US" sz="2000" dirty="0"/>
              <a:t>for the past 3 weeks. </a:t>
            </a:r>
          </a:p>
          <a:p>
            <a:endParaRPr lang="en-US" sz="2000" dirty="0"/>
          </a:p>
          <a:p>
            <a:r>
              <a:rPr lang="en-US" sz="2000" dirty="0"/>
              <a:t>What disease does Ms. Hood have?</a:t>
            </a:r>
          </a:p>
        </p:txBody>
      </p:sp>
      <p:pic>
        <p:nvPicPr>
          <p:cNvPr id="5" name="Picture 4" descr="780+ Adult Little Red Riding Hood Costume Stock Photos, Pictures &amp;  Royalty-Free Images - iStock">
            <a:extLst>
              <a:ext uri="{FF2B5EF4-FFF2-40B4-BE49-F238E27FC236}">
                <a16:creationId xmlns:a16="http://schemas.microsoft.com/office/drawing/2014/main" id="{75F15FD5-A2D6-B799-0D97-965FC71C59F9}"/>
              </a:ext>
            </a:extLst>
          </p:cNvPr>
          <p:cNvPicPr>
            <a:picLocks noChangeAspect="1"/>
          </p:cNvPicPr>
          <p:nvPr/>
        </p:nvPicPr>
        <p:blipFill>
          <a:blip r:embed="rId3"/>
          <a:srcRect l="18121" r="14926"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155777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8CF854-A1B6-CD9F-43B9-5F810B945BE6}"/>
              </a:ext>
            </a:extLst>
          </p:cNvPr>
          <p:cNvSpPr>
            <a:spLocks noGrp="1"/>
          </p:cNvSpPr>
          <p:nvPr>
            <p:ph type="title"/>
          </p:nvPr>
        </p:nvSpPr>
        <p:spPr>
          <a:xfrm>
            <a:off x="572493" y="238539"/>
            <a:ext cx="11018520" cy="1434415"/>
          </a:xfrm>
        </p:spPr>
        <p:txBody>
          <a:bodyPr anchor="b">
            <a:normAutofit/>
          </a:bodyPr>
          <a:lstStyle/>
          <a:p>
            <a:r>
              <a:rPr lang="en-US" sz="5000"/>
              <a:t>Diseases of the Stomach and Duodenum</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FBCF397-4C2D-BBE4-DF12-DB029AE6A2DD}"/>
              </a:ext>
            </a:extLst>
          </p:cNvPr>
          <p:cNvSpPr>
            <a:spLocks noGrp="1"/>
          </p:cNvSpPr>
          <p:nvPr>
            <p:ph idx="1"/>
          </p:nvPr>
        </p:nvSpPr>
        <p:spPr>
          <a:xfrm>
            <a:off x="572493" y="2071316"/>
            <a:ext cx="6713552" cy="4119172"/>
          </a:xfrm>
        </p:spPr>
        <p:txBody>
          <a:bodyPr anchor="t">
            <a:normAutofit/>
          </a:bodyPr>
          <a:lstStyle/>
          <a:p>
            <a:r>
              <a:rPr lang="en-US" sz="2200" b="1" dirty="0">
                <a:solidFill>
                  <a:srgbClr val="FF0000"/>
                </a:solidFill>
              </a:rPr>
              <a:t>Gastritis </a:t>
            </a:r>
          </a:p>
          <a:p>
            <a:r>
              <a:rPr lang="en-US" sz="2200" b="1" dirty="0">
                <a:solidFill>
                  <a:srgbClr val="FF0000"/>
                </a:solidFill>
              </a:rPr>
              <a:t>Gastroparesis</a:t>
            </a:r>
          </a:p>
          <a:p>
            <a:r>
              <a:rPr lang="en-US" sz="2200" b="1" dirty="0">
                <a:solidFill>
                  <a:srgbClr val="FF0000"/>
                </a:solidFill>
              </a:rPr>
              <a:t>Peptic ulcer disease</a:t>
            </a:r>
          </a:p>
          <a:p>
            <a:r>
              <a:rPr lang="en-US" sz="2200" b="1" dirty="0">
                <a:solidFill>
                  <a:srgbClr val="FF0000"/>
                </a:solidFill>
              </a:rPr>
              <a:t>Pyloric stenosis</a:t>
            </a:r>
          </a:p>
          <a:p>
            <a:r>
              <a:rPr lang="en-US" sz="2200" b="1" dirty="0">
                <a:solidFill>
                  <a:srgbClr val="FF0000"/>
                </a:solidFill>
              </a:rPr>
              <a:t>Gastrointestinal Bleeding</a:t>
            </a:r>
          </a:p>
          <a:p>
            <a:endParaRPr lang="en-US" sz="2200" b="1" dirty="0"/>
          </a:p>
          <a:p>
            <a:endParaRPr lang="en-US" sz="2200" dirty="0"/>
          </a:p>
        </p:txBody>
      </p:sp>
      <p:pic>
        <p:nvPicPr>
          <p:cNvPr id="4" name="Picture 3" descr="Human stomach anatomy internal organ 3d rendering | Premium Photo">
            <a:extLst>
              <a:ext uri="{FF2B5EF4-FFF2-40B4-BE49-F238E27FC236}">
                <a16:creationId xmlns:a16="http://schemas.microsoft.com/office/drawing/2014/main" id="{8C65207A-94A3-0F01-1E2F-8780E55E39A0}"/>
              </a:ext>
            </a:extLst>
          </p:cNvPr>
          <p:cNvPicPr>
            <a:picLocks noChangeAspect="1"/>
          </p:cNvPicPr>
          <p:nvPr/>
        </p:nvPicPr>
        <p:blipFill>
          <a:blip r:embed="rId2"/>
          <a:srcRect l="3795" r="-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235946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3A2611-FCCC-C6CF-49AB-3113186C9594}"/>
              </a:ext>
            </a:extLst>
          </p:cNvPr>
          <p:cNvSpPr>
            <a:spLocks noGrp="1"/>
          </p:cNvSpPr>
          <p:nvPr>
            <p:ph type="title"/>
          </p:nvPr>
        </p:nvSpPr>
        <p:spPr>
          <a:xfrm>
            <a:off x="640080" y="320040"/>
            <a:ext cx="6692827" cy="3892669"/>
          </a:xfrm>
        </p:spPr>
        <p:txBody>
          <a:bodyPr vert="horz" lIns="91440" tIns="45720" rIns="91440" bIns="45720" rtlCol="0" anchor="b">
            <a:normAutofit/>
          </a:bodyPr>
          <a:lstStyle/>
          <a:p>
            <a:r>
              <a:rPr lang="en-US" sz="6600" b="1" i="1" kern="1200" dirty="0">
                <a:solidFill>
                  <a:srgbClr val="FF0000"/>
                </a:solidFill>
                <a:latin typeface="+mj-lt"/>
                <a:ea typeface="+mj-ea"/>
                <a:cs typeface="+mj-cs"/>
              </a:rPr>
              <a:t>Gastritis</a:t>
            </a:r>
          </a:p>
        </p:txBody>
      </p:sp>
      <p:sp>
        <p:nvSpPr>
          <p:cNvPr id="3" name="Text Placeholder 2">
            <a:extLst>
              <a:ext uri="{FF2B5EF4-FFF2-40B4-BE49-F238E27FC236}">
                <a16:creationId xmlns:a16="http://schemas.microsoft.com/office/drawing/2014/main" id="{7A8591EE-3840-FEC8-3E2E-116111057F7D}"/>
              </a:ext>
            </a:extLst>
          </p:cNvPr>
          <p:cNvSpPr>
            <a:spLocks noGrp="1"/>
          </p:cNvSpPr>
          <p:nvPr>
            <p:ph type="body" idx="1"/>
          </p:nvPr>
        </p:nvSpPr>
        <p:spPr>
          <a:xfrm>
            <a:off x="640080" y="4631161"/>
            <a:ext cx="6692827" cy="1569486"/>
          </a:xfrm>
        </p:spPr>
        <p:txBody>
          <a:bodyPr vert="horz" lIns="91440" tIns="45720" rIns="91440" bIns="45720" rtlCol="0">
            <a:normAutofit/>
          </a:bodyPr>
          <a:lstStyle/>
          <a:p>
            <a:r>
              <a:rPr lang="en-US" b="1" i="1" u="sng" kern="1200">
                <a:solidFill>
                  <a:schemeClr val="tx1"/>
                </a:solidFill>
                <a:latin typeface="+mn-lt"/>
                <a:ea typeface="+mn-ea"/>
                <a:cs typeface="+mn-cs"/>
              </a:rPr>
              <a:t>Medical Terminology: </a:t>
            </a:r>
          </a:p>
          <a:p>
            <a:r>
              <a:rPr lang="en-US" b="1" kern="1200">
                <a:solidFill>
                  <a:schemeClr val="tx1"/>
                </a:solidFill>
                <a:latin typeface="+mn-lt"/>
                <a:ea typeface="+mn-ea"/>
                <a:cs typeface="+mn-cs"/>
              </a:rPr>
              <a:t>Gastro</a:t>
            </a:r>
            <a:r>
              <a:rPr lang="en-US" kern="1200">
                <a:solidFill>
                  <a:schemeClr val="tx1"/>
                </a:solidFill>
                <a:latin typeface="+mn-lt"/>
                <a:ea typeface="+mn-ea"/>
                <a:cs typeface="+mn-cs"/>
              </a:rPr>
              <a:t>-Meaning: Pertaining to the stomach. </a:t>
            </a:r>
          </a:p>
          <a:p>
            <a:r>
              <a:rPr lang="en-US" b="1" kern="1200">
                <a:solidFill>
                  <a:schemeClr val="tx1"/>
                </a:solidFill>
                <a:latin typeface="+mn-lt"/>
                <a:ea typeface="+mn-ea"/>
                <a:cs typeface="+mn-cs"/>
              </a:rPr>
              <a:t>-itis</a:t>
            </a:r>
            <a:r>
              <a:rPr lang="en-US" kern="1200">
                <a:solidFill>
                  <a:schemeClr val="tx1"/>
                </a:solidFill>
                <a:latin typeface="+mn-lt"/>
                <a:ea typeface="+mn-ea"/>
                <a:cs typeface="+mn-cs"/>
              </a:rPr>
              <a:t> (Suffix) Meaning: inflammation</a:t>
            </a:r>
          </a:p>
          <a:p>
            <a:endParaRPr lang="en-US" kern="1200">
              <a:solidFill>
                <a:schemeClr val="tx1"/>
              </a:solidFill>
              <a:latin typeface="+mn-lt"/>
              <a:ea typeface="+mn-ea"/>
              <a:cs typeface="+mn-cs"/>
            </a:endParaRPr>
          </a:p>
        </p:txBody>
      </p:sp>
      <p:sp>
        <p:nvSpPr>
          <p:cNvPr id="2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Human stomach anatomy internal organ 3d rendering | Premium Photo">
            <a:extLst>
              <a:ext uri="{FF2B5EF4-FFF2-40B4-BE49-F238E27FC236}">
                <a16:creationId xmlns:a16="http://schemas.microsoft.com/office/drawing/2014/main" id="{369535CD-668B-6D67-847D-377BAA5EDA22}"/>
              </a:ext>
            </a:extLst>
          </p:cNvPr>
          <p:cNvPicPr>
            <a:picLocks noChangeAspect="1"/>
          </p:cNvPicPr>
          <p:nvPr/>
        </p:nvPicPr>
        <p:blipFill>
          <a:blip r:embed="rId2"/>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2839462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CA815F2C-4E80-4019-8E59-FAD3F7F847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009304" cy="6858000"/>
          </a:xfrm>
          <a:custGeom>
            <a:avLst/>
            <a:gdLst>
              <a:gd name="connsiteX0" fmla="*/ 8239723 w 12009304"/>
              <a:gd name="connsiteY0" fmla="*/ 5083103 h 6858000"/>
              <a:gd name="connsiteX1" fmla="*/ 9505105 w 12009304"/>
              <a:gd name="connsiteY1" fmla="*/ 5083103 h 6858000"/>
              <a:gd name="connsiteX2" fmla="*/ 9564676 w 12009304"/>
              <a:gd name="connsiteY2" fmla="*/ 5091016 h 6858000"/>
              <a:gd name="connsiteX3" fmla="*/ 9605648 w 12009304"/>
              <a:gd name="connsiteY3" fmla="*/ 5108194 h 6858000"/>
              <a:gd name="connsiteX4" fmla="*/ 9580608 w 12009304"/>
              <a:gd name="connsiteY4" fmla="*/ 5151499 h 6858000"/>
              <a:gd name="connsiteX5" fmla="*/ 8693486 w 12009304"/>
              <a:gd name="connsiteY5" fmla="*/ 6685800 h 6858000"/>
              <a:gd name="connsiteX6" fmla="*/ 8595419 w 12009304"/>
              <a:gd name="connsiteY6" fmla="*/ 6814017 h 6858000"/>
              <a:gd name="connsiteX7" fmla="*/ 8545620 w 12009304"/>
              <a:gd name="connsiteY7" fmla="*/ 6858000 h 6858000"/>
              <a:gd name="connsiteX8" fmla="*/ 7612173 w 12009304"/>
              <a:gd name="connsiteY8" fmla="*/ 6858000 h 6858000"/>
              <a:gd name="connsiteX9" fmla="*/ 7591825 w 12009304"/>
              <a:gd name="connsiteY9" fmla="*/ 6822959 h 6858000"/>
              <a:gd name="connsiteX10" fmla="*/ 7411622 w 12009304"/>
              <a:gd name="connsiteY10" fmla="*/ 6512633 h 6858000"/>
              <a:gd name="connsiteX11" fmla="*/ 7411622 w 12009304"/>
              <a:gd name="connsiteY11" fmla="*/ 6289354 h 6858000"/>
              <a:gd name="connsiteX12" fmla="*/ 8045680 w 12009304"/>
              <a:gd name="connsiteY12" fmla="*/ 5197465 h 6858000"/>
              <a:gd name="connsiteX13" fmla="*/ 8239723 w 12009304"/>
              <a:gd name="connsiteY13" fmla="*/ 5083103 h 6858000"/>
              <a:gd name="connsiteX14" fmla="*/ 10622296 w 12009304"/>
              <a:gd name="connsiteY14" fmla="*/ 1326563 h 6858000"/>
              <a:gd name="connsiteX15" fmla="*/ 11448522 w 12009304"/>
              <a:gd name="connsiteY15" fmla="*/ 1326563 h 6858000"/>
              <a:gd name="connsiteX16" fmla="*/ 11577006 w 12009304"/>
              <a:gd name="connsiteY16" fmla="*/ 1401233 h 6858000"/>
              <a:gd name="connsiteX17" fmla="*/ 11989228 w 12009304"/>
              <a:gd name="connsiteY17" fmla="*/ 2114179 h 6858000"/>
              <a:gd name="connsiteX18" fmla="*/ 11989228 w 12009304"/>
              <a:gd name="connsiteY18" fmla="*/ 2259969 h 6858000"/>
              <a:gd name="connsiteX19" fmla="*/ 11577006 w 12009304"/>
              <a:gd name="connsiteY19" fmla="*/ 2972914 h 6858000"/>
              <a:gd name="connsiteX20" fmla="*/ 11448522 w 12009304"/>
              <a:gd name="connsiteY20" fmla="*/ 3047587 h 6858000"/>
              <a:gd name="connsiteX21" fmla="*/ 10622296 w 12009304"/>
              <a:gd name="connsiteY21" fmla="*/ 3047587 h 6858000"/>
              <a:gd name="connsiteX22" fmla="*/ 10495594 w 12009304"/>
              <a:gd name="connsiteY22" fmla="*/ 2972914 h 6858000"/>
              <a:gd name="connsiteX23" fmla="*/ 10081589 w 12009304"/>
              <a:gd name="connsiteY23" fmla="*/ 2259969 h 6858000"/>
              <a:gd name="connsiteX24" fmla="*/ 10081589 w 12009304"/>
              <a:gd name="connsiteY24" fmla="*/ 2114179 h 6858000"/>
              <a:gd name="connsiteX25" fmla="*/ 10495594 w 12009304"/>
              <a:gd name="connsiteY25" fmla="*/ 1401233 h 6858000"/>
              <a:gd name="connsiteX26" fmla="*/ 10622296 w 12009304"/>
              <a:gd name="connsiteY26" fmla="*/ 1326563 h 6858000"/>
              <a:gd name="connsiteX27" fmla="*/ 0 w 12009304"/>
              <a:gd name="connsiteY27" fmla="*/ 0 h 6858000"/>
              <a:gd name="connsiteX28" fmla="*/ 4457990 w 12009304"/>
              <a:gd name="connsiteY28" fmla="*/ 0 h 6858000"/>
              <a:gd name="connsiteX29" fmla="*/ 5902610 w 12009304"/>
              <a:gd name="connsiteY29" fmla="*/ 0 h 6858000"/>
              <a:gd name="connsiteX30" fmla="*/ 8476869 w 12009304"/>
              <a:gd name="connsiteY30" fmla="*/ 0 h 6858000"/>
              <a:gd name="connsiteX31" fmla="*/ 8535933 w 12009304"/>
              <a:gd name="connsiteY31" fmla="*/ 39849 h 6858000"/>
              <a:gd name="connsiteX32" fmla="*/ 8693486 w 12009304"/>
              <a:gd name="connsiteY32" fmla="*/ 220603 h 6858000"/>
              <a:gd name="connsiteX33" fmla="*/ 10389180 w 12009304"/>
              <a:gd name="connsiteY33" fmla="*/ 3153347 h 6858000"/>
              <a:gd name="connsiteX34" fmla="*/ 10389180 w 12009304"/>
              <a:gd name="connsiteY34" fmla="*/ 3753061 h 6858000"/>
              <a:gd name="connsiteX35" fmla="*/ 9759557 w 12009304"/>
              <a:gd name="connsiteY35" fmla="*/ 4842009 h 6858000"/>
              <a:gd name="connsiteX36" fmla="*/ 9706493 w 12009304"/>
              <a:gd name="connsiteY36" fmla="*/ 4933778 h 6858000"/>
              <a:gd name="connsiteX37" fmla="*/ 9708360 w 12009304"/>
              <a:gd name="connsiteY37" fmla="*/ 4934561 h 6858000"/>
              <a:gd name="connsiteX38" fmla="*/ 9802002 w 12009304"/>
              <a:gd name="connsiteY38" fmla="*/ 5029008 h 6858000"/>
              <a:gd name="connsiteX39" fmla="*/ 10514131 w 12009304"/>
              <a:gd name="connsiteY39" fmla="*/ 6260653 h 6858000"/>
              <a:gd name="connsiteX40" fmla="*/ 10514131 w 12009304"/>
              <a:gd name="connsiteY40" fmla="*/ 6512512 h 6858000"/>
              <a:gd name="connsiteX41" fmla="*/ 10340271 w 12009304"/>
              <a:gd name="connsiteY41" fmla="*/ 6813206 h 6858000"/>
              <a:gd name="connsiteX42" fmla="*/ 10314372 w 12009304"/>
              <a:gd name="connsiteY42" fmla="*/ 6858000 h 6858000"/>
              <a:gd name="connsiteX43" fmla="*/ 10119136 w 12009304"/>
              <a:gd name="connsiteY43" fmla="*/ 6858000 h 6858000"/>
              <a:gd name="connsiteX44" fmla="*/ 10122008 w 12009304"/>
              <a:gd name="connsiteY44" fmla="*/ 6853033 h 6858000"/>
              <a:gd name="connsiteX45" fmla="*/ 10327158 w 12009304"/>
              <a:gd name="connsiteY45" fmla="*/ 6498223 h 6858000"/>
              <a:gd name="connsiteX46" fmla="*/ 10327158 w 12009304"/>
              <a:gd name="connsiteY46" fmla="*/ 6274942 h 6858000"/>
              <a:gd name="connsiteX47" fmla="*/ 9695832 w 12009304"/>
              <a:gd name="connsiteY47" fmla="*/ 5183053 h 6858000"/>
              <a:gd name="connsiteX48" fmla="*/ 9612819 w 12009304"/>
              <a:gd name="connsiteY48" fmla="*/ 5099323 h 6858000"/>
              <a:gd name="connsiteX49" fmla="*/ 9603213 w 12009304"/>
              <a:gd name="connsiteY49" fmla="*/ 5095298 h 6858000"/>
              <a:gd name="connsiteX50" fmla="*/ 9654707 w 12009304"/>
              <a:gd name="connsiteY50" fmla="*/ 5006238 h 6858000"/>
              <a:gd name="connsiteX51" fmla="*/ 9693004 w 12009304"/>
              <a:gd name="connsiteY51" fmla="*/ 4940002 h 6858000"/>
              <a:gd name="connsiteX52" fmla="*/ 9653283 w 12009304"/>
              <a:gd name="connsiteY52" fmla="*/ 4923348 h 6858000"/>
              <a:gd name="connsiteX53" fmla="*/ 9586087 w 12009304"/>
              <a:gd name="connsiteY53" fmla="*/ 4914420 h 6858000"/>
              <a:gd name="connsiteX54" fmla="*/ 8158743 w 12009304"/>
              <a:gd name="connsiteY54" fmla="*/ 4914420 h 6858000"/>
              <a:gd name="connsiteX55" fmla="*/ 7939863 w 12009304"/>
              <a:gd name="connsiteY55" fmla="*/ 5043420 h 6858000"/>
              <a:gd name="connsiteX56" fmla="*/ 7224650 w 12009304"/>
              <a:gd name="connsiteY56" fmla="*/ 6275065 h 6858000"/>
              <a:gd name="connsiteX57" fmla="*/ 7224650 w 12009304"/>
              <a:gd name="connsiteY57" fmla="*/ 6526922 h 6858000"/>
              <a:gd name="connsiteX58" fmla="*/ 7350544 w 12009304"/>
              <a:gd name="connsiteY58" fmla="*/ 6743723 h 6858000"/>
              <a:gd name="connsiteX59" fmla="*/ 7416905 w 12009304"/>
              <a:gd name="connsiteY59" fmla="*/ 6858000 h 6858000"/>
              <a:gd name="connsiteX60" fmla="*/ 5902610 w 12009304"/>
              <a:gd name="connsiteY60" fmla="*/ 6858000 h 6858000"/>
              <a:gd name="connsiteX61" fmla="*/ 4389357 w 12009304"/>
              <a:gd name="connsiteY61" fmla="*/ 6858000 h 6858000"/>
              <a:gd name="connsiteX62" fmla="*/ 0 w 12009304"/>
              <a:gd name="connsiteY6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2009304" h="6858000">
                <a:moveTo>
                  <a:pt x="8239723" y="5083103"/>
                </a:moveTo>
                <a:cubicBezTo>
                  <a:pt x="8239723" y="5083103"/>
                  <a:pt x="8239723" y="5083103"/>
                  <a:pt x="9505105" y="5083103"/>
                </a:cubicBezTo>
                <a:cubicBezTo>
                  <a:pt x="9525601" y="5083103"/>
                  <a:pt x="9545588" y="5085825"/>
                  <a:pt x="9564676" y="5091016"/>
                </a:cubicBezTo>
                <a:lnTo>
                  <a:pt x="9605648" y="5108194"/>
                </a:lnTo>
                <a:lnTo>
                  <a:pt x="9580608" y="5151499"/>
                </a:lnTo>
                <a:cubicBezTo>
                  <a:pt x="9354208" y="5543062"/>
                  <a:pt x="9064418" y="6044264"/>
                  <a:pt x="8693486" y="6685800"/>
                </a:cubicBezTo>
                <a:cubicBezTo>
                  <a:pt x="8665958" y="6733339"/>
                  <a:pt x="8632925" y="6776306"/>
                  <a:pt x="8595419" y="6814017"/>
                </a:cubicBezTo>
                <a:lnTo>
                  <a:pt x="8545620" y="6858000"/>
                </a:lnTo>
                <a:lnTo>
                  <a:pt x="7612173" y="6858000"/>
                </a:lnTo>
                <a:lnTo>
                  <a:pt x="7591825" y="6822959"/>
                </a:lnTo>
                <a:cubicBezTo>
                  <a:pt x="7538315" y="6730809"/>
                  <a:pt x="7478495" y="6627794"/>
                  <a:pt x="7411622" y="6512633"/>
                </a:cubicBezTo>
                <a:cubicBezTo>
                  <a:pt x="7370628" y="6444560"/>
                  <a:pt x="7370628" y="6357427"/>
                  <a:pt x="7411622" y="6289354"/>
                </a:cubicBezTo>
                <a:cubicBezTo>
                  <a:pt x="7411622" y="6289354"/>
                  <a:pt x="7411622" y="6289354"/>
                  <a:pt x="8045680" y="5197465"/>
                </a:cubicBezTo>
                <a:cubicBezTo>
                  <a:pt x="8083943" y="5126669"/>
                  <a:pt x="8160465" y="5083103"/>
                  <a:pt x="8239723" y="5083103"/>
                </a:cubicBezTo>
                <a:close/>
                <a:moveTo>
                  <a:pt x="10622296" y="1326563"/>
                </a:moveTo>
                <a:cubicBezTo>
                  <a:pt x="10622296" y="1326563"/>
                  <a:pt x="10622296" y="1326563"/>
                  <a:pt x="11448522" y="1326563"/>
                </a:cubicBezTo>
                <a:cubicBezTo>
                  <a:pt x="11502058" y="1326563"/>
                  <a:pt x="11550238" y="1355009"/>
                  <a:pt x="11577006" y="1401233"/>
                </a:cubicBezTo>
                <a:cubicBezTo>
                  <a:pt x="11577006" y="1401233"/>
                  <a:pt x="11577006" y="1401233"/>
                  <a:pt x="11989228" y="2114179"/>
                </a:cubicBezTo>
                <a:cubicBezTo>
                  <a:pt x="12015996" y="2158629"/>
                  <a:pt x="12015996" y="2215522"/>
                  <a:pt x="11989228" y="2259969"/>
                </a:cubicBezTo>
                <a:cubicBezTo>
                  <a:pt x="11989228" y="2259969"/>
                  <a:pt x="11989228" y="2259969"/>
                  <a:pt x="11577006" y="2972914"/>
                </a:cubicBezTo>
                <a:cubicBezTo>
                  <a:pt x="11550238" y="3019141"/>
                  <a:pt x="11502058" y="3047587"/>
                  <a:pt x="11448522" y="3047587"/>
                </a:cubicBezTo>
                <a:cubicBezTo>
                  <a:pt x="11448522" y="3047587"/>
                  <a:pt x="11448522" y="3047587"/>
                  <a:pt x="10622296" y="3047587"/>
                </a:cubicBezTo>
                <a:cubicBezTo>
                  <a:pt x="10570544" y="3047587"/>
                  <a:pt x="10520578" y="3019141"/>
                  <a:pt x="10495594" y="2972914"/>
                </a:cubicBezTo>
                <a:cubicBezTo>
                  <a:pt x="10495594" y="2972914"/>
                  <a:pt x="10495594" y="2972914"/>
                  <a:pt x="10081589" y="2259969"/>
                </a:cubicBezTo>
                <a:cubicBezTo>
                  <a:pt x="10054821" y="2215522"/>
                  <a:pt x="10054821" y="2158629"/>
                  <a:pt x="10081589" y="2114179"/>
                </a:cubicBezTo>
                <a:cubicBezTo>
                  <a:pt x="10081589" y="2114179"/>
                  <a:pt x="10081589" y="2114179"/>
                  <a:pt x="10495594" y="1401233"/>
                </a:cubicBezTo>
                <a:cubicBezTo>
                  <a:pt x="10520578" y="1355009"/>
                  <a:pt x="10570544" y="1326563"/>
                  <a:pt x="10622296" y="1326563"/>
                </a:cubicBezTo>
                <a:close/>
                <a:moveTo>
                  <a:pt x="0" y="0"/>
                </a:moveTo>
                <a:lnTo>
                  <a:pt x="4457990" y="0"/>
                </a:lnTo>
                <a:lnTo>
                  <a:pt x="5902610" y="0"/>
                </a:lnTo>
                <a:lnTo>
                  <a:pt x="8476869" y="0"/>
                </a:lnTo>
                <a:lnTo>
                  <a:pt x="8535933" y="39849"/>
                </a:lnTo>
                <a:cubicBezTo>
                  <a:pt x="8598516" y="88273"/>
                  <a:pt x="8652195" y="149296"/>
                  <a:pt x="8693486" y="220603"/>
                </a:cubicBezTo>
                <a:cubicBezTo>
                  <a:pt x="8693486" y="220603"/>
                  <a:pt x="8693486" y="220603"/>
                  <a:pt x="10389180" y="3153347"/>
                </a:cubicBezTo>
                <a:cubicBezTo>
                  <a:pt x="10499291" y="3336185"/>
                  <a:pt x="10499291" y="3570221"/>
                  <a:pt x="10389180" y="3753061"/>
                </a:cubicBezTo>
                <a:cubicBezTo>
                  <a:pt x="10389180" y="3753061"/>
                  <a:pt x="10389180" y="3753061"/>
                  <a:pt x="9759557" y="4842009"/>
                </a:cubicBezTo>
                <a:lnTo>
                  <a:pt x="9706493" y="4933778"/>
                </a:lnTo>
                <a:lnTo>
                  <a:pt x="9708360" y="4934561"/>
                </a:lnTo>
                <a:cubicBezTo>
                  <a:pt x="9746510" y="4956830"/>
                  <a:pt x="9778880" y="4989078"/>
                  <a:pt x="9802002" y="5029008"/>
                </a:cubicBezTo>
                <a:cubicBezTo>
                  <a:pt x="9802002" y="5029008"/>
                  <a:pt x="9802002" y="5029008"/>
                  <a:pt x="10514131" y="6260653"/>
                </a:cubicBezTo>
                <a:cubicBezTo>
                  <a:pt x="10560376" y="6337439"/>
                  <a:pt x="10560376" y="6435725"/>
                  <a:pt x="10514131" y="6512512"/>
                </a:cubicBezTo>
                <a:cubicBezTo>
                  <a:pt x="10514131" y="6512512"/>
                  <a:pt x="10514131" y="6512512"/>
                  <a:pt x="10340271" y="6813206"/>
                </a:cubicBezTo>
                <a:lnTo>
                  <a:pt x="10314372" y="6858000"/>
                </a:lnTo>
                <a:lnTo>
                  <a:pt x="10119136" y="6858000"/>
                </a:lnTo>
                <a:lnTo>
                  <a:pt x="10122008" y="6853033"/>
                </a:lnTo>
                <a:cubicBezTo>
                  <a:pt x="10327158" y="6498223"/>
                  <a:pt x="10327158" y="6498223"/>
                  <a:pt x="10327158" y="6498223"/>
                </a:cubicBezTo>
                <a:cubicBezTo>
                  <a:pt x="10368154" y="6430148"/>
                  <a:pt x="10368154" y="6343015"/>
                  <a:pt x="10327158" y="6274942"/>
                </a:cubicBezTo>
                <a:cubicBezTo>
                  <a:pt x="9695832" y="5183053"/>
                  <a:pt x="9695832" y="5183053"/>
                  <a:pt x="9695832" y="5183053"/>
                </a:cubicBezTo>
                <a:cubicBezTo>
                  <a:pt x="9675334" y="5147654"/>
                  <a:pt x="9646640" y="5119063"/>
                  <a:pt x="9612819" y="5099323"/>
                </a:cubicBezTo>
                <a:lnTo>
                  <a:pt x="9603213" y="5095298"/>
                </a:lnTo>
                <a:lnTo>
                  <a:pt x="9654707" y="5006238"/>
                </a:lnTo>
                <a:lnTo>
                  <a:pt x="9693004" y="4940002"/>
                </a:lnTo>
                <a:lnTo>
                  <a:pt x="9653283" y="4923348"/>
                </a:lnTo>
                <a:cubicBezTo>
                  <a:pt x="9631750" y="4917491"/>
                  <a:pt x="9609208" y="4914420"/>
                  <a:pt x="9586087" y="4914420"/>
                </a:cubicBezTo>
                <a:cubicBezTo>
                  <a:pt x="8158743" y="4914420"/>
                  <a:pt x="8158743" y="4914420"/>
                  <a:pt x="8158743" y="4914420"/>
                </a:cubicBezTo>
                <a:cubicBezTo>
                  <a:pt x="8069341" y="4914420"/>
                  <a:pt x="7983024" y="4963563"/>
                  <a:pt x="7939863" y="5043420"/>
                </a:cubicBezTo>
                <a:cubicBezTo>
                  <a:pt x="7224650" y="6275065"/>
                  <a:pt x="7224650" y="6275065"/>
                  <a:pt x="7224650" y="6275065"/>
                </a:cubicBezTo>
                <a:cubicBezTo>
                  <a:pt x="7178407" y="6351849"/>
                  <a:pt x="7178407" y="6450135"/>
                  <a:pt x="7224650" y="6526922"/>
                </a:cubicBezTo>
                <a:cubicBezTo>
                  <a:pt x="7269350" y="6603900"/>
                  <a:pt x="7311257" y="6676067"/>
                  <a:pt x="7350544" y="6743723"/>
                </a:cubicBezTo>
                <a:lnTo>
                  <a:pt x="7416905" y="6858000"/>
                </a:lnTo>
                <a:lnTo>
                  <a:pt x="5902610" y="6858000"/>
                </a:lnTo>
                <a:lnTo>
                  <a:pt x="4389357" y="6858000"/>
                </a:lnTo>
                <a:lnTo>
                  <a:pt x="0" y="6858000"/>
                </a:ln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descr="28,734 Gastritis Royalty-Free Images, Stock Photos &amp; Pictures | Shutterstock">
            <a:extLst>
              <a:ext uri="{FF2B5EF4-FFF2-40B4-BE49-F238E27FC236}">
                <a16:creationId xmlns:a16="http://schemas.microsoft.com/office/drawing/2014/main" id="{BC67FA4D-6FA9-F59A-67FD-C4D498A21632}"/>
              </a:ext>
            </a:extLst>
          </p:cNvPr>
          <p:cNvPicPr>
            <a:picLocks noGrp="1" noChangeAspect="1"/>
          </p:cNvPicPr>
          <p:nvPr>
            <p:ph idx="1"/>
          </p:nvPr>
        </p:nvPicPr>
        <p:blipFill>
          <a:blip r:embed="rId2"/>
          <a:srcRect r="3448" b="4959"/>
          <a:stretch>
            <a:fillRect/>
          </a:stretch>
        </p:blipFill>
        <p:spPr>
          <a:xfrm>
            <a:off x="965200" y="1099627"/>
            <a:ext cx="6569449" cy="4642715"/>
          </a:xfrm>
          <a:prstGeom prst="rect">
            <a:avLst/>
          </a:prstGeom>
        </p:spPr>
      </p:pic>
    </p:spTree>
    <p:extLst>
      <p:ext uri="{BB962C8B-B14F-4D97-AF65-F5344CB8AC3E}">
        <p14:creationId xmlns:p14="http://schemas.microsoft.com/office/powerpoint/2010/main" val="1083917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6646FC9-C66D-4EC7-8310-0DD4ACC49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03615" y="221673"/>
            <a:ext cx="8384770" cy="1332634"/>
          </a:xfrm>
          <a:prstGeom prst="rect">
            <a:avLst/>
          </a:prstGeom>
          <a:ln w="12700">
            <a:solidFill>
              <a:srgbClr val="DEDEDE"/>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A3BA03A-3883-A684-A94B-2279508ED3DD}"/>
              </a:ext>
            </a:extLst>
          </p:cNvPr>
          <p:cNvSpPr>
            <a:spLocks noGrp="1"/>
          </p:cNvSpPr>
          <p:nvPr>
            <p:ph type="title"/>
          </p:nvPr>
        </p:nvSpPr>
        <p:spPr>
          <a:xfrm>
            <a:off x="2103121" y="310343"/>
            <a:ext cx="7985759" cy="868823"/>
          </a:xfrm>
        </p:spPr>
        <p:txBody>
          <a:bodyPr vert="horz" lIns="91440" tIns="45720" rIns="91440" bIns="45720" rtlCol="0" anchor="ctr">
            <a:normAutofit/>
          </a:bodyPr>
          <a:lstStyle/>
          <a:p>
            <a:pPr algn="ctr"/>
            <a:r>
              <a:rPr lang="en-US" sz="4000" dirty="0"/>
              <a:t>Gastritis</a:t>
            </a:r>
          </a:p>
        </p:txBody>
      </p:sp>
      <p:sp>
        <p:nvSpPr>
          <p:cNvPr id="14" name="Rectangle: Rounded Corners 13">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83110" y="1211407"/>
            <a:ext cx="7225780"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a:endParaRPr>
          </a:p>
        </p:txBody>
      </p:sp>
      <p:pic>
        <p:nvPicPr>
          <p:cNvPr id="4" name="Content Placeholder 3" descr="Acute Gastritis - The Gastrointestinal Atlas - gastrointestinalatlas.com">
            <a:extLst>
              <a:ext uri="{FF2B5EF4-FFF2-40B4-BE49-F238E27FC236}">
                <a16:creationId xmlns:a16="http://schemas.microsoft.com/office/drawing/2014/main" id="{0265ACC4-4E6D-9199-76E7-44BB1B41FCF0}"/>
              </a:ext>
            </a:extLst>
          </p:cNvPr>
          <p:cNvPicPr>
            <a:picLocks noGrp="1" noChangeAspect="1"/>
          </p:cNvPicPr>
          <p:nvPr>
            <p:ph idx="1"/>
          </p:nvPr>
        </p:nvPicPr>
        <p:blipFill>
          <a:blip r:embed="rId2"/>
          <a:srcRect r="400" b="9687"/>
          <a:stretch>
            <a:fillRect/>
          </a:stretch>
        </p:blipFill>
        <p:spPr>
          <a:xfrm>
            <a:off x="385572" y="2284867"/>
            <a:ext cx="5596128" cy="3805745"/>
          </a:xfrm>
          <a:prstGeom prst="rect">
            <a:avLst/>
          </a:prstGeom>
        </p:spPr>
      </p:pic>
      <p:pic>
        <p:nvPicPr>
          <p:cNvPr id="5" name="Picture 4" descr="Acute Gastritis - The Gastrointestinal Atlas - gastrointestinalatlas.com">
            <a:extLst>
              <a:ext uri="{FF2B5EF4-FFF2-40B4-BE49-F238E27FC236}">
                <a16:creationId xmlns:a16="http://schemas.microsoft.com/office/drawing/2014/main" id="{AE14948F-A1DA-A4C5-13A0-5AD8655629C4}"/>
              </a:ext>
            </a:extLst>
          </p:cNvPr>
          <p:cNvPicPr>
            <a:picLocks noChangeAspect="1"/>
          </p:cNvPicPr>
          <p:nvPr/>
        </p:nvPicPr>
        <p:blipFill>
          <a:blip r:embed="rId3"/>
          <a:stretch>
            <a:fillRect/>
          </a:stretch>
        </p:blipFill>
        <p:spPr>
          <a:xfrm>
            <a:off x="6210302" y="2320032"/>
            <a:ext cx="5596128" cy="3735415"/>
          </a:xfrm>
          <a:prstGeom prst="rect">
            <a:avLst/>
          </a:prstGeom>
        </p:spPr>
      </p:pic>
    </p:spTree>
    <p:extLst>
      <p:ext uri="{BB962C8B-B14F-4D97-AF65-F5344CB8AC3E}">
        <p14:creationId xmlns:p14="http://schemas.microsoft.com/office/powerpoint/2010/main" val="3406434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69AB23CA-CF96-42B0-847F-37A181DEB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7C66CB4C-B0B1-7D2A-4BA7-2361563CCD31}"/>
              </a:ext>
            </a:extLst>
          </p:cNvPr>
          <p:cNvSpPr>
            <a:spLocks noGrp="1"/>
          </p:cNvSpPr>
          <p:nvPr>
            <p:ph type="title"/>
          </p:nvPr>
        </p:nvSpPr>
        <p:spPr>
          <a:xfrm>
            <a:off x="1179576" y="442914"/>
            <a:ext cx="7134415" cy="1331296"/>
          </a:xfrm>
        </p:spPr>
        <p:txBody>
          <a:bodyPr anchor="b">
            <a:normAutofit/>
          </a:bodyPr>
          <a:lstStyle/>
          <a:p>
            <a:r>
              <a:rPr lang="en-US" sz="3600"/>
              <a:t>Gastritis</a:t>
            </a:r>
          </a:p>
        </p:txBody>
      </p:sp>
      <p:sp>
        <p:nvSpPr>
          <p:cNvPr id="36" name="Freeform: Shape 35">
            <a:extLst>
              <a:ext uri="{FF2B5EF4-FFF2-40B4-BE49-F238E27FC236}">
                <a16:creationId xmlns:a16="http://schemas.microsoft.com/office/drawing/2014/main" id="{A45FD7F6-BF7B-4588-AE38-90035891A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30690" y="-18918"/>
            <a:ext cx="3580076" cy="3029264"/>
          </a:xfrm>
          <a:custGeom>
            <a:avLst/>
            <a:gdLst>
              <a:gd name="connsiteX0" fmla="*/ 19381 w 3580076"/>
              <a:gd name="connsiteY0" fmla="*/ 0 h 3029264"/>
              <a:gd name="connsiteX1" fmla="*/ 3580076 w 3580076"/>
              <a:gd name="connsiteY1" fmla="*/ 0 h 3029264"/>
              <a:gd name="connsiteX2" fmla="*/ 3580076 w 3580076"/>
              <a:gd name="connsiteY2" fmla="*/ 2559343 h 3029264"/>
              <a:gd name="connsiteX3" fmla="*/ 3556258 w 3580076"/>
              <a:gd name="connsiteY3" fmla="*/ 2578706 h 3029264"/>
              <a:gd name="connsiteX4" fmla="*/ 2887450 w 3580076"/>
              <a:gd name="connsiteY4" fmla="*/ 2826324 h 3029264"/>
              <a:gd name="connsiteX5" fmla="*/ 2575407 w 3580076"/>
              <a:gd name="connsiteY5" fmla="*/ 2906908 h 3029264"/>
              <a:gd name="connsiteX6" fmla="*/ 628491 w 3580076"/>
              <a:gd name="connsiteY6" fmla="*/ 2569492 h 3029264"/>
              <a:gd name="connsiteX7" fmla="*/ 113276 w 3580076"/>
              <a:gd name="connsiteY7" fmla="*/ 1240251 h 3029264"/>
              <a:gd name="connsiteX8" fmla="*/ 83702 w 3580076"/>
              <a:gd name="connsiteY8" fmla="*/ 1041556 h 3029264"/>
              <a:gd name="connsiteX9" fmla="*/ 7347 w 3580076"/>
              <a:gd name="connsiteY9" fmla="*/ 73049 h 302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0076" h="3029264">
                <a:moveTo>
                  <a:pt x="19381" y="0"/>
                </a:moveTo>
                <a:lnTo>
                  <a:pt x="3580076" y="0"/>
                </a:lnTo>
                <a:lnTo>
                  <a:pt x="3580076" y="2559343"/>
                </a:lnTo>
                <a:lnTo>
                  <a:pt x="3556258" y="2578706"/>
                </a:lnTo>
                <a:cubicBezTo>
                  <a:pt x="3390615" y="2698133"/>
                  <a:pt x="3196665" y="2750327"/>
                  <a:pt x="2887450" y="2826324"/>
                </a:cubicBezTo>
                <a:cubicBezTo>
                  <a:pt x="2787996" y="2850747"/>
                  <a:pt x="2685123" y="2876042"/>
                  <a:pt x="2575407" y="2906908"/>
                </a:cubicBezTo>
                <a:cubicBezTo>
                  <a:pt x="1737105" y="3142655"/>
                  <a:pt x="1154843" y="3041718"/>
                  <a:pt x="628491" y="2569492"/>
                </a:cubicBezTo>
                <a:cubicBezTo>
                  <a:pt x="283045" y="2259569"/>
                  <a:pt x="200247" y="1841949"/>
                  <a:pt x="113276" y="1240251"/>
                </a:cubicBezTo>
                <a:cubicBezTo>
                  <a:pt x="103566" y="1173024"/>
                  <a:pt x="93505" y="1106186"/>
                  <a:pt x="83702" y="1041556"/>
                </a:cubicBezTo>
                <a:cubicBezTo>
                  <a:pt x="30763" y="691052"/>
                  <a:pt x="-19190" y="360006"/>
                  <a:pt x="7347" y="73049"/>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13" name="Picture 12" descr="2,165 Ibuprofen Tablet Royalty-Free Images, Stock Photos ...">
            <a:extLst>
              <a:ext uri="{FF2B5EF4-FFF2-40B4-BE49-F238E27FC236}">
                <a16:creationId xmlns:a16="http://schemas.microsoft.com/office/drawing/2014/main" id="{90482CD5-1FC0-55FD-02D2-9717966E03FA}"/>
              </a:ext>
            </a:extLst>
          </p:cNvPr>
          <p:cNvPicPr>
            <a:picLocks noChangeAspect="1"/>
          </p:cNvPicPr>
          <p:nvPr/>
        </p:nvPicPr>
        <p:blipFill>
          <a:blip r:embed="rId2"/>
          <a:srcRect b="1514"/>
          <a:stretch>
            <a:fillRect/>
          </a:stretch>
        </p:blipFill>
        <p:spPr>
          <a:xfrm>
            <a:off x="6232303" y="3297831"/>
            <a:ext cx="5959692" cy="3560169"/>
          </a:xfrm>
          <a:custGeom>
            <a:avLst/>
            <a:gdLst/>
            <a:ahLst/>
            <a:cxnLst/>
            <a:rect l="l" t="t" r="r" b="b"/>
            <a:pathLst>
              <a:path w="5959692" h="3560169">
                <a:moveTo>
                  <a:pt x="3008109" y="42"/>
                </a:moveTo>
                <a:cubicBezTo>
                  <a:pt x="3549058" y="3372"/>
                  <a:pt x="4091345" y="208628"/>
                  <a:pt x="4702247" y="626282"/>
                </a:cubicBezTo>
                <a:cubicBezTo>
                  <a:pt x="4830168" y="713755"/>
                  <a:pt x="4951806" y="791097"/>
                  <a:pt x="5069411" y="865826"/>
                </a:cubicBezTo>
                <a:cubicBezTo>
                  <a:pt x="5495976" y="1136988"/>
                  <a:pt x="5734167" y="1298128"/>
                  <a:pt x="5895906" y="1594994"/>
                </a:cubicBezTo>
                <a:lnTo>
                  <a:pt x="5959691" y="1728783"/>
                </a:lnTo>
                <a:lnTo>
                  <a:pt x="5959692" y="3560169"/>
                </a:lnTo>
                <a:lnTo>
                  <a:pt x="635" y="3560169"/>
                </a:lnTo>
                <a:lnTo>
                  <a:pt x="0" y="3534810"/>
                </a:lnTo>
                <a:cubicBezTo>
                  <a:pt x="2402" y="3407978"/>
                  <a:pt x="21463" y="3278501"/>
                  <a:pt x="56896" y="3142342"/>
                </a:cubicBezTo>
                <a:cubicBezTo>
                  <a:pt x="155720" y="2762537"/>
                  <a:pt x="374193" y="2359525"/>
                  <a:pt x="605568" y="1932853"/>
                </a:cubicBezTo>
                <a:cubicBezTo>
                  <a:pt x="648282" y="1854194"/>
                  <a:pt x="692359" y="1772817"/>
                  <a:pt x="736162" y="1690788"/>
                </a:cubicBezTo>
                <a:cubicBezTo>
                  <a:pt x="1128289" y="956620"/>
                  <a:pt x="1429537" y="456850"/>
                  <a:pt x="2021319" y="209863"/>
                </a:cubicBezTo>
                <a:cubicBezTo>
                  <a:pt x="2359453" y="68739"/>
                  <a:pt x="2683541" y="-1956"/>
                  <a:pt x="3008109" y="42"/>
                </a:cubicBezTo>
                <a:close/>
              </a:path>
            </a:pathLst>
          </a:custGeom>
        </p:spPr>
      </p:pic>
      <p:sp>
        <p:nvSpPr>
          <p:cNvPr id="38" name="Freeform: Shape 37">
            <a:extLst>
              <a:ext uri="{FF2B5EF4-FFF2-40B4-BE49-F238E27FC236}">
                <a16:creationId xmlns:a16="http://schemas.microsoft.com/office/drawing/2014/main" id="{2F05AAE2-453E-4EDA-8961-D9B319978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32156" y="3297832"/>
            <a:ext cx="5959692" cy="3560169"/>
          </a:xfrm>
          <a:custGeom>
            <a:avLst/>
            <a:gdLst>
              <a:gd name="connsiteX0" fmla="*/ 5959692 w 5959692"/>
              <a:gd name="connsiteY0" fmla="*/ 3363787 h 3560169"/>
              <a:gd name="connsiteX1" fmla="*/ 5959692 w 5959692"/>
              <a:gd name="connsiteY1" fmla="*/ 3560169 h 3560169"/>
              <a:gd name="connsiteX2" fmla="*/ 5918326 w 5959692"/>
              <a:gd name="connsiteY2" fmla="*/ 3560169 h 3560169"/>
              <a:gd name="connsiteX3" fmla="*/ 3008109 w 5959692"/>
              <a:gd name="connsiteY3" fmla="*/ 42 h 3560169"/>
              <a:gd name="connsiteX4" fmla="*/ 4702247 w 5959692"/>
              <a:gd name="connsiteY4" fmla="*/ 626282 h 3560169"/>
              <a:gd name="connsiteX5" fmla="*/ 5069411 w 5959692"/>
              <a:gd name="connsiteY5" fmla="*/ 865826 h 3560169"/>
              <a:gd name="connsiteX6" fmla="*/ 5895906 w 5959692"/>
              <a:gd name="connsiteY6" fmla="*/ 1594994 h 3560169"/>
              <a:gd name="connsiteX7" fmla="*/ 5959691 w 5959692"/>
              <a:gd name="connsiteY7" fmla="*/ 1728783 h 3560169"/>
              <a:gd name="connsiteX8" fmla="*/ 5959691 w 5959692"/>
              <a:gd name="connsiteY8" fmla="*/ 2242763 h 3560169"/>
              <a:gd name="connsiteX9" fmla="*/ 5918347 w 5959692"/>
              <a:gd name="connsiteY9" fmla="*/ 2056598 h 3560169"/>
              <a:gd name="connsiteX10" fmla="*/ 5820285 w 5959692"/>
              <a:gd name="connsiteY10" fmla="*/ 1774807 h 3560169"/>
              <a:gd name="connsiteX11" fmla="*/ 4980935 w 5959692"/>
              <a:gd name="connsiteY11" fmla="*/ 946614 h 3560169"/>
              <a:gd name="connsiteX12" fmla="*/ 4635662 w 5959692"/>
              <a:gd name="connsiteY12" fmla="*/ 716464 h 3560169"/>
              <a:gd name="connsiteX13" fmla="*/ 3044280 w 5959692"/>
              <a:gd name="connsiteY13" fmla="*/ 109209 h 3560169"/>
              <a:gd name="connsiteX14" fmla="*/ 2119450 w 5959692"/>
              <a:gd name="connsiteY14" fmla="*/ 300880 h 3560169"/>
              <a:gd name="connsiteX15" fmla="*/ 919412 w 5959692"/>
              <a:gd name="connsiteY15" fmla="*/ 1696777 h 3560169"/>
              <a:gd name="connsiteX16" fmla="*/ 797804 w 5959692"/>
              <a:gd name="connsiteY16" fmla="*/ 1925546 h 3560169"/>
              <a:gd name="connsiteX17" fmla="*/ 287588 w 5959692"/>
              <a:gd name="connsiteY17" fmla="*/ 3069391 h 3560169"/>
              <a:gd name="connsiteX18" fmla="*/ 235658 w 5959692"/>
              <a:gd name="connsiteY18" fmla="*/ 3441477 h 3560169"/>
              <a:gd name="connsiteX19" fmla="*/ 239056 w 5959692"/>
              <a:gd name="connsiteY19" fmla="*/ 3560169 h 3560169"/>
              <a:gd name="connsiteX20" fmla="*/ 635 w 5959692"/>
              <a:gd name="connsiteY20" fmla="*/ 3560169 h 3560169"/>
              <a:gd name="connsiteX21" fmla="*/ 0 w 5959692"/>
              <a:gd name="connsiteY21" fmla="*/ 3534810 h 3560169"/>
              <a:gd name="connsiteX22" fmla="*/ 56896 w 5959692"/>
              <a:gd name="connsiteY22" fmla="*/ 3142342 h 3560169"/>
              <a:gd name="connsiteX23" fmla="*/ 605568 w 5959692"/>
              <a:gd name="connsiteY23" fmla="*/ 1932853 h 3560169"/>
              <a:gd name="connsiteX24" fmla="*/ 736162 w 5959692"/>
              <a:gd name="connsiteY24" fmla="*/ 1690788 h 3560169"/>
              <a:gd name="connsiteX25" fmla="*/ 2021319 w 5959692"/>
              <a:gd name="connsiteY25" fmla="*/ 209863 h 3560169"/>
              <a:gd name="connsiteX26" fmla="*/ 3008109 w 5959692"/>
              <a:gd name="connsiteY26" fmla="*/ 42 h 356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959692" h="3560169">
                <a:moveTo>
                  <a:pt x="5959692" y="3363787"/>
                </a:moveTo>
                <a:lnTo>
                  <a:pt x="5959692" y="3560169"/>
                </a:lnTo>
                <a:lnTo>
                  <a:pt x="5918326" y="3560169"/>
                </a:lnTo>
                <a:close/>
                <a:moveTo>
                  <a:pt x="3008109" y="42"/>
                </a:moveTo>
                <a:cubicBezTo>
                  <a:pt x="3549058" y="3372"/>
                  <a:pt x="4091345" y="208628"/>
                  <a:pt x="4702247" y="626282"/>
                </a:cubicBezTo>
                <a:cubicBezTo>
                  <a:pt x="4830168" y="713755"/>
                  <a:pt x="4951806" y="791097"/>
                  <a:pt x="5069411" y="865826"/>
                </a:cubicBezTo>
                <a:cubicBezTo>
                  <a:pt x="5495976" y="1136988"/>
                  <a:pt x="5734167" y="1298128"/>
                  <a:pt x="5895906" y="1594994"/>
                </a:cubicBezTo>
                <a:lnTo>
                  <a:pt x="5959691" y="1728783"/>
                </a:lnTo>
                <a:lnTo>
                  <a:pt x="5959691" y="2242763"/>
                </a:lnTo>
                <a:lnTo>
                  <a:pt x="5918347" y="2056598"/>
                </a:lnTo>
                <a:cubicBezTo>
                  <a:pt x="5891169" y="1960834"/>
                  <a:pt x="5858474" y="1866845"/>
                  <a:pt x="5820285" y="1774807"/>
                </a:cubicBezTo>
                <a:cubicBezTo>
                  <a:pt x="5666444" y="1404038"/>
                  <a:pt x="5439344" y="1244459"/>
                  <a:pt x="4980935" y="946614"/>
                </a:cubicBezTo>
                <a:cubicBezTo>
                  <a:pt x="4870349" y="874793"/>
                  <a:pt x="4755972" y="800460"/>
                  <a:pt x="4635662" y="716464"/>
                </a:cubicBezTo>
                <a:cubicBezTo>
                  <a:pt x="4061110" y="315407"/>
                  <a:pt x="3551697" y="116473"/>
                  <a:pt x="3044280" y="109209"/>
                </a:cubicBezTo>
                <a:cubicBezTo>
                  <a:pt x="2739831" y="104851"/>
                  <a:pt x="2436100" y="169494"/>
                  <a:pt x="2119450" y="300880"/>
                </a:cubicBezTo>
                <a:cubicBezTo>
                  <a:pt x="1565269" y="530823"/>
                  <a:pt x="1284534" y="1002904"/>
                  <a:pt x="919412" y="1696777"/>
                </a:cubicBezTo>
                <a:cubicBezTo>
                  <a:pt x="878625" y="1774305"/>
                  <a:pt x="837580" y="1851211"/>
                  <a:pt x="797804" y="1925546"/>
                </a:cubicBezTo>
                <a:cubicBezTo>
                  <a:pt x="582340" y="2328776"/>
                  <a:pt x="378892" y="2709642"/>
                  <a:pt x="287588" y="3069391"/>
                </a:cubicBezTo>
                <a:cubicBezTo>
                  <a:pt x="254851" y="3198359"/>
                  <a:pt x="237447" y="3321111"/>
                  <a:pt x="235658" y="3441477"/>
                </a:cubicBezTo>
                <a:lnTo>
                  <a:pt x="239056" y="3560169"/>
                </a:lnTo>
                <a:lnTo>
                  <a:pt x="635" y="3560169"/>
                </a:lnTo>
                <a:lnTo>
                  <a:pt x="0" y="3534810"/>
                </a:lnTo>
                <a:cubicBezTo>
                  <a:pt x="2402" y="3407978"/>
                  <a:pt x="21463" y="3278501"/>
                  <a:pt x="56896" y="3142342"/>
                </a:cubicBezTo>
                <a:cubicBezTo>
                  <a:pt x="155720" y="2762537"/>
                  <a:pt x="374193" y="2359525"/>
                  <a:pt x="605568" y="1932853"/>
                </a:cubicBezTo>
                <a:cubicBezTo>
                  <a:pt x="648282" y="1854194"/>
                  <a:pt x="692359" y="1772817"/>
                  <a:pt x="736162" y="1690788"/>
                </a:cubicBezTo>
                <a:cubicBezTo>
                  <a:pt x="1128289" y="956620"/>
                  <a:pt x="1429537" y="456850"/>
                  <a:pt x="2021319" y="209863"/>
                </a:cubicBezTo>
                <a:cubicBezTo>
                  <a:pt x="2359453" y="68739"/>
                  <a:pt x="2683541" y="-1956"/>
                  <a:pt x="3008109" y="42"/>
                </a:cubicBezTo>
                <a:close/>
              </a:path>
            </a:pathLst>
          </a:custGeom>
          <a:solidFill>
            <a:srgbClr val="FFFFFF">
              <a:alpha val="60000"/>
            </a:srgb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40" name="Freeform: Shape 39">
            <a:extLst>
              <a:ext uri="{FF2B5EF4-FFF2-40B4-BE49-F238E27FC236}">
                <a16:creationId xmlns:a16="http://schemas.microsoft.com/office/drawing/2014/main" id="{CE2CF453-4871-4F22-8746-957F757DA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493" y="3124529"/>
            <a:ext cx="6141507" cy="3752389"/>
          </a:xfrm>
          <a:custGeom>
            <a:avLst/>
            <a:gdLst>
              <a:gd name="connsiteX0" fmla="*/ 3215595 w 6141507"/>
              <a:gd name="connsiteY0" fmla="*/ 37 h 3752389"/>
              <a:gd name="connsiteX1" fmla="*/ 5025810 w 6141507"/>
              <a:gd name="connsiteY1" fmla="*/ 667544 h 3752389"/>
              <a:gd name="connsiteX2" fmla="*/ 5418068 w 6141507"/>
              <a:gd name="connsiteY2" fmla="*/ 923043 h 3752389"/>
              <a:gd name="connsiteX3" fmla="*/ 6130109 w 6141507"/>
              <a:gd name="connsiteY3" fmla="*/ 1458777 h 3752389"/>
              <a:gd name="connsiteX4" fmla="*/ 6141506 w 6141507"/>
              <a:gd name="connsiteY4" fmla="*/ 1473047 h 3752389"/>
              <a:gd name="connsiteX5" fmla="*/ 6141507 w 6141507"/>
              <a:gd name="connsiteY5" fmla="*/ 3752389 h 3752389"/>
              <a:gd name="connsiteX6" fmla="*/ 0 w 6141507"/>
              <a:gd name="connsiteY6" fmla="*/ 3752389 h 3752389"/>
              <a:gd name="connsiteX7" fmla="*/ 7127 w 6141507"/>
              <a:gd name="connsiteY7" fmla="*/ 3638865 h 3752389"/>
              <a:gd name="connsiteX8" fmla="*/ 59603 w 6141507"/>
              <a:gd name="connsiteY8" fmla="*/ 3356358 h 3752389"/>
              <a:gd name="connsiteX9" fmla="*/ 646726 w 6141507"/>
              <a:gd name="connsiteY9" fmla="*/ 2064848 h 3752389"/>
              <a:gd name="connsiteX10" fmla="*/ 786444 w 6141507"/>
              <a:gd name="connsiteY10" fmla="*/ 1806355 h 3752389"/>
              <a:gd name="connsiteX11" fmla="*/ 2160845 w 6141507"/>
              <a:gd name="connsiteY11" fmla="*/ 224629 h 3752389"/>
              <a:gd name="connsiteX12" fmla="*/ 3215595 w 6141507"/>
              <a:gd name="connsiteY12" fmla="*/ 37 h 3752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41507" h="3752389">
                <a:moveTo>
                  <a:pt x="3215595" y="37"/>
                </a:moveTo>
                <a:cubicBezTo>
                  <a:pt x="3793727" y="3265"/>
                  <a:pt x="4373168" y="222053"/>
                  <a:pt x="5025810" y="667544"/>
                </a:cubicBezTo>
                <a:cubicBezTo>
                  <a:pt x="5162471" y="760846"/>
                  <a:pt x="5292423" y="843339"/>
                  <a:pt x="5418068" y="923043"/>
                </a:cubicBezTo>
                <a:cubicBezTo>
                  <a:pt x="5743584" y="1129628"/>
                  <a:pt x="5966418" y="1276344"/>
                  <a:pt x="6130109" y="1458777"/>
                </a:cubicBezTo>
                <a:lnTo>
                  <a:pt x="6141506" y="1473047"/>
                </a:lnTo>
                <a:lnTo>
                  <a:pt x="6141507" y="3752389"/>
                </a:lnTo>
                <a:lnTo>
                  <a:pt x="0" y="3752389"/>
                </a:lnTo>
                <a:lnTo>
                  <a:pt x="7127" y="3638865"/>
                </a:lnTo>
                <a:cubicBezTo>
                  <a:pt x="16780" y="3547020"/>
                  <a:pt x="34303" y="3453276"/>
                  <a:pt x="59603" y="3356358"/>
                </a:cubicBezTo>
                <a:cubicBezTo>
                  <a:pt x="165452" y="2950843"/>
                  <a:pt x="399187" y="2520480"/>
                  <a:pt x="646726" y="2064848"/>
                </a:cubicBezTo>
                <a:cubicBezTo>
                  <a:pt x="692424" y="1980851"/>
                  <a:pt x="739580" y="1893951"/>
                  <a:pt x="786444" y="1806355"/>
                </a:cubicBezTo>
                <a:cubicBezTo>
                  <a:pt x="1205972" y="1022363"/>
                  <a:pt x="1528233" y="488656"/>
                  <a:pt x="2160845" y="224629"/>
                </a:cubicBezTo>
                <a:cubicBezTo>
                  <a:pt x="2522310" y="73767"/>
                  <a:pt x="2868717" y="-1899"/>
                  <a:pt x="3215595" y="37"/>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 name="Content Placeholder 2">
            <a:extLst>
              <a:ext uri="{FF2B5EF4-FFF2-40B4-BE49-F238E27FC236}">
                <a16:creationId xmlns:a16="http://schemas.microsoft.com/office/drawing/2014/main" id="{8903EA90-A90C-756B-277F-F8681BE73C37}"/>
              </a:ext>
            </a:extLst>
          </p:cNvPr>
          <p:cNvSpPr>
            <a:spLocks noGrp="1"/>
          </p:cNvSpPr>
          <p:nvPr>
            <p:ph idx="1"/>
          </p:nvPr>
        </p:nvSpPr>
        <p:spPr>
          <a:xfrm>
            <a:off x="1179576" y="1966431"/>
            <a:ext cx="5485331" cy="3997807"/>
          </a:xfrm>
        </p:spPr>
        <p:txBody>
          <a:bodyPr>
            <a:normAutofit lnSpcReduction="10000"/>
          </a:bodyPr>
          <a:lstStyle/>
          <a:p>
            <a:r>
              <a:rPr lang="en-US" sz="1600" b="1" dirty="0"/>
              <a:t>Inflammation of the gastric mucosa confirmed histologically</a:t>
            </a:r>
            <a:r>
              <a:rPr lang="en-US" sz="1600" dirty="0"/>
              <a:t>, not simply endoscopic redness. </a:t>
            </a:r>
          </a:p>
          <a:p>
            <a:r>
              <a:rPr lang="en-US" sz="1600" dirty="0"/>
              <a:t>A distinction is between </a:t>
            </a:r>
            <a:r>
              <a:rPr lang="en-US" sz="1600" b="1" dirty="0"/>
              <a:t>true gastritis </a:t>
            </a:r>
            <a:r>
              <a:rPr lang="en-US" sz="1600" dirty="0"/>
              <a:t>(characterized by inflammatory cell infiltrate) vs.  </a:t>
            </a:r>
            <a:r>
              <a:rPr lang="en-US" sz="1600" b="1" dirty="0"/>
              <a:t>reactive gastritis</a:t>
            </a:r>
            <a:r>
              <a:rPr lang="en-US" sz="1600" dirty="0"/>
              <a:t> (e.g., from NSAIDs, bile reflux, or alcohol), </a:t>
            </a:r>
          </a:p>
          <a:p>
            <a:pPr lvl="1"/>
            <a:r>
              <a:rPr lang="en-US" sz="1600" b="1" dirty="0"/>
              <a:t>True gastritis</a:t>
            </a:r>
            <a:r>
              <a:rPr lang="en-US" sz="1600" dirty="0"/>
              <a:t> means the stomach lining is inflamed because white blood cells have invaded the tissue.</a:t>
            </a:r>
          </a:p>
          <a:p>
            <a:pPr lvl="1"/>
            <a:r>
              <a:rPr lang="en-US" sz="1600" b="1" dirty="0"/>
              <a:t>Reactive gastritis</a:t>
            </a:r>
            <a:r>
              <a:rPr lang="en-US" sz="1600" dirty="0"/>
              <a:t> looks like irritation, but caused by mostly from </a:t>
            </a:r>
            <a:r>
              <a:rPr lang="en-US" sz="1600" b="1" i="1" dirty="0"/>
              <a:t>NSAIDs, alcohol, or stomach acid </a:t>
            </a:r>
            <a:r>
              <a:rPr lang="en-US" sz="1600" b="1" dirty="0"/>
              <a:t>rather than immune cells</a:t>
            </a:r>
            <a:r>
              <a:rPr lang="en-US" sz="1600" dirty="0"/>
              <a:t>. Instead of inflammation, it causes </a:t>
            </a:r>
            <a:r>
              <a:rPr lang="en-US" sz="1600" b="1" dirty="0"/>
              <a:t>overgrowth of the stomach lining cells, extra smooth muscle, and congested blood vessels   </a:t>
            </a:r>
          </a:p>
          <a:p>
            <a:pPr lvl="1"/>
            <a:r>
              <a:rPr lang="en-US" sz="1600" b="1" i="1" dirty="0"/>
              <a:t>In short</a:t>
            </a:r>
            <a:r>
              <a:rPr lang="en-US" sz="1600" dirty="0"/>
              <a:t>: </a:t>
            </a:r>
            <a:r>
              <a:rPr lang="en-US" sz="1600" b="1" dirty="0"/>
              <a:t>True gastritis</a:t>
            </a:r>
            <a:r>
              <a:rPr lang="en-US" sz="1600" dirty="0"/>
              <a:t> is </a:t>
            </a:r>
            <a:r>
              <a:rPr lang="en-US" sz="1600" b="1" dirty="0">
                <a:solidFill>
                  <a:srgbClr val="FF0000"/>
                </a:solidFill>
              </a:rPr>
              <a:t>inflammation from immune cells</a:t>
            </a:r>
            <a:r>
              <a:rPr lang="en-US" sz="1600" dirty="0"/>
              <a:t>, while </a:t>
            </a:r>
            <a:r>
              <a:rPr lang="en-US" sz="1600" b="1" dirty="0"/>
              <a:t>reactive gastritis</a:t>
            </a:r>
            <a:r>
              <a:rPr lang="en-US" sz="1600" dirty="0"/>
              <a:t> is </a:t>
            </a:r>
            <a:r>
              <a:rPr lang="en-US" sz="1600" b="1" i="1" dirty="0">
                <a:solidFill>
                  <a:srgbClr val="FF0000"/>
                </a:solidFill>
              </a:rPr>
              <a:t>injury and overgrowth caused by irritants</a:t>
            </a:r>
            <a:r>
              <a:rPr lang="en-US" sz="1600" dirty="0"/>
              <a:t> (like NSAIDs or alcohol) with very little inflammation.</a:t>
            </a:r>
          </a:p>
        </p:txBody>
      </p:sp>
      <p:pic>
        <p:nvPicPr>
          <p:cNvPr id="4" name="Picture 3" descr="Alcohol Images – Browse 7,430,387 Stock Photos, Vectors, and ...">
            <a:extLst>
              <a:ext uri="{FF2B5EF4-FFF2-40B4-BE49-F238E27FC236}">
                <a16:creationId xmlns:a16="http://schemas.microsoft.com/office/drawing/2014/main" id="{672EE9EB-E3E9-2901-6BE3-90B33799DECB}"/>
              </a:ext>
            </a:extLst>
          </p:cNvPr>
          <p:cNvPicPr>
            <a:picLocks noChangeAspect="1"/>
          </p:cNvPicPr>
          <p:nvPr/>
        </p:nvPicPr>
        <p:blipFill>
          <a:blip r:embed="rId3"/>
          <a:srcRect l="15264" r="18917" b="-1"/>
          <a:stretch>
            <a:fillRect/>
          </a:stretch>
        </p:blipFill>
        <p:spPr>
          <a:xfrm>
            <a:off x="8898128" y="10"/>
            <a:ext cx="3293877" cy="2743202"/>
          </a:xfrm>
          <a:custGeom>
            <a:avLst/>
            <a:gdLst/>
            <a:ahLst/>
            <a:cxnLst/>
            <a:rect l="l" t="t" r="r" b="b"/>
            <a:pathLst>
              <a:path w="3293877" h="2743212">
                <a:moveTo>
                  <a:pt x="37772" y="0"/>
                </a:moveTo>
                <a:lnTo>
                  <a:pt x="3293877" y="0"/>
                </a:lnTo>
                <a:lnTo>
                  <a:pt x="3293877" y="2133887"/>
                </a:lnTo>
                <a:lnTo>
                  <a:pt x="3222757" y="2223039"/>
                </a:lnTo>
                <a:cubicBezTo>
                  <a:pt x="3041339" y="2425251"/>
                  <a:pt x="2861221" y="2476800"/>
                  <a:pt x="2503136" y="2565392"/>
                </a:cubicBezTo>
                <a:cubicBezTo>
                  <a:pt x="2416757" y="2586746"/>
                  <a:pt x="2327408" y="2608861"/>
                  <a:pt x="2232111" y="2635826"/>
                </a:cubicBezTo>
                <a:cubicBezTo>
                  <a:pt x="1503976" y="2841768"/>
                  <a:pt x="998612" y="2754939"/>
                  <a:pt x="542319" y="2345567"/>
                </a:cubicBezTo>
                <a:cubicBezTo>
                  <a:pt x="242852" y="2076894"/>
                  <a:pt x="171565" y="1714314"/>
                  <a:pt x="96920" y="1191868"/>
                </a:cubicBezTo>
                <a:cubicBezTo>
                  <a:pt x="88586" y="1133496"/>
                  <a:pt x="79946" y="1075462"/>
                  <a:pt x="71529" y="1019346"/>
                </a:cubicBezTo>
                <a:cubicBezTo>
                  <a:pt x="26070" y="715012"/>
                  <a:pt x="-16826" y="427572"/>
                  <a:pt x="6623" y="178315"/>
                </a:cubicBezTo>
                <a:cubicBezTo>
                  <a:pt x="12226" y="118742"/>
                  <a:pt x="21526" y="62431"/>
                  <a:pt x="34833" y="8680"/>
                </a:cubicBezTo>
                <a:close/>
              </a:path>
            </a:pathLst>
          </a:custGeom>
        </p:spPr>
      </p:pic>
      <p:sp>
        <p:nvSpPr>
          <p:cNvPr id="42" name="Freeform: Shape 41">
            <a:extLst>
              <a:ext uri="{FF2B5EF4-FFF2-40B4-BE49-F238E27FC236}">
                <a16:creationId xmlns:a16="http://schemas.microsoft.com/office/drawing/2014/main" id="{6A0E0FAE-D6BC-43D5-ACA6-8CDE484777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97970" y="0"/>
            <a:ext cx="3293877" cy="2743212"/>
          </a:xfrm>
          <a:custGeom>
            <a:avLst/>
            <a:gdLst>
              <a:gd name="connsiteX0" fmla="*/ 37772 w 3293877"/>
              <a:gd name="connsiteY0" fmla="*/ 0 h 2743212"/>
              <a:gd name="connsiteX1" fmla="*/ 175506 w 3293877"/>
              <a:gd name="connsiteY1" fmla="*/ 0 h 2743212"/>
              <a:gd name="connsiteX2" fmla="*/ 149226 w 3293877"/>
              <a:gd name="connsiteY2" fmla="*/ 78193 h 2743212"/>
              <a:gd name="connsiteX3" fmla="*/ 122819 w 3293877"/>
              <a:gd name="connsiteY3" fmla="*/ 237010 h 2743212"/>
              <a:gd name="connsiteX4" fmla="*/ 180914 w 3293877"/>
              <a:gd name="connsiteY4" fmla="*/ 1023956 h 2743212"/>
              <a:gd name="connsiteX5" fmla="*/ 203979 w 3293877"/>
              <a:gd name="connsiteY5" fmla="*/ 1185356 h 2743212"/>
              <a:gd name="connsiteX6" fmla="*/ 612631 w 3293877"/>
              <a:gd name="connsiteY6" fmla="*/ 2264082 h 2743212"/>
              <a:gd name="connsiteX7" fmla="*/ 2171849 w 3293877"/>
              <a:gd name="connsiteY7" fmla="*/ 2532019 h 2743212"/>
              <a:gd name="connsiteX8" fmla="*/ 2422184 w 3293877"/>
              <a:gd name="connsiteY8" fmla="*/ 2465509 h 2743212"/>
              <a:gd name="connsiteX9" fmla="*/ 3087206 w 3293877"/>
              <a:gd name="connsiteY9" fmla="*/ 2143537 h 2743212"/>
              <a:gd name="connsiteX10" fmla="*/ 3203783 w 3293877"/>
              <a:gd name="connsiteY10" fmla="*/ 1995541 h 2743212"/>
              <a:gd name="connsiteX11" fmla="*/ 3293877 w 3293877"/>
              <a:gd name="connsiteY11" fmla="*/ 1849554 h 2743212"/>
              <a:gd name="connsiteX12" fmla="*/ 3293877 w 3293877"/>
              <a:gd name="connsiteY12" fmla="*/ 2133887 h 2743212"/>
              <a:gd name="connsiteX13" fmla="*/ 3222757 w 3293877"/>
              <a:gd name="connsiteY13" fmla="*/ 2223039 h 2743212"/>
              <a:gd name="connsiteX14" fmla="*/ 2503136 w 3293877"/>
              <a:gd name="connsiteY14" fmla="*/ 2565392 h 2743212"/>
              <a:gd name="connsiteX15" fmla="*/ 2232111 w 3293877"/>
              <a:gd name="connsiteY15" fmla="*/ 2635826 h 2743212"/>
              <a:gd name="connsiteX16" fmla="*/ 542319 w 3293877"/>
              <a:gd name="connsiteY16" fmla="*/ 2345567 h 2743212"/>
              <a:gd name="connsiteX17" fmla="*/ 96920 w 3293877"/>
              <a:gd name="connsiteY17" fmla="*/ 1191868 h 2743212"/>
              <a:gd name="connsiteX18" fmla="*/ 71529 w 3293877"/>
              <a:gd name="connsiteY18" fmla="*/ 1019346 h 2743212"/>
              <a:gd name="connsiteX19" fmla="*/ 6623 w 3293877"/>
              <a:gd name="connsiteY19" fmla="*/ 178315 h 2743212"/>
              <a:gd name="connsiteX20" fmla="*/ 34833 w 3293877"/>
              <a:gd name="connsiteY20" fmla="*/ 8680 h 274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93877" h="2743212">
                <a:moveTo>
                  <a:pt x="37772" y="0"/>
                </a:moveTo>
                <a:lnTo>
                  <a:pt x="175506" y="0"/>
                </a:lnTo>
                <a:lnTo>
                  <a:pt x="149226" y="78193"/>
                </a:lnTo>
                <a:cubicBezTo>
                  <a:pt x="136827" y="128527"/>
                  <a:pt x="128121" y="181246"/>
                  <a:pt x="122819" y="237010"/>
                </a:cubicBezTo>
                <a:cubicBezTo>
                  <a:pt x="100634" y="470331"/>
                  <a:pt x="139609" y="739241"/>
                  <a:pt x="180914" y="1023956"/>
                </a:cubicBezTo>
                <a:cubicBezTo>
                  <a:pt x="188562" y="1076454"/>
                  <a:pt x="196412" y="1130747"/>
                  <a:pt x="203979" y="1185356"/>
                </a:cubicBezTo>
                <a:cubicBezTo>
                  <a:pt x="271754" y="1674130"/>
                  <a:pt x="336774" y="2013298"/>
                  <a:pt x="612631" y="2264082"/>
                </a:cubicBezTo>
                <a:cubicBezTo>
                  <a:pt x="1032949" y="2646196"/>
                  <a:pt x="1499262" y="2726349"/>
                  <a:pt x="2171849" y="2532019"/>
                </a:cubicBezTo>
                <a:cubicBezTo>
                  <a:pt x="2259876" y="2506576"/>
                  <a:pt x="2342402" y="2485683"/>
                  <a:pt x="2422184" y="2465509"/>
                </a:cubicBezTo>
                <a:cubicBezTo>
                  <a:pt x="2752924" y="2381814"/>
                  <a:pt x="2919303" y="2333175"/>
                  <a:pt x="3087206" y="2143537"/>
                </a:cubicBezTo>
                <a:cubicBezTo>
                  <a:pt x="3128886" y="2096462"/>
                  <a:pt x="3167762" y="2047097"/>
                  <a:pt x="3203783" y="1995541"/>
                </a:cubicBezTo>
                <a:lnTo>
                  <a:pt x="3293877" y="1849554"/>
                </a:lnTo>
                <a:lnTo>
                  <a:pt x="3293877" y="2133887"/>
                </a:lnTo>
                <a:lnTo>
                  <a:pt x="3222757" y="2223039"/>
                </a:lnTo>
                <a:cubicBezTo>
                  <a:pt x="3041339" y="2425251"/>
                  <a:pt x="2861221" y="2476800"/>
                  <a:pt x="2503136" y="2565392"/>
                </a:cubicBezTo>
                <a:cubicBezTo>
                  <a:pt x="2416757" y="2586746"/>
                  <a:pt x="2327408" y="2608861"/>
                  <a:pt x="2232111" y="2635826"/>
                </a:cubicBezTo>
                <a:cubicBezTo>
                  <a:pt x="1503976" y="2841768"/>
                  <a:pt x="998612" y="2754939"/>
                  <a:pt x="542319" y="2345567"/>
                </a:cubicBezTo>
                <a:cubicBezTo>
                  <a:pt x="242852" y="2076894"/>
                  <a:pt x="171565" y="1714314"/>
                  <a:pt x="96920" y="1191868"/>
                </a:cubicBezTo>
                <a:cubicBezTo>
                  <a:pt x="88586" y="1133496"/>
                  <a:pt x="79946" y="1075462"/>
                  <a:pt x="71529" y="1019346"/>
                </a:cubicBezTo>
                <a:cubicBezTo>
                  <a:pt x="26070" y="715012"/>
                  <a:pt x="-16826" y="427572"/>
                  <a:pt x="6623" y="178315"/>
                </a:cubicBezTo>
                <a:cubicBezTo>
                  <a:pt x="12226" y="118742"/>
                  <a:pt x="21526" y="62431"/>
                  <a:pt x="34833" y="868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4098210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0619B9-30E0-AA68-B58D-2A6DB16DA270}"/>
              </a:ext>
            </a:extLst>
          </p:cNvPr>
          <p:cNvSpPr>
            <a:spLocks noGrp="1"/>
          </p:cNvSpPr>
          <p:nvPr>
            <p:ph type="title"/>
          </p:nvPr>
        </p:nvSpPr>
        <p:spPr>
          <a:xfrm>
            <a:off x="572493" y="238539"/>
            <a:ext cx="11018520" cy="1434415"/>
          </a:xfrm>
        </p:spPr>
        <p:txBody>
          <a:bodyPr anchor="b">
            <a:normAutofit/>
          </a:bodyPr>
          <a:lstStyle/>
          <a:p>
            <a:r>
              <a:rPr lang="en-US" sz="5400" dirty="0"/>
              <a:t>Epidemiology</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75630C1-2F24-94D3-DF33-DED68AA0ED12}"/>
              </a:ext>
            </a:extLst>
          </p:cNvPr>
          <p:cNvSpPr>
            <a:spLocks noGrp="1"/>
          </p:cNvSpPr>
          <p:nvPr>
            <p:ph idx="1"/>
          </p:nvPr>
        </p:nvSpPr>
        <p:spPr>
          <a:xfrm>
            <a:off x="572493" y="2071316"/>
            <a:ext cx="6713552" cy="4119172"/>
          </a:xfrm>
        </p:spPr>
        <p:txBody>
          <a:bodyPr anchor="t">
            <a:normAutofit/>
          </a:bodyPr>
          <a:lstStyle/>
          <a:p>
            <a:r>
              <a:rPr lang="en-US" sz="2200" b="1" dirty="0"/>
              <a:t>Global Burden</a:t>
            </a:r>
            <a:endParaRPr lang="en-US" sz="2200" dirty="0"/>
          </a:p>
          <a:p>
            <a:r>
              <a:rPr lang="en-US" sz="2200" dirty="0"/>
              <a:t>Gastritis and duodenitis affects approximately </a:t>
            </a:r>
            <a:r>
              <a:rPr lang="en-US" sz="2200" b="1" dirty="0"/>
              <a:t>27.2 million</a:t>
            </a:r>
            <a:r>
              <a:rPr lang="en-US" sz="2200" dirty="0"/>
              <a:t> individuals globally </a:t>
            </a:r>
          </a:p>
          <a:p>
            <a:r>
              <a:rPr lang="en-US" sz="2200" dirty="0"/>
              <a:t>Prevalence is higher in </a:t>
            </a:r>
            <a:r>
              <a:rPr lang="en-US" sz="2200" b="1" dirty="0"/>
              <a:t>females</a:t>
            </a:r>
            <a:r>
              <a:rPr lang="en-US" sz="2200" dirty="0"/>
              <a:t> </a:t>
            </a:r>
          </a:p>
          <a:p>
            <a:r>
              <a:rPr lang="en-US" sz="2200" dirty="0"/>
              <a:t>Increases with age, peaking in the </a:t>
            </a:r>
            <a:r>
              <a:rPr lang="en-US" sz="2200" b="1" dirty="0"/>
              <a:t>fifth decade of life</a:t>
            </a:r>
            <a:r>
              <a:rPr lang="en-US" sz="2200" dirty="0"/>
              <a:t>. </a:t>
            </a:r>
          </a:p>
          <a:p>
            <a:r>
              <a:rPr lang="en-US" sz="2200" dirty="0"/>
              <a:t>Prevalence rates particularly in </a:t>
            </a:r>
            <a:r>
              <a:rPr lang="en-US" sz="2200" b="1" i="1" dirty="0"/>
              <a:t>Sub-Saharan Africa and parts of Asia.</a:t>
            </a:r>
          </a:p>
          <a:p>
            <a:endParaRPr lang="en-US" sz="2200" dirty="0"/>
          </a:p>
        </p:txBody>
      </p:sp>
      <p:pic>
        <p:nvPicPr>
          <p:cNvPr id="4" name="Picture 3" descr="20,000+ Free Global World &amp; Earth Images - Pixabay">
            <a:extLst>
              <a:ext uri="{FF2B5EF4-FFF2-40B4-BE49-F238E27FC236}">
                <a16:creationId xmlns:a16="http://schemas.microsoft.com/office/drawing/2014/main" id="{5A1C23FC-31DA-3B0C-7D0F-5A3EBB7E93DD}"/>
              </a:ext>
            </a:extLst>
          </p:cNvPr>
          <p:cNvPicPr>
            <a:picLocks noChangeAspect="1"/>
          </p:cNvPicPr>
          <p:nvPr/>
        </p:nvPicPr>
        <p:blipFill>
          <a:blip r:embed="rId3"/>
          <a:srcRect l="747" r="-1" b="-1"/>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269773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0273FB-7B95-10B4-14C5-7EAEA12F7300}"/>
              </a:ext>
            </a:extLst>
          </p:cNvPr>
          <p:cNvSpPr>
            <a:spLocks noGrp="1"/>
          </p:cNvSpPr>
          <p:nvPr>
            <p:ph type="title"/>
          </p:nvPr>
        </p:nvSpPr>
        <p:spPr>
          <a:xfrm>
            <a:off x="838200" y="365125"/>
            <a:ext cx="10515600" cy="1325563"/>
          </a:xfrm>
        </p:spPr>
        <p:txBody>
          <a:bodyPr>
            <a:normAutofit/>
          </a:bodyPr>
          <a:lstStyle/>
          <a:p>
            <a:r>
              <a:rPr lang="en-US" sz="5400" b="1"/>
              <a:t>Etiology </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671C220-5850-BF75-B73A-6D5B9416D29B}"/>
              </a:ext>
            </a:extLst>
          </p:cNvPr>
          <p:cNvSpPr>
            <a:spLocks noGrp="1"/>
          </p:cNvSpPr>
          <p:nvPr>
            <p:ph idx="1"/>
          </p:nvPr>
        </p:nvSpPr>
        <p:spPr>
          <a:xfrm>
            <a:off x="838200" y="1929384"/>
            <a:ext cx="10515600" cy="4251960"/>
          </a:xfrm>
        </p:spPr>
        <p:txBody>
          <a:bodyPr>
            <a:normAutofit/>
          </a:bodyPr>
          <a:lstStyle/>
          <a:p>
            <a:r>
              <a:rPr lang="en-US" sz="2000" b="1" dirty="0"/>
              <a:t>H.</a:t>
            </a:r>
            <a:r>
              <a:rPr lang="en-US" sz="2000" dirty="0"/>
              <a:t> (Helicobacter)</a:t>
            </a:r>
            <a:r>
              <a:rPr lang="en-US" sz="2000" b="1" dirty="0"/>
              <a:t> pylori gastritis</a:t>
            </a:r>
            <a:r>
              <a:rPr lang="en-US" sz="2000" dirty="0"/>
              <a:t>: The </a:t>
            </a:r>
            <a:r>
              <a:rPr lang="en-US" sz="2000" b="1" i="1" dirty="0"/>
              <a:t>most common </a:t>
            </a:r>
            <a:r>
              <a:rPr lang="en-US" sz="2000" dirty="0"/>
              <a:t>cause of chronic gastritis worldwide. It causes two patterns: </a:t>
            </a:r>
          </a:p>
          <a:p>
            <a:pPr lvl="1"/>
            <a:r>
              <a:rPr lang="en-US" sz="2000" b="1" dirty="0"/>
              <a:t>Antral-predominant</a:t>
            </a:r>
            <a:r>
              <a:rPr lang="en-US" sz="2000" dirty="0"/>
              <a:t> → acid hypersecretion → duodenal ulcers</a:t>
            </a:r>
          </a:p>
          <a:p>
            <a:pPr lvl="1"/>
            <a:r>
              <a:rPr lang="en-US" sz="2000" b="1" dirty="0"/>
              <a:t>Pangastritis</a:t>
            </a:r>
            <a:r>
              <a:rPr lang="en-US" sz="2000" dirty="0"/>
              <a:t> → gastric atrophy → reduced acid → gastric cancer risk </a:t>
            </a:r>
          </a:p>
          <a:p>
            <a:r>
              <a:rPr lang="en-US" sz="2000" b="1" dirty="0"/>
              <a:t>Autoimmune gastritis (AIG)</a:t>
            </a:r>
            <a:r>
              <a:rPr lang="en-US" sz="2000" dirty="0"/>
              <a:t>: Autoantibodies against parietal cells (produce HCL) and protein intrinsic factor ( all within the stomach lining)→ </a:t>
            </a:r>
            <a:r>
              <a:rPr lang="en-US" sz="2000" b="1" dirty="0"/>
              <a:t>corpus-predominant atrophy with antral sparing</a:t>
            </a:r>
            <a:r>
              <a:rPr lang="en-US" sz="2000" dirty="0"/>
              <a:t> → malabsorption of vitamin B12, iron deficiency, and pernicious anemia</a:t>
            </a:r>
          </a:p>
          <a:p>
            <a:pPr lvl="1"/>
            <a:r>
              <a:rPr lang="en-US" sz="2000" dirty="0"/>
              <a:t>(Type 1 Diabetes or thyroid disease) </a:t>
            </a:r>
          </a:p>
          <a:p>
            <a:r>
              <a:rPr lang="en-US" sz="2000" b="1" dirty="0"/>
              <a:t>NSAID/chemical gastropathy</a:t>
            </a:r>
            <a:r>
              <a:rPr lang="en-US" sz="2000" dirty="0"/>
              <a:t>: COX-1 inhibition (NSAIDS-Ibuprofen, aspirin, naproxen) reduces prostaglandins → impaired mucosal blood flow, mucin production, and epithelial repair </a:t>
            </a:r>
          </a:p>
          <a:p>
            <a:r>
              <a:rPr lang="en-US" sz="2000" b="1" dirty="0"/>
              <a:t>Other causes</a:t>
            </a:r>
            <a:r>
              <a:rPr lang="en-US" sz="2000" dirty="0"/>
              <a:t>: Crohn's disease (focally enhanced gastritis), lymphocytic gastritis, eosinophilic gastritis, bile reflux</a:t>
            </a:r>
          </a:p>
          <a:p>
            <a:endParaRPr lang="en-US" sz="2000" dirty="0"/>
          </a:p>
          <a:p>
            <a:endParaRPr lang="en-US" sz="2000" dirty="0"/>
          </a:p>
        </p:txBody>
      </p:sp>
      <p:pic>
        <p:nvPicPr>
          <p:cNvPr id="5" name="Picture 4" descr="Human stomach anatomy internal organ 3d rendering | Premium Photo">
            <a:extLst>
              <a:ext uri="{FF2B5EF4-FFF2-40B4-BE49-F238E27FC236}">
                <a16:creationId xmlns:a16="http://schemas.microsoft.com/office/drawing/2014/main" id="{3CB740DC-14DC-15BE-63DB-02A2A1972654}"/>
              </a:ext>
            </a:extLst>
          </p:cNvPr>
          <p:cNvPicPr>
            <a:picLocks noChangeAspect="1"/>
          </p:cNvPicPr>
          <p:nvPr/>
        </p:nvPicPr>
        <p:blipFill>
          <a:blip r:embed="rId3"/>
          <a:stretch>
            <a:fillRect/>
          </a:stretch>
        </p:blipFill>
        <p:spPr>
          <a:xfrm>
            <a:off x="10279380" y="5450459"/>
            <a:ext cx="1612392" cy="1239901"/>
          </a:xfrm>
          <a:prstGeom prst="rect">
            <a:avLst/>
          </a:prstGeom>
        </p:spPr>
      </p:pic>
    </p:spTree>
    <p:extLst>
      <p:ext uri="{BB962C8B-B14F-4D97-AF65-F5344CB8AC3E}">
        <p14:creationId xmlns:p14="http://schemas.microsoft.com/office/powerpoint/2010/main" val="1269178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7ECF9A-2C3A-2AD2-70B1-E83EF3DFA548}"/>
              </a:ext>
            </a:extLst>
          </p:cNvPr>
          <p:cNvSpPr>
            <a:spLocks noGrp="1"/>
          </p:cNvSpPr>
          <p:nvPr>
            <p:ph type="title"/>
          </p:nvPr>
        </p:nvSpPr>
        <p:spPr>
          <a:xfrm>
            <a:off x="838200" y="365125"/>
            <a:ext cx="10515600" cy="1325563"/>
          </a:xfrm>
        </p:spPr>
        <p:txBody>
          <a:bodyPr>
            <a:normAutofit/>
          </a:bodyPr>
          <a:lstStyle/>
          <a:p>
            <a:r>
              <a:rPr lang="en-US" sz="5400" dirty="0"/>
              <a:t>Gastritis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EC986C5-9CE5-760D-C63A-43BD57D985EA}"/>
              </a:ext>
            </a:extLst>
          </p:cNvPr>
          <p:cNvSpPr>
            <a:spLocks noGrp="1"/>
          </p:cNvSpPr>
          <p:nvPr>
            <p:ph idx="1"/>
          </p:nvPr>
        </p:nvSpPr>
        <p:spPr>
          <a:xfrm>
            <a:off x="838200" y="1929384"/>
            <a:ext cx="10515600" cy="4251960"/>
          </a:xfrm>
        </p:spPr>
        <p:txBody>
          <a:bodyPr>
            <a:normAutofit/>
          </a:bodyPr>
          <a:lstStyle/>
          <a:p>
            <a:r>
              <a:rPr lang="en-US" sz="2000" b="1" dirty="0"/>
              <a:t>Pathophysiology — Mucosal Defense</a:t>
            </a:r>
            <a:endParaRPr lang="en-US" sz="2000" dirty="0"/>
          </a:p>
          <a:p>
            <a:pPr lvl="1"/>
            <a:r>
              <a:rPr lang="en-US" sz="2000" dirty="0"/>
              <a:t>The gastric mucosal barrier relies on three key elements: </a:t>
            </a:r>
          </a:p>
          <a:p>
            <a:pPr lvl="2"/>
            <a:r>
              <a:rPr lang="en-US" dirty="0"/>
              <a:t>(1) tight junctions between epithelial cells (forms seals between surface cells), </a:t>
            </a:r>
          </a:p>
          <a:p>
            <a:pPr lvl="2"/>
            <a:r>
              <a:rPr lang="en-US" dirty="0"/>
              <a:t>(2) a thick mucus-bicarbonate layer coating</a:t>
            </a:r>
          </a:p>
          <a:p>
            <a:pPr lvl="2"/>
            <a:r>
              <a:rPr lang="en-US" dirty="0"/>
              <a:t>(3) prostaglandin-mediated mucosal blood flow and repair. (</a:t>
            </a:r>
            <a:r>
              <a:rPr lang="en-US" b="1" dirty="0"/>
              <a:t>Good blood flow and repair</a:t>
            </a:r>
            <a:r>
              <a:rPr lang="en-US" dirty="0"/>
              <a:t> driven by hormones called prostaglandins).</a:t>
            </a:r>
          </a:p>
          <a:p>
            <a:pPr lvl="2"/>
            <a:endParaRPr lang="en-US" dirty="0"/>
          </a:p>
          <a:p>
            <a:r>
              <a:rPr lang="en-US" sz="2000" b="1" dirty="0"/>
              <a:t>How Damage Happens:</a:t>
            </a:r>
            <a:endParaRPr lang="en-US" sz="2000" dirty="0"/>
          </a:p>
          <a:p>
            <a:pPr lvl="1"/>
            <a:r>
              <a:rPr lang="en-US" sz="2000" b="1" i="1" dirty="0"/>
              <a:t>H. pylori</a:t>
            </a:r>
            <a:r>
              <a:rPr lang="en-US" sz="2000" b="1" dirty="0"/>
              <a:t> bacteria</a:t>
            </a:r>
            <a:r>
              <a:rPr lang="en-US" sz="2000" dirty="0"/>
              <a:t> break down the cell seals and cause long-term inflammation.</a:t>
            </a:r>
          </a:p>
          <a:p>
            <a:pPr lvl="1"/>
            <a:r>
              <a:rPr lang="en-US" sz="2000" b="1" dirty="0"/>
              <a:t>NSAIDs</a:t>
            </a:r>
            <a:r>
              <a:rPr lang="en-US" sz="2000" dirty="0"/>
              <a:t> (like ibuprofen) block protective prostaglandins (impair prostaglandin synthesis via COX-1 inhibition), stopping the stomach from repairing and protecting itself.</a:t>
            </a:r>
          </a:p>
          <a:p>
            <a:endParaRPr lang="en-US" sz="2000" dirty="0"/>
          </a:p>
        </p:txBody>
      </p:sp>
      <p:pic>
        <p:nvPicPr>
          <p:cNvPr id="7" name="Picture 6" descr="Human stomach anatomy internal organ 3d rendering | Premium Photo">
            <a:extLst>
              <a:ext uri="{FF2B5EF4-FFF2-40B4-BE49-F238E27FC236}">
                <a16:creationId xmlns:a16="http://schemas.microsoft.com/office/drawing/2014/main" id="{5DFF0676-E95A-0EF4-CD55-045E91588820}"/>
              </a:ext>
            </a:extLst>
          </p:cNvPr>
          <p:cNvPicPr>
            <a:picLocks noChangeAspect="1"/>
          </p:cNvPicPr>
          <p:nvPr/>
        </p:nvPicPr>
        <p:blipFill>
          <a:blip r:embed="rId3"/>
          <a:stretch>
            <a:fillRect/>
          </a:stretch>
        </p:blipFill>
        <p:spPr>
          <a:xfrm>
            <a:off x="9098280" y="67691"/>
            <a:ext cx="2765298" cy="1604709"/>
          </a:xfrm>
          <a:prstGeom prst="rect">
            <a:avLst/>
          </a:prstGeom>
        </p:spPr>
      </p:pic>
    </p:spTree>
    <p:extLst>
      <p:ext uri="{BB962C8B-B14F-4D97-AF65-F5344CB8AC3E}">
        <p14:creationId xmlns:p14="http://schemas.microsoft.com/office/powerpoint/2010/main" val="3576426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AD230-1FFA-8ADF-9F9B-658AFCDF161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ACD073A-1390-4DD4-4ADE-4BB9D4F033F4}"/>
              </a:ext>
            </a:extLst>
          </p:cNvPr>
          <p:cNvSpPr>
            <a:spLocks noGrp="1"/>
          </p:cNvSpPr>
          <p:nvPr>
            <p:ph type="sldNum" sz="quarter" idx="12"/>
          </p:nvPr>
        </p:nvSpPr>
        <p:spPr/>
        <p:txBody>
          <a:bodyPr/>
          <a:lstStyle/>
          <a:p>
            <a:fld id="{A5F20A65-3D46-45E0-8BDB-2F40D0418B32}" type="slidenum">
              <a:rPr lang="en-US" smtClean="0"/>
              <a:t>24</a:t>
            </a:fld>
            <a:endParaRPr lang="en-US" dirty="0"/>
          </a:p>
        </p:txBody>
      </p:sp>
      <p:pic>
        <p:nvPicPr>
          <p:cNvPr id="3074" name="Picture 2" descr="The Stomach – Anatomical Basis of Injury">
            <a:extLst>
              <a:ext uri="{FF2B5EF4-FFF2-40B4-BE49-F238E27FC236}">
                <a16:creationId xmlns:a16="http://schemas.microsoft.com/office/drawing/2014/main" id="{9D3B5617-0B19-7388-03D2-6B62548C88B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62100" y="406492"/>
            <a:ext cx="9067800" cy="672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778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E5B29-DE03-25E0-EACF-A42840C6A14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8B1FA34-8BB3-4468-DE74-16FB12F4DB19}"/>
              </a:ext>
            </a:extLst>
          </p:cNvPr>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 — MICROANATOMY</a:t>
            </a:r>
            <a:endParaRPr lang="en-US" sz="2000" dirty="0"/>
          </a:p>
        </p:txBody>
      </p:sp>
      <p:sp>
        <p:nvSpPr>
          <p:cNvPr id="3" name="Text 1">
            <a:extLst>
              <a:ext uri="{FF2B5EF4-FFF2-40B4-BE49-F238E27FC236}">
                <a16:creationId xmlns:a16="http://schemas.microsoft.com/office/drawing/2014/main" id="{F5B4D047-BD20-340B-34A2-F7E7D0244F16}"/>
              </a:ext>
            </a:extLst>
          </p:cNvPr>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Gastric Mucosa: Specialized Cells</a:t>
            </a:r>
            <a:endParaRPr lang="en-US" sz="3200" dirty="0"/>
          </a:p>
        </p:txBody>
      </p:sp>
      <p:sp>
        <p:nvSpPr>
          <p:cNvPr id="4" name="Shape 2">
            <a:extLst>
              <a:ext uri="{FF2B5EF4-FFF2-40B4-BE49-F238E27FC236}">
                <a16:creationId xmlns:a16="http://schemas.microsoft.com/office/drawing/2014/main" id="{E5BCBBBB-8ED3-3540-0288-467F1AC9AD56}"/>
              </a:ext>
            </a:extLst>
          </p:cNvPr>
          <p:cNvSpPr/>
          <p:nvPr/>
        </p:nvSpPr>
        <p:spPr>
          <a:xfrm>
            <a:off x="548640" y="1536192"/>
            <a:ext cx="11064240" cy="10973"/>
          </a:xfrm>
          <a:prstGeom prst="rect">
            <a:avLst/>
          </a:prstGeom>
          <a:solidFill>
            <a:srgbClr val="E3D6C6"/>
          </a:solidFill>
          <a:ln/>
        </p:spPr>
        <p:txBody>
          <a:bodyPr/>
          <a:lstStyle/>
          <a:p>
            <a:endParaRPr lang="en-US"/>
          </a:p>
        </p:txBody>
      </p:sp>
      <p:sp>
        <p:nvSpPr>
          <p:cNvPr id="5" name="Shape 3">
            <a:extLst>
              <a:ext uri="{FF2B5EF4-FFF2-40B4-BE49-F238E27FC236}">
                <a16:creationId xmlns:a16="http://schemas.microsoft.com/office/drawing/2014/main" id="{EAB494F0-B841-542A-B9EC-3F485113AF02}"/>
              </a:ext>
            </a:extLst>
          </p:cNvPr>
          <p:cNvSpPr/>
          <p:nvPr/>
        </p:nvSpPr>
        <p:spPr>
          <a:xfrm>
            <a:off x="213361" y="2505097"/>
            <a:ext cx="6534344" cy="3758543"/>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gastric_mucosa_cells.jpeg">
            <a:extLst>
              <a:ext uri="{FF2B5EF4-FFF2-40B4-BE49-F238E27FC236}">
                <a16:creationId xmlns:a16="http://schemas.microsoft.com/office/drawing/2014/main" id="{793F17C4-2F92-033F-139A-ACE3E5221A19}"/>
              </a:ext>
            </a:extLst>
          </p:cNvPr>
          <p:cNvPicPr>
            <a:picLocks noChangeAspect="1"/>
          </p:cNvPicPr>
          <p:nvPr/>
        </p:nvPicPr>
        <p:blipFill>
          <a:blip r:embed="rId3"/>
          <a:stretch>
            <a:fillRect/>
          </a:stretch>
        </p:blipFill>
        <p:spPr>
          <a:xfrm>
            <a:off x="336902" y="2666286"/>
            <a:ext cx="6328877" cy="3368753"/>
          </a:xfrm>
          <a:prstGeom prst="rect">
            <a:avLst/>
          </a:prstGeom>
        </p:spPr>
      </p:pic>
      <p:sp>
        <p:nvSpPr>
          <p:cNvPr id="7" name="Text 4">
            <a:extLst>
              <a:ext uri="{FF2B5EF4-FFF2-40B4-BE49-F238E27FC236}">
                <a16:creationId xmlns:a16="http://schemas.microsoft.com/office/drawing/2014/main" id="{A994F1D3-04E9-8869-F76E-F540A2A1F418}"/>
              </a:ext>
            </a:extLst>
          </p:cNvPr>
          <p:cNvSpPr/>
          <p:nvPr/>
        </p:nvSpPr>
        <p:spPr>
          <a:xfrm>
            <a:off x="7028120" y="1856232"/>
            <a:ext cx="4950519"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Mucous cells — protective mucus &amp; bicarbonate</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Parietal cells — HCl + intrinsic factor</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Chief cells — pepsinogen → pepsin: begins protein digestion</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G cells (antrum) — gastrin</a:t>
            </a:r>
            <a:endParaRPr lang="en-US" sz="2100" dirty="0"/>
          </a:p>
        </p:txBody>
      </p:sp>
      <p:sp>
        <p:nvSpPr>
          <p:cNvPr id="8" name="Text 5">
            <a:extLst>
              <a:ext uri="{FF2B5EF4-FFF2-40B4-BE49-F238E27FC236}">
                <a16:creationId xmlns:a16="http://schemas.microsoft.com/office/drawing/2014/main" id="{259FE245-8D04-3E7B-F944-0F6155A533D5}"/>
              </a:ext>
            </a:extLst>
          </p:cNvPr>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a:extLst>
              <a:ext uri="{FF2B5EF4-FFF2-40B4-BE49-F238E27FC236}">
                <a16:creationId xmlns:a16="http://schemas.microsoft.com/office/drawing/2014/main" id="{ACDE631D-CF3F-A759-6963-BF641D81334D}"/>
              </a:ext>
            </a:extLst>
          </p:cNvPr>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14 / 46</a:t>
            </a:r>
            <a:endParaRPr lang="en-US" sz="1000" dirty="0"/>
          </a:p>
        </p:txBody>
      </p:sp>
    </p:spTree>
    <p:extLst>
      <p:ext uri="{BB962C8B-B14F-4D97-AF65-F5344CB8AC3E}">
        <p14:creationId xmlns:p14="http://schemas.microsoft.com/office/powerpoint/2010/main" val="329322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3D34-085D-1A32-C2B3-80EC51FB2455}"/>
              </a:ext>
            </a:extLst>
          </p:cNvPr>
          <p:cNvSpPr>
            <a:spLocks noGrp="1"/>
          </p:cNvSpPr>
          <p:nvPr>
            <p:ph type="title"/>
          </p:nvPr>
        </p:nvSpPr>
        <p:spPr/>
        <p:txBody>
          <a:bodyPr/>
          <a:lstStyle/>
          <a:p>
            <a:r>
              <a:rPr lang="en-US" dirty="0"/>
              <a:t>Acute Gastritis Pathophysiology</a:t>
            </a:r>
          </a:p>
        </p:txBody>
      </p:sp>
      <p:pic>
        <p:nvPicPr>
          <p:cNvPr id="4" name="Content Placeholder 3" descr="Acute Gastritis | Step-By-Step Pathophysiology Explained">
            <a:extLst>
              <a:ext uri="{FF2B5EF4-FFF2-40B4-BE49-F238E27FC236}">
                <a16:creationId xmlns:a16="http://schemas.microsoft.com/office/drawing/2014/main" id="{B6D8F8CC-30FA-6005-7A14-F41CE28C8D68}"/>
              </a:ext>
            </a:extLst>
          </p:cNvPr>
          <p:cNvPicPr>
            <a:picLocks noGrp="1" noChangeAspect="1"/>
          </p:cNvPicPr>
          <p:nvPr>
            <p:ph idx="1"/>
          </p:nvPr>
        </p:nvPicPr>
        <p:blipFill>
          <a:blip r:embed="rId2"/>
          <a:stretch>
            <a:fillRect/>
          </a:stretch>
        </p:blipFill>
        <p:spPr>
          <a:xfrm>
            <a:off x="2828925" y="2162969"/>
            <a:ext cx="6534150" cy="3676650"/>
          </a:xfrm>
          <a:prstGeom prst="rect">
            <a:avLst/>
          </a:prstGeom>
        </p:spPr>
      </p:pic>
    </p:spTree>
    <p:extLst>
      <p:ext uri="{BB962C8B-B14F-4D97-AF65-F5344CB8AC3E}">
        <p14:creationId xmlns:p14="http://schemas.microsoft.com/office/powerpoint/2010/main" val="2319617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987CA0-928B-1914-7AE1-6A1D73B5D6D1}"/>
              </a:ext>
            </a:extLst>
          </p:cNvPr>
          <p:cNvSpPr>
            <a:spLocks noGrp="1"/>
          </p:cNvSpPr>
          <p:nvPr>
            <p:ph type="title"/>
          </p:nvPr>
        </p:nvSpPr>
        <p:spPr>
          <a:xfrm>
            <a:off x="838200" y="365125"/>
            <a:ext cx="10515600" cy="1325563"/>
          </a:xfrm>
        </p:spPr>
        <p:txBody>
          <a:bodyPr>
            <a:normAutofit/>
          </a:bodyPr>
          <a:lstStyle/>
          <a:p>
            <a:r>
              <a:rPr lang="en-US" sz="4200" b="1"/>
              <a:t>Clinical Presentation</a:t>
            </a:r>
            <a:br>
              <a:rPr lang="en-US" sz="4200"/>
            </a:br>
            <a:endParaRPr lang="en-US" sz="42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8E31329-B64F-F753-6F2B-945861367A0A}"/>
              </a:ext>
            </a:extLst>
          </p:cNvPr>
          <p:cNvSpPr>
            <a:spLocks noGrp="1"/>
          </p:cNvSpPr>
          <p:nvPr>
            <p:ph idx="1"/>
          </p:nvPr>
        </p:nvSpPr>
        <p:spPr>
          <a:xfrm>
            <a:off x="838200" y="1929384"/>
            <a:ext cx="10515600" cy="4251960"/>
          </a:xfrm>
        </p:spPr>
        <p:txBody>
          <a:bodyPr>
            <a:normAutofit/>
          </a:bodyPr>
          <a:lstStyle/>
          <a:p>
            <a:pPr lvl="1"/>
            <a:r>
              <a:rPr lang="en-US" sz="2200" dirty="0"/>
              <a:t>Symptoms are nonspecific </a:t>
            </a:r>
          </a:p>
          <a:p>
            <a:pPr lvl="2"/>
            <a:r>
              <a:rPr lang="en-US" sz="2200" b="1" dirty="0"/>
              <a:t>Dyspepsia</a:t>
            </a:r>
            <a:r>
              <a:rPr lang="en-US" sz="2200" dirty="0"/>
              <a:t>: Upper abdominal pain or a burning feeling after eating</a:t>
            </a:r>
          </a:p>
          <a:p>
            <a:pPr lvl="2"/>
            <a:r>
              <a:rPr lang="en-US" sz="2200" b="1" dirty="0"/>
              <a:t>Epigastric pain</a:t>
            </a:r>
            <a:r>
              <a:rPr lang="en-US" sz="2200" dirty="0"/>
              <a:t>  </a:t>
            </a:r>
            <a:endParaRPr lang="en-US" sz="2200" b="1" dirty="0"/>
          </a:p>
          <a:p>
            <a:pPr lvl="2"/>
            <a:r>
              <a:rPr lang="en-US" sz="2200" b="1" dirty="0"/>
              <a:t>Abdominal distension</a:t>
            </a:r>
            <a:r>
              <a:rPr lang="en-US" sz="2200" dirty="0"/>
              <a:t> </a:t>
            </a:r>
          </a:p>
          <a:p>
            <a:pPr lvl="2"/>
            <a:r>
              <a:rPr lang="en-US" sz="2200" b="1" dirty="0"/>
              <a:t>Postprandial fullness</a:t>
            </a:r>
            <a:r>
              <a:rPr lang="en-US" sz="2200" dirty="0"/>
              <a:t> - an uncomfortable feeling of being too full for a long time after eating a normal meal. </a:t>
            </a:r>
          </a:p>
          <a:p>
            <a:pPr lvl="2"/>
            <a:r>
              <a:rPr lang="en-US" sz="2200" dirty="0"/>
              <a:t>Many patients are </a:t>
            </a:r>
            <a:r>
              <a:rPr lang="en-US" sz="2200" b="1" dirty="0"/>
              <a:t>asymptomatic</a:t>
            </a:r>
            <a:r>
              <a:rPr lang="en-US" sz="2200" dirty="0"/>
              <a:t>. </a:t>
            </a:r>
          </a:p>
          <a:p>
            <a:pPr lvl="2"/>
            <a:r>
              <a:rPr lang="en-US" sz="2200" dirty="0"/>
              <a:t>Autoimmune gastritis may present with macrocytic anemia, neurologic symptoms (B12 deficiency), or iron deficiency anemia from achlorhydria ( absence of HCL in gastric secretions) impairing iron absorption). </a:t>
            </a:r>
          </a:p>
          <a:p>
            <a:pPr marL="0" indent="0">
              <a:buNone/>
            </a:pPr>
            <a:br>
              <a:rPr lang="en-US" sz="2200" dirty="0"/>
            </a:br>
            <a:endParaRPr lang="en-US" sz="2200" dirty="0"/>
          </a:p>
        </p:txBody>
      </p:sp>
      <p:pic>
        <p:nvPicPr>
          <p:cNvPr id="5" name="Picture 4" descr="Human stomach anatomy internal organ 3d rendering | Premium Photo">
            <a:extLst>
              <a:ext uri="{FF2B5EF4-FFF2-40B4-BE49-F238E27FC236}">
                <a16:creationId xmlns:a16="http://schemas.microsoft.com/office/drawing/2014/main" id="{BA52940B-98B0-7D58-0C49-2EB2D61EEE00}"/>
              </a:ext>
            </a:extLst>
          </p:cNvPr>
          <p:cNvPicPr>
            <a:picLocks noChangeAspect="1"/>
          </p:cNvPicPr>
          <p:nvPr/>
        </p:nvPicPr>
        <p:blipFill>
          <a:blip r:embed="rId3"/>
          <a:stretch>
            <a:fillRect/>
          </a:stretch>
        </p:blipFill>
        <p:spPr>
          <a:xfrm>
            <a:off x="9098280" y="67691"/>
            <a:ext cx="2765298" cy="1604709"/>
          </a:xfrm>
          <a:prstGeom prst="rect">
            <a:avLst/>
          </a:prstGeom>
        </p:spPr>
      </p:pic>
    </p:spTree>
    <p:extLst>
      <p:ext uri="{BB962C8B-B14F-4D97-AF65-F5344CB8AC3E}">
        <p14:creationId xmlns:p14="http://schemas.microsoft.com/office/powerpoint/2010/main" val="3373136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2CC8B1-11F8-EDC9-0677-431F00245FD2}"/>
              </a:ext>
            </a:extLst>
          </p:cNvPr>
          <p:cNvSpPr>
            <a:spLocks noGrp="1"/>
          </p:cNvSpPr>
          <p:nvPr>
            <p:ph type="title"/>
          </p:nvPr>
        </p:nvSpPr>
        <p:spPr>
          <a:xfrm>
            <a:off x="572493" y="238539"/>
            <a:ext cx="11018520" cy="1434415"/>
          </a:xfrm>
        </p:spPr>
        <p:txBody>
          <a:bodyPr anchor="b">
            <a:normAutofit/>
          </a:bodyPr>
          <a:lstStyle/>
          <a:p>
            <a:r>
              <a:rPr lang="en-US" sz="4600" b="1"/>
              <a:t>Diagnosis</a:t>
            </a:r>
            <a:br>
              <a:rPr lang="en-US" sz="4600"/>
            </a:br>
            <a:endParaRPr lang="en-US" sz="4600"/>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793E5D9-EE40-BFB2-216C-215D2A59B5B9}"/>
              </a:ext>
            </a:extLst>
          </p:cNvPr>
          <p:cNvSpPr>
            <a:spLocks noGrp="1"/>
          </p:cNvSpPr>
          <p:nvPr>
            <p:ph idx="1"/>
          </p:nvPr>
        </p:nvSpPr>
        <p:spPr>
          <a:xfrm>
            <a:off x="572493" y="2071316"/>
            <a:ext cx="6713552" cy="4119172"/>
          </a:xfrm>
        </p:spPr>
        <p:txBody>
          <a:bodyPr anchor="t">
            <a:normAutofit/>
          </a:bodyPr>
          <a:lstStyle/>
          <a:p>
            <a:r>
              <a:rPr lang="en-US" sz="1700" b="1" dirty="0"/>
              <a:t>Histology is the gold standard</a:t>
            </a:r>
            <a:r>
              <a:rPr lang="en-US" sz="1700" dirty="0"/>
              <a:t> — Looking at stomach tissue under a microscope (histology) is the most reliable method.</a:t>
            </a:r>
          </a:p>
          <a:p>
            <a:r>
              <a:rPr lang="en-US" sz="1700" b="1" dirty="0"/>
              <a:t>Endoscopy</a:t>
            </a:r>
            <a:r>
              <a:rPr lang="en-US" sz="1700" dirty="0"/>
              <a:t> (using a small camera) and takes specific tissue samples from 5 different areas of the stomach (following the Sydney protocol: 2 from the lower part, 2 from the upper part, and 1 from the bend in the middle)</a:t>
            </a:r>
          </a:p>
          <a:p>
            <a:r>
              <a:rPr lang="en-US" sz="1700" b="1" dirty="0"/>
              <a:t>H. pylori testing</a:t>
            </a:r>
            <a:r>
              <a:rPr lang="en-US" sz="1700" dirty="0"/>
              <a:t>:</a:t>
            </a:r>
          </a:p>
          <a:p>
            <a:pPr lvl="1"/>
            <a:r>
              <a:rPr lang="en-US" sz="1700" dirty="0"/>
              <a:t>Noninvasive (</a:t>
            </a:r>
            <a:r>
              <a:rPr lang="en-US" sz="1700" b="1" i="1" dirty="0"/>
              <a:t>preferred initial): </a:t>
            </a:r>
            <a:r>
              <a:rPr lang="en-US" sz="1700" b="1" dirty="0"/>
              <a:t>urea breath test</a:t>
            </a:r>
            <a:r>
              <a:rPr lang="en-US" sz="1700" dirty="0"/>
              <a:t> or </a:t>
            </a:r>
            <a:r>
              <a:rPr lang="en-US" sz="1700" b="1" dirty="0"/>
              <a:t>stool antigen test</a:t>
            </a:r>
            <a:r>
              <a:rPr lang="en-US" sz="1700" dirty="0"/>
              <a:t> — both require holding PPIs (Proton Pump Inhibitors-OTC-omeprazole/Prilosec, Esomeprazole/Nexium, </a:t>
            </a:r>
            <a:r>
              <a:rPr lang="en-US" sz="1700" dirty="0" err="1"/>
              <a:t>etc</a:t>
            </a:r>
            <a:r>
              <a:rPr lang="en-US" sz="1700" dirty="0"/>
              <a:t>) for ≥2 weeks and antibiotics for ≥4 weeks </a:t>
            </a:r>
          </a:p>
          <a:p>
            <a:pPr lvl="1"/>
            <a:r>
              <a:rPr lang="en-US" sz="1700" dirty="0"/>
              <a:t>Invasive (at endoscopy): rapid urease test, histology, culture </a:t>
            </a:r>
          </a:p>
          <a:p>
            <a:r>
              <a:rPr lang="en-US" sz="1700" b="1" dirty="0"/>
              <a:t>Autoimmune gastritis</a:t>
            </a:r>
            <a:r>
              <a:rPr lang="en-US" sz="1700" dirty="0"/>
              <a:t>: anti-parietal cell antibodies, anti-intrinsic factor antibodies, elevated gastrin, low pepsinogen I, B12 levels</a:t>
            </a:r>
          </a:p>
          <a:p>
            <a:endParaRPr lang="en-US" sz="1700" dirty="0"/>
          </a:p>
        </p:txBody>
      </p:sp>
      <p:pic>
        <p:nvPicPr>
          <p:cNvPr id="5" name="Picture 4" descr="Human stomach anatomy internal organ 3d rendering | Premium Photo">
            <a:extLst>
              <a:ext uri="{FF2B5EF4-FFF2-40B4-BE49-F238E27FC236}">
                <a16:creationId xmlns:a16="http://schemas.microsoft.com/office/drawing/2014/main" id="{F89B9268-8F41-1108-BD4B-F6E5971E0032}"/>
              </a:ext>
            </a:extLst>
          </p:cNvPr>
          <p:cNvPicPr>
            <a:picLocks noChangeAspect="1"/>
          </p:cNvPicPr>
          <p:nvPr/>
        </p:nvPicPr>
        <p:blipFill>
          <a:blip r:embed="rId3"/>
          <a:srcRect l="3795" r="-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067344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8E14E2-4AF5-92A1-65AB-C6F6982795AE}"/>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t>The Correa Cascade</a:t>
            </a:r>
            <a:endParaRPr lang="en-US" sz="5400"/>
          </a:p>
        </p:txBody>
      </p:sp>
      <p:sp>
        <p:nvSpPr>
          <p:cNvPr id="4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3D6DA43-FA8C-2F19-506B-B98AA579384F}"/>
              </a:ext>
            </a:extLst>
          </p:cNvPr>
          <p:cNvSpPr txBox="1"/>
          <p:nvPr/>
        </p:nvSpPr>
        <p:spPr>
          <a:xfrm>
            <a:off x="572493" y="2071316"/>
            <a:ext cx="6713552" cy="41191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b="1"/>
              <a:t>The Step-by-Step Progression:</a:t>
            </a:r>
            <a:r>
              <a:rPr lang="en-US" sz="2000"/>
              <a:t> Stomach cancer usually develops very slowly through a predictable chain of changes in the stomach lining:</a:t>
            </a:r>
          </a:p>
          <a:p>
            <a:pPr indent="-228600">
              <a:lnSpc>
                <a:spcPct val="90000"/>
              </a:lnSpc>
              <a:spcAft>
                <a:spcPts val="600"/>
              </a:spcAft>
              <a:buFont typeface="Arial" panose="020B0604020202020204" pitchFamily="34" charset="0"/>
              <a:buChar char="•"/>
            </a:pPr>
            <a:r>
              <a:rPr lang="en-US" sz="2000" b="1"/>
              <a:t>Normal tissue</a:t>
            </a:r>
            <a:endParaRPr lang="en-US" sz="2000"/>
          </a:p>
          <a:p>
            <a:pPr indent="-228600">
              <a:lnSpc>
                <a:spcPct val="90000"/>
              </a:lnSpc>
              <a:spcAft>
                <a:spcPts val="600"/>
              </a:spcAft>
              <a:buFont typeface="Arial" panose="020B0604020202020204" pitchFamily="34" charset="0"/>
              <a:buChar char="•"/>
            </a:pPr>
            <a:r>
              <a:rPr lang="en-US" sz="2000" b="1"/>
              <a:t>Chronic gastritis</a:t>
            </a:r>
            <a:r>
              <a:rPr lang="en-US" sz="2000"/>
              <a:t> (long-term inflammation)</a:t>
            </a:r>
          </a:p>
          <a:p>
            <a:pPr indent="-228600">
              <a:lnSpc>
                <a:spcPct val="90000"/>
              </a:lnSpc>
              <a:spcAft>
                <a:spcPts val="600"/>
              </a:spcAft>
              <a:buFont typeface="Arial" panose="020B0604020202020204" pitchFamily="34" charset="0"/>
              <a:buChar char="•"/>
            </a:pPr>
            <a:r>
              <a:rPr lang="en-US" sz="2000" b="1"/>
              <a:t>Atrophic gastritis</a:t>
            </a:r>
            <a:r>
              <a:rPr lang="en-US" sz="2000"/>
              <a:t> (the stomach lining thins out and shrinks)</a:t>
            </a:r>
          </a:p>
          <a:p>
            <a:pPr indent="-228600">
              <a:lnSpc>
                <a:spcPct val="90000"/>
              </a:lnSpc>
              <a:spcAft>
                <a:spcPts val="600"/>
              </a:spcAft>
              <a:buFont typeface="Arial" panose="020B0604020202020204" pitchFamily="34" charset="0"/>
              <a:buChar char="•"/>
            </a:pPr>
            <a:r>
              <a:rPr lang="en-US" sz="2000" b="1"/>
              <a:t>Intestinal metaplasia</a:t>
            </a:r>
            <a:r>
              <a:rPr lang="en-US" sz="2000"/>
              <a:t> (stomach cells transform to look like intestine cells)</a:t>
            </a:r>
          </a:p>
          <a:p>
            <a:pPr indent="-228600">
              <a:lnSpc>
                <a:spcPct val="90000"/>
              </a:lnSpc>
              <a:spcAft>
                <a:spcPts val="600"/>
              </a:spcAft>
              <a:buFont typeface="Arial" panose="020B0604020202020204" pitchFamily="34" charset="0"/>
              <a:buChar char="•"/>
            </a:pPr>
            <a:r>
              <a:rPr lang="en-US" sz="2000" b="1"/>
              <a:t>Dysplasia</a:t>
            </a:r>
            <a:r>
              <a:rPr lang="en-US" sz="2000"/>
              <a:t> (cells start turning abnormal and pre-cancerous)</a:t>
            </a:r>
          </a:p>
          <a:p>
            <a:pPr indent="-228600">
              <a:lnSpc>
                <a:spcPct val="90000"/>
              </a:lnSpc>
              <a:spcAft>
                <a:spcPts val="600"/>
              </a:spcAft>
              <a:buFont typeface="Arial" panose="020B0604020202020204" pitchFamily="34" charset="0"/>
              <a:buChar char="•"/>
            </a:pPr>
            <a:r>
              <a:rPr lang="en-US" sz="2000" b="1"/>
              <a:t>Gastric adenocarcinoma</a:t>
            </a:r>
            <a:r>
              <a:rPr lang="en-US" sz="2000"/>
              <a:t> (full-blown stomach cancer)</a:t>
            </a:r>
          </a:p>
        </p:txBody>
      </p:sp>
      <p:pic>
        <p:nvPicPr>
          <p:cNvPr id="4" name="Content Placeholder 3" descr="The Correa Hypothesis of Gastric Cancer">
            <a:extLst>
              <a:ext uri="{FF2B5EF4-FFF2-40B4-BE49-F238E27FC236}">
                <a16:creationId xmlns:a16="http://schemas.microsoft.com/office/drawing/2014/main" id="{903E3E6A-D9E6-B426-1D2F-675211A62EF7}"/>
              </a:ext>
            </a:extLst>
          </p:cNvPr>
          <p:cNvPicPr>
            <a:picLocks noGrp="1" noChangeAspect="1"/>
          </p:cNvPicPr>
          <p:nvPr>
            <p:ph idx="1"/>
          </p:nvPr>
        </p:nvPicPr>
        <p:blipFill>
          <a:blip r:embed="rId3"/>
          <a:srcRect l="7686" r="20159"/>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898584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Triangle 2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B6DD87-8412-739F-A214-4716E9DA878A}"/>
              </a:ext>
            </a:extLst>
          </p:cNvPr>
          <p:cNvSpPr>
            <a:spLocks noGrp="1"/>
          </p:cNvSpPr>
          <p:nvPr>
            <p:ph type="title"/>
          </p:nvPr>
        </p:nvSpPr>
        <p:spPr>
          <a:xfrm>
            <a:off x="1285240" y="1050595"/>
            <a:ext cx="8074815" cy="1618489"/>
          </a:xfrm>
        </p:spPr>
        <p:txBody>
          <a:bodyPr anchor="ctr">
            <a:normAutofit fontScale="90000"/>
          </a:bodyPr>
          <a:lstStyle/>
          <a:p>
            <a:r>
              <a:rPr lang="en-US" sz="7200" b="1" dirty="0"/>
              <a:t>The Correa Cascade Staging</a:t>
            </a:r>
            <a:endParaRPr lang="en-US" sz="7200" dirty="0"/>
          </a:p>
        </p:txBody>
      </p:sp>
      <p:sp>
        <p:nvSpPr>
          <p:cNvPr id="3" name="Content Placeholder 2">
            <a:extLst>
              <a:ext uri="{FF2B5EF4-FFF2-40B4-BE49-F238E27FC236}">
                <a16:creationId xmlns:a16="http://schemas.microsoft.com/office/drawing/2014/main" id="{89D1C09A-9699-E06F-D94C-06C3288D4176}"/>
              </a:ext>
            </a:extLst>
          </p:cNvPr>
          <p:cNvSpPr>
            <a:spLocks noGrp="1"/>
          </p:cNvSpPr>
          <p:nvPr>
            <p:ph idx="1"/>
          </p:nvPr>
        </p:nvSpPr>
        <p:spPr>
          <a:xfrm>
            <a:off x="1285240" y="2969469"/>
            <a:ext cx="8074815" cy="2800395"/>
          </a:xfrm>
        </p:spPr>
        <p:txBody>
          <a:bodyPr anchor="t">
            <a:normAutofit/>
          </a:bodyPr>
          <a:lstStyle/>
          <a:p>
            <a:r>
              <a:rPr lang="en-US" sz="2400" dirty="0"/>
              <a:t>OLGA staging (Operative Link on Gastritis Assessment) stratifies cancer risk: </a:t>
            </a:r>
          </a:p>
          <a:p>
            <a:pPr lvl="1"/>
            <a:r>
              <a:rPr lang="en-US" sz="2000" dirty="0"/>
              <a:t>stages III–IV carry significantly elevated neoplasia risk</a:t>
            </a:r>
          </a:p>
          <a:p>
            <a:pPr lvl="1"/>
            <a:r>
              <a:rPr lang="en-US" sz="2000" dirty="0"/>
              <a:t>while stages 0–II have near-zero risk. </a:t>
            </a:r>
          </a:p>
        </p:txBody>
      </p:sp>
    </p:spTree>
    <p:extLst>
      <p:ext uri="{BB962C8B-B14F-4D97-AF65-F5344CB8AC3E}">
        <p14:creationId xmlns:p14="http://schemas.microsoft.com/office/powerpoint/2010/main" val="1228493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DE75F-BFDE-0531-8860-FCE0DAC0483C}"/>
              </a:ext>
            </a:extLst>
          </p:cNvPr>
          <p:cNvSpPr>
            <a:spLocks noGrp="1"/>
          </p:cNvSpPr>
          <p:nvPr>
            <p:ph type="title"/>
          </p:nvPr>
        </p:nvSpPr>
        <p:spPr>
          <a:xfrm>
            <a:off x="838200" y="365125"/>
            <a:ext cx="10515600" cy="1325563"/>
          </a:xfrm>
        </p:spPr>
        <p:txBody>
          <a:bodyPr>
            <a:normAutofit/>
          </a:bodyPr>
          <a:lstStyle/>
          <a:p>
            <a:r>
              <a:rPr lang="en-US" sz="5400" b="1"/>
              <a:t>Complications</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A91FE2B-3074-8264-E135-95100C3B8CA1}"/>
              </a:ext>
            </a:extLst>
          </p:cNvPr>
          <p:cNvSpPr>
            <a:spLocks noGrp="1"/>
          </p:cNvSpPr>
          <p:nvPr>
            <p:ph idx="1"/>
          </p:nvPr>
        </p:nvSpPr>
        <p:spPr>
          <a:xfrm>
            <a:off x="838200" y="1929384"/>
            <a:ext cx="10515600" cy="4251960"/>
          </a:xfrm>
        </p:spPr>
        <p:txBody>
          <a:bodyPr>
            <a:normAutofit/>
          </a:bodyPr>
          <a:lstStyle/>
          <a:p>
            <a:r>
              <a:rPr lang="en-US" sz="2200" b="1" dirty="0"/>
              <a:t>Peptic ulcer disease</a:t>
            </a:r>
            <a:r>
              <a:rPr lang="en-US" sz="2200" dirty="0"/>
              <a:t> (especially with H. pylori or NSAIDs)</a:t>
            </a:r>
          </a:p>
          <a:p>
            <a:r>
              <a:rPr lang="en-US" sz="2200" b="1" dirty="0"/>
              <a:t>Gastric adenocarcinoma</a:t>
            </a:r>
            <a:r>
              <a:rPr lang="en-US" sz="2200" dirty="0"/>
              <a:t>: chronic atrophic gastritis increases risk: </a:t>
            </a:r>
          </a:p>
          <a:p>
            <a:pPr lvl="1"/>
            <a:r>
              <a:rPr lang="en-US" sz="2200" dirty="0"/>
              <a:t>H. pylori is responsible for </a:t>
            </a:r>
            <a:r>
              <a:rPr lang="en-US" sz="2200" b="1" dirty="0"/>
              <a:t>majority </a:t>
            </a:r>
            <a:r>
              <a:rPr lang="en-US" sz="2200" dirty="0"/>
              <a:t>of noncardiac gastric cancers </a:t>
            </a:r>
          </a:p>
          <a:p>
            <a:r>
              <a:rPr lang="en-US" sz="2200" b="1" dirty="0"/>
              <a:t>Type 1 gastric neuroendocrine tumors (NETs)</a:t>
            </a:r>
            <a:r>
              <a:rPr lang="en-US" sz="2200" dirty="0"/>
              <a:t>: form when overactive stomach hormones (caused by autoimmune gastritis) cause certain cells to multiply too much.</a:t>
            </a:r>
          </a:p>
          <a:p>
            <a:r>
              <a:rPr lang="en-US" sz="2200" b="1" dirty="0"/>
              <a:t>Pernicious anemia / B12 deficiency</a:t>
            </a:r>
            <a:r>
              <a:rPr lang="en-US" sz="2200" dirty="0"/>
              <a:t>: advanced autoimmune gastritis</a:t>
            </a:r>
          </a:p>
          <a:p>
            <a:endParaRPr lang="en-US" sz="2200" dirty="0"/>
          </a:p>
          <a:p>
            <a:endParaRPr lang="en-US" sz="2200" dirty="0"/>
          </a:p>
        </p:txBody>
      </p:sp>
      <p:pic>
        <p:nvPicPr>
          <p:cNvPr id="5" name="Picture 4" descr="Human stomach anatomy internal organ 3d rendering | Premium Photo">
            <a:extLst>
              <a:ext uri="{FF2B5EF4-FFF2-40B4-BE49-F238E27FC236}">
                <a16:creationId xmlns:a16="http://schemas.microsoft.com/office/drawing/2014/main" id="{7241A79E-831E-568F-2AA8-C052D1D4649D}"/>
              </a:ext>
            </a:extLst>
          </p:cNvPr>
          <p:cNvPicPr>
            <a:picLocks noChangeAspect="1"/>
          </p:cNvPicPr>
          <p:nvPr/>
        </p:nvPicPr>
        <p:blipFill>
          <a:blip r:embed="rId3"/>
          <a:stretch>
            <a:fillRect/>
          </a:stretch>
        </p:blipFill>
        <p:spPr>
          <a:xfrm>
            <a:off x="9098280" y="67691"/>
            <a:ext cx="2765298" cy="1604709"/>
          </a:xfrm>
          <a:prstGeom prst="rect">
            <a:avLst/>
          </a:prstGeom>
        </p:spPr>
      </p:pic>
    </p:spTree>
    <p:extLst>
      <p:ext uri="{BB962C8B-B14F-4D97-AF65-F5344CB8AC3E}">
        <p14:creationId xmlns:p14="http://schemas.microsoft.com/office/powerpoint/2010/main" val="3565730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946AB-A0D1-998C-FA47-0D3813339381}"/>
              </a:ext>
            </a:extLst>
          </p:cNvPr>
          <p:cNvSpPr>
            <a:spLocks noGrp="1"/>
          </p:cNvSpPr>
          <p:nvPr>
            <p:ph type="title"/>
          </p:nvPr>
        </p:nvSpPr>
        <p:spPr/>
        <p:txBody>
          <a:bodyPr>
            <a:normAutofit/>
          </a:bodyPr>
          <a:lstStyle/>
          <a:p>
            <a:r>
              <a:rPr lang="en-US" sz="3600" b="1" dirty="0"/>
              <a:t>H. pylori eradication</a:t>
            </a:r>
            <a:r>
              <a:rPr lang="en-US" sz="3600" dirty="0"/>
              <a:t> — Per the ACG guideline, for treatment-naive patients with unknown susceptibility</a:t>
            </a:r>
          </a:p>
        </p:txBody>
      </p:sp>
      <p:pic>
        <p:nvPicPr>
          <p:cNvPr id="4" name="Content Placeholder 3">
            <a:extLst>
              <a:ext uri="{FF2B5EF4-FFF2-40B4-BE49-F238E27FC236}">
                <a16:creationId xmlns:a16="http://schemas.microsoft.com/office/drawing/2014/main" id="{566F9AAB-DC00-E923-F2D8-32A9799E31C1}"/>
              </a:ext>
            </a:extLst>
          </p:cNvPr>
          <p:cNvPicPr>
            <a:picLocks noGrp="1" noChangeAspect="1"/>
          </p:cNvPicPr>
          <p:nvPr>
            <p:ph idx="1"/>
          </p:nvPr>
        </p:nvPicPr>
        <p:blipFill>
          <a:blip r:embed="rId3"/>
          <a:stretch>
            <a:fillRect/>
          </a:stretch>
        </p:blipFill>
        <p:spPr>
          <a:xfrm>
            <a:off x="2411604" y="1825625"/>
            <a:ext cx="7144378" cy="4667250"/>
          </a:xfrm>
          <a:prstGeom prst="rect">
            <a:avLst/>
          </a:prstGeom>
        </p:spPr>
      </p:pic>
    </p:spTree>
    <p:extLst>
      <p:ext uri="{BB962C8B-B14F-4D97-AF65-F5344CB8AC3E}">
        <p14:creationId xmlns:p14="http://schemas.microsoft.com/office/powerpoint/2010/main" val="1593423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37CFB2-32B6-EF54-6E4B-7CC369178BE3}"/>
              </a:ext>
            </a:extLst>
          </p:cNvPr>
          <p:cNvSpPr>
            <a:spLocks noGrp="1"/>
          </p:cNvSpPr>
          <p:nvPr>
            <p:ph type="title"/>
          </p:nvPr>
        </p:nvSpPr>
        <p:spPr>
          <a:xfrm>
            <a:off x="838200" y="365125"/>
            <a:ext cx="10515600" cy="1325563"/>
          </a:xfrm>
        </p:spPr>
        <p:txBody>
          <a:bodyPr>
            <a:normAutofit/>
          </a:bodyPr>
          <a:lstStyle/>
          <a:p>
            <a:r>
              <a:rPr lang="en-US" sz="5400"/>
              <a:t>Treatments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300075B-A302-FCE1-CBA3-6450BF393AB0}"/>
              </a:ext>
            </a:extLst>
          </p:cNvPr>
          <p:cNvSpPr>
            <a:spLocks noGrp="1"/>
          </p:cNvSpPr>
          <p:nvPr>
            <p:ph idx="1"/>
          </p:nvPr>
        </p:nvSpPr>
        <p:spPr>
          <a:xfrm>
            <a:off x="838200" y="1929384"/>
            <a:ext cx="10515600" cy="4251960"/>
          </a:xfrm>
        </p:spPr>
        <p:txBody>
          <a:bodyPr>
            <a:normAutofit/>
          </a:bodyPr>
          <a:lstStyle/>
          <a:p>
            <a:r>
              <a:rPr lang="en-US" sz="2200" b="1" dirty="0"/>
              <a:t>First-line preferred</a:t>
            </a:r>
            <a:r>
              <a:rPr lang="en-US" sz="2200" dirty="0"/>
              <a:t>: Bismuth quadruple therapy (BQT) × 14 days — PPI + bismuth + tetracycline + metronidazole</a:t>
            </a:r>
          </a:p>
          <a:p>
            <a:r>
              <a:rPr lang="en-US" sz="2200" b="1" dirty="0"/>
              <a:t>Alternatives</a:t>
            </a:r>
            <a:r>
              <a:rPr lang="en-US" sz="2200" dirty="0"/>
              <a:t>: Rifabutin triple therapy (omeprazole + amoxicillin + rifabutin) × 14 days, or PCAB dual therapy (</a:t>
            </a:r>
            <a:r>
              <a:rPr lang="en-US" sz="2200" dirty="0" err="1"/>
              <a:t>vonoprazan</a:t>
            </a:r>
            <a:r>
              <a:rPr lang="en-US" sz="2200" dirty="0"/>
              <a:t> + amoxicillin) × 14 days</a:t>
            </a:r>
          </a:p>
          <a:p>
            <a:r>
              <a:rPr lang="en-US" sz="2200" b="1" dirty="0"/>
              <a:t>**Confirm eradication: </a:t>
            </a:r>
            <a:r>
              <a:rPr lang="en-US" sz="2200" dirty="0"/>
              <a:t> ≥4 weeks after completing therapy with urea breath test or stool antigen </a:t>
            </a:r>
          </a:p>
          <a:p>
            <a:endParaRPr lang="en-US" sz="2200" dirty="0"/>
          </a:p>
        </p:txBody>
      </p:sp>
      <p:pic>
        <p:nvPicPr>
          <p:cNvPr id="5" name="Picture 4" descr="Human stomach anatomy internal organ 3d rendering | Premium Photo">
            <a:extLst>
              <a:ext uri="{FF2B5EF4-FFF2-40B4-BE49-F238E27FC236}">
                <a16:creationId xmlns:a16="http://schemas.microsoft.com/office/drawing/2014/main" id="{AC6E5BA6-A8EE-7437-2F16-CF9FFA398FE1}"/>
              </a:ext>
            </a:extLst>
          </p:cNvPr>
          <p:cNvPicPr>
            <a:picLocks noChangeAspect="1"/>
          </p:cNvPicPr>
          <p:nvPr/>
        </p:nvPicPr>
        <p:blipFill>
          <a:blip r:embed="rId3"/>
          <a:stretch>
            <a:fillRect/>
          </a:stretch>
        </p:blipFill>
        <p:spPr>
          <a:xfrm>
            <a:off x="9098280" y="67691"/>
            <a:ext cx="2765298" cy="1604709"/>
          </a:xfrm>
          <a:prstGeom prst="rect">
            <a:avLst/>
          </a:prstGeom>
        </p:spPr>
      </p:pic>
    </p:spTree>
    <p:extLst>
      <p:ext uri="{BB962C8B-B14F-4D97-AF65-F5344CB8AC3E}">
        <p14:creationId xmlns:p14="http://schemas.microsoft.com/office/powerpoint/2010/main" val="16934910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DFEFF4-655E-B595-641F-094C944BC8E0}"/>
              </a:ext>
            </a:extLst>
          </p:cNvPr>
          <p:cNvSpPr>
            <a:spLocks noGrp="1"/>
          </p:cNvSpPr>
          <p:nvPr>
            <p:ph type="title"/>
          </p:nvPr>
        </p:nvSpPr>
        <p:spPr>
          <a:xfrm>
            <a:off x="572493" y="238539"/>
            <a:ext cx="11018520" cy="1434415"/>
          </a:xfrm>
        </p:spPr>
        <p:txBody>
          <a:bodyPr anchor="b">
            <a:normAutofit/>
          </a:bodyPr>
          <a:lstStyle/>
          <a:p>
            <a:r>
              <a:rPr lang="en-US" sz="5400"/>
              <a:t>Treatments continued</a:t>
            </a:r>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7E43C97-ECF0-6C86-BA4E-38457CB86FD6}"/>
              </a:ext>
            </a:extLst>
          </p:cNvPr>
          <p:cNvSpPr>
            <a:spLocks noGrp="1"/>
          </p:cNvSpPr>
          <p:nvPr>
            <p:ph idx="1"/>
          </p:nvPr>
        </p:nvSpPr>
        <p:spPr>
          <a:xfrm>
            <a:off x="572493" y="2071316"/>
            <a:ext cx="6713552" cy="4119172"/>
          </a:xfrm>
        </p:spPr>
        <p:txBody>
          <a:bodyPr anchor="t">
            <a:normAutofit/>
          </a:bodyPr>
          <a:lstStyle/>
          <a:p>
            <a:r>
              <a:rPr lang="en-US" sz="2200" b="1" dirty="0"/>
              <a:t>Acid suppression</a:t>
            </a:r>
            <a:r>
              <a:rPr lang="en-US" sz="2200" dirty="0"/>
              <a:t>: PPIs are the mainstay for symptom relief and mucosal healing in all forms of gastritis/gastropathy. </a:t>
            </a:r>
          </a:p>
          <a:p>
            <a:r>
              <a:rPr lang="en-US" sz="2200" b="1" dirty="0"/>
              <a:t>NSAID gastropathy</a:t>
            </a:r>
            <a:r>
              <a:rPr lang="en-US" sz="2200" dirty="0"/>
              <a:t>: Discontinue the offending agent if possible</a:t>
            </a:r>
          </a:p>
          <a:p>
            <a:pPr marL="0" indent="0">
              <a:buNone/>
            </a:pPr>
            <a:br>
              <a:rPr lang="en-US" sz="2200" dirty="0"/>
            </a:br>
            <a:endParaRPr lang="en-US" sz="2200" dirty="0"/>
          </a:p>
        </p:txBody>
      </p:sp>
      <p:pic>
        <p:nvPicPr>
          <p:cNvPr id="5" name="Picture 4" descr="Human stomach anatomy internal organ 3d rendering | Premium Photo">
            <a:extLst>
              <a:ext uri="{FF2B5EF4-FFF2-40B4-BE49-F238E27FC236}">
                <a16:creationId xmlns:a16="http://schemas.microsoft.com/office/drawing/2014/main" id="{CC836665-13E1-FC26-C384-E9C32EEB9343}"/>
              </a:ext>
            </a:extLst>
          </p:cNvPr>
          <p:cNvPicPr>
            <a:picLocks noChangeAspect="1"/>
          </p:cNvPicPr>
          <p:nvPr/>
        </p:nvPicPr>
        <p:blipFill>
          <a:blip r:embed="rId3"/>
          <a:srcRect l="3795" r="-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507435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97EE26-D97A-AD0E-6FD3-012B5294F368}"/>
              </a:ext>
            </a:extLst>
          </p:cNvPr>
          <p:cNvSpPr>
            <a:spLocks noGrp="1"/>
          </p:cNvSpPr>
          <p:nvPr>
            <p:ph type="title"/>
          </p:nvPr>
        </p:nvSpPr>
        <p:spPr>
          <a:xfrm>
            <a:off x="841248" y="548640"/>
            <a:ext cx="3600860" cy="5431536"/>
          </a:xfrm>
        </p:spPr>
        <p:txBody>
          <a:bodyPr>
            <a:normAutofit/>
          </a:bodyPr>
          <a:lstStyle/>
          <a:p>
            <a:r>
              <a:rPr lang="en-US" sz="5400" b="1"/>
              <a:t>Dyspepsia Workup — When to Scope</a:t>
            </a:r>
            <a:br>
              <a:rPr lang="en-US" sz="5400"/>
            </a:br>
            <a:endParaRPr lang="en-US" sz="5400"/>
          </a:p>
        </p:txBody>
      </p:sp>
      <p:sp>
        <p:nvSpPr>
          <p:cNvPr id="13"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5538AE8-1782-494B-48D7-3DCB94E3EC6D}"/>
              </a:ext>
            </a:extLst>
          </p:cNvPr>
          <p:cNvSpPr>
            <a:spLocks noGrp="1"/>
          </p:cNvSpPr>
          <p:nvPr>
            <p:ph idx="1"/>
          </p:nvPr>
        </p:nvSpPr>
        <p:spPr>
          <a:xfrm>
            <a:off x="5126418" y="552091"/>
            <a:ext cx="6224335" cy="5431536"/>
          </a:xfrm>
        </p:spPr>
        <p:txBody>
          <a:bodyPr anchor="ctr">
            <a:normAutofit/>
          </a:bodyPr>
          <a:lstStyle/>
          <a:p>
            <a:r>
              <a:rPr lang="en-US" sz="2200" dirty="0"/>
              <a:t>The ACG/CAG guideline recommends </a:t>
            </a:r>
            <a:r>
              <a:rPr lang="en-US" sz="2200" b="1" dirty="0"/>
              <a:t>EGD (</a:t>
            </a:r>
            <a:r>
              <a:rPr lang="en-US" sz="2400" dirty="0"/>
              <a:t>esophagogastroduodenoscopy,)</a:t>
            </a:r>
            <a:r>
              <a:rPr lang="en-US" sz="2200" b="1" dirty="0"/>
              <a:t> for patients ≥60 years</a:t>
            </a:r>
            <a:r>
              <a:rPr lang="en-US" sz="2200" dirty="0"/>
              <a:t> with new-onset dyspepsia. </a:t>
            </a:r>
          </a:p>
          <a:p>
            <a:r>
              <a:rPr lang="en-US" sz="2200" dirty="0"/>
              <a:t>For patients &lt;60, a </a:t>
            </a:r>
            <a:r>
              <a:rPr lang="en-US" sz="2200" b="1" dirty="0"/>
              <a:t>test-and-treat strategy for H. pylori</a:t>
            </a:r>
            <a:r>
              <a:rPr lang="en-US" sz="2200" dirty="0"/>
              <a:t> (noninvasive testing → eradication if positive) is preferred over endoscopy, even in the presence of alarm features, given the very </a:t>
            </a:r>
            <a:r>
              <a:rPr lang="en-US" sz="2200" b="1" i="1" dirty="0"/>
              <a:t>low malignancy risk </a:t>
            </a:r>
            <a:r>
              <a:rPr lang="en-US" sz="2200" dirty="0"/>
              <a:t>in this age group. </a:t>
            </a:r>
          </a:p>
          <a:p>
            <a:r>
              <a:rPr lang="en-US" sz="2200" b="1" i="1" dirty="0"/>
              <a:t>Alarm</a:t>
            </a:r>
            <a:r>
              <a:rPr lang="en-US" sz="2200" dirty="0"/>
              <a:t> features (weight loss, GI bleeding/anemia, dysphagia, persistent vomiting)</a:t>
            </a:r>
          </a:p>
          <a:p>
            <a:endParaRPr lang="en-US" sz="2200" dirty="0"/>
          </a:p>
        </p:txBody>
      </p:sp>
      <p:pic>
        <p:nvPicPr>
          <p:cNvPr id="5" name="Picture 4" descr="Human stomach anatomy internal organ 3d rendering | Premium Photo">
            <a:extLst>
              <a:ext uri="{FF2B5EF4-FFF2-40B4-BE49-F238E27FC236}">
                <a16:creationId xmlns:a16="http://schemas.microsoft.com/office/drawing/2014/main" id="{3D42EEDC-3343-F405-B12D-D596BA11B868}"/>
              </a:ext>
            </a:extLst>
          </p:cNvPr>
          <p:cNvPicPr>
            <a:picLocks noChangeAspect="1"/>
          </p:cNvPicPr>
          <p:nvPr/>
        </p:nvPicPr>
        <p:blipFill>
          <a:blip r:embed="rId3"/>
          <a:stretch>
            <a:fillRect/>
          </a:stretch>
        </p:blipFill>
        <p:spPr>
          <a:xfrm>
            <a:off x="7399020" y="4707699"/>
            <a:ext cx="2765298" cy="1604709"/>
          </a:xfrm>
          <a:prstGeom prst="rect">
            <a:avLst/>
          </a:prstGeom>
        </p:spPr>
      </p:pic>
    </p:spTree>
    <p:extLst>
      <p:ext uri="{BB962C8B-B14F-4D97-AF65-F5344CB8AC3E}">
        <p14:creationId xmlns:p14="http://schemas.microsoft.com/office/powerpoint/2010/main" val="3129272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4E8C02-1032-6AAC-895D-AFEC4C71062C}"/>
              </a:ext>
            </a:extLst>
          </p:cNvPr>
          <p:cNvSpPr>
            <a:spLocks noGrp="1"/>
          </p:cNvSpPr>
          <p:nvPr>
            <p:ph type="title"/>
          </p:nvPr>
        </p:nvSpPr>
        <p:spPr>
          <a:xfrm>
            <a:off x="640080" y="320040"/>
            <a:ext cx="6692827" cy="3892669"/>
          </a:xfrm>
        </p:spPr>
        <p:txBody>
          <a:bodyPr vert="horz" lIns="91440" tIns="45720" rIns="91440" bIns="45720" rtlCol="0" anchor="b">
            <a:normAutofit/>
          </a:bodyPr>
          <a:lstStyle/>
          <a:p>
            <a:r>
              <a:rPr lang="en-US" sz="6600" b="1" i="1" kern="1200" dirty="0">
                <a:solidFill>
                  <a:srgbClr val="FF0000"/>
                </a:solidFill>
                <a:latin typeface="+mj-lt"/>
                <a:ea typeface="+mj-ea"/>
                <a:cs typeface="+mj-cs"/>
              </a:rPr>
              <a:t>Gastroparesis</a:t>
            </a:r>
          </a:p>
        </p:txBody>
      </p:sp>
      <p:sp>
        <p:nvSpPr>
          <p:cNvPr id="3" name="Text Placeholder 2">
            <a:extLst>
              <a:ext uri="{FF2B5EF4-FFF2-40B4-BE49-F238E27FC236}">
                <a16:creationId xmlns:a16="http://schemas.microsoft.com/office/drawing/2014/main" id="{4469745E-51CC-0751-4E11-B03264B9A4A4}"/>
              </a:ext>
            </a:extLst>
          </p:cNvPr>
          <p:cNvSpPr>
            <a:spLocks noGrp="1"/>
          </p:cNvSpPr>
          <p:nvPr>
            <p:ph type="body" idx="1"/>
          </p:nvPr>
        </p:nvSpPr>
        <p:spPr>
          <a:xfrm>
            <a:off x="640080" y="4631161"/>
            <a:ext cx="6692827" cy="1569486"/>
          </a:xfrm>
        </p:spPr>
        <p:txBody>
          <a:bodyPr vert="horz" lIns="91440" tIns="45720" rIns="91440" bIns="45720" rtlCol="0">
            <a:normAutofit/>
          </a:bodyPr>
          <a:lstStyle/>
          <a:p>
            <a:r>
              <a:rPr lang="en-US" sz="2200" b="1" i="1" u="sng" kern="1200">
                <a:solidFill>
                  <a:schemeClr val="tx1"/>
                </a:solidFill>
                <a:latin typeface="+mn-lt"/>
                <a:ea typeface="+mn-ea"/>
                <a:cs typeface="+mn-cs"/>
              </a:rPr>
              <a:t>Medical Terminology: </a:t>
            </a:r>
          </a:p>
          <a:p>
            <a:r>
              <a:rPr lang="en-US" sz="2200" b="1" kern="1200">
                <a:solidFill>
                  <a:schemeClr val="tx1"/>
                </a:solidFill>
                <a:latin typeface="+mn-lt"/>
                <a:ea typeface="+mn-ea"/>
                <a:cs typeface="+mn-cs"/>
              </a:rPr>
              <a:t>Gastro</a:t>
            </a:r>
            <a:r>
              <a:rPr lang="en-US" sz="2200" kern="1200">
                <a:solidFill>
                  <a:schemeClr val="tx1"/>
                </a:solidFill>
                <a:latin typeface="+mn-lt"/>
                <a:ea typeface="+mn-ea"/>
                <a:cs typeface="+mn-cs"/>
              </a:rPr>
              <a:t>-Meaning: Pertaining to the stomach. </a:t>
            </a:r>
          </a:p>
          <a:p>
            <a:r>
              <a:rPr lang="en-US" sz="2200" b="1" kern="1200">
                <a:solidFill>
                  <a:schemeClr val="tx1"/>
                </a:solidFill>
                <a:latin typeface="+mn-lt"/>
                <a:ea typeface="+mn-ea"/>
                <a:cs typeface="+mn-cs"/>
              </a:rPr>
              <a:t>Paresis</a:t>
            </a:r>
            <a:r>
              <a:rPr lang="en-US" sz="2200" kern="1200">
                <a:solidFill>
                  <a:schemeClr val="tx1"/>
                </a:solidFill>
                <a:latin typeface="+mn-lt"/>
                <a:ea typeface="+mn-ea"/>
                <a:cs typeface="+mn-cs"/>
              </a:rPr>
              <a:t> (Root word) Meaning: Slight or partial paralysis / weakness. </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uman stomach anatomy internal organ 3d rendering | Premium Photo">
            <a:extLst>
              <a:ext uri="{FF2B5EF4-FFF2-40B4-BE49-F238E27FC236}">
                <a16:creationId xmlns:a16="http://schemas.microsoft.com/office/drawing/2014/main" id="{2DAD6373-84EA-861A-190E-C9EFCC9EC326}"/>
              </a:ext>
            </a:extLst>
          </p:cNvPr>
          <p:cNvPicPr>
            <a:picLocks noChangeAspect="1"/>
          </p:cNvPicPr>
          <p:nvPr/>
        </p:nvPicPr>
        <p:blipFill>
          <a:blip r:embed="rId2"/>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1756030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D23B5A8F-8B4B-F2C1-8D02-7D1A5621DB8D}"/>
              </a:ext>
            </a:extLst>
          </p:cNvPr>
          <p:cNvSpPr>
            <a:spLocks noGrp="1"/>
          </p:cNvSpPr>
          <p:nvPr>
            <p:ph type="title"/>
          </p:nvPr>
        </p:nvSpPr>
        <p:spPr>
          <a:xfrm>
            <a:off x="1188069" y="381935"/>
            <a:ext cx="4008583" cy="5974414"/>
          </a:xfrm>
        </p:spPr>
        <p:txBody>
          <a:bodyPr anchor="ctr">
            <a:normAutofit/>
          </a:bodyPr>
          <a:lstStyle/>
          <a:p>
            <a:r>
              <a:rPr lang="en-US" sz="5000">
                <a:solidFill>
                  <a:srgbClr val="FFFFFF"/>
                </a:solidFill>
              </a:rPr>
              <a:t>Gastroparesis</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E9AF0B6B-0304-4355-F332-AAE87B1C088A}"/>
              </a:ext>
            </a:extLst>
          </p:cNvPr>
          <p:cNvSpPr>
            <a:spLocks noGrp="1"/>
          </p:cNvSpPr>
          <p:nvPr>
            <p:ph idx="1"/>
          </p:nvPr>
        </p:nvSpPr>
        <p:spPr>
          <a:xfrm>
            <a:off x="6297233" y="518400"/>
            <a:ext cx="4771607" cy="5837949"/>
          </a:xfrm>
        </p:spPr>
        <p:txBody>
          <a:bodyPr anchor="ctr">
            <a:normAutofit/>
          </a:bodyPr>
          <a:lstStyle/>
          <a:p>
            <a:r>
              <a:rPr lang="en-US" sz="1400" b="1" dirty="0">
                <a:solidFill>
                  <a:schemeClr val="tx1">
                    <a:alpha val="80000"/>
                  </a:schemeClr>
                </a:solidFill>
              </a:rPr>
              <a:t>Definition and Epidemiology</a:t>
            </a:r>
          </a:p>
          <a:p>
            <a:pPr lvl="1"/>
            <a:r>
              <a:rPr lang="en-US" sz="1400" b="1" dirty="0">
                <a:solidFill>
                  <a:schemeClr val="tx1">
                    <a:alpha val="80000"/>
                  </a:schemeClr>
                </a:solidFill>
              </a:rPr>
              <a:t>Delayed gastric emptying in the absence of mechanical obstruction</a:t>
            </a:r>
            <a:r>
              <a:rPr lang="en-US" sz="1400" dirty="0">
                <a:solidFill>
                  <a:schemeClr val="tx1">
                    <a:alpha val="80000"/>
                  </a:schemeClr>
                </a:solidFill>
              </a:rPr>
              <a:t>, with nausea, vomiting, early satiety, postprandial fullness, bloating, and abdominal pain. </a:t>
            </a:r>
          </a:p>
          <a:p>
            <a:pPr lvl="1"/>
            <a:r>
              <a:rPr lang="en-US" sz="1400" dirty="0">
                <a:solidFill>
                  <a:schemeClr val="tx1">
                    <a:alpha val="80000"/>
                  </a:schemeClr>
                </a:solidFill>
              </a:rPr>
              <a:t>Prevalence is with a strong </a:t>
            </a:r>
            <a:r>
              <a:rPr lang="en-US" sz="1400" b="1" dirty="0">
                <a:solidFill>
                  <a:schemeClr val="tx1">
                    <a:alpha val="80000"/>
                  </a:schemeClr>
                </a:solidFill>
              </a:rPr>
              <a:t>female predominance</a:t>
            </a:r>
            <a:r>
              <a:rPr lang="en-US" sz="1400" dirty="0">
                <a:solidFill>
                  <a:schemeClr val="tx1">
                    <a:alpha val="80000"/>
                  </a:schemeClr>
                </a:solidFill>
              </a:rPr>
              <a:t>. </a:t>
            </a:r>
            <a:endParaRPr lang="en-US" sz="1400" b="1" dirty="0">
              <a:solidFill>
                <a:schemeClr val="tx1">
                  <a:alpha val="80000"/>
                </a:schemeClr>
              </a:solidFill>
            </a:endParaRPr>
          </a:p>
          <a:p>
            <a:r>
              <a:rPr lang="en-US" sz="1400" b="1" dirty="0">
                <a:solidFill>
                  <a:schemeClr val="tx1">
                    <a:alpha val="80000"/>
                  </a:schemeClr>
                </a:solidFill>
              </a:rPr>
              <a:t>Etiology</a:t>
            </a:r>
          </a:p>
          <a:p>
            <a:pPr lvl="1"/>
            <a:r>
              <a:rPr lang="en-US" sz="1400" b="1" dirty="0">
                <a:solidFill>
                  <a:schemeClr val="tx1">
                    <a:alpha val="80000"/>
                  </a:schemeClr>
                </a:solidFill>
              </a:rPr>
              <a:t>Big Three" P</a:t>
            </a:r>
          </a:p>
          <a:p>
            <a:pPr lvl="2"/>
            <a:r>
              <a:rPr lang="en-US" sz="1400" b="1" dirty="0">
                <a:solidFill>
                  <a:schemeClr val="tx1">
                    <a:alpha val="80000"/>
                  </a:schemeClr>
                </a:solidFill>
              </a:rPr>
              <a:t>Idiopathic (unknown)</a:t>
            </a:r>
            <a:r>
              <a:rPr lang="en-US" sz="1400" dirty="0">
                <a:solidFill>
                  <a:schemeClr val="tx1">
                    <a:alpha val="80000"/>
                  </a:schemeClr>
                </a:solidFill>
              </a:rPr>
              <a:t> — the largest etiologic group, where no clear reason is found.</a:t>
            </a:r>
          </a:p>
          <a:p>
            <a:pPr lvl="2"/>
            <a:r>
              <a:rPr lang="en-US" sz="1400" b="1" dirty="0">
                <a:solidFill>
                  <a:schemeClr val="tx1">
                    <a:alpha val="80000"/>
                  </a:schemeClr>
                </a:solidFill>
              </a:rPr>
              <a:t>Diabetic</a:t>
            </a:r>
            <a:r>
              <a:rPr lang="en-US" sz="1400" dirty="0">
                <a:solidFill>
                  <a:schemeClr val="tx1">
                    <a:alpha val="80000"/>
                  </a:schemeClr>
                </a:solidFill>
              </a:rPr>
              <a:t> — accounts for ~25% of cases; caused by nerve damage and high blood sugar harming the stomach's natural pacemaker cells </a:t>
            </a:r>
            <a:r>
              <a:rPr lang="en-US" sz="1400" b="1" i="1" dirty="0">
                <a:solidFill>
                  <a:schemeClr val="tx1">
                    <a:alpha val="80000"/>
                  </a:schemeClr>
                </a:solidFill>
              </a:rPr>
              <a:t>(interstitial cells of Cajal</a:t>
            </a:r>
            <a:r>
              <a:rPr lang="en-US" sz="1400" dirty="0">
                <a:solidFill>
                  <a:schemeClr val="tx1">
                    <a:alpha val="80000"/>
                  </a:schemeClr>
                </a:solidFill>
              </a:rPr>
              <a:t>) </a:t>
            </a:r>
          </a:p>
          <a:p>
            <a:pPr lvl="2"/>
            <a:r>
              <a:rPr lang="en-US" sz="1400" b="1" dirty="0">
                <a:solidFill>
                  <a:schemeClr val="tx1">
                    <a:alpha val="80000"/>
                  </a:schemeClr>
                </a:solidFill>
              </a:rPr>
              <a:t>Postsurgical</a:t>
            </a:r>
            <a:r>
              <a:rPr lang="en-US" sz="1400" dirty="0">
                <a:solidFill>
                  <a:schemeClr val="tx1">
                    <a:alpha val="80000"/>
                  </a:schemeClr>
                </a:solidFill>
              </a:rPr>
              <a:t> — vagal nerve injury (e.g., after fundoplication, bariatric surgery)</a:t>
            </a:r>
          </a:p>
          <a:p>
            <a:pPr marL="914400" lvl="2" indent="0">
              <a:buNone/>
            </a:pPr>
            <a:endParaRPr lang="en-US" sz="1400" dirty="0">
              <a:solidFill>
                <a:schemeClr val="tx1">
                  <a:alpha val="80000"/>
                </a:schemeClr>
              </a:solidFill>
            </a:endParaRPr>
          </a:p>
          <a:p>
            <a:pPr lvl="1"/>
            <a:r>
              <a:rPr lang="en-US" sz="1400" dirty="0">
                <a:solidFill>
                  <a:schemeClr val="tx1">
                    <a:alpha val="80000"/>
                  </a:schemeClr>
                </a:solidFill>
              </a:rPr>
              <a:t>Other causes: postinfectious (viral), medications (</a:t>
            </a:r>
            <a:r>
              <a:rPr lang="en-US" sz="1400" b="1" dirty="0">
                <a:solidFill>
                  <a:schemeClr val="tx1">
                    <a:alpha val="80000"/>
                  </a:schemeClr>
                </a:solidFill>
              </a:rPr>
              <a:t>opioids, GLP-1 receptor agonists</a:t>
            </a:r>
            <a:r>
              <a:rPr lang="en-US" sz="1400" dirty="0">
                <a:solidFill>
                  <a:schemeClr val="tx1">
                    <a:alpha val="80000"/>
                  </a:schemeClr>
                </a:solidFill>
              </a:rPr>
              <a:t>, anticholinergics), connective tissue disorders (</a:t>
            </a:r>
            <a:r>
              <a:rPr lang="en-US" sz="1400" dirty="0">
                <a:solidFill>
                  <a:schemeClr val="tx1">
                    <a:alpha val="80000"/>
                  </a:schemeClr>
                </a:solidFill>
                <a:hlinkClick r:id="rId3"/>
              </a:rPr>
              <a:t>scleroderma</a:t>
            </a:r>
            <a:r>
              <a:rPr lang="en-US" sz="1400" dirty="0">
                <a:solidFill>
                  <a:schemeClr val="tx1">
                    <a:alpha val="80000"/>
                  </a:schemeClr>
                </a:solidFill>
              </a:rPr>
              <a:t>), Parkinson disease, </a:t>
            </a:r>
            <a:r>
              <a:rPr lang="en-US" sz="1400" dirty="0">
                <a:solidFill>
                  <a:schemeClr val="tx1">
                    <a:alpha val="80000"/>
                  </a:schemeClr>
                </a:solidFill>
                <a:hlinkClick r:id="rId4"/>
              </a:rPr>
              <a:t>amyloidosis</a:t>
            </a:r>
            <a:endParaRPr lang="en-US" sz="1400" dirty="0">
              <a:solidFill>
                <a:schemeClr val="tx1">
                  <a:alpha val="80000"/>
                </a:schemeClr>
              </a:solidFill>
            </a:endParaRPr>
          </a:p>
          <a:p>
            <a:pPr marL="914400" lvl="2" indent="0">
              <a:buNone/>
            </a:pPr>
            <a:br>
              <a:rPr lang="en-US" sz="1400" dirty="0">
                <a:solidFill>
                  <a:schemeClr val="tx1">
                    <a:alpha val="80000"/>
                  </a:schemeClr>
                </a:solidFill>
              </a:rPr>
            </a:br>
            <a:endParaRPr lang="en-US" sz="1400" dirty="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pic>
        <p:nvPicPr>
          <p:cNvPr id="11" name="Picture 10" descr="Human stomach anatomy internal organ 3d rendering | Premium Photo">
            <a:extLst>
              <a:ext uri="{FF2B5EF4-FFF2-40B4-BE49-F238E27FC236}">
                <a16:creationId xmlns:a16="http://schemas.microsoft.com/office/drawing/2014/main" id="{2D4C5222-8AE5-C232-10A6-849E8AC076AD}"/>
              </a:ext>
            </a:extLst>
          </p:cNvPr>
          <p:cNvPicPr>
            <a:picLocks noChangeAspect="1"/>
          </p:cNvPicPr>
          <p:nvPr/>
        </p:nvPicPr>
        <p:blipFill>
          <a:blip r:embed="rId5"/>
          <a:stretch>
            <a:fillRect/>
          </a:stretch>
        </p:blipFill>
        <p:spPr>
          <a:xfrm>
            <a:off x="1507306" y="5002465"/>
            <a:ext cx="2765298" cy="1604709"/>
          </a:xfrm>
          <a:prstGeom prst="rect">
            <a:avLst/>
          </a:prstGeom>
        </p:spPr>
      </p:pic>
    </p:spTree>
    <p:extLst>
      <p:ext uri="{BB962C8B-B14F-4D97-AF65-F5344CB8AC3E}">
        <p14:creationId xmlns:p14="http://schemas.microsoft.com/office/powerpoint/2010/main" val="21025521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552A59-E574-1CDF-9CC4-D16F90A390AD}"/>
              </a:ext>
            </a:extLst>
          </p:cNvPr>
          <p:cNvSpPr>
            <a:spLocks noGrp="1"/>
          </p:cNvSpPr>
          <p:nvPr>
            <p:ph type="title"/>
          </p:nvPr>
        </p:nvSpPr>
        <p:spPr>
          <a:xfrm>
            <a:off x="640080" y="325369"/>
            <a:ext cx="4368602" cy="1956841"/>
          </a:xfrm>
        </p:spPr>
        <p:txBody>
          <a:bodyPr anchor="b">
            <a:normAutofit/>
          </a:bodyPr>
          <a:lstStyle/>
          <a:p>
            <a:r>
              <a:rPr lang="en-US" sz="4600"/>
              <a:t>Pathophysiology</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E92B507-7355-1DD2-BFDC-6EECF4FAA368}"/>
              </a:ext>
            </a:extLst>
          </p:cNvPr>
          <p:cNvSpPr>
            <a:spLocks noGrp="1"/>
          </p:cNvSpPr>
          <p:nvPr>
            <p:ph idx="1"/>
          </p:nvPr>
        </p:nvSpPr>
        <p:spPr>
          <a:xfrm>
            <a:off x="640080" y="2872899"/>
            <a:ext cx="4243589" cy="3320668"/>
          </a:xfrm>
        </p:spPr>
        <p:txBody>
          <a:bodyPr>
            <a:normAutofit/>
          </a:bodyPr>
          <a:lstStyle/>
          <a:p>
            <a:pPr marL="0" indent="0">
              <a:buNone/>
            </a:pPr>
            <a:r>
              <a:rPr lang="en-US" sz="1700" b="1" dirty="0"/>
              <a:t>What happens inside the stomach:</a:t>
            </a:r>
            <a:endParaRPr lang="en-US" sz="1700" dirty="0"/>
          </a:p>
          <a:p>
            <a:r>
              <a:rPr lang="en-US" sz="1700" b="1" dirty="0"/>
              <a:t>Cell Damage:</a:t>
            </a:r>
            <a:r>
              <a:rPr lang="en-US" sz="1700" dirty="0"/>
              <a:t> Loss of the stomach's natural pacemaker cells (</a:t>
            </a:r>
            <a:r>
              <a:rPr lang="en-US" sz="1700" b="1" dirty="0"/>
              <a:t>interstitial cells of Cajal)</a:t>
            </a:r>
            <a:r>
              <a:rPr lang="en-US" sz="1700" dirty="0"/>
              <a:t>, alongside immune system over-activation (inflammation), cell stress, and nerve damage.</a:t>
            </a:r>
          </a:p>
          <a:p>
            <a:r>
              <a:rPr lang="en-US" sz="1700" b="1" dirty="0"/>
              <a:t>The Result:</a:t>
            </a:r>
            <a:endParaRPr lang="en-US" sz="1700" dirty="0"/>
          </a:p>
          <a:p>
            <a:pPr lvl="1"/>
            <a:r>
              <a:rPr lang="en-US" sz="1700" dirty="0"/>
              <a:t>The lower stomach stops moving properly, pyloric dysfunction, the stomach can't stretch to hold food, and electrical dysrhythmias</a:t>
            </a:r>
          </a:p>
        </p:txBody>
      </p:sp>
      <p:pic>
        <p:nvPicPr>
          <p:cNvPr id="5" name="Picture 4" descr="Close-up of purple cells">
            <a:extLst>
              <a:ext uri="{FF2B5EF4-FFF2-40B4-BE49-F238E27FC236}">
                <a16:creationId xmlns:a16="http://schemas.microsoft.com/office/drawing/2014/main" id="{57388A5C-34FD-28B1-CB97-EDAA0BAF5A4B}"/>
              </a:ext>
            </a:extLst>
          </p:cNvPr>
          <p:cNvPicPr>
            <a:picLocks noChangeAspect="1"/>
          </p:cNvPicPr>
          <p:nvPr/>
        </p:nvPicPr>
        <p:blipFill>
          <a:blip r:embed="rId3"/>
          <a:srcRect l="13898" r="10874"/>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462372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C8968-0AD4-12B5-7C4B-EEE5D455545B}"/>
              </a:ext>
            </a:extLst>
          </p:cNvPr>
          <p:cNvSpPr>
            <a:spLocks noGrp="1"/>
          </p:cNvSpPr>
          <p:nvPr>
            <p:ph type="title"/>
          </p:nvPr>
        </p:nvSpPr>
        <p:spPr/>
        <p:txBody>
          <a:bodyPr>
            <a:normAutofit fontScale="90000"/>
          </a:bodyPr>
          <a:lstStyle/>
          <a:p>
            <a:r>
              <a:rPr lang="en-US" dirty="0"/>
              <a:t>Pathophysiological cascade from hyperglycemia to gastroparesis in diabetic patients</a:t>
            </a:r>
          </a:p>
        </p:txBody>
      </p:sp>
      <p:pic>
        <p:nvPicPr>
          <p:cNvPr id="4" name="Content Placeholder 3">
            <a:extLst>
              <a:ext uri="{FF2B5EF4-FFF2-40B4-BE49-F238E27FC236}">
                <a16:creationId xmlns:a16="http://schemas.microsoft.com/office/drawing/2014/main" id="{D58320F7-E7ED-A5E7-29EC-7811A0A2AD50}"/>
              </a:ext>
            </a:extLst>
          </p:cNvPr>
          <p:cNvPicPr>
            <a:picLocks noGrp="1" noChangeAspect="1"/>
          </p:cNvPicPr>
          <p:nvPr>
            <p:ph idx="1"/>
          </p:nvPr>
        </p:nvPicPr>
        <p:blipFill>
          <a:blip r:embed="rId3"/>
          <a:stretch>
            <a:fillRect/>
          </a:stretch>
        </p:blipFill>
        <p:spPr>
          <a:xfrm>
            <a:off x="2823771" y="1825625"/>
            <a:ext cx="6544458" cy="4351338"/>
          </a:xfrm>
          <a:prstGeom prst="rect">
            <a:avLst/>
          </a:prstGeom>
        </p:spPr>
      </p:pic>
    </p:spTree>
    <p:extLst>
      <p:ext uri="{BB962C8B-B14F-4D97-AF65-F5344CB8AC3E}">
        <p14:creationId xmlns:p14="http://schemas.microsoft.com/office/powerpoint/2010/main" val="41582518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Flowchart depicting the pathophysiology of diabetic gastroparesis. Vagus nerve dysfunction leads to diabetic gastroparesis and reduced interstitial cells of Cajal, which involves reduced nNOS. Hyperglycemia increases AGEs and insulin resistance. AGEs also enhance inflammation, leading to oxidative stress. Reduced macrophage HO-1 is linked with increased oxidative stress. Arrows indicate the direction of influence or effect in the flowchart.">
            <a:extLst>
              <a:ext uri="{FF2B5EF4-FFF2-40B4-BE49-F238E27FC236}">
                <a16:creationId xmlns:a16="http://schemas.microsoft.com/office/drawing/2014/main" id="{D5339D95-0A0E-2DC4-271C-4887548D104B}"/>
              </a:ext>
            </a:extLst>
          </p:cNvPr>
          <p:cNvPicPr>
            <a:picLocks noGrp="1" noChangeAspect="1"/>
          </p:cNvPicPr>
          <p:nvPr>
            <p:ph idx="1"/>
          </p:nvPr>
        </p:nvPicPr>
        <p:blipFill>
          <a:blip r:embed="rId3"/>
          <a:stretch>
            <a:fillRect/>
          </a:stretch>
        </p:blipFill>
        <p:spPr>
          <a:xfrm>
            <a:off x="1709333" y="643466"/>
            <a:ext cx="8773334" cy="5571067"/>
          </a:xfrm>
          <a:prstGeom prst="rect">
            <a:avLst/>
          </a:prstGeom>
        </p:spPr>
      </p:pic>
    </p:spTree>
    <p:extLst>
      <p:ext uri="{BB962C8B-B14F-4D97-AF65-F5344CB8AC3E}">
        <p14:creationId xmlns:p14="http://schemas.microsoft.com/office/powerpoint/2010/main" val="37159176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A5029F-B402-77E1-4C39-CFDF6E3F7D09}"/>
              </a:ext>
            </a:extLst>
          </p:cNvPr>
          <p:cNvSpPr>
            <a:spLocks noGrp="1"/>
          </p:cNvSpPr>
          <p:nvPr>
            <p:ph type="title"/>
          </p:nvPr>
        </p:nvSpPr>
        <p:spPr>
          <a:xfrm>
            <a:off x="572493" y="238539"/>
            <a:ext cx="11018520" cy="1434415"/>
          </a:xfrm>
        </p:spPr>
        <p:txBody>
          <a:bodyPr anchor="b">
            <a:normAutofit/>
          </a:bodyPr>
          <a:lstStyle/>
          <a:p>
            <a:r>
              <a:rPr lang="en-US" sz="5400" b="1"/>
              <a:t>Clinical Presentation </a:t>
            </a:r>
            <a:endParaRPr lang="en-US" sz="5400"/>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0F58B68-6410-B142-643F-4454D3941AFF}"/>
              </a:ext>
            </a:extLst>
          </p:cNvPr>
          <p:cNvSpPr>
            <a:spLocks noGrp="1"/>
          </p:cNvSpPr>
          <p:nvPr>
            <p:ph idx="1"/>
          </p:nvPr>
        </p:nvSpPr>
        <p:spPr>
          <a:xfrm>
            <a:off x="572493" y="2071316"/>
            <a:ext cx="6713552" cy="4119172"/>
          </a:xfrm>
        </p:spPr>
        <p:txBody>
          <a:bodyPr anchor="t">
            <a:normAutofit/>
          </a:bodyPr>
          <a:lstStyle/>
          <a:p>
            <a:r>
              <a:rPr lang="en-US" sz="2200" b="1"/>
              <a:t>Nausea and vomiting</a:t>
            </a:r>
            <a:r>
              <a:rPr lang="en-US" sz="2200"/>
              <a:t> (often postprandial)</a:t>
            </a:r>
          </a:p>
          <a:p>
            <a:r>
              <a:rPr lang="en-US" sz="2200" b="1"/>
              <a:t>Early satiety</a:t>
            </a:r>
            <a:endParaRPr lang="en-US" sz="2200"/>
          </a:p>
          <a:p>
            <a:r>
              <a:rPr lang="en-US" sz="2200" b="1"/>
              <a:t>Postprandial fullness/bloating</a:t>
            </a:r>
            <a:endParaRPr lang="en-US" sz="2200"/>
          </a:p>
          <a:p>
            <a:r>
              <a:rPr lang="en-US" sz="2200" b="1"/>
              <a:t>Abdominal pain</a:t>
            </a:r>
            <a:r>
              <a:rPr lang="en-US" sz="2200"/>
              <a:t> (epigastric)</a:t>
            </a:r>
          </a:p>
          <a:p>
            <a:r>
              <a:rPr lang="en-US" sz="2200"/>
              <a:t>Weight loss</a:t>
            </a:r>
          </a:p>
          <a:p>
            <a:r>
              <a:rPr lang="en-US" sz="2200"/>
              <a:t>Gastroparesis is </a:t>
            </a:r>
            <a:r>
              <a:rPr lang="en-US" sz="2200" b="1"/>
              <a:t>2–4× more common in females</a:t>
            </a:r>
            <a:r>
              <a:rPr lang="en-US" sz="2200"/>
              <a:t> than males. </a:t>
            </a:r>
          </a:p>
          <a:p>
            <a:pPr marL="0" indent="0">
              <a:buNone/>
            </a:pPr>
            <a:endParaRPr lang="en-US" sz="2200"/>
          </a:p>
        </p:txBody>
      </p:sp>
      <p:pic>
        <p:nvPicPr>
          <p:cNvPr id="5" name="Picture 4" descr="Human stomach anatomy internal organ 3d rendering | Premium Photo">
            <a:extLst>
              <a:ext uri="{FF2B5EF4-FFF2-40B4-BE49-F238E27FC236}">
                <a16:creationId xmlns:a16="http://schemas.microsoft.com/office/drawing/2014/main" id="{F9813938-1EE8-F2BB-427A-8B144C17BFF0}"/>
              </a:ext>
            </a:extLst>
          </p:cNvPr>
          <p:cNvPicPr>
            <a:picLocks noChangeAspect="1"/>
          </p:cNvPicPr>
          <p:nvPr/>
        </p:nvPicPr>
        <p:blipFill>
          <a:blip r:embed="rId3"/>
          <a:srcRect l="3795" r="-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2580887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62227FD4-8FE8-00D8-3694-65A03A266336}"/>
              </a:ext>
            </a:extLst>
          </p:cNvPr>
          <p:cNvSpPr>
            <a:spLocks noGrp="1"/>
          </p:cNvSpPr>
          <p:nvPr>
            <p:ph type="title"/>
          </p:nvPr>
        </p:nvSpPr>
        <p:spPr>
          <a:xfrm>
            <a:off x="1188069" y="381935"/>
            <a:ext cx="4008583" cy="5974414"/>
          </a:xfrm>
        </p:spPr>
        <p:txBody>
          <a:bodyPr anchor="ctr">
            <a:normAutofit/>
          </a:bodyPr>
          <a:lstStyle/>
          <a:p>
            <a:r>
              <a:rPr lang="en-US" sz="7400">
                <a:solidFill>
                  <a:srgbClr val="FFFFFF"/>
                </a:solidFill>
              </a:rPr>
              <a:t>Diagnosis</a:t>
            </a:r>
          </a:p>
        </p:txBody>
      </p:sp>
      <p:grpSp>
        <p:nvGrpSpPr>
          <p:cNvPr id="19" name="Group 18">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CD05EB78-1E8A-6942-6489-153FABE4D588}"/>
              </a:ext>
            </a:extLst>
          </p:cNvPr>
          <p:cNvSpPr>
            <a:spLocks noGrp="1"/>
          </p:cNvSpPr>
          <p:nvPr>
            <p:ph idx="1"/>
          </p:nvPr>
        </p:nvSpPr>
        <p:spPr>
          <a:xfrm>
            <a:off x="6297233" y="518400"/>
            <a:ext cx="4771607" cy="5837949"/>
          </a:xfrm>
        </p:spPr>
        <p:txBody>
          <a:bodyPr anchor="ctr">
            <a:normAutofit/>
          </a:bodyPr>
          <a:lstStyle/>
          <a:p>
            <a:pPr lvl="1"/>
            <a:r>
              <a:rPr lang="en-US" sz="1400">
                <a:solidFill>
                  <a:schemeClr val="tx1">
                    <a:alpha val="80000"/>
                  </a:schemeClr>
                </a:solidFill>
              </a:rPr>
              <a:t>Gold standard is </a:t>
            </a:r>
            <a:r>
              <a:rPr lang="en-US" sz="1400" b="1">
                <a:solidFill>
                  <a:schemeClr val="tx1">
                    <a:alpha val="80000"/>
                  </a:schemeClr>
                </a:solidFill>
              </a:rPr>
              <a:t>4-hour gastric emptying scintigraphy</a:t>
            </a:r>
            <a:r>
              <a:rPr lang="en-US" sz="1400">
                <a:solidFill>
                  <a:schemeClr val="tx1">
                    <a:alpha val="80000"/>
                  </a:schemeClr>
                </a:solidFill>
              </a:rPr>
              <a:t> using a standardized low-fat egg-white meal (Eggbeaters) labeled with Tc-99m (radioactic tracer). </a:t>
            </a:r>
          </a:p>
          <a:p>
            <a:pPr lvl="1"/>
            <a:r>
              <a:rPr lang="en-US" sz="1400">
                <a:solidFill>
                  <a:schemeClr val="tx1">
                    <a:alpha val="80000"/>
                  </a:schemeClr>
                </a:solidFill>
              </a:rPr>
              <a:t>Key diagnostic thresholds:</a:t>
            </a:r>
          </a:p>
          <a:p>
            <a:pPr lvl="2"/>
            <a:r>
              <a:rPr lang="en-US" sz="1400" b="1">
                <a:solidFill>
                  <a:schemeClr val="tx1">
                    <a:alpha val="80000"/>
                  </a:schemeClr>
                </a:solidFill>
              </a:rPr>
              <a:t>Delayed emptying:</a:t>
            </a:r>
            <a:r>
              <a:rPr lang="en-US" sz="1400">
                <a:solidFill>
                  <a:schemeClr val="tx1">
                    <a:alpha val="80000"/>
                  </a:schemeClr>
                </a:solidFill>
              </a:rPr>
              <a:t> Greater than 10% retention at 4 hours.</a:t>
            </a:r>
          </a:p>
          <a:p>
            <a:pPr lvl="2"/>
            <a:r>
              <a:rPr lang="en-US" sz="1400" b="1">
                <a:solidFill>
                  <a:schemeClr val="tx1">
                    <a:alpha val="80000"/>
                  </a:schemeClr>
                </a:solidFill>
              </a:rPr>
              <a:t>Severe retention:</a:t>
            </a:r>
            <a:r>
              <a:rPr lang="en-US" sz="1400">
                <a:solidFill>
                  <a:schemeClr val="tx1">
                    <a:alpha val="80000"/>
                  </a:schemeClr>
                </a:solidFill>
              </a:rPr>
              <a:t> Greater than 60% retention at 2 hours.</a:t>
            </a:r>
          </a:p>
          <a:p>
            <a:r>
              <a:rPr lang="en-US" sz="1400">
                <a:solidFill>
                  <a:schemeClr val="tx1">
                    <a:alpha val="80000"/>
                  </a:schemeClr>
                </a:solidFill>
              </a:rPr>
              <a:t>Critical pre-test requirements:</a:t>
            </a:r>
          </a:p>
          <a:p>
            <a:pPr lvl="1"/>
            <a:r>
              <a:rPr lang="en-US" sz="1400" b="1">
                <a:solidFill>
                  <a:schemeClr val="tx1">
                    <a:alpha val="80000"/>
                  </a:schemeClr>
                </a:solidFill>
              </a:rPr>
              <a:t>Exclude mechanical obstruction</a:t>
            </a:r>
            <a:r>
              <a:rPr lang="en-US" sz="1400">
                <a:solidFill>
                  <a:schemeClr val="tx1">
                    <a:alpha val="80000"/>
                  </a:schemeClr>
                </a:solidFill>
              </a:rPr>
              <a:t> first (via EGD or upper GI series) </a:t>
            </a:r>
          </a:p>
          <a:p>
            <a:pPr lvl="1"/>
            <a:r>
              <a:rPr lang="en-US" sz="1400" b="1">
                <a:solidFill>
                  <a:schemeClr val="tx1">
                    <a:alpha val="80000"/>
                  </a:schemeClr>
                </a:solidFill>
              </a:rPr>
              <a:t>Stop interfering medications 48–72 hours before testing</a:t>
            </a:r>
            <a:r>
              <a:rPr lang="en-US" sz="1400">
                <a:solidFill>
                  <a:schemeClr val="tx1">
                    <a:alpha val="80000"/>
                  </a:schemeClr>
                </a:solidFill>
              </a:rPr>
              <a:t>: opioids, anticholinergics, prokinetics, antiemetics, cannabinoids </a:t>
            </a:r>
          </a:p>
          <a:p>
            <a:pPr lvl="1"/>
            <a:r>
              <a:rPr lang="en-US" sz="1400">
                <a:solidFill>
                  <a:schemeClr val="tx1">
                    <a:alpha val="80000"/>
                  </a:schemeClr>
                </a:solidFill>
              </a:rPr>
              <a:t>In diabetics, blood glucose should be </a:t>
            </a:r>
            <a:r>
              <a:rPr lang="en-US" sz="1400" b="1">
                <a:solidFill>
                  <a:schemeClr val="tx1">
                    <a:alpha val="80000"/>
                  </a:schemeClr>
                </a:solidFill>
              </a:rPr>
              <a:t>&lt;180–250 mg/dL</a:t>
            </a:r>
            <a:r>
              <a:rPr lang="en-US" sz="1400">
                <a:solidFill>
                  <a:schemeClr val="tx1">
                    <a:alpha val="80000"/>
                  </a:schemeClr>
                </a:solidFill>
              </a:rPr>
              <a:t> on the day of testing; hyperglycemia itself delays emptying</a:t>
            </a:r>
          </a:p>
          <a:p>
            <a:pPr lvl="1"/>
            <a:endParaRPr lang="en-US" sz="1400">
              <a:solidFill>
                <a:schemeClr val="tx1">
                  <a:alpha val="80000"/>
                </a:schemeClr>
              </a:solidFill>
            </a:endParaRPr>
          </a:p>
          <a:p>
            <a:r>
              <a:rPr lang="en-US" sz="1400">
                <a:solidFill>
                  <a:schemeClr val="tx1">
                    <a:alpha val="80000"/>
                  </a:schemeClr>
                </a:solidFill>
              </a:rPr>
              <a:t>Alternative tests include </a:t>
            </a:r>
            <a:r>
              <a:rPr lang="en-US" sz="1400" b="1">
                <a:solidFill>
                  <a:schemeClr val="tx1">
                    <a:alpha val="80000"/>
                  </a:schemeClr>
                </a:solidFill>
              </a:rPr>
              <a:t>13C breath testing</a:t>
            </a:r>
            <a:r>
              <a:rPr lang="en-US" sz="1400">
                <a:solidFill>
                  <a:schemeClr val="tx1">
                    <a:alpha val="80000"/>
                  </a:schemeClr>
                </a:solidFill>
              </a:rPr>
              <a:t> (no radiation, validated alternative) and the </a:t>
            </a:r>
            <a:r>
              <a:rPr lang="en-US" sz="1400" b="1">
                <a:solidFill>
                  <a:schemeClr val="tx1">
                    <a:alpha val="80000"/>
                  </a:schemeClr>
                </a:solidFill>
              </a:rPr>
              <a:t>wireless motility capsule (SmartPill)</a:t>
            </a:r>
            <a:endParaRPr lang="en-US" sz="1400">
              <a:solidFill>
                <a:schemeClr val="tx1">
                  <a:alpha val="80000"/>
                </a:schemeClr>
              </a:solidFill>
            </a:endParaRPr>
          </a:p>
          <a:p>
            <a:pPr marL="0" indent="0">
              <a:buNone/>
            </a:pPr>
            <a:br>
              <a:rPr lang="en-US" sz="1400">
                <a:solidFill>
                  <a:schemeClr val="tx1">
                    <a:alpha val="80000"/>
                  </a:schemeClr>
                </a:solidFill>
              </a:rPr>
            </a:br>
            <a:endParaRPr lang="en-US" sz="140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pic>
        <p:nvPicPr>
          <p:cNvPr id="7" name="Picture 6" descr="Human stomach anatomy internal organ 3d rendering | Premium Photo">
            <a:extLst>
              <a:ext uri="{FF2B5EF4-FFF2-40B4-BE49-F238E27FC236}">
                <a16:creationId xmlns:a16="http://schemas.microsoft.com/office/drawing/2014/main" id="{6AE41EBE-E266-A30E-FC9E-299E60A03A12}"/>
              </a:ext>
            </a:extLst>
          </p:cNvPr>
          <p:cNvPicPr>
            <a:picLocks noChangeAspect="1"/>
          </p:cNvPicPr>
          <p:nvPr/>
        </p:nvPicPr>
        <p:blipFill>
          <a:blip r:embed="rId2"/>
          <a:stretch>
            <a:fillRect/>
          </a:stretch>
        </p:blipFill>
        <p:spPr>
          <a:xfrm>
            <a:off x="1934883" y="5133575"/>
            <a:ext cx="2765298" cy="1604709"/>
          </a:xfrm>
          <a:prstGeom prst="rect">
            <a:avLst/>
          </a:prstGeom>
        </p:spPr>
      </p:pic>
    </p:spTree>
    <p:extLst>
      <p:ext uri="{BB962C8B-B14F-4D97-AF65-F5344CB8AC3E}">
        <p14:creationId xmlns:p14="http://schemas.microsoft.com/office/powerpoint/2010/main" val="1359145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99068D-CB93-983C-99EE-F6BDF063D298}"/>
              </a:ext>
            </a:extLst>
          </p:cNvPr>
          <p:cNvSpPr>
            <a:spLocks noGrp="1"/>
          </p:cNvSpPr>
          <p:nvPr>
            <p:ph type="title"/>
          </p:nvPr>
        </p:nvSpPr>
        <p:spPr>
          <a:xfrm>
            <a:off x="572493" y="238539"/>
            <a:ext cx="11018520" cy="1434415"/>
          </a:xfrm>
        </p:spPr>
        <p:txBody>
          <a:bodyPr anchor="b">
            <a:normAutofit/>
          </a:bodyPr>
          <a:lstStyle/>
          <a:p>
            <a:r>
              <a:rPr lang="en-US" sz="5400"/>
              <a:t>Treatment</a:t>
            </a:r>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51F6329-15AB-409D-96E5-22A0D0F259AA}"/>
              </a:ext>
            </a:extLst>
          </p:cNvPr>
          <p:cNvSpPr>
            <a:spLocks noGrp="1"/>
          </p:cNvSpPr>
          <p:nvPr>
            <p:ph idx="1"/>
          </p:nvPr>
        </p:nvSpPr>
        <p:spPr>
          <a:xfrm>
            <a:off x="572493" y="2071316"/>
            <a:ext cx="6713552" cy="4119172"/>
          </a:xfrm>
        </p:spPr>
        <p:txBody>
          <a:bodyPr anchor="t">
            <a:normAutofit/>
          </a:bodyPr>
          <a:lstStyle/>
          <a:p>
            <a:r>
              <a:rPr lang="en-US" sz="2200" b="1" dirty="0"/>
              <a:t>Step 1: General measures (all patients)</a:t>
            </a:r>
            <a:endParaRPr lang="en-US" sz="2200" dirty="0"/>
          </a:p>
          <a:p>
            <a:pPr lvl="1"/>
            <a:r>
              <a:rPr lang="en-US" sz="2200" dirty="0"/>
              <a:t>Discontinue medications that delay gastric emptying (opioids, GLP-1 agonists, anticholinergics) </a:t>
            </a:r>
          </a:p>
          <a:p>
            <a:pPr lvl="1"/>
            <a:r>
              <a:rPr lang="en-US" sz="2200" dirty="0"/>
              <a:t>Optimize glycemic control in diabetics </a:t>
            </a:r>
          </a:p>
          <a:p>
            <a:pPr lvl="1"/>
            <a:r>
              <a:rPr lang="en-US" sz="2200" b="1" dirty="0"/>
              <a:t>Dietary modification</a:t>
            </a:r>
            <a:r>
              <a:rPr lang="en-US" sz="2200" dirty="0"/>
              <a:t>: small-particles, low-fat, low-fiber diet; frequent small meals; increase liquid-calorie intake </a:t>
            </a:r>
          </a:p>
        </p:txBody>
      </p:sp>
      <p:pic>
        <p:nvPicPr>
          <p:cNvPr id="5" name="Picture 4" descr="Human stomach anatomy internal organ 3d rendering | Premium Photo">
            <a:extLst>
              <a:ext uri="{FF2B5EF4-FFF2-40B4-BE49-F238E27FC236}">
                <a16:creationId xmlns:a16="http://schemas.microsoft.com/office/drawing/2014/main" id="{1B674099-FEC8-A363-9CF1-867E1724622B}"/>
              </a:ext>
            </a:extLst>
          </p:cNvPr>
          <p:cNvPicPr>
            <a:picLocks noChangeAspect="1"/>
          </p:cNvPicPr>
          <p:nvPr/>
        </p:nvPicPr>
        <p:blipFill>
          <a:blip r:embed="rId3"/>
          <a:srcRect l="3795" r="-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058723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7297F4-C274-D03B-8B34-6A8FD2D2733A}"/>
              </a:ext>
            </a:extLst>
          </p:cNvPr>
          <p:cNvSpPr>
            <a:spLocks noGrp="1"/>
          </p:cNvSpPr>
          <p:nvPr>
            <p:ph type="title"/>
          </p:nvPr>
        </p:nvSpPr>
        <p:spPr>
          <a:xfrm>
            <a:off x="838200" y="365125"/>
            <a:ext cx="10515600" cy="1325563"/>
          </a:xfrm>
        </p:spPr>
        <p:txBody>
          <a:bodyPr>
            <a:normAutofit/>
          </a:bodyPr>
          <a:lstStyle/>
          <a:p>
            <a:r>
              <a:rPr lang="en-US" sz="5400"/>
              <a:t>Treatment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C379FA9-50B7-F1FC-C347-A5CF19083F5D}"/>
              </a:ext>
            </a:extLst>
          </p:cNvPr>
          <p:cNvSpPr>
            <a:spLocks noGrp="1"/>
          </p:cNvSpPr>
          <p:nvPr>
            <p:ph idx="1"/>
          </p:nvPr>
        </p:nvSpPr>
        <p:spPr>
          <a:xfrm>
            <a:off x="838200" y="1929384"/>
            <a:ext cx="10515600" cy="4251960"/>
          </a:xfrm>
        </p:spPr>
        <p:txBody>
          <a:bodyPr>
            <a:normAutofit/>
          </a:bodyPr>
          <a:lstStyle/>
          <a:p>
            <a:r>
              <a:rPr lang="en-US" sz="1700" b="1" dirty="0"/>
              <a:t>Step 2: Pharmacotherapy</a:t>
            </a:r>
            <a:endParaRPr lang="en-US" sz="1700" dirty="0"/>
          </a:p>
          <a:p>
            <a:r>
              <a:rPr lang="en-US" sz="1700" b="1" dirty="0"/>
              <a:t>Metoclopramide</a:t>
            </a:r>
            <a:r>
              <a:rPr lang="en-US" sz="1700" dirty="0"/>
              <a:t> — the only FDA-approved </a:t>
            </a:r>
            <a:r>
              <a:rPr lang="en-US" sz="1700" b="1" dirty="0"/>
              <a:t>drug for gastroparesis. </a:t>
            </a:r>
          </a:p>
          <a:p>
            <a:pPr lvl="1"/>
            <a:r>
              <a:rPr lang="en-US" sz="1700" dirty="0"/>
              <a:t>Dopamine D2 antagonist and 5-HT4 agonist that accelerates gastric emptying. </a:t>
            </a:r>
          </a:p>
          <a:p>
            <a:pPr lvl="1"/>
            <a:r>
              <a:rPr lang="en-US" sz="1700" dirty="0"/>
              <a:t>Carries an </a:t>
            </a:r>
            <a:r>
              <a:rPr lang="en-US" sz="1700" b="1" dirty="0"/>
              <a:t>FDA Black Box Warning for tardive dyskinesia</a:t>
            </a:r>
            <a:r>
              <a:rPr lang="en-US" sz="1700" dirty="0"/>
              <a:t> — risk increases with duration and cumulative dose; avoid use &gt;12 weeks when possible. </a:t>
            </a:r>
          </a:p>
          <a:p>
            <a:pPr lvl="1"/>
            <a:r>
              <a:rPr lang="en-US" sz="1700" dirty="0"/>
              <a:t>Common side effects: </a:t>
            </a:r>
            <a:r>
              <a:rPr lang="en-US" sz="1700" b="1" i="1" dirty="0"/>
              <a:t>restlessness, drowsiness, fatigue, extrapyramidal symptoms, hyperprolactinemia.</a:t>
            </a:r>
            <a:r>
              <a:rPr lang="en-US" sz="1700" dirty="0"/>
              <a:t> </a:t>
            </a:r>
          </a:p>
          <a:p>
            <a:r>
              <a:rPr lang="en-US" sz="1700" b="1" dirty="0"/>
              <a:t>Erythromycin</a:t>
            </a:r>
            <a:r>
              <a:rPr lang="en-US" sz="1700" dirty="0"/>
              <a:t> — motilin receptor agonist; effective short-term prokinetic (250 mg TID before meals), but limited by tachyphylaxis and risk of QT prolongation (use in caution with cardiac patients)</a:t>
            </a:r>
          </a:p>
          <a:p>
            <a:r>
              <a:rPr lang="en-US" sz="1700" b="1" dirty="0"/>
              <a:t>Antiemetics</a:t>
            </a:r>
            <a:r>
              <a:rPr lang="en-US" sz="1700" dirty="0"/>
              <a:t> (symptom relief, do not improve emptying): ondansetron (5-HT3 antagonist), prochlorperazine (D2 antagonist), promethazine (H1 antagonist), </a:t>
            </a:r>
          </a:p>
          <a:p>
            <a:pPr lvl="1"/>
            <a:r>
              <a:rPr lang="en-US" sz="1700" b="1" dirty="0" err="1"/>
              <a:t>Emetrol</a:t>
            </a:r>
            <a:r>
              <a:rPr lang="en-US" sz="1700" b="1" dirty="0"/>
              <a:t> (Dextrose, fructose, and phosphoric acid combination)- use caution with diabetic patients</a:t>
            </a:r>
            <a:br>
              <a:rPr lang="en-US" sz="1700" dirty="0"/>
            </a:br>
            <a:endParaRPr lang="en-US" sz="1700" dirty="0"/>
          </a:p>
        </p:txBody>
      </p:sp>
      <p:pic>
        <p:nvPicPr>
          <p:cNvPr id="5" name="Picture 4" descr="Human stomach anatomy internal organ 3d rendering | Premium Photo">
            <a:extLst>
              <a:ext uri="{FF2B5EF4-FFF2-40B4-BE49-F238E27FC236}">
                <a16:creationId xmlns:a16="http://schemas.microsoft.com/office/drawing/2014/main" id="{CD771118-17A2-AA5D-7FF7-176F8261DEDB}"/>
              </a:ext>
            </a:extLst>
          </p:cNvPr>
          <p:cNvPicPr>
            <a:picLocks noChangeAspect="1"/>
          </p:cNvPicPr>
          <p:nvPr/>
        </p:nvPicPr>
        <p:blipFill>
          <a:blip r:embed="rId3"/>
          <a:stretch>
            <a:fillRect/>
          </a:stretch>
        </p:blipFill>
        <p:spPr>
          <a:xfrm>
            <a:off x="8815578" y="84790"/>
            <a:ext cx="2765298" cy="1475721"/>
          </a:xfrm>
          <a:prstGeom prst="rect">
            <a:avLst/>
          </a:prstGeom>
        </p:spPr>
      </p:pic>
    </p:spTree>
    <p:extLst>
      <p:ext uri="{BB962C8B-B14F-4D97-AF65-F5344CB8AC3E}">
        <p14:creationId xmlns:p14="http://schemas.microsoft.com/office/powerpoint/2010/main" val="8665226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242C6D-B0AB-249F-C62B-31FB21B379CB}"/>
              </a:ext>
            </a:extLst>
          </p:cNvPr>
          <p:cNvSpPr>
            <a:spLocks noGrp="1"/>
          </p:cNvSpPr>
          <p:nvPr>
            <p:ph type="title"/>
          </p:nvPr>
        </p:nvSpPr>
        <p:spPr>
          <a:xfrm>
            <a:off x="630936" y="640080"/>
            <a:ext cx="4818888" cy="1481328"/>
          </a:xfrm>
        </p:spPr>
        <p:txBody>
          <a:bodyPr anchor="b">
            <a:normAutofit/>
          </a:bodyPr>
          <a:lstStyle/>
          <a:p>
            <a:r>
              <a:rPr lang="en-US" sz="5400"/>
              <a:t>Treatment</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D114EB-FFFA-94E3-B03C-2DCE40CE4E32}"/>
              </a:ext>
            </a:extLst>
          </p:cNvPr>
          <p:cNvSpPr>
            <a:spLocks noGrp="1"/>
          </p:cNvSpPr>
          <p:nvPr>
            <p:ph idx="1"/>
          </p:nvPr>
        </p:nvSpPr>
        <p:spPr>
          <a:xfrm>
            <a:off x="630936" y="2660904"/>
            <a:ext cx="4818888" cy="3547872"/>
          </a:xfrm>
        </p:spPr>
        <p:txBody>
          <a:bodyPr anchor="t">
            <a:normAutofit/>
          </a:bodyPr>
          <a:lstStyle/>
          <a:p>
            <a:r>
              <a:rPr lang="en-US" sz="2000" b="1"/>
              <a:t>Step 3: Refractory disease</a:t>
            </a:r>
            <a:endParaRPr lang="en-US" sz="2000"/>
          </a:p>
          <a:p>
            <a:r>
              <a:rPr lang="en-US" sz="2000" b="1"/>
              <a:t>Gastric per-oral endoscopic myotomy (G-POEM)</a:t>
            </a:r>
            <a:r>
              <a:rPr lang="en-US" sz="2000"/>
              <a:t> —for refractory symptoms, especially nausea/vomiting; has largely replaced surgical pyloroplasty and botulinum toxin injection </a:t>
            </a:r>
          </a:p>
          <a:p>
            <a:r>
              <a:rPr lang="en-US" sz="2000" b="1"/>
              <a:t>Nutritional support</a:t>
            </a:r>
            <a:r>
              <a:rPr lang="en-US" sz="2000"/>
              <a:t>: jejunostomy tube feeding for patients unable to maintain adequate oral intake</a:t>
            </a:r>
          </a:p>
          <a:p>
            <a:pPr lvl="1"/>
            <a:r>
              <a:rPr lang="en-US" sz="2000"/>
              <a:t>parenteral nutrition is a last resort </a:t>
            </a:r>
            <a:br>
              <a:rPr lang="en-US" sz="2000"/>
            </a:br>
            <a:endParaRPr lang="en-US" sz="2000"/>
          </a:p>
        </p:txBody>
      </p:sp>
      <p:pic>
        <p:nvPicPr>
          <p:cNvPr id="5" name="Picture 4" descr="Human stomach anatomy internal organ 3d rendering | Premium Photo">
            <a:extLst>
              <a:ext uri="{FF2B5EF4-FFF2-40B4-BE49-F238E27FC236}">
                <a16:creationId xmlns:a16="http://schemas.microsoft.com/office/drawing/2014/main" id="{E7D75AF0-D6A7-EC08-F06D-655E8681E4BD}"/>
              </a:ext>
            </a:extLst>
          </p:cNvPr>
          <p:cNvPicPr>
            <a:picLocks noChangeAspect="1"/>
          </p:cNvPicPr>
          <p:nvPr/>
        </p:nvPicPr>
        <p:blipFill>
          <a:blip r:embed="rId3"/>
          <a:stretch>
            <a:fillRect/>
          </a:stretch>
        </p:blipFill>
        <p:spPr>
          <a:xfrm>
            <a:off x="6099048" y="699516"/>
            <a:ext cx="5458968" cy="5458968"/>
          </a:xfrm>
          <a:prstGeom prst="rect">
            <a:avLst/>
          </a:prstGeom>
        </p:spPr>
      </p:pic>
    </p:spTree>
    <p:extLst>
      <p:ext uri="{BB962C8B-B14F-4D97-AF65-F5344CB8AC3E}">
        <p14:creationId xmlns:p14="http://schemas.microsoft.com/office/powerpoint/2010/main" val="25646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55D6A3-0ECD-2BC2-37FC-4868BA17735E}"/>
              </a:ext>
            </a:extLst>
          </p:cNvPr>
          <p:cNvSpPr>
            <a:spLocks noGrp="1"/>
          </p:cNvSpPr>
          <p:nvPr>
            <p:ph type="title"/>
          </p:nvPr>
        </p:nvSpPr>
        <p:spPr>
          <a:xfrm>
            <a:off x="572493" y="238539"/>
            <a:ext cx="11018520" cy="1434415"/>
          </a:xfrm>
        </p:spPr>
        <p:txBody>
          <a:bodyPr anchor="b">
            <a:normAutofit/>
          </a:bodyPr>
          <a:lstStyle/>
          <a:p>
            <a:r>
              <a:rPr lang="en-US" sz="5400" b="1" i="1"/>
              <a:t>***Pearls </a:t>
            </a:r>
            <a:endParaRPr lang="en-US" sz="5400" i="1"/>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D38394-A750-C8BD-C09E-A46B3AAF2E4D}"/>
              </a:ext>
            </a:extLst>
          </p:cNvPr>
          <p:cNvSpPr>
            <a:spLocks noGrp="1"/>
          </p:cNvSpPr>
          <p:nvPr>
            <p:ph idx="1"/>
          </p:nvPr>
        </p:nvSpPr>
        <p:spPr>
          <a:xfrm>
            <a:off x="572493" y="2071316"/>
            <a:ext cx="6713552" cy="4119172"/>
          </a:xfrm>
        </p:spPr>
        <p:txBody>
          <a:bodyPr anchor="t">
            <a:normAutofit/>
          </a:bodyPr>
          <a:lstStyle/>
          <a:p>
            <a:r>
              <a:rPr lang="en-US" sz="1900" dirty="0"/>
              <a:t>Gastroparesis ≠ mechanical obstruction — always rule out obstruction first with EGD</a:t>
            </a:r>
          </a:p>
          <a:p>
            <a:r>
              <a:rPr lang="en-US" sz="1900" dirty="0"/>
              <a:t>Most common etiology is </a:t>
            </a:r>
            <a:r>
              <a:rPr lang="en-US" sz="1900" b="1" dirty="0"/>
              <a:t>idiopathic</a:t>
            </a:r>
            <a:r>
              <a:rPr lang="en-US" sz="1900" dirty="0"/>
              <a:t>, not diabetic</a:t>
            </a:r>
          </a:p>
          <a:p>
            <a:r>
              <a:rPr lang="en-US" sz="1900" b="1" dirty="0"/>
              <a:t>Metoclopramide</a:t>
            </a:r>
            <a:r>
              <a:rPr lang="en-US" sz="1900" dirty="0"/>
              <a:t> is the only FDA-approved drug; know the Black Box Warning for </a:t>
            </a:r>
            <a:r>
              <a:rPr lang="en-US" sz="1900" b="1" dirty="0"/>
              <a:t>tardive dyskinesia</a:t>
            </a:r>
            <a:r>
              <a:rPr lang="en-US" sz="1900" dirty="0"/>
              <a:t> and the 12-week limit</a:t>
            </a:r>
          </a:p>
          <a:p>
            <a:r>
              <a:rPr lang="en-US" sz="1900" b="1" dirty="0"/>
              <a:t>Erythromycin</a:t>
            </a:r>
            <a:r>
              <a:rPr lang="en-US" sz="1900" dirty="0"/>
              <a:t> works as a prokinetic (motilin agonist), not as an antibiotic in this context</a:t>
            </a:r>
          </a:p>
          <a:p>
            <a:r>
              <a:rPr lang="en-US" sz="1900" b="1" dirty="0"/>
              <a:t>GLP-1 receptor agonists</a:t>
            </a:r>
            <a:r>
              <a:rPr lang="en-US" sz="1900" dirty="0"/>
              <a:t> (semaglutide, liraglutide) are an increasingly recognized cause of delayed gastric emptying — must be held before testing </a:t>
            </a:r>
          </a:p>
          <a:p>
            <a:pPr marL="0" indent="0">
              <a:buNone/>
            </a:pPr>
            <a:endParaRPr lang="en-US" sz="1900" dirty="0"/>
          </a:p>
        </p:txBody>
      </p:sp>
      <p:pic>
        <p:nvPicPr>
          <p:cNvPr id="5" name="Picture 4" descr="Natural Pearls vs. Cultured Pearls: The Difference Explained | Jewelers Mutual">
            <a:extLst>
              <a:ext uri="{FF2B5EF4-FFF2-40B4-BE49-F238E27FC236}">
                <a16:creationId xmlns:a16="http://schemas.microsoft.com/office/drawing/2014/main" id="{FFA86C7A-DA1E-7CE7-DDEF-4FFB7A12A6E0}"/>
              </a:ext>
            </a:extLst>
          </p:cNvPr>
          <p:cNvPicPr>
            <a:picLocks noChangeAspect="1"/>
          </p:cNvPicPr>
          <p:nvPr/>
        </p:nvPicPr>
        <p:blipFill>
          <a:blip r:embed="rId3"/>
          <a:srcRect l="29648" r="6136"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7037611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725D5E-6CF3-D554-3F8C-5695DAEFF2EB}"/>
              </a:ext>
            </a:extLst>
          </p:cNvPr>
          <p:cNvSpPr>
            <a:spLocks noGrp="1"/>
          </p:cNvSpPr>
          <p:nvPr>
            <p:ph type="ctrTitle"/>
          </p:nvPr>
        </p:nvSpPr>
        <p:spPr>
          <a:xfrm>
            <a:off x="640080" y="320040"/>
            <a:ext cx="6692827" cy="3892669"/>
          </a:xfrm>
        </p:spPr>
        <p:txBody>
          <a:bodyPr>
            <a:normAutofit/>
          </a:bodyPr>
          <a:lstStyle/>
          <a:p>
            <a:pPr algn="l"/>
            <a:r>
              <a:rPr lang="en-US" sz="6600" b="1" i="1" dirty="0">
                <a:solidFill>
                  <a:srgbClr val="FF0000"/>
                </a:solidFill>
              </a:rPr>
              <a:t>Peptic Ulcer Disease</a:t>
            </a:r>
          </a:p>
        </p:txBody>
      </p:sp>
      <p:sp>
        <p:nvSpPr>
          <p:cNvPr id="3" name="Subtitle 2">
            <a:extLst>
              <a:ext uri="{FF2B5EF4-FFF2-40B4-BE49-F238E27FC236}">
                <a16:creationId xmlns:a16="http://schemas.microsoft.com/office/drawing/2014/main" id="{22543A5B-FB0A-A04F-AF89-36B7D57B3510}"/>
              </a:ext>
            </a:extLst>
          </p:cNvPr>
          <p:cNvSpPr>
            <a:spLocks noGrp="1"/>
          </p:cNvSpPr>
          <p:nvPr>
            <p:ph type="subTitle" idx="1"/>
          </p:nvPr>
        </p:nvSpPr>
        <p:spPr>
          <a:xfrm>
            <a:off x="640080" y="4631161"/>
            <a:ext cx="6692827" cy="1569486"/>
          </a:xfrm>
        </p:spPr>
        <p:txBody>
          <a:bodyPr>
            <a:normAutofit/>
          </a:bodyPr>
          <a:lstStyle/>
          <a:p>
            <a:pPr algn="l"/>
            <a:r>
              <a:rPr lang="en-US" b="1" dirty="0"/>
              <a:t>(PUD)</a:t>
            </a:r>
            <a:endParaRPr lang="en-US" dirty="0"/>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uman stomach anatomy internal organ 3d rendering | Premium Photo">
            <a:extLst>
              <a:ext uri="{FF2B5EF4-FFF2-40B4-BE49-F238E27FC236}">
                <a16:creationId xmlns:a16="http://schemas.microsoft.com/office/drawing/2014/main" id="{9C7FBD06-2FE8-DCCB-8E93-58B2AF1BB27E}"/>
              </a:ext>
            </a:extLst>
          </p:cNvPr>
          <p:cNvPicPr>
            <a:picLocks noChangeAspect="1"/>
          </p:cNvPicPr>
          <p:nvPr/>
        </p:nvPicPr>
        <p:blipFill>
          <a:blip r:embed="rId3"/>
          <a:srcRect l="3795" r="-3" b="-3"/>
          <a:stretch>
            <a:fillRect/>
          </a:stretch>
        </p:blipFill>
        <p:spPr>
          <a:xfrm>
            <a:off x="7781544" y="1186465"/>
            <a:ext cx="4087368" cy="4248596"/>
          </a:xfrm>
          <a:prstGeom prst="rect">
            <a:avLst/>
          </a:prstGeom>
        </p:spPr>
      </p:pic>
    </p:spTree>
    <p:extLst>
      <p:ext uri="{BB962C8B-B14F-4D97-AF65-F5344CB8AC3E}">
        <p14:creationId xmlns:p14="http://schemas.microsoft.com/office/powerpoint/2010/main" val="22221244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14FC2E5-9221-4C48-0F98-034F116328E4}"/>
              </a:ext>
            </a:extLst>
          </p:cNvPr>
          <p:cNvSpPr>
            <a:spLocks noGrp="1"/>
          </p:cNvSpPr>
          <p:nvPr>
            <p:ph type="title"/>
          </p:nvPr>
        </p:nvSpPr>
        <p:spPr>
          <a:xfrm>
            <a:off x="1137034" y="609600"/>
            <a:ext cx="4784796" cy="1330840"/>
          </a:xfrm>
        </p:spPr>
        <p:txBody>
          <a:bodyPr>
            <a:normAutofit/>
          </a:bodyPr>
          <a:lstStyle/>
          <a:p>
            <a:r>
              <a:rPr lang="en-US"/>
              <a:t>PUD</a:t>
            </a:r>
          </a:p>
        </p:txBody>
      </p:sp>
      <p:sp>
        <p:nvSpPr>
          <p:cNvPr id="3" name="Content Placeholder 2">
            <a:extLst>
              <a:ext uri="{FF2B5EF4-FFF2-40B4-BE49-F238E27FC236}">
                <a16:creationId xmlns:a16="http://schemas.microsoft.com/office/drawing/2014/main" id="{CEE7BEB6-BDE1-EACD-06E4-7F79F42C9747}"/>
              </a:ext>
            </a:extLst>
          </p:cNvPr>
          <p:cNvSpPr>
            <a:spLocks noGrp="1"/>
          </p:cNvSpPr>
          <p:nvPr>
            <p:ph idx="1"/>
          </p:nvPr>
        </p:nvSpPr>
        <p:spPr>
          <a:xfrm>
            <a:off x="0" y="2135913"/>
            <a:ext cx="5606229" cy="3908585"/>
          </a:xfrm>
        </p:spPr>
        <p:txBody>
          <a:bodyPr>
            <a:normAutofit/>
          </a:bodyPr>
          <a:lstStyle/>
          <a:p>
            <a:r>
              <a:rPr lang="en-US" sz="2000" b="1" dirty="0"/>
              <a:t>Definition and Epidemiology</a:t>
            </a:r>
            <a:endParaRPr lang="en-US" sz="2000" dirty="0"/>
          </a:p>
          <a:p>
            <a:pPr lvl="1"/>
            <a:r>
              <a:rPr lang="en-US" sz="2000" dirty="0"/>
              <a:t>Refers to </a:t>
            </a:r>
            <a:r>
              <a:rPr lang="en-US" sz="2000" b="1" dirty="0"/>
              <a:t>ulcerations</a:t>
            </a:r>
            <a:r>
              <a:rPr lang="en-US" sz="2000" dirty="0"/>
              <a:t> in the stomach or duodenum that extend through the</a:t>
            </a:r>
            <a:r>
              <a:rPr lang="en-US" sz="2000" b="1" dirty="0"/>
              <a:t> mucosa </a:t>
            </a:r>
            <a:r>
              <a:rPr lang="en-US" sz="2000" dirty="0"/>
              <a:t>into the </a:t>
            </a:r>
            <a:r>
              <a:rPr lang="en-US" sz="2000" b="1" dirty="0"/>
              <a:t>submucosa</a:t>
            </a:r>
            <a:r>
              <a:rPr lang="en-US" sz="2000" dirty="0"/>
              <a:t> or deeper. </a:t>
            </a:r>
          </a:p>
          <a:p>
            <a:pPr lvl="1"/>
            <a:r>
              <a:rPr lang="en-US" sz="2000" dirty="0"/>
              <a:t>In the US, PUD affects approximately </a:t>
            </a:r>
            <a:r>
              <a:rPr lang="en-US" sz="2000" b="1" dirty="0"/>
              <a:t>1% </a:t>
            </a:r>
            <a:r>
              <a:rPr lang="en-US" sz="2000" dirty="0"/>
              <a:t>of the population, with ~54,000 annual hospitalizations for bleeding ulcers and ~10,000 deaths per year. </a:t>
            </a:r>
            <a:br>
              <a:rPr lang="en-US" sz="2000" dirty="0"/>
            </a:br>
            <a:endParaRPr lang="en-US" sz="2000" dirty="0"/>
          </a:p>
        </p:txBody>
      </p:sp>
      <p:pic>
        <p:nvPicPr>
          <p:cNvPr id="5" name="Picture 4" descr="Human stomach anatomy internal organ 3d rendering | Premium Photo">
            <a:extLst>
              <a:ext uri="{FF2B5EF4-FFF2-40B4-BE49-F238E27FC236}">
                <a16:creationId xmlns:a16="http://schemas.microsoft.com/office/drawing/2014/main" id="{034E1128-42F8-AFB1-F873-422BA1C1691B}"/>
              </a:ext>
            </a:extLst>
          </p:cNvPr>
          <p:cNvPicPr>
            <a:picLocks noChangeAspect="1"/>
          </p:cNvPicPr>
          <p:nvPr/>
        </p:nvPicPr>
        <p:blipFill>
          <a:blip r:embed="rId2"/>
          <a:srcRect l="3795" r="-3" b="-3"/>
          <a:stretch>
            <a:fillRect/>
          </a:stretch>
        </p:blipFill>
        <p:spPr>
          <a:xfrm>
            <a:off x="6880610" y="977843"/>
            <a:ext cx="4737650" cy="4924529"/>
          </a:xfrm>
          <a:prstGeom prst="rect">
            <a:avLst/>
          </a:prstGeom>
        </p:spPr>
      </p:pic>
    </p:spTree>
    <p:extLst>
      <p:ext uri="{BB962C8B-B14F-4D97-AF65-F5344CB8AC3E}">
        <p14:creationId xmlns:p14="http://schemas.microsoft.com/office/powerpoint/2010/main" val="38215630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20E0343-9342-044B-B861-85369D3F2E5B}"/>
              </a:ext>
            </a:extLst>
          </p:cNvPr>
          <p:cNvSpPr>
            <a:spLocks noGrp="1"/>
          </p:cNvSpPr>
          <p:nvPr>
            <p:ph type="title"/>
          </p:nvPr>
        </p:nvSpPr>
        <p:spPr>
          <a:xfrm>
            <a:off x="1137034" y="609600"/>
            <a:ext cx="4784796" cy="1330840"/>
          </a:xfrm>
        </p:spPr>
        <p:txBody>
          <a:bodyPr>
            <a:normAutofit/>
          </a:bodyPr>
          <a:lstStyle/>
          <a:p>
            <a:r>
              <a:rPr lang="en-US"/>
              <a:t>PUD</a:t>
            </a:r>
          </a:p>
        </p:txBody>
      </p:sp>
      <p:sp>
        <p:nvSpPr>
          <p:cNvPr id="3" name="Content Placeholder 2">
            <a:extLst>
              <a:ext uri="{FF2B5EF4-FFF2-40B4-BE49-F238E27FC236}">
                <a16:creationId xmlns:a16="http://schemas.microsoft.com/office/drawing/2014/main" id="{2D3E17D6-CE85-0578-CF3B-943A174FC587}"/>
              </a:ext>
            </a:extLst>
          </p:cNvPr>
          <p:cNvSpPr>
            <a:spLocks noGrp="1"/>
          </p:cNvSpPr>
          <p:nvPr>
            <p:ph idx="1"/>
          </p:nvPr>
        </p:nvSpPr>
        <p:spPr>
          <a:xfrm>
            <a:off x="1137034" y="2194102"/>
            <a:ext cx="4438036" cy="3908585"/>
          </a:xfrm>
        </p:spPr>
        <p:txBody>
          <a:bodyPr>
            <a:normAutofit/>
          </a:bodyPr>
          <a:lstStyle/>
          <a:p>
            <a:r>
              <a:rPr lang="en-US" sz="2000" b="1" dirty="0"/>
              <a:t>Etiology — The "Big Three"</a:t>
            </a:r>
            <a:endParaRPr lang="en-US" sz="2000" dirty="0"/>
          </a:p>
          <a:p>
            <a:pPr lvl="1"/>
            <a:r>
              <a:rPr lang="en-US" sz="2000" b="1" dirty="0"/>
              <a:t>H. pylori infection</a:t>
            </a:r>
            <a:r>
              <a:rPr lang="en-US" sz="2000" dirty="0"/>
              <a:t> (~42% of PUD cases)</a:t>
            </a:r>
          </a:p>
          <a:p>
            <a:pPr lvl="1"/>
            <a:r>
              <a:rPr lang="en-US" sz="2000" b="1" dirty="0"/>
              <a:t>NSAIDs/aspirin</a:t>
            </a:r>
            <a:r>
              <a:rPr lang="en-US" sz="2000" dirty="0"/>
              <a:t> (~36%)</a:t>
            </a:r>
          </a:p>
          <a:p>
            <a:pPr lvl="1"/>
            <a:r>
              <a:rPr lang="en-US" sz="2000" b="1" dirty="0"/>
              <a:t>Idiopathic</a:t>
            </a:r>
            <a:r>
              <a:rPr lang="en-US" sz="2000" dirty="0"/>
              <a:t> (~22%) — no identifiable cause </a:t>
            </a:r>
          </a:p>
          <a:p>
            <a:pPr marL="457200" lvl="1" indent="0">
              <a:buNone/>
            </a:pPr>
            <a:endParaRPr lang="en-US" sz="2000" dirty="0"/>
          </a:p>
          <a:p>
            <a:r>
              <a:rPr lang="en-US" sz="2000" dirty="0"/>
              <a:t>Other contributors include smoking, alcohol, steroids, critical illness (stress ulcers), and rarely </a:t>
            </a:r>
            <a:r>
              <a:rPr lang="en-US" sz="2000" b="1" dirty="0"/>
              <a:t>Zollinger-Ellison syndrome</a:t>
            </a:r>
            <a:r>
              <a:rPr lang="en-US" sz="2000" dirty="0"/>
              <a:t> (rare-gastrin releasing tumors</a:t>
            </a:r>
          </a:p>
        </p:txBody>
      </p:sp>
      <p:pic>
        <p:nvPicPr>
          <p:cNvPr id="5" name="Picture 4" descr="Human stomach anatomy internal organ 3d rendering | Premium Photo">
            <a:extLst>
              <a:ext uri="{FF2B5EF4-FFF2-40B4-BE49-F238E27FC236}">
                <a16:creationId xmlns:a16="http://schemas.microsoft.com/office/drawing/2014/main" id="{205BD355-10EA-6F9F-1283-4D1DC2E40FBB}"/>
              </a:ext>
            </a:extLst>
          </p:cNvPr>
          <p:cNvPicPr>
            <a:picLocks noChangeAspect="1"/>
          </p:cNvPicPr>
          <p:nvPr/>
        </p:nvPicPr>
        <p:blipFill>
          <a:blip r:embed="rId3"/>
          <a:srcRect l="3795" r="-3" b="-3"/>
          <a:stretch>
            <a:fillRect/>
          </a:stretch>
        </p:blipFill>
        <p:spPr>
          <a:xfrm>
            <a:off x="6880610" y="977843"/>
            <a:ext cx="4737650" cy="4924529"/>
          </a:xfrm>
          <a:prstGeom prst="rect">
            <a:avLst/>
          </a:prstGeom>
        </p:spPr>
      </p:pic>
    </p:spTree>
    <p:extLst>
      <p:ext uri="{BB962C8B-B14F-4D97-AF65-F5344CB8AC3E}">
        <p14:creationId xmlns:p14="http://schemas.microsoft.com/office/powerpoint/2010/main" val="36040963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8EC8B37-D7A4-E960-AE20-8A1FB0926DFE}"/>
              </a:ext>
            </a:extLst>
          </p:cNvPr>
          <p:cNvSpPr>
            <a:spLocks noGrp="1"/>
          </p:cNvSpPr>
          <p:nvPr>
            <p:ph type="title"/>
          </p:nvPr>
        </p:nvSpPr>
        <p:spPr>
          <a:xfrm>
            <a:off x="1137034" y="609600"/>
            <a:ext cx="4784796" cy="1330840"/>
          </a:xfrm>
        </p:spPr>
        <p:txBody>
          <a:bodyPr>
            <a:normAutofit/>
          </a:bodyPr>
          <a:lstStyle/>
          <a:p>
            <a:r>
              <a:rPr lang="en-US" dirty="0"/>
              <a:t>PUD</a:t>
            </a:r>
          </a:p>
        </p:txBody>
      </p:sp>
      <p:sp>
        <p:nvSpPr>
          <p:cNvPr id="3" name="Content Placeholder 2">
            <a:extLst>
              <a:ext uri="{FF2B5EF4-FFF2-40B4-BE49-F238E27FC236}">
                <a16:creationId xmlns:a16="http://schemas.microsoft.com/office/drawing/2014/main" id="{33C956F0-B7E5-7607-73DB-5E2E35C06014}"/>
              </a:ext>
            </a:extLst>
          </p:cNvPr>
          <p:cNvSpPr>
            <a:spLocks noGrp="1"/>
          </p:cNvSpPr>
          <p:nvPr>
            <p:ph idx="1"/>
          </p:nvPr>
        </p:nvSpPr>
        <p:spPr>
          <a:xfrm>
            <a:off x="1137034" y="2194102"/>
            <a:ext cx="4438036" cy="3908585"/>
          </a:xfrm>
        </p:spPr>
        <p:txBody>
          <a:bodyPr>
            <a:normAutofit/>
          </a:bodyPr>
          <a:lstStyle/>
          <a:p>
            <a:r>
              <a:rPr lang="en-US" sz="2000" b="1"/>
              <a:t>Pathophysiology</a:t>
            </a:r>
            <a:endParaRPr lang="en-US" sz="2000"/>
          </a:p>
          <a:p>
            <a:pPr lvl="1"/>
            <a:r>
              <a:rPr lang="en-US" sz="2000"/>
              <a:t>PUD results from an imbalance between </a:t>
            </a:r>
            <a:r>
              <a:rPr lang="en-US" sz="2000" b="1"/>
              <a:t>mucosal protective factors</a:t>
            </a:r>
            <a:r>
              <a:rPr lang="en-US" sz="2000"/>
              <a:t> (mucus, bicarbonate, prostaglandins, mucosal blood flow, tight junctions) and </a:t>
            </a:r>
            <a:r>
              <a:rPr lang="en-US" sz="2000" b="1"/>
              <a:t>aggressive factors</a:t>
            </a:r>
            <a:r>
              <a:rPr lang="en-US" sz="2000"/>
              <a:t> (acid, pepsin, H. pylori, NSAIDs).</a:t>
            </a:r>
          </a:p>
          <a:p>
            <a:endParaRPr lang="en-US" sz="2000"/>
          </a:p>
        </p:txBody>
      </p:sp>
      <p:pic>
        <p:nvPicPr>
          <p:cNvPr id="5" name="Picture 4" descr="Human stomach anatomy internal organ 3d rendering | Premium Photo">
            <a:extLst>
              <a:ext uri="{FF2B5EF4-FFF2-40B4-BE49-F238E27FC236}">
                <a16:creationId xmlns:a16="http://schemas.microsoft.com/office/drawing/2014/main" id="{E6646E76-5DD5-ED89-7665-7B7136E5FAAC}"/>
              </a:ext>
            </a:extLst>
          </p:cNvPr>
          <p:cNvPicPr>
            <a:picLocks noChangeAspect="1"/>
          </p:cNvPicPr>
          <p:nvPr/>
        </p:nvPicPr>
        <p:blipFill>
          <a:blip r:embed="rId2"/>
          <a:srcRect l="3795" r="-3" b="-3"/>
          <a:stretch>
            <a:fillRect/>
          </a:stretch>
        </p:blipFill>
        <p:spPr>
          <a:xfrm>
            <a:off x="6880610" y="977843"/>
            <a:ext cx="4737650" cy="4924529"/>
          </a:xfrm>
          <a:prstGeom prst="rect">
            <a:avLst/>
          </a:prstGeom>
        </p:spPr>
      </p:pic>
    </p:spTree>
    <p:extLst>
      <p:ext uri="{BB962C8B-B14F-4D97-AF65-F5344CB8AC3E}">
        <p14:creationId xmlns:p14="http://schemas.microsoft.com/office/powerpoint/2010/main" val="38732953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88FE9-E7B1-45C5-8128-945D18A831F1}"/>
              </a:ext>
            </a:extLst>
          </p:cNvPr>
          <p:cNvSpPr>
            <a:spLocks noGrp="1"/>
          </p:cNvSpPr>
          <p:nvPr>
            <p:ph type="title"/>
          </p:nvPr>
        </p:nvSpPr>
        <p:spPr/>
        <p:txBody>
          <a:bodyPr/>
          <a:lstStyle/>
          <a:p>
            <a:r>
              <a:rPr lang="en-US" dirty="0"/>
              <a:t>The Gastric Mucosal Barrier and the Pathogenesis of Peptic Ulcer Disease</a:t>
            </a:r>
          </a:p>
        </p:txBody>
      </p:sp>
      <p:pic>
        <p:nvPicPr>
          <p:cNvPr id="4" name="Content Placeholder 3">
            <a:extLst>
              <a:ext uri="{FF2B5EF4-FFF2-40B4-BE49-F238E27FC236}">
                <a16:creationId xmlns:a16="http://schemas.microsoft.com/office/drawing/2014/main" id="{96DD6B1E-4BAF-DB1E-E054-F80BC29CF2DF}"/>
              </a:ext>
            </a:extLst>
          </p:cNvPr>
          <p:cNvPicPr>
            <a:picLocks noGrp="1" noChangeAspect="1"/>
          </p:cNvPicPr>
          <p:nvPr>
            <p:ph idx="1"/>
          </p:nvPr>
        </p:nvPicPr>
        <p:blipFill>
          <a:blip r:embed="rId3"/>
          <a:stretch>
            <a:fillRect/>
          </a:stretch>
        </p:blipFill>
        <p:spPr>
          <a:xfrm>
            <a:off x="1929284" y="1805528"/>
            <a:ext cx="7988439" cy="4776142"/>
          </a:xfrm>
          <a:prstGeom prst="rect">
            <a:avLst/>
          </a:prstGeom>
        </p:spPr>
      </p:pic>
    </p:spTree>
    <p:extLst>
      <p:ext uri="{BB962C8B-B14F-4D97-AF65-F5344CB8AC3E}">
        <p14:creationId xmlns:p14="http://schemas.microsoft.com/office/powerpoint/2010/main" val="1723552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5C3841C-570A-9082-D822-C9620B35FFDA}"/>
              </a:ext>
            </a:extLst>
          </p:cNvPr>
          <p:cNvSpPr>
            <a:spLocks noGrp="1"/>
          </p:cNvSpPr>
          <p:nvPr>
            <p:ph type="title"/>
          </p:nvPr>
        </p:nvSpPr>
        <p:spPr>
          <a:xfrm>
            <a:off x="1137034" y="609600"/>
            <a:ext cx="4784796" cy="1330840"/>
          </a:xfrm>
        </p:spPr>
        <p:txBody>
          <a:bodyPr>
            <a:normAutofit/>
          </a:bodyPr>
          <a:lstStyle/>
          <a:p>
            <a:r>
              <a:rPr lang="en-US" dirty="0"/>
              <a:t>Key mechanisms</a:t>
            </a:r>
          </a:p>
        </p:txBody>
      </p:sp>
      <p:sp>
        <p:nvSpPr>
          <p:cNvPr id="3" name="Content Placeholder 2">
            <a:extLst>
              <a:ext uri="{FF2B5EF4-FFF2-40B4-BE49-F238E27FC236}">
                <a16:creationId xmlns:a16="http://schemas.microsoft.com/office/drawing/2014/main" id="{70B691A9-6845-8A55-2B1B-A614B94E4384}"/>
              </a:ext>
            </a:extLst>
          </p:cNvPr>
          <p:cNvSpPr>
            <a:spLocks noGrp="1"/>
          </p:cNvSpPr>
          <p:nvPr>
            <p:ph idx="1"/>
          </p:nvPr>
        </p:nvSpPr>
        <p:spPr>
          <a:xfrm>
            <a:off x="1137034" y="2194102"/>
            <a:ext cx="4438036" cy="3908585"/>
          </a:xfrm>
        </p:spPr>
        <p:txBody>
          <a:bodyPr>
            <a:normAutofit/>
          </a:bodyPr>
          <a:lstStyle/>
          <a:p>
            <a:r>
              <a:rPr lang="en-US" sz="1700" b="1" dirty="0"/>
              <a:t>H. pylori</a:t>
            </a:r>
            <a:r>
              <a:rPr lang="en-US" sz="1700" dirty="0"/>
              <a:t>: A flagellated, urease-producing bacterium that colonizes the gastric mucosa. </a:t>
            </a:r>
          </a:p>
          <a:p>
            <a:pPr lvl="1"/>
            <a:r>
              <a:rPr lang="en-US" sz="1700" dirty="0"/>
              <a:t>-It disrupts tight junctions, triggers chronic inflammation, and alters acid regulation. </a:t>
            </a:r>
          </a:p>
          <a:p>
            <a:r>
              <a:rPr lang="en-US" sz="1700" b="1" dirty="0"/>
              <a:t>NSAIDs</a:t>
            </a:r>
            <a:r>
              <a:rPr lang="en-US" sz="1700" dirty="0"/>
              <a:t>: Inhibit </a:t>
            </a:r>
            <a:r>
              <a:rPr lang="en-US" sz="1700" b="1" dirty="0"/>
              <a:t>COX-1</a:t>
            </a:r>
            <a:r>
              <a:rPr lang="en-US" sz="1700" dirty="0"/>
              <a:t>, reducing prostaglandin synthesis → decreased mucus/bicarbonate secretion, impaired mucosal blood flow, and reduced epithelial regeneration. </a:t>
            </a:r>
          </a:p>
          <a:p>
            <a:pPr lvl="1"/>
            <a:r>
              <a:rPr lang="en-US" sz="1700" dirty="0"/>
              <a:t>also suppress pain pathways, making NSAID-induced ulcers more likely to be </a:t>
            </a:r>
            <a:r>
              <a:rPr lang="en-US" sz="1700" b="1" dirty="0"/>
              <a:t>asymptomatic</a:t>
            </a:r>
            <a:r>
              <a:rPr lang="en-US" sz="1700" dirty="0"/>
              <a:t> and present with complications</a:t>
            </a:r>
          </a:p>
          <a:p>
            <a:endParaRPr lang="en-US" sz="1700" dirty="0"/>
          </a:p>
        </p:txBody>
      </p:sp>
      <p:pic>
        <p:nvPicPr>
          <p:cNvPr id="5" name="Picture 4" descr="Human stomach anatomy internal organ 3d rendering | Premium Photo">
            <a:extLst>
              <a:ext uri="{FF2B5EF4-FFF2-40B4-BE49-F238E27FC236}">
                <a16:creationId xmlns:a16="http://schemas.microsoft.com/office/drawing/2014/main" id="{F94F6895-F2FB-4725-8FEB-D8E20C6AADEC}"/>
              </a:ext>
            </a:extLst>
          </p:cNvPr>
          <p:cNvPicPr>
            <a:picLocks noChangeAspect="1"/>
          </p:cNvPicPr>
          <p:nvPr/>
        </p:nvPicPr>
        <p:blipFill>
          <a:blip r:embed="rId3"/>
          <a:srcRect l="3795" r="-3" b="-3"/>
          <a:stretch>
            <a:fillRect/>
          </a:stretch>
        </p:blipFill>
        <p:spPr>
          <a:xfrm>
            <a:off x="6880610" y="977843"/>
            <a:ext cx="4737650" cy="4924529"/>
          </a:xfrm>
          <a:prstGeom prst="rect">
            <a:avLst/>
          </a:prstGeom>
        </p:spPr>
      </p:pic>
    </p:spTree>
    <p:extLst>
      <p:ext uri="{BB962C8B-B14F-4D97-AF65-F5344CB8AC3E}">
        <p14:creationId xmlns:p14="http://schemas.microsoft.com/office/powerpoint/2010/main" val="6870035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741393E-C764-4C6F-8886-35CFF2E483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90890DC-37FF-4B49-BD4C-FE4232F69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52708" cy="6858000"/>
          </a:xfrm>
          <a:custGeom>
            <a:avLst/>
            <a:gdLst>
              <a:gd name="connsiteX0" fmla="*/ 0 w 5552708"/>
              <a:gd name="connsiteY0" fmla="*/ 0 h 6858000"/>
              <a:gd name="connsiteX1" fmla="*/ 5443651 w 5552708"/>
              <a:gd name="connsiteY1" fmla="*/ 0 h 6858000"/>
              <a:gd name="connsiteX2" fmla="*/ 5443781 w 5552708"/>
              <a:gd name="connsiteY2" fmla="*/ 512 h 6858000"/>
              <a:gd name="connsiteX3" fmla="*/ 5444033 w 5552708"/>
              <a:gd name="connsiteY3" fmla="*/ 20501 h 6858000"/>
              <a:gd name="connsiteX4" fmla="*/ 5439390 w 5552708"/>
              <a:gd name="connsiteY4" fmla="*/ 44768 h 6858000"/>
              <a:gd name="connsiteX5" fmla="*/ 5443913 w 5552708"/>
              <a:gd name="connsiteY5" fmla="*/ 104988 h 6858000"/>
              <a:gd name="connsiteX6" fmla="*/ 5458241 w 5552708"/>
              <a:gd name="connsiteY6" fmla="*/ 204162 h 6858000"/>
              <a:gd name="connsiteX7" fmla="*/ 5459763 w 5552708"/>
              <a:gd name="connsiteY7" fmla="*/ 225360 h 6858000"/>
              <a:gd name="connsiteX8" fmla="*/ 5454996 w 5552708"/>
              <a:gd name="connsiteY8" fmla="*/ 243902 h 6858000"/>
              <a:gd name="connsiteX9" fmla="*/ 5448597 w 5552708"/>
              <a:gd name="connsiteY9" fmla="*/ 248483 h 6858000"/>
              <a:gd name="connsiteX10" fmla="*/ 5448458 w 5552708"/>
              <a:gd name="connsiteY10" fmla="*/ 260196 h 6858000"/>
              <a:gd name="connsiteX11" fmla="*/ 5447150 w 5552708"/>
              <a:gd name="connsiteY11" fmla="*/ 263377 h 6858000"/>
              <a:gd name="connsiteX12" fmla="*/ 5459187 w 5552708"/>
              <a:gd name="connsiteY12" fmla="*/ 318691 h 6858000"/>
              <a:gd name="connsiteX13" fmla="*/ 5455708 w 5552708"/>
              <a:gd name="connsiteY13" fmla="*/ 365759 h 6858000"/>
              <a:gd name="connsiteX14" fmla="*/ 5473651 w 5552708"/>
              <a:gd name="connsiteY14" fmla="*/ 492182 h 6858000"/>
              <a:gd name="connsiteX15" fmla="*/ 5481453 w 5552708"/>
              <a:gd name="connsiteY15" fmla="*/ 689666 h 6858000"/>
              <a:gd name="connsiteX16" fmla="*/ 5488233 w 5552708"/>
              <a:gd name="connsiteY16" fmla="*/ 816332 h 6858000"/>
              <a:gd name="connsiteX17" fmla="*/ 5529718 w 5552708"/>
              <a:gd name="connsiteY17" fmla="*/ 891550 h 6858000"/>
              <a:gd name="connsiteX18" fmla="*/ 5536104 w 5552708"/>
              <a:gd name="connsiteY18" fmla="*/ 903318 h 6858000"/>
              <a:gd name="connsiteX19" fmla="*/ 5535257 w 5552708"/>
              <a:gd name="connsiteY19" fmla="*/ 905308 h 6858000"/>
              <a:gd name="connsiteX20" fmla="*/ 5537840 w 5552708"/>
              <a:gd name="connsiteY20" fmla="*/ 920621 h 6858000"/>
              <a:gd name="connsiteX21" fmla="*/ 5541663 w 5552708"/>
              <a:gd name="connsiteY21" fmla="*/ 922876 h 6858000"/>
              <a:gd name="connsiteX22" fmla="*/ 5544456 w 5552708"/>
              <a:gd name="connsiteY22" fmla="*/ 933037 h 6858000"/>
              <a:gd name="connsiteX23" fmla="*/ 5552708 w 5552708"/>
              <a:gd name="connsiteY23" fmla="*/ 952132 h 6858000"/>
              <a:gd name="connsiteX24" fmla="*/ 5551675 w 5552708"/>
              <a:gd name="connsiteY24" fmla="*/ 956570 h 6858000"/>
              <a:gd name="connsiteX25" fmla="*/ 5531341 w 5552708"/>
              <a:gd name="connsiteY25" fmla="*/ 1064863 h 6858000"/>
              <a:gd name="connsiteX26" fmla="*/ 5539998 w 5552708"/>
              <a:gd name="connsiteY26" fmla="*/ 1096340 h 6858000"/>
              <a:gd name="connsiteX27" fmla="*/ 5541075 w 5552708"/>
              <a:gd name="connsiteY27" fmla="*/ 1102915 h 6858000"/>
              <a:gd name="connsiteX28" fmla="*/ 5540822 w 5552708"/>
              <a:gd name="connsiteY28" fmla="*/ 1103143 h 6858000"/>
              <a:gd name="connsiteX29" fmla="*/ 5541413 w 5552708"/>
              <a:gd name="connsiteY29" fmla="*/ 1110274 h 6858000"/>
              <a:gd name="connsiteX30" fmla="*/ 5543038 w 5552708"/>
              <a:gd name="connsiteY30" fmla="*/ 1114901 h 6858000"/>
              <a:gd name="connsiteX31" fmla="*/ 5545128 w 5552708"/>
              <a:gd name="connsiteY31" fmla="*/ 1127652 h 6858000"/>
              <a:gd name="connsiteX32" fmla="*/ 5544028 w 5552708"/>
              <a:gd name="connsiteY32" fmla="*/ 1132698 h 6858000"/>
              <a:gd name="connsiteX33" fmla="*/ 5514811 w 5552708"/>
              <a:gd name="connsiteY33" fmla="*/ 1177140 h 6858000"/>
              <a:gd name="connsiteX34" fmla="*/ 5496402 w 5552708"/>
              <a:gd name="connsiteY34" fmla="*/ 1265293 h 6858000"/>
              <a:gd name="connsiteX35" fmla="*/ 5481620 w 5552708"/>
              <a:gd name="connsiteY35" fmla="*/ 1353039 h 6858000"/>
              <a:gd name="connsiteX36" fmla="*/ 5477938 w 5552708"/>
              <a:gd name="connsiteY36" fmla="*/ 1385038 h 6858000"/>
              <a:gd name="connsiteX37" fmla="*/ 5464009 w 5552708"/>
              <a:gd name="connsiteY37" fmla="*/ 1441067 h 6858000"/>
              <a:gd name="connsiteX38" fmla="*/ 5453063 w 5552708"/>
              <a:gd name="connsiteY38" fmla="*/ 1466104 h 6858000"/>
              <a:gd name="connsiteX39" fmla="*/ 5453368 w 5552708"/>
              <a:gd name="connsiteY39" fmla="*/ 1467310 h 6858000"/>
              <a:gd name="connsiteX40" fmla="*/ 5449849 w 5552708"/>
              <a:gd name="connsiteY40" fmla="*/ 1469198 h 6858000"/>
              <a:gd name="connsiteX41" fmla="*/ 5447717 w 5552708"/>
              <a:gd name="connsiteY41" fmla="*/ 1473816 h 6858000"/>
              <a:gd name="connsiteX42" fmla="*/ 5446906 w 5552708"/>
              <a:gd name="connsiteY42" fmla="*/ 1487106 h 6858000"/>
              <a:gd name="connsiteX43" fmla="*/ 5447429 w 5552708"/>
              <a:gd name="connsiteY43" fmla="*/ 1492218 h 6858000"/>
              <a:gd name="connsiteX44" fmla="*/ 5446434 w 5552708"/>
              <a:gd name="connsiteY44" fmla="*/ 1499455 h 6858000"/>
              <a:gd name="connsiteX45" fmla="*/ 5446146 w 5552708"/>
              <a:gd name="connsiteY45" fmla="*/ 1499600 h 6858000"/>
              <a:gd name="connsiteX46" fmla="*/ 5445728 w 5552708"/>
              <a:gd name="connsiteY46" fmla="*/ 1506449 h 6858000"/>
              <a:gd name="connsiteX47" fmla="*/ 5447013 w 5552708"/>
              <a:gd name="connsiteY47" fmla="*/ 1540420 h 6858000"/>
              <a:gd name="connsiteX48" fmla="*/ 5416036 w 5552708"/>
              <a:gd name="connsiteY48" fmla="*/ 1580834 h 6858000"/>
              <a:gd name="connsiteX49" fmla="*/ 5409252 w 5552708"/>
              <a:gd name="connsiteY49" fmla="*/ 1598373 h 6858000"/>
              <a:gd name="connsiteX50" fmla="*/ 5404223 w 5552708"/>
              <a:gd name="connsiteY50" fmla="*/ 1607549 h 6858000"/>
              <a:gd name="connsiteX51" fmla="*/ 5403003 w 5552708"/>
              <a:gd name="connsiteY51" fmla="*/ 1607994 h 6858000"/>
              <a:gd name="connsiteX52" fmla="*/ 5404366 w 5552708"/>
              <a:gd name="connsiteY52" fmla="*/ 1640580 h 6858000"/>
              <a:gd name="connsiteX53" fmla="*/ 5402429 w 5552708"/>
              <a:gd name="connsiteY53" fmla="*/ 1644617 h 6858000"/>
              <a:gd name="connsiteX54" fmla="*/ 5406027 w 5552708"/>
              <a:gd name="connsiteY54" fmla="*/ 1666228 h 6858000"/>
              <a:gd name="connsiteX55" fmla="*/ 5409538 w 5552708"/>
              <a:gd name="connsiteY55" fmla="*/ 1680703 h 6858000"/>
              <a:gd name="connsiteX56" fmla="*/ 5405582 w 5552708"/>
              <a:gd name="connsiteY56" fmla="*/ 1870222 h 6858000"/>
              <a:gd name="connsiteX57" fmla="*/ 5418948 w 5552708"/>
              <a:gd name="connsiteY57" fmla="*/ 1979530 h 6858000"/>
              <a:gd name="connsiteX58" fmla="*/ 5405060 w 5552708"/>
              <a:gd name="connsiteY58" fmla="*/ 2051964 h 6858000"/>
              <a:gd name="connsiteX59" fmla="*/ 5378701 w 5552708"/>
              <a:gd name="connsiteY59" fmla="*/ 2073120 h 6858000"/>
              <a:gd name="connsiteX60" fmla="*/ 5366006 w 5552708"/>
              <a:gd name="connsiteY60" fmla="*/ 2256053 h 6858000"/>
              <a:gd name="connsiteX61" fmla="*/ 5352501 w 5552708"/>
              <a:gd name="connsiteY61" fmla="*/ 2301374 h 6858000"/>
              <a:gd name="connsiteX62" fmla="*/ 5361572 w 5552708"/>
              <a:gd name="connsiteY62" fmla="*/ 2344135 h 6858000"/>
              <a:gd name="connsiteX63" fmla="*/ 5351776 w 5552708"/>
              <a:gd name="connsiteY63" fmla="*/ 2360013 h 6858000"/>
              <a:gd name="connsiteX64" fmla="*/ 5349856 w 5552708"/>
              <a:gd name="connsiteY64" fmla="*/ 2362723 h 6858000"/>
              <a:gd name="connsiteX65" fmla="*/ 5347182 w 5552708"/>
              <a:gd name="connsiteY65" fmla="*/ 2374239 h 6858000"/>
              <a:gd name="connsiteX66" fmla="*/ 5340172 w 5552708"/>
              <a:gd name="connsiteY66" fmla="*/ 2376629 h 6858000"/>
              <a:gd name="connsiteX67" fmla="*/ 5331662 w 5552708"/>
              <a:gd name="connsiteY67" fmla="*/ 2393351 h 6858000"/>
              <a:gd name="connsiteX68" fmla="*/ 5328482 w 5552708"/>
              <a:gd name="connsiteY68" fmla="*/ 2414790 h 6858000"/>
              <a:gd name="connsiteX69" fmla="*/ 5316501 w 5552708"/>
              <a:gd name="connsiteY69" fmla="*/ 2490864 h 6858000"/>
              <a:gd name="connsiteX70" fmla="*/ 5318378 w 5552708"/>
              <a:gd name="connsiteY70" fmla="*/ 2503797 h 6858000"/>
              <a:gd name="connsiteX71" fmla="*/ 5307008 w 5552708"/>
              <a:gd name="connsiteY71" fmla="*/ 2543608 h 6858000"/>
              <a:gd name="connsiteX72" fmla="*/ 5300817 w 5552708"/>
              <a:gd name="connsiteY72" fmla="*/ 2579627 h 6858000"/>
              <a:gd name="connsiteX73" fmla="*/ 5300491 w 5552708"/>
              <a:gd name="connsiteY73" fmla="*/ 2603469 h 6858000"/>
              <a:gd name="connsiteX74" fmla="*/ 5297327 w 5552708"/>
              <a:gd name="connsiteY74" fmla="*/ 2609298 h 6858000"/>
              <a:gd name="connsiteX75" fmla="*/ 5292648 w 5552708"/>
              <a:gd name="connsiteY75" fmla="*/ 2632709 h 6858000"/>
              <a:gd name="connsiteX76" fmla="*/ 5294499 w 5552708"/>
              <a:gd name="connsiteY76" fmla="*/ 2645215 h 6858000"/>
              <a:gd name="connsiteX77" fmla="*/ 5284921 w 5552708"/>
              <a:gd name="connsiteY77" fmla="*/ 2655995 h 6858000"/>
              <a:gd name="connsiteX78" fmla="*/ 5278681 w 5552708"/>
              <a:gd name="connsiteY78" fmla="*/ 2658097 h 6858000"/>
              <a:gd name="connsiteX79" fmla="*/ 5279052 w 5552708"/>
              <a:gd name="connsiteY79" fmla="*/ 2675265 h 6858000"/>
              <a:gd name="connsiteX80" fmla="*/ 5271485 w 5552708"/>
              <a:gd name="connsiteY80" fmla="*/ 2688260 h 6858000"/>
              <a:gd name="connsiteX81" fmla="*/ 5273609 w 5552708"/>
              <a:gd name="connsiteY81" fmla="*/ 2700785 h 6858000"/>
              <a:gd name="connsiteX82" fmla="*/ 5272098 w 5552708"/>
              <a:gd name="connsiteY82" fmla="*/ 2705655 h 6858000"/>
              <a:gd name="connsiteX83" fmla="*/ 5267605 w 5552708"/>
              <a:gd name="connsiteY83" fmla="*/ 2717660 h 6858000"/>
              <a:gd name="connsiteX84" fmla="*/ 5258449 w 5552708"/>
              <a:gd name="connsiteY84" fmla="*/ 2738177 h 6858000"/>
              <a:gd name="connsiteX85" fmla="*/ 5256679 w 5552708"/>
              <a:gd name="connsiteY85" fmla="*/ 2744727 h 6858000"/>
              <a:gd name="connsiteX86" fmla="*/ 5245116 w 5552708"/>
              <a:gd name="connsiteY86" fmla="*/ 2757932 h 6858000"/>
              <a:gd name="connsiteX87" fmla="*/ 5233122 w 5552708"/>
              <a:gd name="connsiteY87" fmla="*/ 2784915 h 6858000"/>
              <a:gd name="connsiteX88" fmla="*/ 5197792 w 5552708"/>
              <a:gd name="connsiteY88" fmla="*/ 2830475 h 6858000"/>
              <a:gd name="connsiteX89" fmla="*/ 5180199 w 5552708"/>
              <a:gd name="connsiteY89" fmla="*/ 2857691 h 6858000"/>
              <a:gd name="connsiteX90" fmla="*/ 5164940 w 5552708"/>
              <a:gd name="connsiteY90" fmla="*/ 2875644 h 6858000"/>
              <a:gd name="connsiteX91" fmla="*/ 5139323 w 5552708"/>
              <a:gd name="connsiteY91" fmla="*/ 2931296 h 6858000"/>
              <a:gd name="connsiteX92" fmla="*/ 5102390 w 5552708"/>
              <a:gd name="connsiteY92" fmla="*/ 3027705 h 6858000"/>
              <a:gd name="connsiteX93" fmla="*/ 5093321 w 5552708"/>
              <a:gd name="connsiteY93" fmla="*/ 3047244 h 6858000"/>
              <a:gd name="connsiteX94" fmla="*/ 5080729 w 5552708"/>
              <a:gd name="connsiteY94" fmla="*/ 3060118 h 6858000"/>
              <a:gd name="connsiteX95" fmla="*/ 5073626 w 5552708"/>
              <a:gd name="connsiteY95" fmla="*/ 3059690 h 6858000"/>
              <a:gd name="connsiteX96" fmla="*/ 5067867 w 5552708"/>
              <a:gd name="connsiteY96" fmla="*/ 3069806 h 6858000"/>
              <a:gd name="connsiteX97" fmla="*/ 5065335 w 5552708"/>
              <a:gd name="connsiteY97" fmla="*/ 3071678 h 6858000"/>
              <a:gd name="connsiteX98" fmla="*/ 5051806 w 5552708"/>
              <a:gd name="connsiteY98" fmla="*/ 3083233 h 6858000"/>
              <a:gd name="connsiteX99" fmla="*/ 5047824 w 5552708"/>
              <a:gd name="connsiteY99" fmla="*/ 3128247 h 6858000"/>
              <a:gd name="connsiteX100" fmla="*/ 5022444 w 5552708"/>
              <a:gd name="connsiteY100" fmla="*/ 3166893 h 6858000"/>
              <a:gd name="connsiteX101" fmla="*/ 4961916 w 5552708"/>
              <a:gd name="connsiteY101" fmla="*/ 3312149 h 6858000"/>
              <a:gd name="connsiteX102" fmla="*/ 4928070 w 5552708"/>
              <a:gd name="connsiteY102" fmla="*/ 3349450 h 6858000"/>
              <a:gd name="connsiteX103" fmla="*/ 4858652 w 5552708"/>
              <a:gd name="connsiteY103" fmla="*/ 3443841 h 6858000"/>
              <a:gd name="connsiteX104" fmla="*/ 4821392 w 5552708"/>
              <a:gd name="connsiteY104" fmla="*/ 3661714 h 6858000"/>
              <a:gd name="connsiteX105" fmla="*/ 4825147 w 5552708"/>
              <a:gd name="connsiteY105" fmla="*/ 3676668 h 6858000"/>
              <a:gd name="connsiteX106" fmla="*/ 4824341 w 5552708"/>
              <a:gd name="connsiteY106" fmla="*/ 3691352 h 6858000"/>
              <a:gd name="connsiteX107" fmla="*/ 4822735 w 5552708"/>
              <a:gd name="connsiteY107" fmla="*/ 3692500 h 6858000"/>
              <a:gd name="connsiteX108" fmla="*/ 4817318 w 5552708"/>
              <a:gd name="connsiteY108" fmla="*/ 3707640 h 6858000"/>
              <a:gd name="connsiteX109" fmla="*/ 4819146 w 5552708"/>
              <a:gd name="connsiteY109" fmla="*/ 3712253 h 6858000"/>
              <a:gd name="connsiteX110" fmla="*/ 4816373 w 5552708"/>
              <a:gd name="connsiteY110" fmla="*/ 3723048 h 6858000"/>
              <a:gd name="connsiteX111" fmla="*/ 4813460 w 5552708"/>
              <a:gd name="connsiteY111" fmla="*/ 3745409 h 6858000"/>
              <a:gd name="connsiteX112" fmla="*/ 4810527 w 5552708"/>
              <a:gd name="connsiteY112" fmla="*/ 3748566 h 6858000"/>
              <a:gd name="connsiteX113" fmla="*/ 4742720 w 5552708"/>
              <a:gd name="connsiteY113" fmla="*/ 3828954 h 6858000"/>
              <a:gd name="connsiteX114" fmla="*/ 4731784 w 5552708"/>
              <a:gd name="connsiteY114" fmla="*/ 3868871 h 6858000"/>
              <a:gd name="connsiteX115" fmla="*/ 4731481 w 5552708"/>
              <a:gd name="connsiteY115" fmla="*/ 3868898 h 6858000"/>
              <a:gd name="connsiteX116" fmla="*/ 4728490 w 5552708"/>
              <a:gd name="connsiteY116" fmla="*/ 3875525 h 6858000"/>
              <a:gd name="connsiteX117" fmla="*/ 4727500 w 5552708"/>
              <a:gd name="connsiteY117" fmla="*/ 3880683 h 6858000"/>
              <a:gd name="connsiteX118" fmla="*/ 4719663 w 5552708"/>
              <a:gd name="connsiteY118" fmla="*/ 3896892 h 6858000"/>
              <a:gd name="connsiteX119" fmla="*/ 4715899 w 5552708"/>
              <a:gd name="connsiteY119" fmla="*/ 3897345 h 6858000"/>
              <a:gd name="connsiteX120" fmla="*/ 4715832 w 5552708"/>
              <a:gd name="connsiteY120" fmla="*/ 3898632 h 6858000"/>
              <a:gd name="connsiteX121" fmla="*/ 4618476 w 5552708"/>
              <a:gd name="connsiteY121" fmla="*/ 4076334 h 6858000"/>
              <a:gd name="connsiteX122" fmla="*/ 4576303 w 5552708"/>
              <a:gd name="connsiteY122" fmla="*/ 4154580 h 6858000"/>
              <a:gd name="connsiteX123" fmla="*/ 4536795 w 5552708"/>
              <a:gd name="connsiteY123" fmla="*/ 4186216 h 6858000"/>
              <a:gd name="connsiteX124" fmla="*/ 4534335 w 5552708"/>
              <a:gd name="connsiteY124" fmla="*/ 4190678 h 6858000"/>
              <a:gd name="connsiteX125" fmla="*/ 4532585 w 5552708"/>
              <a:gd name="connsiteY125" fmla="*/ 4203860 h 6858000"/>
              <a:gd name="connsiteX126" fmla="*/ 4532745 w 5552708"/>
              <a:gd name="connsiteY126" fmla="*/ 4208983 h 6858000"/>
              <a:gd name="connsiteX127" fmla="*/ 4531239 w 5552708"/>
              <a:gd name="connsiteY127" fmla="*/ 4216126 h 6858000"/>
              <a:gd name="connsiteX128" fmla="*/ 4530941 w 5552708"/>
              <a:gd name="connsiteY128" fmla="*/ 4216251 h 6858000"/>
              <a:gd name="connsiteX129" fmla="*/ 4530039 w 5552708"/>
              <a:gd name="connsiteY129" fmla="*/ 4223045 h 6858000"/>
              <a:gd name="connsiteX130" fmla="*/ 4528920 w 5552708"/>
              <a:gd name="connsiteY130" fmla="*/ 4256957 h 6858000"/>
              <a:gd name="connsiteX131" fmla="*/ 4495092 w 5552708"/>
              <a:gd name="connsiteY131" fmla="*/ 4295227 h 6858000"/>
              <a:gd name="connsiteX132" fmla="*/ 4487069 w 5552708"/>
              <a:gd name="connsiteY132" fmla="*/ 4312260 h 6858000"/>
              <a:gd name="connsiteX133" fmla="*/ 4481391 w 5552708"/>
              <a:gd name="connsiteY133" fmla="*/ 4321074 h 6858000"/>
              <a:gd name="connsiteX134" fmla="*/ 4480140 w 5552708"/>
              <a:gd name="connsiteY134" fmla="*/ 4321443 h 6858000"/>
              <a:gd name="connsiteX135" fmla="*/ 4479199 w 5552708"/>
              <a:gd name="connsiteY135" fmla="*/ 4353976 h 6858000"/>
              <a:gd name="connsiteX136" fmla="*/ 4476976 w 5552708"/>
              <a:gd name="connsiteY136" fmla="*/ 4357874 h 6858000"/>
              <a:gd name="connsiteX137" fmla="*/ 4479044 w 5552708"/>
              <a:gd name="connsiteY137" fmla="*/ 4379621 h 6858000"/>
              <a:gd name="connsiteX138" fmla="*/ 4478683 w 5552708"/>
              <a:gd name="connsiteY138" fmla="*/ 4390568 h 6858000"/>
              <a:gd name="connsiteX139" fmla="*/ 4481532 w 5552708"/>
              <a:gd name="connsiteY139" fmla="*/ 4394254 h 6858000"/>
              <a:gd name="connsiteX140" fmla="*/ 4479499 w 5552708"/>
              <a:gd name="connsiteY140" fmla="*/ 4410114 h 6858000"/>
              <a:gd name="connsiteX141" fmla="*/ 4478153 w 5552708"/>
              <a:gd name="connsiteY141" fmla="*/ 4411710 h 6858000"/>
              <a:gd name="connsiteX142" fmla="*/ 4480616 w 5552708"/>
              <a:gd name="connsiteY142" fmla="*/ 4425622 h 6858000"/>
              <a:gd name="connsiteX143" fmla="*/ 4487688 w 5552708"/>
              <a:gd name="connsiteY143" fmla="*/ 4438292 h 6858000"/>
              <a:gd name="connsiteX144" fmla="*/ 4454727 w 5552708"/>
              <a:gd name="connsiteY144" fmla="*/ 4569970 h 6858000"/>
              <a:gd name="connsiteX145" fmla="*/ 4469804 w 5552708"/>
              <a:gd name="connsiteY145" fmla="*/ 4692415 h 6858000"/>
              <a:gd name="connsiteX146" fmla="*/ 4450795 w 5552708"/>
              <a:gd name="connsiteY146" fmla="*/ 4763659 h 6858000"/>
              <a:gd name="connsiteX147" fmla="*/ 4422945 w 5552708"/>
              <a:gd name="connsiteY147" fmla="*/ 4783049 h 6858000"/>
              <a:gd name="connsiteX148" fmla="*/ 4397314 w 5552708"/>
              <a:gd name="connsiteY148" fmla="*/ 4964397 h 6858000"/>
              <a:gd name="connsiteX149" fmla="*/ 4380606 w 5552708"/>
              <a:gd name="connsiteY149" fmla="*/ 5008665 h 6858000"/>
              <a:gd name="connsiteX150" fmla="*/ 4386649 w 5552708"/>
              <a:gd name="connsiteY150" fmla="*/ 5051823 h 6858000"/>
              <a:gd name="connsiteX151" fmla="*/ 4375733 w 5552708"/>
              <a:gd name="connsiteY151" fmla="*/ 5067011 h 6858000"/>
              <a:gd name="connsiteX152" fmla="*/ 4373624 w 5552708"/>
              <a:gd name="connsiteY152" fmla="*/ 5069584 h 6858000"/>
              <a:gd name="connsiteX153" fmla="*/ 4370134 w 5552708"/>
              <a:gd name="connsiteY153" fmla="*/ 5080883 h 6858000"/>
              <a:gd name="connsiteX154" fmla="*/ 4362957 w 5552708"/>
              <a:gd name="connsiteY154" fmla="*/ 5082819 h 6858000"/>
              <a:gd name="connsiteX155" fmla="*/ 4333195 w 5552708"/>
              <a:gd name="connsiteY155" fmla="*/ 5221840 h 6858000"/>
              <a:gd name="connsiteX156" fmla="*/ 4320037 w 5552708"/>
              <a:gd name="connsiteY156" fmla="*/ 5281999 h 6858000"/>
              <a:gd name="connsiteX157" fmla="*/ 4308816 w 5552708"/>
              <a:gd name="connsiteY157" fmla="*/ 5303704 h 6858000"/>
              <a:gd name="connsiteX158" fmla="*/ 4272244 w 5552708"/>
              <a:gd name="connsiteY158" fmla="*/ 5388756 h 6858000"/>
              <a:gd name="connsiteX159" fmla="*/ 4246915 w 5552708"/>
              <a:gd name="connsiteY159" fmla="*/ 5462809 h 6858000"/>
              <a:gd name="connsiteX160" fmla="*/ 4255030 w 5552708"/>
              <a:gd name="connsiteY160" fmla="*/ 5521632 h 6858000"/>
              <a:gd name="connsiteX161" fmla="*/ 4249277 w 5552708"/>
              <a:gd name="connsiteY161" fmla="*/ 5525636 h 6858000"/>
              <a:gd name="connsiteX162" fmla="*/ 4241924 w 5552708"/>
              <a:gd name="connsiteY162" fmla="*/ 5563850 h 6858000"/>
              <a:gd name="connsiteX163" fmla="*/ 4248240 w 5552708"/>
              <a:gd name="connsiteY163" fmla="*/ 5703386 h 6858000"/>
              <a:gd name="connsiteX164" fmla="*/ 4232982 w 5552708"/>
              <a:gd name="connsiteY164" fmla="*/ 5777907 h 6858000"/>
              <a:gd name="connsiteX165" fmla="*/ 4222394 w 5552708"/>
              <a:gd name="connsiteY165" fmla="*/ 5803443 h 6858000"/>
              <a:gd name="connsiteX166" fmla="*/ 4204974 w 5552708"/>
              <a:gd name="connsiteY166" fmla="*/ 5846279 h 6858000"/>
              <a:gd name="connsiteX167" fmla="*/ 4179217 w 5552708"/>
              <a:gd name="connsiteY167" fmla="*/ 5876046 h 6858000"/>
              <a:gd name="connsiteX168" fmla="*/ 4169698 w 5552708"/>
              <a:gd name="connsiteY168" fmla="*/ 5912761 h 6858000"/>
              <a:gd name="connsiteX169" fmla="*/ 4183963 w 5552708"/>
              <a:gd name="connsiteY169" fmla="*/ 5924201 h 6858000"/>
              <a:gd name="connsiteX170" fmla="*/ 4143073 w 5552708"/>
              <a:gd name="connsiteY170" fmla="*/ 6020347 h 6858000"/>
              <a:gd name="connsiteX171" fmla="*/ 4132699 w 5552708"/>
              <a:gd name="connsiteY171" fmla="*/ 6054447 h 6858000"/>
              <a:gd name="connsiteX172" fmla="*/ 4099744 w 5552708"/>
              <a:gd name="connsiteY172" fmla="*/ 6146773 h 6858000"/>
              <a:gd name="connsiteX173" fmla="*/ 4063216 w 5552708"/>
              <a:gd name="connsiteY173" fmla="*/ 6238624 h 6858000"/>
              <a:gd name="connsiteX174" fmla="*/ 4021696 w 5552708"/>
              <a:gd name="connsiteY174" fmla="*/ 6289517 h 6858000"/>
              <a:gd name="connsiteX175" fmla="*/ 3993817 w 5552708"/>
              <a:gd name="connsiteY175" fmla="*/ 6365399 h 6858000"/>
              <a:gd name="connsiteX176" fmla="*/ 3986236 w 5552708"/>
              <a:gd name="connsiteY176" fmla="*/ 6377584 h 6858000"/>
              <a:gd name="connsiteX177" fmla="*/ 3911599 w 5552708"/>
              <a:gd name="connsiteY177" fmla="*/ 6509659 h 6858000"/>
              <a:gd name="connsiteX178" fmla="*/ 3858869 w 5552708"/>
              <a:gd name="connsiteY178" fmla="*/ 6582751 h 6858000"/>
              <a:gd name="connsiteX179" fmla="*/ 3770950 w 5552708"/>
              <a:gd name="connsiteY179" fmla="*/ 6757987 h 6858000"/>
              <a:gd name="connsiteX180" fmla="*/ 3749766 w 5552708"/>
              <a:gd name="connsiteY180" fmla="*/ 6858000 h 6858000"/>
              <a:gd name="connsiteX181" fmla="*/ 12348 w 5552708"/>
              <a:gd name="connsiteY181" fmla="*/ 6858000 h 6858000"/>
              <a:gd name="connsiteX182" fmla="*/ 0 w 5552708"/>
              <a:gd name="connsiteY182" fmla="*/ 67256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Lst>
            <a:rect l="l" t="t" r="r" b="b"/>
            <a:pathLst>
              <a:path w="5552708" h="6858000">
                <a:moveTo>
                  <a:pt x="0" y="0"/>
                </a:moveTo>
                <a:lnTo>
                  <a:pt x="5443651" y="0"/>
                </a:lnTo>
                <a:lnTo>
                  <a:pt x="5443781" y="512"/>
                </a:lnTo>
                <a:cubicBezTo>
                  <a:pt x="5446206" y="7309"/>
                  <a:pt x="5449083" y="15278"/>
                  <a:pt x="5444033" y="20501"/>
                </a:cubicBezTo>
                <a:cubicBezTo>
                  <a:pt x="5435420" y="27795"/>
                  <a:pt x="5439966" y="35996"/>
                  <a:pt x="5439390" y="44768"/>
                </a:cubicBezTo>
                <a:cubicBezTo>
                  <a:pt x="5431962" y="55410"/>
                  <a:pt x="5437588" y="94208"/>
                  <a:pt x="5443913" y="104988"/>
                </a:cubicBezTo>
                <a:cubicBezTo>
                  <a:pt x="5467308" y="131885"/>
                  <a:pt x="5440518" y="182050"/>
                  <a:pt x="5458241" y="204162"/>
                </a:cubicBezTo>
                <a:cubicBezTo>
                  <a:pt x="5460281" y="211583"/>
                  <a:pt x="5460566" y="218611"/>
                  <a:pt x="5459763" y="225360"/>
                </a:cubicBezTo>
                <a:lnTo>
                  <a:pt x="5454996" y="243902"/>
                </a:lnTo>
                <a:lnTo>
                  <a:pt x="5448597" y="248483"/>
                </a:lnTo>
                <a:lnTo>
                  <a:pt x="5448458" y="260196"/>
                </a:lnTo>
                <a:lnTo>
                  <a:pt x="5447150" y="263377"/>
                </a:lnTo>
                <a:cubicBezTo>
                  <a:pt x="5448938" y="273127"/>
                  <a:pt x="5457762" y="301628"/>
                  <a:pt x="5459187" y="318691"/>
                </a:cubicBezTo>
                <a:cubicBezTo>
                  <a:pt x="5456617" y="351374"/>
                  <a:pt x="5481393" y="329570"/>
                  <a:pt x="5455708" y="365759"/>
                </a:cubicBezTo>
                <a:cubicBezTo>
                  <a:pt x="5472236" y="419311"/>
                  <a:pt x="5443611" y="447897"/>
                  <a:pt x="5473651" y="492182"/>
                </a:cubicBezTo>
                <a:cubicBezTo>
                  <a:pt x="5483259" y="556102"/>
                  <a:pt x="5473858" y="624576"/>
                  <a:pt x="5481453" y="689666"/>
                </a:cubicBezTo>
                <a:cubicBezTo>
                  <a:pt x="5481825" y="737836"/>
                  <a:pt x="5505966" y="768312"/>
                  <a:pt x="5488233" y="816332"/>
                </a:cubicBezTo>
                <a:cubicBezTo>
                  <a:pt x="5492515" y="818482"/>
                  <a:pt x="5526923" y="887911"/>
                  <a:pt x="5529718" y="891550"/>
                </a:cubicBezTo>
                <a:lnTo>
                  <a:pt x="5536104" y="903318"/>
                </a:lnTo>
                <a:lnTo>
                  <a:pt x="5535257" y="905308"/>
                </a:lnTo>
                <a:cubicBezTo>
                  <a:pt x="5534066" y="913418"/>
                  <a:pt x="5535399" y="917837"/>
                  <a:pt x="5537840" y="920621"/>
                </a:cubicBezTo>
                <a:lnTo>
                  <a:pt x="5541663" y="922876"/>
                </a:lnTo>
                <a:lnTo>
                  <a:pt x="5544456" y="933037"/>
                </a:lnTo>
                <a:lnTo>
                  <a:pt x="5552708" y="952132"/>
                </a:lnTo>
                <a:lnTo>
                  <a:pt x="5551675" y="956570"/>
                </a:lnTo>
                <a:lnTo>
                  <a:pt x="5531341" y="1064863"/>
                </a:lnTo>
                <a:cubicBezTo>
                  <a:pt x="5534620" y="1074818"/>
                  <a:pt x="5537566" y="1085372"/>
                  <a:pt x="5539998" y="1096340"/>
                </a:cubicBezTo>
                <a:lnTo>
                  <a:pt x="5541075" y="1102915"/>
                </a:lnTo>
                <a:lnTo>
                  <a:pt x="5540822" y="1103143"/>
                </a:lnTo>
                <a:cubicBezTo>
                  <a:pt x="5540471" y="1104784"/>
                  <a:pt x="5540605" y="1107024"/>
                  <a:pt x="5541413" y="1110274"/>
                </a:cubicBezTo>
                <a:lnTo>
                  <a:pt x="5543038" y="1114901"/>
                </a:lnTo>
                <a:cubicBezTo>
                  <a:pt x="5543735" y="1119151"/>
                  <a:pt x="5544432" y="1123402"/>
                  <a:pt x="5545128" y="1127652"/>
                </a:cubicBezTo>
                <a:lnTo>
                  <a:pt x="5544028" y="1132698"/>
                </a:lnTo>
                <a:cubicBezTo>
                  <a:pt x="5534609" y="1151029"/>
                  <a:pt x="5496304" y="1149042"/>
                  <a:pt x="5514811" y="1177140"/>
                </a:cubicBezTo>
                <a:cubicBezTo>
                  <a:pt x="5509719" y="1211798"/>
                  <a:pt x="5486957" y="1231445"/>
                  <a:pt x="5496402" y="1265293"/>
                </a:cubicBezTo>
                <a:cubicBezTo>
                  <a:pt x="5491550" y="1297727"/>
                  <a:pt x="5479431" y="1324727"/>
                  <a:pt x="5481620" y="1353039"/>
                </a:cubicBezTo>
                <a:cubicBezTo>
                  <a:pt x="5473631" y="1363324"/>
                  <a:pt x="5469597" y="1373497"/>
                  <a:pt x="5477938" y="1385038"/>
                </a:cubicBezTo>
                <a:cubicBezTo>
                  <a:pt x="5470625" y="1414924"/>
                  <a:pt x="5455771" y="1420367"/>
                  <a:pt x="5464009" y="1441067"/>
                </a:cubicBezTo>
                <a:cubicBezTo>
                  <a:pt x="5439287" y="1455035"/>
                  <a:pt x="5447714" y="1457216"/>
                  <a:pt x="5453063" y="1466104"/>
                </a:cubicBezTo>
                <a:cubicBezTo>
                  <a:pt x="5453164" y="1466506"/>
                  <a:pt x="5453267" y="1466908"/>
                  <a:pt x="5453368" y="1467310"/>
                </a:cubicBezTo>
                <a:lnTo>
                  <a:pt x="5449849" y="1469198"/>
                </a:lnTo>
                <a:lnTo>
                  <a:pt x="5447717" y="1473816"/>
                </a:lnTo>
                <a:lnTo>
                  <a:pt x="5446906" y="1487106"/>
                </a:lnTo>
                <a:cubicBezTo>
                  <a:pt x="5447081" y="1488810"/>
                  <a:pt x="5447254" y="1490514"/>
                  <a:pt x="5447429" y="1492218"/>
                </a:cubicBezTo>
                <a:cubicBezTo>
                  <a:pt x="5447480" y="1495695"/>
                  <a:pt x="5447119" y="1497953"/>
                  <a:pt x="5446434" y="1499455"/>
                </a:cubicBezTo>
                <a:lnTo>
                  <a:pt x="5446146" y="1499600"/>
                </a:lnTo>
                <a:lnTo>
                  <a:pt x="5445728" y="1506449"/>
                </a:lnTo>
                <a:cubicBezTo>
                  <a:pt x="5445627" y="1518090"/>
                  <a:pt x="5446096" y="1529498"/>
                  <a:pt x="5447013" y="1540420"/>
                </a:cubicBezTo>
                <a:cubicBezTo>
                  <a:pt x="5431084" y="1547368"/>
                  <a:pt x="5443219" y="1588924"/>
                  <a:pt x="5416036" y="1580834"/>
                </a:cubicBezTo>
                <a:cubicBezTo>
                  <a:pt x="5416447" y="1595454"/>
                  <a:pt x="5426812" y="1605684"/>
                  <a:pt x="5409252" y="1598373"/>
                </a:cubicBezTo>
                <a:cubicBezTo>
                  <a:pt x="5408864" y="1603115"/>
                  <a:pt x="5406927" y="1605804"/>
                  <a:pt x="5404223" y="1607549"/>
                </a:cubicBezTo>
                <a:lnTo>
                  <a:pt x="5403003" y="1607994"/>
                </a:lnTo>
                <a:lnTo>
                  <a:pt x="5404366" y="1640580"/>
                </a:lnTo>
                <a:lnTo>
                  <a:pt x="5402429" y="1644617"/>
                </a:lnTo>
                <a:cubicBezTo>
                  <a:pt x="5403628" y="1651821"/>
                  <a:pt x="5404828" y="1659024"/>
                  <a:pt x="5406027" y="1666228"/>
                </a:cubicBezTo>
                <a:lnTo>
                  <a:pt x="5409538" y="1680703"/>
                </a:lnTo>
                <a:lnTo>
                  <a:pt x="5405582" y="1870222"/>
                </a:lnTo>
                <a:cubicBezTo>
                  <a:pt x="5407505" y="1917082"/>
                  <a:pt x="5419912" y="1922890"/>
                  <a:pt x="5418948" y="1979530"/>
                </a:cubicBezTo>
                <a:cubicBezTo>
                  <a:pt x="5381653" y="1974789"/>
                  <a:pt x="5447295" y="2092994"/>
                  <a:pt x="5405060" y="2051964"/>
                </a:cubicBezTo>
                <a:cubicBezTo>
                  <a:pt x="5406099" y="2068965"/>
                  <a:pt x="5389286" y="2084064"/>
                  <a:pt x="5378701" y="2073120"/>
                </a:cubicBezTo>
                <a:cubicBezTo>
                  <a:pt x="5397285" y="2126878"/>
                  <a:pt x="5362129" y="2197651"/>
                  <a:pt x="5366006" y="2256053"/>
                </a:cubicBezTo>
                <a:cubicBezTo>
                  <a:pt x="5334011" y="2283221"/>
                  <a:pt x="5362023" y="2269954"/>
                  <a:pt x="5352501" y="2301374"/>
                </a:cubicBezTo>
                <a:cubicBezTo>
                  <a:pt x="5379308" y="2296096"/>
                  <a:pt x="5332887" y="2338416"/>
                  <a:pt x="5361572" y="2344135"/>
                </a:cubicBezTo>
                <a:cubicBezTo>
                  <a:pt x="5358931" y="2349671"/>
                  <a:pt x="5355467" y="2354856"/>
                  <a:pt x="5351776" y="2360013"/>
                </a:cubicBezTo>
                <a:lnTo>
                  <a:pt x="5349856" y="2362723"/>
                </a:lnTo>
                <a:lnTo>
                  <a:pt x="5347182" y="2374239"/>
                </a:lnTo>
                <a:lnTo>
                  <a:pt x="5340172" y="2376629"/>
                </a:lnTo>
                <a:lnTo>
                  <a:pt x="5331662" y="2393351"/>
                </a:lnTo>
                <a:cubicBezTo>
                  <a:pt x="5329441" y="2399746"/>
                  <a:pt x="5328181" y="2406782"/>
                  <a:pt x="5328482" y="2414790"/>
                </a:cubicBezTo>
                <a:cubicBezTo>
                  <a:pt x="5337359" y="2435605"/>
                  <a:pt x="5319289" y="2463646"/>
                  <a:pt x="5316501" y="2490864"/>
                </a:cubicBezTo>
                <a:cubicBezTo>
                  <a:pt x="5317127" y="2495175"/>
                  <a:pt x="5317754" y="2499486"/>
                  <a:pt x="5318378" y="2503797"/>
                </a:cubicBezTo>
                <a:lnTo>
                  <a:pt x="5307008" y="2543608"/>
                </a:lnTo>
                <a:cubicBezTo>
                  <a:pt x="5304307" y="2555015"/>
                  <a:pt x="5302094" y="2566933"/>
                  <a:pt x="5300817" y="2579627"/>
                </a:cubicBezTo>
                <a:lnTo>
                  <a:pt x="5300491" y="2603469"/>
                </a:lnTo>
                <a:lnTo>
                  <a:pt x="5297327" y="2609298"/>
                </a:lnTo>
                <a:cubicBezTo>
                  <a:pt x="5296149" y="2620041"/>
                  <a:pt x="5302481" y="2635343"/>
                  <a:pt x="5292648" y="2632709"/>
                </a:cubicBezTo>
                <a:lnTo>
                  <a:pt x="5294499" y="2645215"/>
                </a:lnTo>
                <a:lnTo>
                  <a:pt x="5284921" y="2655995"/>
                </a:lnTo>
                <a:cubicBezTo>
                  <a:pt x="5282893" y="2657043"/>
                  <a:pt x="5280790" y="2657749"/>
                  <a:pt x="5278681" y="2658097"/>
                </a:cubicBezTo>
                <a:lnTo>
                  <a:pt x="5279052" y="2675265"/>
                </a:lnTo>
                <a:lnTo>
                  <a:pt x="5271485" y="2688260"/>
                </a:lnTo>
                <a:cubicBezTo>
                  <a:pt x="5272192" y="2692435"/>
                  <a:pt x="5272901" y="2696610"/>
                  <a:pt x="5273609" y="2700785"/>
                </a:cubicBezTo>
                <a:lnTo>
                  <a:pt x="5272098" y="2705655"/>
                </a:lnTo>
                <a:lnTo>
                  <a:pt x="5267605" y="2717660"/>
                </a:lnTo>
                <a:cubicBezTo>
                  <a:pt x="5264770" y="2723740"/>
                  <a:pt x="5261426" y="2730522"/>
                  <a:pt x="5258449" y="2738177"/>
                </a:cubicBezTo>
                <a:lnTo>
                  <a:pt x="5256679" y="2744727"/>
                </a:lnTo>
                <a:lnTo>
                  <a:pt x="5245116" y="2757932"/>
                </a:lnTo>
                <a:cubicBezTo>
                  <a:pt x="5236430" y="2767502"/>
                  <a:pt x="5230416" y="2775146"/>
                  <a:pt x="5233122" y="2784915"/>
                </a:cubicBezTo>
                <a:cubicBezTo>
                  <a:pt x="5221620" y="2799359"/>
                  <a:pt x="5193828" y="2806744"/>
                  <a:pt x="5197792" y="2830475"/>
                </a:cubicBezTo>
                <a:cubicBezTo>
                  <a:pt x="5186798" y="2821932"/>
                  <a:pt x="5192955" y="2855565"/>
                  <a:pt x="5180199" y="2857691"/>
                </a:cubicBezTo>
                <a:cubicBezTo>
                  <a:pt x="5170100" y="2858096"/>
                  <a:pt x="5169614" y="2868393"/>
                  <a:pt x="5164940" y="2875644"/>
                </a:cubicBezTo>
                <a:cubicBezTo>
                  <a:pt x="5154127" y="2879787"/>
                  <a:pt x="5139696" y="2917521"/>
                  <a:pt x="5139323" y="2931296"/>
                </a:cubicBezTo>
                <a:cubicBezTo>
                  <a:pt x="5144210" y="2970932"/>
                  <a:pt x="5099528" y="2996158"/>
                  <a:pt x="5102390" y="3027705"/>
                </a:cubicBezTo>
                <a:cubicBezTo>
                  <a:pt x="5100365" y="3035586"/>
                  <a:pt x="5097192" y="3041915"/>
                  <a:pt x="5093321" y="3047244"/>
                </a:cubicBezTo>
                <a:lnTo>
                  <a:pt x="5080729" y="3060118"/>
                </a:lnTo>
                <a:lnTo>
                  <a:pt x="5073626" y="3059690"/>
                </a:lnTo>
                <a:lnTo>
                  <a:pt x="5067867" y="3069806"/>
                </a:lnTo>
                <a:lnTo>
                  <a:pt x="5065335" y="3071678"/>
                </a:lnTo>
                <a:cubicBezTo>
                  <a:pt x="5060475" y="3075234"/>
                  <a:pt x="5055815" y="3078901"/>
                  <a:pt x="5051806" y="3083233"/>
                </a:cubicBezTo>
                <a:cubicBezTo>
                  <a:pt x="5076417" y="3100024"/>
                  <a:pt x="5021773" y="3122856"/>
                  <a:pt x="5047824" y="3128247"/>
                </a:cubicBezTo>
                <a:cubicBezTo>
                  <a:pt x="5030083" y="3154978"/>
                  <a:pt x="5059535" y="3153095"/>
                  <a:pt x="5022444" y="3166893"/>
                </a:cubicBezTo>
                <a:cubicBezTo>
                  <a:pt x="5009215" y="3225035"/>
                  <a:pt x="4960350" y="3252747"/>
                  <a:pt x="4961916" y="3312149"/>
                </a:cubicBezTo>
                <a:cubicBezTo>
                  <a:pt x="4955371" y="3297387"/>
                  <a:pt x="4932004" y="3332561"/>
                  <a:pt x="4928070" y="3349450"/>
                </a:cubicBezTo>
                <a:cubicBezTo>
                  <a:pt x="4901199" y="3293116"/>
                  <a:pt x="4891428" y="3463059"/>
                  <a:pt x="4858652" y="3443841"/>
                </a:cubicBezTo>
                <a:cubicBezTo>
                  <a:pt x="4840872" y="3495884"/>
                  <a:pt x="4832958" y="3617975"/>
                  <a:pt x="4821392" y="3661714"/>
                </a:cubicBezTo>
                <a:cubicBezTo>
                  <a:pt x="4823621" y="3666551"/>
                  <a:pt x="4824768" y="3671561"/>
                  <a:pt x="4825147" y="3676668"/>
                </a:cubicBezTo>
                <a:lnTo>
                  <a:pt x="4824341" y="3691352"/>
                </a:lnTo>
                <a:lnTo>
                  <a:pt x="4822735" y="3692500"/>
                </a:lnTo>
                <a:cubicBezTo>
                  <a:pt x="4817912" y="3698748"/>
                  <a:pt x="4816795" y="3703524"/>
                  <a:pt x="4817318" y="3707640"/>
                </a:cubicBezTo>
                <a:lnTo>
                  <a:pt x="4819146" y="3712253"/>
                </a:lnTo>
                <a:lnTo>
                  <a:pt x="4816373" y="3723048"/>
                </a:lnTo>
                <a:lnTo>
                  <a:pt x="4813460" y="3745409"/>
                </a:lnTo>
                <a:lnTo>
                  <a:pt x="4810527" y="3748566"/>
                </a:lnTo>
                <a:cubicBezTo>
                  <a:pt x="4798737" y="3762490"/>
                  <a:pt x="4755451" y="3809983"/>
                  <a:pt x="4742720" y="3828954"/>
                </a:cubicBezTo>
                <a:lnTo>
                  <a:pt x="4731784" y="3868871"/>
                </a:lnTo>
                <a:lnTo>
                  <a:pt x="4731481" y="3868898"/>
                </a:lnTo>
                <a:cubicBezTo>
                  <a:pt x="4730422" y="3870084"/>
                  <a:pt x="4729442" y="3872132"/>
                  <a:pt x="4728490" y="3875525"/>
                </a:cubicBezTo>
                <a:lnTo>
                  <a:pt x="4727500" y="3880683"/>
                </a:lnTo>
                <a:lnTo>
                  <a:pt x="4719663" y="3896892"/>
                </a:lnTo>
                <a:lnTo>
                  <a:pt x="4715899" y="3897345"/>
                </a:lnTo>
                <a:cubicBezTo>
                  <a:pt x="4715876" y="3897775"/>
                  <a:pt x="4715854" y="3898203"/>
                  <a:pt x="4715832" y="3898632"/>
                </a:cubicBezTo>
                <a:lnTo>
                  <a:pt x="4618476" y="4076334"/>
                </a:lnTo>
                <a:cubicBezTo>
                  <a:pt x="4617399" y="4112851"/>
                  <a:pt x="4590920" y="4122978"/>
                  <a:pt x="4576303" y="4154580"/>
                </a:cubicBezTo>
                <a:cubicBezTo>
                  <a:pt x="4585172" y="4189077"/>
                  <a:pt x="4550681" y="4172136"/>
                  <a:pt x="4536795" y="4186216"/>
                </a:cubicBezTo>
                <a:lnTo>
                  <a:pt x="4534335" y="4190678"/>
                </a:lnTo>
                <a:lnTo>
                  <a:pt x="4532585" y="4203860"/>
                </a:lnTo>
                <a:cubicBezTo>
                  <a:pt x="4532638" y="4205567"/>
                  <a:pt x="4532692" y="4207276"/>
                  <a:pt x="4532745" y="4208983"/>
                </a:cubicBezTo>
                <a:cubicBezTo>
                  <a:pt x="4532551" y="4212450"/>
                  <a:pt x="4532031" y="4214675"/>
                  <a:pt x="4531239" y="4216126"/>
                </a:cubicBezTo>
                <a:lnTo>
                  <a:pt x="4530941" y="4216251"/>
                </a:lnTo>
                <a:lnTo>
                  <a:pt x="4530039" y="4223045"/>
                </a:lnTo>
                <a:cubicBezTo>
                  <a:pt x="4529114" y="4234633"/>
                  <a:pt x="4528779" y="4246020"/>
                  <a:pt x="4528920" y="4256957"/>
                </a:cubicBezTo>
                <a:cubicBezTo>
                  <a:pt x="4512505" y="4262858"/>
                  <a:pt x="4521695" y="4305010"/>
                  <a:pt x="4495092" y="4295227"/>
                </a:cubicBezTo>
                <a:cubicBezTo>
                  <a:pt x="4494469" y="4309813"/>
                  <a:pt x="4504108" y="4320656"/>
                  <a:pt x="4487069" y="4312260"/>
                </a:cubicBezTo>
                <a:cubicBezTo>
                  <a:pt x="4486347" y="4316957"/>
                  <a:pt x="4484219" y="4319510"/>
                  <a:pt x="4481391" y="4321074"/>
                </a:cubicBezTo>
                <a:lnTo>
                  <a:pt x="4480140" y="4321443"/>
                </a:lnTo>
                <a:lnTo>
                  <a:pt x="4479199" y="4353976"/>
                </a:lnTo>
                <a:lnTo>
                  <a:pt x="4476976" y="4357874"/>
                </a:lnTo>
                <a:cubicBezTo>
                  <a:pt x="4477666" y="4365122"/>
                  <a:pt x="4478355" y="4372372"/>
                  <a:pt x="4479044" y="4379621"/>
                </a:cubicBezTo>
                <a:lnTo>
                  <a:pt x="4478683" y="4390568"/>
                </a:lnTo>
                <a:lnTo>
                  <a:pt x="4481532" y="4394254"/>
                </a:lnTo>
                <a:cubicBezTo>
                  <a:pt x="4482969" y="4397909"/>
                  <a:pt x="4482918" y="4402720"/>
                  <a:pt x="4479499" y="4410114"/>
                </a:cubicBezTo>
                <a:lnTo>
                  <a:pt x="4478153" y="4411710"/>
                </a:lnTo>
                <a:lnTo>
                  <a:pt x="4480616" y="4425622"/>
                </a:lnTo>
                <a:cubicBezTo>
                  <a:pt x="4482131" y="4430247"/>
                  <a:pt x="4484387" y="4434528"/>
                  <a:pt x="4487688" y="4438292"/>
                </a:cubicBezTo>
                <a:cubicBezTo>
                  <a:pt x="4457664" y="4477897"/>
                  <a:pt x="4468221" y="4523123"/>
                  <a:pt x="4454727" y="4569970"/>
                </a:cubicBezTo>
                <a:cubicBezTo>
                  <a:pt x="4417898" y="4583966"/>
                  <a:pt x="4440689" y="4674230"/>
                  <a:pt x="4469804" y="4692415"/>
                </a:cubicBezTo>
                <a:cubicBezTo>
                  <a:pt x="4432851" y="4685322"/>
                  <a:pt x="4490117" y="4807198"/>
                  <a:pt x="4450795" y="4763659"/>
                </a:cubicBezTo>
                <a:cubicBezTo>
                  <a:pt x="4450628" y="4780652"/>
                  <a:pt x="4432755" y="4794620"/>
                  <a:pt x="4422945" y="4783049"/>
                </a:cubicBezTo>
                <a:cubicBezTo>
                  <a:pt x="4437721" y="4837759"/>
                  <a:pt x="4397569" y="4905997"/>
                  <a:pt x="4397314" y="4964397"/>
                </a:cubicBezTo>
                <a:cubicBezTo>
                  <a:pt x="4363407" y="4989414"/>
                  <a:pt x="4392349" y="4977986"/>
                  <a:pt x="4380606" y="5008665"/>
                </a:cubicBezTo>
                <a:cubicBezTo>
                  <a:pt x="4407778" y="5005114"/>
                  <a:pt x="4358378" y="5044304"/>
                  <a:pt x="4386649" y="5051823"/>
                </a:cubicBezTo>
                <a:cubicBezTo>
                  <a:pt x="4383620" y="5057169"/>
                  <a:pt x="4379789" y="5062109"/>
                  <a:pt x="4375733" y="5067011"/>
                </a:cubicBezTo>
                <a:lnTo>
                  <a:pt x="4373624" y="5069584"/>
                </a:lnTo>
                <a:lnTo>
                  <a:pt x="4370134" y="5080883"/>
                </a:lnTo>
                <a:lnTo>
                  <a:pt x="4362957" y="5082819"/>
                </a:lnTo>
                <a:lnTo>
                  <a:pt x="4333195" y="5221840"/>
                </a:lnTo>
                <a:cubicBezTo>
                  <a:pt x="4335888" y="5234770"/>
                  <a:pt x="4329894" y="5274591"/>
                  <a:pt x="4320037" y="5281999"/>
                </a:cubicBezTo>
                <a:cubicBezTo>
                  <a:pt x="4316990" y="5290274"/>
                  <a:pt x="4318795" y="5300010"/>
                  <a:pt x="4308816" y="5303704"/>
                </a:cubicBezTo>
                <a:cubicBezTo>
                  <a:pt x="4300851" y="5321498"/>
                  <a:pt x="4282560" y="5362240"/>
                  <a:pt x="4272244" y="5388756"/>
                </a:cubicBezTo>
                <a:cubicBezTo>
                  <a:pt x="4281980" y="5405143"/>
                  <a:pt x="4255067" y="5425092"/>
                  <a:pt x="4246915" y="5462809"/>
                </a:cubicBezTo>
                <a:cubicBezTo>
                  <a:pt x="4258299" y="5480842"/>
                  <a:pt x="4241233" y="5488203"/>
                  <a:pt x="4255030" y="5521632"/>
                </a:cubicBezTo>
                <a:cubicBezTo>
                  <a:pt x="4253005" y="5522647"/>
                  <a:pt x="4251068" y="5523996"/>
                  <a:pt x="4249277" y="5525636"/>
                </a:cubicBezTo>
                <a:cubicBezTo>
                  <a:pt x="4238872" y="5535166"/>
                  <a:pt x="4235581" y="5552275"/>
                  <a:pt x="4241924" y="5563850"/>
                </a:cubicBezTo>
                <a:cubicBezTo>
                  <a:pt x="4259047" y="5616453"/>
                  <a:pt x="4250256" y="5660812"/>
                  <a:pt x="4248240" y="5703386"/>
                </a:cubicBezTo>
                <a:cubicBezTo>
                  <a:pt x="4243085" y="5751111"/>
                  <a:pt x="4218929" y="5715189"/>
                  <a:pt x="4232982" y="5777907"/>
                </a:cubicBezTo>
                <a:cubicBezTo>
                  <a:pt x="4221558" y="5782651"/>
                  <a:pt x="4219728" y="5790057"/>
                  <a:pt x="4222394" y="5803443"/>
                </a:cubicBezTo>
                <a:cubicBezTo>
                  <a:pt x="4219121" y="5826511"/>
                  <a:pt x="4193576" y="5820653"/>
                  <a:pt x="4204974" y="5846279"/>
                </a:cubicBezTo>
                <a:cubicBezTo>
                  <a:pt x="4191825" y="5839931"/>
                  <a:pt x="4191753" y="5888934"/>
                  <a:pt x="4179217" y="5876046"/>
                </a:cubicBezTo>
                <a:cubicBezTo>
                  <a:pt x="4163863" y="5888983"/>
                  <a:pt x="4183376" y="5899672"/>
                  <a:pt x="4169698" y="5912761"/>
                </a:cubicBezTo>
                <a:cubicBezTo>
                  <a:pt x="4164113" y="5929085"/>
                  <a:pt x="4186281" y="5905514"/>
                  <a:pt x="4183963" y="5924201"/>
                </a:cubicBezTo>
                <a:lnTo>
                  <a:pt x="4143073" y="6020347"/>
                </a:lnTo>
                <a:cubicBezTo>
                  <a:pt x="4148635" y="6035084"/>
                  <a:pt x="4142583" y="6045204"/>
                  <a:pt x="4132699" y="6054447"/>
                </a:cubicBezTo>
                <a:cubicBezTo>
                  <a:pt x="4128762" y="6085993"/>
                  <a:pt x="4111337" y="6112491"/>
                  <a:pt x="4099744" y="6146773"/>
                </a:cubicBezTo>
                <a:cubicBezTo>
                  <a:pt x="4101611" y="6186210"/>
                  <a:pt x="4075513" y="6201974"/>
                  <a:pt x="4063216" y="6238624"/>
                </a:cubicBezTo>
                <a:cubicBezTo>
                  <a:pt x="4076714" y="6279119"/>
                  <a:pt x="4027194" y="6257865"/>
                  <a:pt x="4021696" y="6289517"/>
                </a:cubicBezTo>
                <a:cubicBezTo>
                  <a:pt x="4030060" y="6343907"/>
                  <a:pt x="4004638" y="6285373"/>
                  <a:pt x="3993817" y="6365399"/>
                </a:cubicBezTo>
                <a:cubicBezTo>
                  <a:pt x="3996125" y="6370415"/>
                  <a:pt x="3990553" y="6379380"/>
                  <a:pt x="3986236" y="6377584"/>
                </a:cubicBezTo>
                <a:cubicBezTo>
                  <a:pt x="3984044" y="6395147"/>
                  <a:pt x="3911719" y="6484083"/>
                  <a:pt x="3911599" y="6509659"/>
                </a:cubicBezTo>
                <a:cubicBezTo>
                  <a:pt x="3888028" y="6555694"/>
                  <a:pt x="3870378" y="6548451"/>
                  <a:pt x="3858869" y="6582751"/>
                </a:cubicBezTo>
                <a:cubicBezTo>
                  <a:pt x="3834576" y="6620569"/>
                  <a:pt x="3820634" y="6692927"/>
                  <a:pt x="3770950" y="6757987"/>
                </a:cubicBezTo>
                <a:lnTo>
                  <a:pt x="3749766" y="6858000"/>
                </a:lnTo>
                <a:lnTo>
                  <a:pt x="12348" y="6858000"/>
                </a:lnTo>
                <a:lnTo>
                  <a:pt x="0" y="6725668"/>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12AE0C5-8756-3A10-15D5-F2E0E61D00C8}"/>
              </a:ext>
            </a:extLst>
          </p:cNvPr>
          <p:cNvSpPr>
            <a:spLocks noGrp="1"/>
          </p:cNvSpPr>
          <p:nvPr>
            <p:ph type="title"/>
          </p:nvPr>
        </p:nvSpPr>
        <p:spPr>
          <a:xfrm>
            <a:off x="1137038" y="896469"/>
            <a:ext cx="3820630" cy="3005643"/>
          </a:xfrm>
        </p:spPr>
        <p:txBody>
          <a:bodyPr anchor="t">
            <a:normAutofit/>
          </a:bodyPr>
          <a:lstStyle/>
          <a:p>
            <a:r>
              <a:rPr lang="en-US" b="1">
                <a:solidFill>
                  <a:schemeClr val="tx1">
                    <a:lumMod val="85000"/>
                    <a:lumOff val="15000"/>
                  </a:schemeClr>
                </a:solidFill>
              </a:rPr>
              <a:t>Clinical Presentation</a:t>
            </a:r>
            <a:endParaRPr lang="en-US">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953821EE-316C-1C46-6E26-87F6C97B75BA}"/>
              </a:ext>
            </a:extLst>
          </p:cNvPr>
          <p:cNvSpPr>
            <a:spLocks noGrp="1"/>
          </p:cNvSpPr>
          <p:nvPr>
            <p:ph idx="1"/>
          </p:nvPr>
        </p:nvSpPr>
        <p:spPr>
          <a:xfrm>
            <a:off x="6096000" y="896469"/>
            <a:ext cx="4957667" cy="5319430"/>
          </a:xfrm>
        </p:spPr>
        <p:txBody>
          <a:bodyPr>
            <a:normAutofit/>
          </a:bodyPr>
          <a:lstStyle/>
          <a:p>
            <a:r>
              <a:rPr lang="en-US" sz="2000" b="1" dirty="0">
                <a:solidFill>
                  <a:schemeClr val="tx1">
                    <a:lumMod val="85000"/>
                    <a:lumOff val="15000"/>
                  </a:schemeClr>
                </a:solidFill>
              </a:rPr>
              <a:t>Dyspepsia</a:t>
            </a:r>
            <a:r>
              <a:rPr lang="en-US" sz="2000" dirty="0">
                <a:solidFill>
                  <a:schemeClr val="tx1">
                    <a:lumMod val="85000"/>
                    <a:lumOff val="15000"/>
                  </a:schemeClr>
                </a:solidFill>
              </a:rPr>
              <a:t> (epigastric pain/discomfort) </a:t>
            </a:r>
          </a:p>
          <a:p>
            <a:pPr lvl="1"/>
            <a:r>
              <a:rPr lang="en-US" sz="2000" dirty="0">
                <a:solidFill>
                  <a:schemeClr val="tx1">
                    <a:lumMod val="85000"/>
                    <a:lumOff val="15000"/>
                  </a:schemeClr>
                </a:solidFill>
              </a:rPr>
              <a:t>present in ~81% of patients</a:t>
            </a:r>
          </a:p>
          <a:p>
            <a:pPr lvl="1"/>
            <a:r>
              <a:rPr lang="en-US" sz="2000" dirty="0">
                <a:solidFill>
                  <a:schemeClr val="tx1">
                    <a:lumMod val="85000"/>
                    <a:lumOff val="15000"/>
                  </a:schemeClr>
                </a:solidFill>
              </a:rPr>
              <a:t>symptoms are nonspecific</a:t>
            </a:r>
          </a:p>
          <a:p>
            <a:r>
              <a:rPr lang="en-US" sz="2000" dirty="0">
                <a:solidFill>
                  <a:schemeClr val="tx1">
                    <a:lumMod val="85000"/>
                    <a:lumOff val="15000"/>
                  </a:schemeClr>
                </a:solidFill>
              </a:rPr>
              <a:t>Classic symptom patterns:</a:t>
            </a:r>
          </a:p>
          <a:p>
            <a:pPr lvl="1"/>
            <a:r>
              <a:rPr lang="en-US" sz="2000" b="1" dirty="0">
                <a:solidFill>
                  <a:schemeClr val="tx1">
                    <a:lumMod val="85000"/>
                    <a:lumOff val="15000"/>
                  </a:schemeClr>
                </a:solidFill>
              </a:rPr>
              <a:t>Duodenal ulcer</a:t>
            </a:r>
            <a:r>
              <a:rPr lang="en-US" sz="2000" dirty="0">
                <a:solidFill>
                  <a:schemeClr val="tx1">
                    <a:lumMod val="85000"/>
                    <a:lumOff val="15000"/>
                  </a:schemeClr>
                </a:solidFill>
              </a:rPr>
              <a:t>: Burning epigastric pain that improves with eating, then worsens 2–3 hours later </a:t>
            </a:r>
          </a:p>
          <a:p>
            <a:pPr lvl="2"/>
            <a:r>
              <a:rPr lang="en-US" dirty="0">
                <a:solidFill>
                  <a:schemeClr val="tx1">
                    <a:lumMod val="85000"/>
                    <a:lumOff val="15000"/>
                  </a:schemeClr>
                </a:solidFill>
              </a:rPr>
              <a:t>nocturnal pain (circadian acid secretion) </a:t>
            </a:r>
          </a:p>
          <a:p>
            <a:pPr lvl="1"/>
            <a:r>
              <a:rPr lang="en-US" sz="2000" b="1" dirty="0">
                <a:solidFill>
                  <a:schemeClr val="tx1">
                    <a:lumMod val="85000"/>
                    <a:lumOff val="15000"/>
                  </a:schemeClr>
                </a:solidFill>
              </a:rPr>
              <a:t>Gastric ulcer</a:t>
            </a:r>
            <a:r>
              <a:rPr lang="en-US" sz="2000" dirty="0">
                <a:solidFill>
                  <a:schemeClr val="tx1">
                    <a:lumMod val="85000"/>
                    <a:lumOff val="15000"/>
                  </a:schemeClr>
                </a:solidFill>
              </a:rPr>
              <a:t>: Postprandial pain, nausea, vomiting, weight loss </a:t>
            </a:r>
          </a:p>
          <a:p>
            <a:r>
              <a:rPr lang="en-US" sz="2000" b="1" dirty="0">
                <a:solidFill>
                  <a:schemeClr val="tx1">
                    <a:lumMod val="85000"/>
                    <a:lumOff val="15000"/>
                  </a:schemeClr>
                </a:solidFill>
              </a:rPr>
              <a:t>Important caveats</a:t>
            </a:r>
            <a:r>
              <a:rPr lang="en-US" sz="2000" dirty="0">
                <a:solidFill>
                  <a:schemeClr val="tx1">
                    <a:lumMod val="85000"/>
                    <a:lumOff val="15000"/>
                  </a:schemeClr>
                </a:solidFill>
              </a:rPr>
              <a:t>: </a:t>
            </a:r>
            <a:r>
              <a:rPr lang="en-US" sz="2000" i="1" dirty="0">
                <a:solidFill>
                  <a:schemeClr val="tx1">
                    <a:lumMod val="85000"/>
                    <a:lumOff val="15000"/>
                  </a:schemeClr>
                </a:solidFill>
              </a:rPr>
              <a:t>elderly patients </a:t>
            </a:r>
            <a:r>
              <a:rPr lang="en-US" sz="2000" dirty="0">
                <a:solidFill>
                  <a:schemeClr val="tx1">
                    <a:lumMod val="85000"/>
                    <a:lumOff val="15000"/>
                  </a:schemeClr>
                </a:solidFill>
              </a:rPr>
              <a:t>are frequently </a:t>
            </a:r>
            <a:r>
              <a:rPr lang="en-US" sz="2000" b="1" i="1" dirty="0">
                <a:solidFill>
                  <a:schemeClr val="tx1">
                    <a:lumMod val="85000"/>
                    <a:lumOff val="15000"/>
                  </a:schemeClr>
                </a:solidFill>
              </a:rPr>
              <a:t>asymptomatic</a:t>
            </a:r>
            <a:r>
              <a:rPr lang="en-US" sz="2000" dirty="0">
                <a:solidFill>
                  <a:schemeClr val="tx1">
                    <a:lumMod val="85000"/>
                    <a:lumOff val="15000"/>
                  </a:schemeClr>
                </a:solidFill>
              </a:rPr>
              <a:t>. </a:t>
            </a:r>
          </a:p>
          <a:p>
            <a:pPr lvl="1"/>
            <a:r>
              <a:rPr lang="en-US" sz="2000" dirty="0">
                <a:solidFill>
                  <a:schemeClr val="tx1">
                    <a:lumMod val="85000"/>
                    <a:lumOff val="15000"/>
                  </a:schemeClr>
                </a:solidFill>
              </a:rPr>
              <a:t> Bleeding can occur without warning symptoms in nearly half of patients. </a:t>
            </a:r>
          </a:p>
          <a:p>
            <a:endParaRPr lang="en-US" sz="2000" dirty="0">
              <a:solidFill>
                <a:schemeClr val="tx1">
                  <a:lumMod val="85000"/>
                  <a:lumOff val="15000"/>
                </a:schemeClr>
              </a:solidFill>
            </a:endParaRPr>
          </a:p>
        </p:txBody>
      </p:sp>
      <p:pic>
        <p:nvPicPr>
          <p:cNvPr id="5" name="Picture 4" descr="Human stomach anatomy internal organ 3d rendering | Premium Photo">
            <a:extLst>
              <a:ext uri="{FF2B5EF4-FFF2-40B4-BE49-F238E27FC236}">
                <a16:creationId xmlns:a16="http://schemas.microsoft.com/office/drawing/2014/main" id="{68D1BF85-7A0E-DAC5-1A43-005C3B977646}"/>
              </a:ext>
            </a:extLst>
          </p:cNvPr>
          <p:cNvPicPr>
            <a:picLocks noChangeAspect="1"/>
          </p:cNvPicPr>
          <p:nvPr/>
        </p:nvPicPr>
        <p:blipFill>
          <a:blip r:embed="rId3"/>
          <a:srcRect l="3795" r="-3" b="-3"/>
          <a:stretch>
            <a:fillRect/>
          </a:stretch>
        </p:blipFill>
        <p:spPr>
          <a:xfrm>
            <a:off x="593746" y="3787140"/>
            <a:ext cx="3421994" cy="2654808"/>
          </a:xfrm>
          <a:prstGeom prst="rect">
            <a:avLst/>
          </a:prstGeom>
        </p:spPr>
      </p:pic>
    </p:spTree>
    <p:extLst>
      <p:ext uri="{BB962C8B-B14F-4D97-AF65-F5344CB8AC3E}">
        <p14:creationId xmlns:p14="http://schemas.microsoft.com/office/powerpoint/2010/main" val="35348588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7196F84-D7C0-E106-E489-FA95094C0B4A}"/>
              </a:ext>
            </a:extLst>
          </p:cNvPr>
          <p:cNvSpPr>
            <a:spLocks noGrp="1"/>
          </p:cNvSpPr>
          <p:nvPr>
            <p:ph type="title"/>
          </p:nvPr>
        </p:nvSpPr>
        <p:spPr>
          <a:xfrm>
            <a:off x="838200" y="609600"/>
            <a:ext cx="3739341" cy="1330839"/>
          </a:xfrm>
        </p:spPr>
        <p:txBody>
          <a:bodyPr>
            <a:normAutofit/>
          </a:bodyPr>
          <a:lstStyle/>
          <a:p>
            <a:r>
              <a:rPr lang="en-US" b="1" dirty="0"/>
              <a:t>Complications</a:t>
            </a:r>
            <a:endParaRPr lang="en-US" dirty="0"/>
          </a:p>
        </p:txBody>
      </p:sp>
      <p:sp>
        <p:nvSpPr>
          <p:cNvPr id="3" name="Content Placeholder 2">
            <a:extLst>
              <a:ext uri="{FF2B5EF4-FFF2-40B4-BE49-F238E27FC236}">
                <a16:creationId xmlns:a16="http://schemas.microsoft.com/office/drawing/2014/main" id="{F152DBA3-0962-5724-BF58-A5824DEF4285}"/>
              </a:ext>
            </a:extLst>
          </p:cNvPr>
          <p:cNvSpPr>
            <a:spLocks noGrp="1"/>
          </p:cNvSpPr>
          <p:nvPr>
            <p:ph idx="1"/>
          </p:nvPr>
        </p:nvSpPr>
        <p:spPr>
          <a:xfrm>
            <a:off x="862366" y="2194102"/>
            <a:ext cx="3427001" cy="3908586"/>
          </a:xfrm>
        </p:spPr>
        <p:txBody>
          <a:bodyPr>
            <a:normAutofit/>
          </a:bodyPr>
          <a:lstStyle/>
          <a:p>
            <a:r>
              <a:rPr lang="en-US" sz="1900" b="1"/>
              <a:t>Bleeding</a:t>
            </a:r>
            <a:r>
              <a:rPr lang="en-US" sz="1900"/>
              <a:t> (73% of complications) — hematemesis, melena, or hematochezia if brisk; case fatality 5–10% </a:t>
            </a:r>
          </a:p>
          <a:p>
            <a:r>
              <a:rPr lang="en-US" sz="1900" b="1"/>
              <a:t>Perforation</a:t>
            </a:r>
            <a:r>
              <a:rPr lang="en-US" sz="1900"/>
              <a:t> (9%) — sudden severe abdominal pain, acute abdomen, free air on imaging; mortality up to 20% </a:t>
            </a:r>
          </a:p>
          <a:p>
            <a:r>
              <a:rPr lang="en-US" sz="1900" b="1"/>
              <a:t>Gastric outlet obstruction</a:t>
            </a:r>
            <a:r>
              <a:rPr lang="en-US" sz="1900"/>
              <a:t> (3%) — nausea, vomiting, early satiety, weight loss</a:t>
            </a:r>
          </a:p>
          <a:p>
            <a:endParaRPr lang="en-US" sz="1900"/>
          </a:p>
        </p:txBody>
      </p:sp>
      <p:pic>
        <p:nvPicPr>
          <p:cNvPr id="5" name="Picture 4" descr="Human stomach anatomy internal organ 3d rendering | Premium Photo">
            <a:extLst>
              <a:ext uri="{FF2B5EF4-FFF2-40B4-BE49-F238E27FC236}">
                <a16:creationId xmlns:a16="http://schemas.microsoft.com/office/drawing/2014/main" id="{6F41C4FB-C1F0-719D-8F65-60F62DC27D41}"/>
              </a:ext>
            </a:extLst>
          </p:cNvPr>
          <p:cNvPicPr>
            <a:picLocks noChangeAspect="1"/>
          </p:cNvPicPr>
          <p:nvPr/>
        </p:nvPicPr>
        <p:blipFill>
          <a:blip r:embed="rId3"/>
          <a:srcRect l="3795" r="-3" b="-3"/>
          <a:stretch>
            <a:fillRect/>
          </a:stretch>
        </p:blipFill>
        <p:spPr>
          <a:xfrm>
            <a:off x="5849531" y="661916"/>
            <a:ext cx="5346993" cy="5557909"/>
          </a:xfrm>
          <a:prstGeom prst="rect">
            <a:avLst/>
          </a:prstGeom>
        </p:spPr>
      </p:pic>
    </p:spTree>
    <p:extLst>
      <p:ext uri="{BB962C8B-B14F-4D97-AF65-F5344CB8AC3E}">
        <p14:creationId xmlns:p14="http://schemas.microsoft.com/office/powerpoint/2010/main" val="11517671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E033D6C-F678-C58C-A057-5F9340410A1A}"/>
              </a:ext>
            </a:extLst>
          </p:cNvPr>
          <p:cNvSpPr>
            <a:spLocks noGrp="1"/>
          </p:cNvSpPr>
          <p:nvPr>
            <p:ph type="title"/>
          </p:nvPr>
        </p:nvSpPr>
        <p:spPr>
          <a:xfrm>
            <a:off x="838200" y="609600"/>
            <a:ext cx="3739341" cy="1330839"/>
          </a:xfrm>
        </p:spPr>
        <p:txBody>
          <a:bodyPr>
            <a:normAutofit/>
          </a:bodyPr>
          <a:lstStyle/>
          <a:p>
            <a:r>
              <a:rPr lang="en-US" b="1" dirty="0"/>
              <a:t>Diagnosis</a:t>
            </a:r>
            <a:endParaRPr lang="en-US" dirty="0"/>
          </a:p>
        </p:txBody>
      </p:sp>
      <p:sp>
        <p:nvSpPr>
          <p:cNvPr id="3" name="Content Placeholder 2">
            <a:extLst>
              <a:ext uri="{FF2B5EF4-FFF2-40B4-BE49-F238E27FC236}">
                <a16:creationId xmlns:a16="http://schemas.microsoft.com/office/drawing/2014/main" id="{5CECBF00-0AF6-CEC5-698D-8C72D43E0DEC}"/>
              </a:ext>
            </a:extLst>
          </p:cNvPr>
          <p:cNvSpPr>
            <a:spLocks noGrp="1"/>
          </p:cNvSpPr>
          <p:nvPr>
            <p:ph idx="1"/>
          </p:nvPr>
        </p:nvSpPr>
        <p:spPr>
          <a:xfrm>
            <a:off x="862366" y="2194102"/>
            <a:ext cx="3427001" cy="3908586"/>
          </a:xfrm>
        </p:spPr>
        <p:txBody>
          <a:bodyPr>
            <a:normAutofit/>
          </a:bodyPr>
          <a:lstStyle/>
          <a:p>
            <a:r>
              <a:rPr lang="en-US" sz="1400" b="1"/>
              <a:t>Endoscopy (EGD)</a:t>
            </a:r>
            <a:r>
              <a:rPr lang="en-US" sz="1400"/>
              <a:t> is the gold standard — sensitivity 92% </a:t>
            </a:r>
          </a:p>
          <a:p>
            <a:pPr lvl="1"/>
            <a:r>
              <a:rPr lang="en-US" sz="1400"/>
              <a:t>Direct visualization, biopsy for H. pylori and malignancy, and therapeutic intervention for bleeding.</a:t>
            </a:r>
          </a:p>
          <a:p>
            <a:r>
              <a:rPr lang="en-US" sz="1400" b="1"/>
              <a:t>Test-and-treat strategy</a:t>
            </a:r>
            <a:r>
              <a:rPr lang="en-US" sz="1400"/>
              <a:t> for patients &lt;60 years with dyspepsia and no alarm features: </a:t>
            </a:r>
          </a:p>
          <a:p>
            <a:pPr lvl="1"/>
            <a:r>
              <a:rPr lang="en-US" sz="1400"/>
              <a:t>Test for H. pylori (urea breath test or stool antigen — noninvasive)</a:t>
            </a:r>
          </a:p>
          <a:p>
            <a:pPr lvl="2"/>
            <a:r>
              <a:rPr lang="en-US" sz="1400"/>
              <a:t>If positive → eradicate</a:t>
            </a:r>
          </a:p>
          <a:p>
            <a:pPr lvl="2"/>
            <a:r>
              <a:rPr lang="en-US" sz="1400"/>
              <a:t>If negative → empiric PPI trial for 4 weeks</a:t>
            </a:r>
          </a:p>
          <a:p>
            <a:pPr lvl="2"/>
            <a:r>
              <a:rPr lang="en-US" sz="1400"/>
              <a:t>If symptoms persist → EGD</a:t>
            </a:r>
          </a:p>
          <a:p>
            <a:endParaRPr lang="en-US" sz="1400"/>
          </a:p>
        </p:txBody>
      </p:sp>
      <p:pic>
        <p:nvPicPr>
          <p:cNvPr id="5" name="Picture 4" descr="Human stomach anatomy internal organ 3d rendering | Premium Photo">
            <a:extLst>
              <a:ext uri="{FF2B5EF4-FFF2-40B4-BE49-F238E27FC236}">
                <a16:creationId xmlns:a16="http://schemas.microsoft.com/office/drawing/2014/main" id="{DDE8E637-B93D-1A42-6C94-7D0049A19047}"/>
              </a:ext>
            </a:extLst>
          </p:cNvPr>
          <p:cNvPicPr>
            <a:picLocks noChangeAspect="1"/>
          </p:cNvPicPr>
          <p:nvPr/>
        </p:nvPicPr>
        <p:blipFill>
          <a:blip r:embed="rId2"/>
          <a:srcRect l="3795" r="-3" b="-3"/>
          <a:stretch>
            <a:fillRect/>
          </a:stretch>
        </p:blipFill>
        <p:spPr>
          <a:xfrm>
            <a:off x="5849531" y="661916"/>
            <a:ext cx="5346993" cy="5557909"/>
          </a:xfrm>
          <a:prstGeom prst="rect">
            <a:avLst/>
          </a:prstGeom>
        </p:spPr>
      </p:pic>
    </p:spTree>
    <p:extLst>
      <p:ext uri="{BB962C8B-B14F-4D97-AF65-F5344CB8AC3E}">
        <p14:creationId xmlns:p14="http://schemas.microsoft.com/office/powerpoint/2010/main" val="26611943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06F3E67-5785-51E7-8268-79EE9E737AAA}"/>
              </a:ext>
            </a:extLst>
          </p:cNvPr>
          <p:cNvSpPr>
            <a:spLocks noGrp="1"/>
          </p:cNvSpPr>
          <p:nvPr>
            <p:ph type="title"/>
          </p:nvPr>
        </p:nvSpPr>
        <p:spPr>
          <a:xfrm>
            <a:off x="838200" y="609600"/>
            <a:ext cx="3739341" cy="1330839"/>
          </a:xfrm>
        </p:spPr>
        <p:txBody>
          <a:bodyPr>
            <a:normAutofit/>
          </a:bodyPr>
          <a:lstStyle/>
          <a:p>
            <a:r>
              <a:rPr lang="en-US" sz="2800" b="1" i="1" dirty="0">
                <a:solidFill>
                  <a:srgbClr val="FF0000"/>
                </a:solidFill>
              </a:rPr>
              <a:t>Alarm </a:t>
            </a:r>
            <a:r>
              <a:rPr lang="en-US" sz="2800" b="1" dirty="0"/>
              <a:t>features requiring EGD</a:t>
            </a:r>
            <a:br>
              <a:rPr lang="en-US" sz="2800" dirty="0"/>
            </a:br>
            <a:endParaRPr lang="en-US" sz="2800" dirty="0"/>
          </a:p>
        </p:txBody>
      </p:sp>
      <p:sp>
        <p:nvSpPr>
          <p:cNvPr id="3" name="Content Placeholder 2">
            <a:extLst>
              <a:ext uri="{FF2B5EF4-FFF2-40B4-BE49-F238E27FC236}">
                <a16:creationId xmlns:a16="http://schemas.microsoft.com/office/drawing/2014/main" id="{8D2D6F88-817D-F151-FA20-D396ABB0D5E9}"/>
              </a:ext>
            </a:extLst>
          </p:cNvPr>
          <p:cNvSpPr>
            <a:spLocks noGrp="1"/>
          </p:cNvSpPr>
          <p:nvPr>
            <p:ph idx="1"/>
          </p:nvPr>
        </p:nvSpPr>
        <p:spPr>
          <a:xfrm>
            <a:off x="862366" y="2194102"/>
            <a:ext cx="3427001" cy="3908586"/>
          </a:xfrm>
        </p:spPr>
        <p:txBody>
          <a:bodyPr>
            <a:normAutofit/>
          </a:bodyPr>
          <a:lstStyle/>
          <a:p>
            <a:r>
              <a:rPr lang="en-US" sz="2000" b="1" dirty="0">
                <a:solidFill>
                  <a:srgbClr val="FF0000"/>
                </a:solidFill>
              </a:rPr>
              <a:t>Age ≥60 with new-onset dyspepsia</a:t>
            </a:r>
          </a:p>
          <a:p>
            <a:r>
              <a:rPr lang="en-US" sz="2000" b="1" dirty="0">
                <a:solidFill>
                  <a:srgbClr val="FF0000"/>
                </a:solidFill>
              </a:rPr>
              <a:t>Unintended weight loss</a:t>
            </a:r>
          </a:p>
          <a:p>
            <a:r>
              <a:rPr lang="en-US" sz="2000" b="1" dirty="0">
                <a:solidFill>
                  <a:srgbClr val="FF0000"/>
                </a:solidFill>
              </a:rPr>
              <a:t>GI bleeding</a:t>
            </a:r>
          </a:p>
          <a:p>
            <a:r>
              <a:rPr lang="en-US" sz="2000" b="1" dirty="0">
                <a:solidFill>
                  <a:srgbClr val="FF0000"/>
                </a:solidFill>
              </a:rPr>
              <a:t>Progressive dysphagia/odynophagia</a:t>
            </a:r>
          </a:p>
          <a:p>
            <a:r>
              <a:rPr lang="en-US" sz="2000" b="1" dirty="0">
                <a:solidFill>
                  <a:srgbClr val="FF0000"/>
                </a:solidFill>
              </a:rPr>
              <a:t>Persistent vomiting</a:t>
            </a:r>
          </a:p>
          <a:p>
            <a:r>
              <a:rPr lang="en-US" sz="2000" b="1" dirty="0">
                <a:solidFill>
                  <a:srgbClr val="FF0000"/>
                </a:solidFill>
              </a:rPr>
              <a:t>Palpable mass or lymphadenopathy</a:t>
            </a:r>
          </a:p>
          <a:p>
            <a:endParaRPr lang="en-US" sz="2000" dirty="0"/>
          </a:p>
        </p:txBody>
      </p:sp>
      <p:pic>
        <p:nvPicPr>
          <p:cNvPr id="5" name="Picture 4" descr="Human stomach anatomy internal organ 3d rendering | Premium Photo">
            <a:extLst>
              <a:ext uri="{FF2B5EF4-FFF2-40B4-BE49-F238E27FC236}">
                <a16:creationId xmlns:a16="http://schemas.microsoft.com/office/drawing/2014/main" id="{D80030BE-8BF1-C8A6-ECE8-BDF98EABD632}"/>
              </a:ext>
            </a:extLst>
          </p:cNvPr>
          <p:cNvPicPr>
            <a:picLocks noChangeAspect="1"/>
          </p:cNvPicPr>
          <p:nvPr/>
        </p:nvPicPr>
        <p:blipFill>
          <a:blip r:embed="rId2"/>
          <a:srcRect l="3795" r="-3" b="-3"/>
          <a:stretch>
            <a:fillRect/>
          </a:stretch>
        </p:blipFill>
        <p:spPr>
          <a:xfrm>
            <a:off x="5849531" y="661916"/>
            <a:ext cx="5346993" cy="5557909"/>
          </a:xfrm>
          <a:prstGeom prst="rect">
            <a:avLst/>
          </a:prstGeom>
        </p:spPr>
      </p:pic>
    </p:spTree>
    <p:extLst>
      <p:ext uri="{BB962C8B-B14F-4D97-AF65-F5344CB8AC3E}">
        <p14:creationId xmlns:p14="http://schemas.microsoft.com/office/powerpoint/2010/main" val="1918536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763C252-C503-315B-D363-BD29EDD6F594}"/>
              </a:ext>
            </a:extLst>
          </p:cNvPr>
          <p:cNvSpPr>
            <a:spLocks noGrp="1"/>
          </p:cNvSpPr>
          <p:nvPr>
            <p:ph type="title"/>
          </p:nvPr>
        </p:nvSpPr>
        <p:spPr>
          <a:xfrm>
            <a:off x="838200" y="609600"/>
            <a:ext cx="3739341" cy="1330839"/>
          </a:xfrm>
        </p:spPr>
        <p:txBody>
          <a:bodyPr>
            <a:normAutofit/>
          </a:bodyPr>
          <a:lstStyle/>
          <a:p>
            <a:r>
              <a:rPr lang="en-US" dirty="0"/>
              <a:t>Diagnosis</a:t>
            </a:r>
          </a:p>
        </p:txBody>
      </p:sp>
      <p:sp>
        <p:nvSpPr>
          <p:cNvPr id="3" name="Content Placeholder 2">
            <a:extLst>
              <a:ext uri="{FF2B5EF4-FFF2-40B4-BE49-F238E27FC236}">
                <a16:creationId xmlns:a16="http://schemas.microsoft.com/office/drawing/2014/main" id="{00EAD3E9-5D5C-A86D-7779-940E878F1F37}"/>
              </a:ext>
            </a:extLst>
          </p:cNvPr>
          <p:cNvSpPr>
            <a:spLocks noGrp="1"/>
          </p:cNvSpPr>
          <p:nvPr>
            <p:ph idx="1"/>
          </p:nvPr>
        </p:nvSpPr>
        <p:spPr>
          <a:xfrm>
            <a:off x="862366" y="2194102"/>
            <a:ext cx="3427001" cy="3908586"/>
          </a:xfrm>
        </p:spPr>
        <p:txBody>
          <a:bodyPr>
            <a:normAutofit/>
          </a:bodyPr>
          <a:lstStyle/>
          <a:p>
            <a:r>
              <a:rPr lang="en-US" sz="2000" b="1" dirty="0"/>
              <a:t>Gastric ulcers should always be biopsied</a:t>
            </a:r>
            <a:r>
              <a:rPr lang="en-US" sz="2000" dirty="0"/>
              <a:t> at the ulcer edge to rule out malignancy. </a:t>
            </a:r>
          </a:p>
          <a:p>
            <a:endParaRPr lang="en-US" sz="2000" dirty="0"/>
          </a:p>
          <a:p>
            <a:r>
              <a:rPr lang="en-US" sz="2000" b="1" dirty="0"/>
              <a:t>H. pylori testing</a:t>
            </a:r>
            <a:r>
              <a:rPr lang="en-US" sz="2000" dirty="0"/>
              <a:t>: Hold PPIs for ≥2 weeks and antibiotics/bismuth for ≥4 weeks before testing to </a:t>
            </a:r>
            <a:r>
              <a:rPr lang="en-US" sz="2000" b="1" dirty="0"/>
              <a:t>avoid false negatives</a:t>
            </a:r>
            <a:r>
              <a:rPr lang="en-US" sz="2000" dirty="0"/>
              <a:t>.</a:t>
            </a:r>
          </a:p>
          <a:p>
            <a:endParaRPr lang="en-US" sz="2000" dirty="0"/>
          </a:p>
        </p:txBody>
      </p:sp>
      <p:pic>
        <p:nvPicPr>
          <p:cNvPr id="5" name="Picture 4" descr="Human stomach anatomy internal organ 3d rendering | Premium Photo">
            <a:extLst>
              <a:ext uri="{FF2B5EF4-FFF2-40B4-BE49-F238E27FC236}">
                <a16:creationId xmlns:a16="http://schemas.microsoft.com/office/drawing/2014/main" id="{3B331035-22FA-B2FA-1223-21D7041FE0CD}"/>
              </a:ext>
            </a:extLst>
          </p:cNvPr>
          <p:cNvPicPr>
            <a:picLocks noChangeAspect="1"/>
          </p:cNvPicPr>
          <p:nvPr/>
        </p:nvPicPr>
        <p:blipFill>
          <a:blip r:embed="rId2"/>
          <a:srcRect l="3795" r="-3" b="-3"/>
          <a:stretch>
            <a:fillRect/>
          </a:stretch>
        </p:blipFill>
        <p:spPr>
          <a:xfrm>
            <a:off x="5849531" y="661916"/>
            <a:ext cx="5346993" cy="5557909"/>
          </a:xfrm>
          <a:prstGeom prst="rect">
            <a:avLst/>
          </a:prstGeom>
        </p:spPr>
      </p:pic>
    </p:spTree>
    <p:extLst>
      <p:ext uri="{BB962C8B-B14F-4D97-AF65-F5344CB8AC3E}">
        <p14:creationId xmlns:p14="http://schemas.microsoft.com/office/powerpoint/2010/main" val="6408252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886" y="0"/>
            <a:ext cx="7538114"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863A140-6FDA-8180-A249-DAD961A62E88}"/>
              </a:ext>
            </a:extLst>
          </p:cNvPr>
          <p:cNvSpPr>
            <a:spLocks noGrp="1"/>
          </p:cNvSpPr>
          <p:nvPr>
            <p:ph type="title"/>
          </p:nvPr>
        </p:nvSpPr>
        <p:spPr>
          <a:xfrm>
            <a:off x="5867400" y="609600"/>
            <a:ext cx="5310116" cy="1322887"/>
          </a:xfrm>
        </p:spPr>
        <p:txBody>
          <a:bodyPr>
            <a:normAutofit/>
          </a:bodyPr>
          <a:lstStyle/>
          <a:p>
            <a:r>
              <a:rPr lang="en-US" b="1" dirty="0"/>
              <a:t>Treatment</a:t>
            </a:r>
            <a:endParaRPr lang="en-US" dirty="0"/>
          </a:p>
        </p:txBody>
      </p:sp>
      <p:pic>
        <p:nvPicPr>
          <p:cNvPr id="5" name="Picture 4" descr="Human stomach anatomy internal organ 3d rendering | Premium Photo">
            <a:extLst>
              <a:ext uri="{FF2B5EF4-FFF2-40B4-BE49-F238E27FC236}">
                <a16:creationId xmlns:a16="http://schemas.microsoft.com/office/drawing/2014/main" id="{C8D24D25-162C-32F7-3905-DD73F6CED740}"/>
              </a:ext>
            </a:extLst>
          </p:cNvPr>
          <p:cNvPicPr>
            <a:picLocks noChangeAspect="1"/>
          </p:cNvPicPr>
          <p:nvPr/>
        </p:nvPicPr>
        <p:blipFill>
          <a:blip r:embed="rId2"/>
          <a:srcRect l="3795" r="-3" b="-3"/>
          <a:stretch>
            <a:fillRect/>
          </a:stretch>
        </p:blipFill>
        <p:spPr>
          <a:xfrm>
            <a:off x="674427" y="1500600"/>
            <a:ext cx="3720152" cy="3866895"/>
          </a:xfrm>
          <a:prstGeom prst="rect">
            <a:avLst/>
          </a:prstGeom>
        </p:spPr>
      </p:pic>
      <p:sp>
        <p:nvSpPr>
          <p:cNvPr id="3" name="Content Placeholder 2">
            <a:extLst>
              <a:ext uri="{FF2B5EF4-FFF2-40B4-BE49-F238E27FC236}">
                <a16:creationId xmlns:a16="http://schemas.microsoft.com/office/drawing/2014/main" id="{FD73E44E-091B-0587-B2D1-FA40F2C144B0}"/>
              </a:ext>
            </a:extLst>
          </p:cNvPr>
          <p:cNvSpPr>
            <a:spLocks noGrp="1"/>
          </p:cNvSpPr>
          <p:nvPr>
            <p:ph idx="1"/>
          </p:nvPr>
        </p:nvSpPr>
        <p:spPr>
          <a:xfrm>
            <a:off x="5867400" y="2194102"/>
            <a:ext cx="5310116" cy="3908585"/>
          </a:xfrm>
        </p:spPr>
        <p:txBody>
          <a:bodyPr>
            <a:normAutofit/>
          </a:bodyPr>
          <a:lstStyle/>
          <a:p>
            <a:r>
              <a:rPr lang="en-US" sz="2000" b="1"/>
              <a:t>Acid suppression</a:t>
            </a:r>
            <a:r>
              <a:rPr lang="en-US" sz="2000"/>
              <a:t>: </a:t>
            </a:r>
            <a:r>
              <a:rPr lang="en-US" sz="2000" b="1"/>
              <a:t>PPIs</a:t>
            </a:r>
            <a:r>
              <a:rPr lang="en-US" sz="2000"/>
              <a:t> (omeprazole, pantoprazole, etc.) are the mainstay. They heal 80–100% of ulcers within 4 weeks; gastric ulcers &gt;2 cm may need 8 weeks. </a:t>
            </a:r>
          </a:p>
          <a:p>
            <a:r>
              <a:rPr lang="en-US" sz="2000"/>
              <a:t> Vonoprazan, a potassium-competitive acid blocker (P-CAB), is a newer alternative with &gt;90% healing rates. </a:t>
            </a:r>
          </a:p>
          <a:p>
            <a:r>
              <a:rPr lang="en-US" sz="2000" b="1"/>
              <a:t>H. pylori eradication</a:t>
            </a:r>
            <a:r>
              <a:rPr lang="en-US" sz="2000"/>
              <a:t> is critical — it reduces ulcer recurrence from </a:t>
            </a:r>
            <a:r>
              <a:rPr lang="en-US" sz="2000" b="1"/>
              <a:t>50–60% to 0–2%</a:t>
            </a:r>
            <a:r>
              <a:rPr lang="en-US" sz="2000"/>
              <a:t>. </a:t>
            </a:r>
          </a:p>
          <a:p>
            <a:pPr lvl="1"/>
            <a:r>
              <a:rPr lang="en-US" sz="2000"/>
              <a:t>Regimens (14-day courses preferred)</a:t>
            </a:r>
          </a:p>
          <a:p>
            <a:endParaRPr lang="en-US" sz="2000"/>
          </a:p>
        </p:txBody>
      </p:sp>
    </p:spTree>
    <p:extLst>
      <p:ext uri="{BB962C8B-B14F-4D97-AF65-F5344CB8AC3E}">
        <p14:creationId xmlns:p14="http://schemas.microsoft.com/office/powerpoint/2010/main" val="14702600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FE38A8A6-C441-7DD1-BB5B-D12FDBCBF85F}"/>
              </a:ext>
            </a:extLst>
          </p:cNvPr>
          <p:cNvSpPr>
            <a:spLocks noGrp="1"/>
          </p:cNvSpPr>
          <p:nvPr>
            <p:ph type="title"/>
          </p:nvPr>
        </p:nvSpPr>
        <p:spPr>
          <a:xfrm>
            <a:off x="804672" y="457200"/>
            <a:ext cx="10579608" cy="1188720"/>
          </a:xfrm>
        </p:spPr>
        <p:txBody>
          <a:bodyPr>
            <a:normAutofit/>
          </a:bodyPr>
          <a:lstStyle/>
          <a:p>
            <a:r>
              <a:rPr lang="en-US" sz="4000">
                <a:solidFill>
                  <a:schemeClr val="tx2"/>
                </a:solidFill>
              </a:rPr>
              <a:t>Treatments</a:t>
            </a:r>
          </a:p>
        </p:txBody>
      </p:sp>
      <p:grpSp>
        <p:nvGrpSpPr>
          <p:cNvPr id="13" name="Group 12">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881264" y="-5116"/>
            <a:ext cx="3318648" cy="2490264"/>
            <a:chOff x="-305" y="-1"/>
            <a:chExt cx="3832880" cy="2876136"/>
          </a:xfrm>
        </p:grpSpPr>
        <p:sp>
          <p:nvSpPr>
            <p:cNvPr id="14" name="Freeform: Shape 13">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07887"/>
            <a:ext cx="2605762" cy="2252847"/>
            <a:chOff x="-305" y="-4155"/>
            <a:chExt cx="2514948" cy="2174333"/>
          </a:xfrm>
        </p:grpSpPr>
        <p:sp>
          <p:nvSpPr>
            <p:cNvPr id="20" name="Freeform: Shape 19">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4" name="Content Placeholder 3">
            <a:extLst>
              <a:ext uri="{FF2B5EF4-FFF2-40B4-BE49-F238E27FC236}">
                <a16:creationId xmlns:a16="http://schemas.microsoft.com/office/drawing/2014/main" id="{9A422456-06A7-BDC0-2B4A-11865B334D4C}"/>
              </a:ext>
            </a:extLst>
          </p:cNvPr>
          <p:cNvGraphicFramePr>
            <a:graphicFrameLocks noGrp="1"/>
          </p:cNvGraphicFramePr>
          <p:nvPr>
            <p:ph idx="1"/>
            <p:extLst>
              <p:ext uri="{D42A27DB-BD31-4B8C-83A1-F6EECF244321}">
                <p14:modId xmlns:p14="http://schemas.microsoft.com/office/powerpoint/2010/main" val="3470183652"/>
              </p:ext>
            </p:extLst>
          </p:nvPr>
        </p:nvGraphicFramePr>
        <p:xfrm>
          <a:off x="1036320" y="2710869"/>
          <a:ext cx="9381393" cy="3689931"/>
        </p:xfrm>
        <a:graphic>
          <a:graphicData uri="http://schemas.openxmlformats.org/drawingml/2006/table">
            <a:tbl>
              <a:tblPr>
                <a:solidFill>
                  <a:schemeClr val="bg1"/>
                </a:solidFill>
              </a:tblPr>
              <a:tblGrid>
                <a:gridCol w="3076022">
                  <a:extLst>
                    <a:ext uri="{9D8B030D-6E8A-4147-A177-3AD203B41FA5}">
                      <a16:colId xmlns:a16="http://schemas.microsoft.com/office/drawing/2014/main" val="847811730"/>
                    </a:ext>
                  </a:extLst>
                </a:gridCol>
                <a:gridCol w="3170350">
                  <a:extLst>
                    <a:ext uri="{9D8B030D-6E8A-4147-A177-3AD203B41FA5}">
                      <a16:colId xmlns:a16="http://schemas.microsoft.com/office/drawing/2014/main" val="338935259"/>
                    </a:ext>
                  </a:extLst>
                </a:gridCol>
                <a:gridCol w="3135021">
                  <a:extLst>
                    <a:ext uri="{9D8B030D-6E8A-4147-A177-3AD203B41FA5}">
                      <a16:colId xmlns:a16="http://schemas.microsoft.com/office/drawing/2014/main" val="1101435710"/>
                    </a:ext>
                  </a:extLst>
                </a:gridCol>
              </a:tblGrid>
              <a:tr h="458419">
                <a:tc>
                  <a:txBody>
                    <a:bodyPr/>
                    <a:lstStyle/>
                    <a:p>
                      <a:pPr>
                        <a:buNone/>
                      </a:pPr>
                      <a:r>
                        <a:rPr lang="en-US" sz="1300" cap="none" spc="0">
                          <a:solidFill>
                            <a:schemeClr val="tx1"/>
                          </a:solidFill>
                          <a:effectLst/>
                        </a:rPr>
                        <a:t>Regimen</a:t>
                      </a:r>
                    </a:p>
                  </a:txBody>
                  <a:tcPr marL="112688" marR="69914" marT="86683" marB="8668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effectLst/>
                        </a:rPr>
                        <a:t>Components</a:t>
                      </a:r>
                    </a:p>
                  </a:txBody>
                  <a:tcPr marL="112688" marR="69914" marT="86683" marB="8668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effectLst/>
                        </a:rPr>
                        <a:t>Notes</a:t>
                      </a:r>
                    </a:p>
                  </a:txBody>
                  <a:tcPr marL="112688" marR="69914" marT="86683" marB="8668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451444286"/>
                  </a:ext>
                </a:extLst>
              </a:tr>
              <a:tr h="927562">
                <a:tc>
                  <a:txBody>
                    <a:bodyPr/>
                    <a:lstStyle/>
                    <a:p>
                      <a:pPr>
                        <a:buNone/>
                      </a:pPr>
                      <a:r>
                        <a:rPr lang="en-US" sz="1300" cap="none" spc="0">
                          <a:solidFill>
                            <a:schemeClr val="tx1"/>
                          </a:solidFill>
                          <a:effectLst/>
                        </a:rPr>
                        <a:t>Bismuth quadruple therapy</a:t>
                      </a:r>
                    </a:p>
                  </a:txBody>
                  <a:tcPr marL="112688" marR="69914" marT="86683" marB="8668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effectLst/>
                        </a:rPr>
                        <a:t>PPI + bismuth + tetracycline + metronidazole</a:t>
                      </a:r>
                    </a:p>
                  </a:txBody>
                  <a:tcPr marL="112688" marR="69914" marT="86683" marB="8668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effectLst/>
                        </a:rPr>
                        <a:t>Preferred first-line in many regions; effective regardless of clarithromycin resistance</a:t>
                      </a:r>
                    </a:p>
                  </a:txBody>
                  <a:tcPr marL="112688" marR="69914" marT="86683" marB="8668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392676037"/>
                  </a:ext>
                </a:extLst>
              </a:tr>
              <a:tr h="688194">
                <a:tc>
                  <a:txBody>
                    <a:bodyPr/>
                    <a:lstStyle/>
                    <a:p>
                      <a:pPr>
                        <a:buNone/>
                      </a:pPr>
                      <a:r>
                        <a:rPr lang="en-US" sz="1300" cap="none" spc="0">
                          <a:solidFill>
                            <a:schemeClr val="tx1"/>
                          </a:solidFill>
                          <a:effectLst/>
                        </a:rPr>
                        <a:t>Concomitant quadruple therapy</a:t>
                      </a:r>
                    </a:p>
                  </a:txBody>
                  <a:tcPr marL="112688" marR="69914" marT="86683" marB="8668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effectLst/>
                        </a:rPr>
                        <a:t>PPI + clarithromycin + amoxicillin + metronidazole</a:t>
                      </a:r>
                    </a:p>
                  </a:txBody>
                  <a:tcPr marL="112688" marR="69914" marT="86683" marB="8668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effectLst/>
                        </a:rPr>
                        <a:t>Alternative first-line; avoid if local clarithromycin resistance &gt;15%</a:t>
                      </a:r>
                    </a:p>
                  </a:txBody>
                  <a:tcPr marL="112688" marR="69914" marT="86683" marB="8668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679575445"/>
                  </a:ext>
                </a:extLst>
              </a:tr>
              <a:tr h="927562">
                <a:tc>
                  <a:txBody>
                    <a:bodyPr/>
                    <a:lstStyle/>
                    <a:p>
                      <a:pPr>
                        <a:buNone/>
                      </a:pPr>
                      <a:r>
                        <a:rPr lang="en-US" sz="1300" cap="none" spc="0">
                          <a:solidFill>
                            <a:schemeClr val="tx1"/>
                          </a:solidFill>
                          <a:effectLst/>
                        </a:rPr>
                        <a:t>Triple therapy</a:t>
                      </a:r>
                    </a:p>
                  </a:txBody>
                  <a:tcPr marL="112688" marR="69914" marT="86683" marB="8668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effectLst/>
                        </a:rPr>
                        <a:t>PPI + clarithromycin + amoxicillin (or metronidazole)</a:t>
                      </a:r>
                    </a:p>
                  </a:txBody>
                  <a:tcPr marL="112688" marR="69914" marT="86683" marB="8668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effectLst/>
                        </a:rPr>
                        <a:t>Declining efficacy (&lt;70% in many areas); use only if local clarithromycin resistance is low</a:t>
                      </a:r>
                    </a:p>
                  </a:txBody>
                  <a:tcPr marL="112688" marR="69914" marT="86683" marB="8668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886725437"/>
                  </a:ext>
                </a:extLst>
              </a:tr>
              <a:tr h="688194">
                <a:tc>
                  <a:txBody>
                    <a:bodyPr/>
                    <a:lstStyle/>
                    <a:p>
                      <a:pPr>
                        <a:buNone/>
                      </a:pPr>
                      <a:r>
                        <a:rPr lang="en-US" sz="1300" cap="none" spc="0">
                          <a:solidFill>
                            <a:schemeClr val="tx1"/>
                          </a:solidFill>
                          <a:effectLst/>
                        </a:rPr>
                        <a:t>Vonoprazan-based regimens</a:t>
                      </a:r>
                    </a:p>
                  </a:txBody>
                  <a:tcPr marL="112688" marR="69914" marT="86683" marB="8668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a:solidFill>
                            <a:schemeClr val="tx1"/>
                          </a:solidFill>
                          <a:effectLst/>
                        </a:rPr>
                        <a:t>Vonoprazan + amoxicillin ± clarithromycin</a:t>
                      </a:r>
                    </a:p>
                  </a:txBody>
                  <a:tcPr marL="112688" marR="69914" marT="86683" marB="8668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pPr>
                        <a:buNone/>
                      </a:pPr>
                      <a:r>
                        <a:rPr lang="en-US" sz="1300" cap="none" spc="0" dirty="0">
                          <a:solidFill>
                            <a:schemeClr val="tx1"/>
                          </a:solidFill>
                          <a:effectLst/>
                        </a:rPr>
                        <a:t>High eradication rates even with clarithromycin-resistant strains</a:t>
                      </a:r>
                    </a:p>
                  </a:txBody>
                  <a:tcPr marL="112688" marR="69914" marT="86683" marB="8668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800315280"/>
                  </a:ext>
                </a:extLst>
              </a:tr>
            </a:tbl>
          </a:graphicData>
        </a:graphic>
      </p:graphicFrame>
      <p:pic>
        <p:nvPicPr>
          <p:cNvPr id="10" name="Picture 9" descr="Human stomach anatomy internal organ 3d rendering | Premium Photo">
            <a:extLst>
              <a:ext uri="{FF2B5EF4-FFF2-40B4-BE49-F238E27FC236}">
                <a16:creationId xmlns:a16="http://schemas.microsoft.com/office/drawing/2014/main" id="{2ED0060A-5F1E-FC0C-714D-21D71E17652D}"/>
              </a:ext>
            </a:extLst>
          </p:cNvPr>
          <p:cNvPicPr>
            <a:picLocks noChangeAspect="1"/>
          </p:cNvPicPr>
          <p:nvPr/>
        </p:nvPicPr>
        <p:blipFill>
          <a:blip r:embed="rId3"/>
          <a:srcRect l="3795" r="-3" b="-3"/>
          <a:stretch>
            <a:fillRect/>
          </a:stretch>
        </p:blipFill>
        <p:spPr>
          <a:xfrm>
            <a:off x="4886738" y="801128"/>
            <a:ext cx="2154142" cy="1684020"/>
          </a:xfrm>
          <a:prstGeom prst="rect">
            <a:avLst/>
          </a:prstGeom>
        </p:spPr>
      </p:pic>
    </p:spTree>
    <p:extLst>
      <p:ext uri="{BB962C8B-B14F-4D97-AF65-F5344CB8AC3E}">
        <p14:creationId xmlns:p14="http://schemas.microsoft.com/office/powerpoint/2010/main" val="37517551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886" y="0"/>
            <a:ext cx="7538114"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FE769E-3CC4-6B28-19A8-66F8747BBEC0}"/>
              </a:ext>
            </a:extLst>
          </p:cNvPr>
          <p:cNvSpPr>
            <a:spLocks noGrp="1"/>
          </p:cNvSpPr>
          <p:nvPr>
            <p:ph type="title"/>
          </p:nvPr>
        </p:nvSpPr>
        <p:spPr>
          <a:xfrm>
            <a:off x="5867400" y="609600"/>
            <a:ext cx="5310116" cy="1322887"/>
          </a:xfrm>
        </p:spPr>
        <p:txBody>
          <a:bodyPr>
            <a:normAutofit fontScale="90000"/>
          </a:bodyPr>
          <a:lstStyle/>
          <a:p>
            <a:r>
              <a:rPr lang="en-US" dirty="0"/>
              <a:t>Risk Factors and Treatments for N-SAID related ulcers</a:t>
            </a:r>
          </a:p>
        </p:txBody>
      </p:sp>
      <p:pic>
        <p:nvPicPr>
          <p:cNvPr id="5" name="Picture 4" descr="Human stomach anatomy internal organ 3d rendering | Premium Photo">
            <a:extLst>
              <a:ext uri="{FF2B5EF4-FFF2-40B4-BE49-F238E27FC236}">
                <a16:creationId xmlns:a16="http://schemas.microsoft.com/office/drawing/2014/main" id="{7F572144-4568-41B5-4AFA-7F3B0879959C}"/>
              </a:ext>
            </a:extLst>
          </p:cNvPr>
          <p:cNvPicPr>
            <a:picLocks noChangeAspect="1"/>
          </p:cNvPicPr>
          <p:nvPr/>
        </p:nvPicPr>
        <p:blipFill>
          <a:blip r:embed="rId3"/>
          <a:srcRect l="3795" r="-3" b="-3"/>
          <a:stretch>
            <a:fillRect/>
          </a:stretch>
        </p:blipFill>
        <p:spPr>
          <a:xfrm>
            <a:off x="674427" y="1500600"/>
            <a:ext cx="3720152" cy="3866895"/>
          </a:xfrm>
          <a:prstGeom prst="rect">
            <a:avLst/>
          </a:prstGeom>
        </p:spPr>
      </p:pic>
      <p:sp>
        <p:nvSpPr>
          <p:cNvPr id="3" name="Content Placeholder 2">
            <a:extLst>
              <a:ext uri="{FF2B5EF4-FFF2-40B4-BE49-F238E27FC236}">
                <a16:creationId xmlns:a16="http://schemas.microsoft.com/office/drawing/2014/main" id="{EF71A9DA-AEB1-C69C-CC28-114E1A522019}"/>
              </a:ext>
            </a:extLst>
          </p:cNvPr>
          <p:cNvSpPr>
            <a:spLocks noGrp="1"/>
          </p:cNvSpPr>
          <p:nvPr>
            <p:ph idx="1"/>
          </p:nvPr>
        </p:nvSpPr>
        <p:spPr>
          <a:xfrm>
            <a:off x="5867400" y="2194102"/>
            <a:ext cx="5310116" cy="3908585"/>
          </a:xfrm>
        </p:spPr>
        <p:txBody>
          <a:bodyPr>
            <a:normAutofit fontScale="92500" lnSpcReduction="20000"/>
          </a:bodyPr>
          <a:lstStyle/>
          <a:p>
            <a:r>
              <a:rPr lang="en-US" sz="2000" b="1" dirty="0"/>
              <a:t>Risk Factors: </a:t>
            </a:r>
            <a:r>
              <a:rPr lang="en-US" sz="2000" dirty="0"/>
              <a:t>age &gt;65, prior PUD, concomitant antiplatelet/anticoagulant/corticosteroid/SSRI use, high-dose NSAIDs</a:t>
            </a:r>
            <a:endParaRPr lang="en-US" sz="2000" b="1" dirty="0"/>
          </a:p>
          <a:p>
            <a:endParaRPr lang="en-US" sz="2000" b="1" dirty="0"/>
          </a:p>
          <a:p>
            <a:r>
              <a:rPr lang="en-US" sz="2000" b="1" dirty="0"/>
              <a:t>Treatments</a:t>
            </a:r>
            <a:r>
              <a:rPr lang="en-US" sz="2000" dirty="0"/>
              <a:t>: Discontinue the NSAIDs</a:t>
            </a:r>
          </a:p>
          <a:p>
            <a:pPr lvl="1"/>
            <a:r>
              <a:rPr lang="en-US" sz="2000" dirty="0"/>
              <a:t> If NSAIDs cannot be stopped, strategies include adding a PPI, switching to a COX-2 inhibitor, or </a:t>
            </a:r>
            <a:r>
              <a:rPr lang="en-US" sz="2000" b="1" dirty="0"/>
              <a:t>ideally combining a COX-2 inhibitor (i.e. celecoxib) + PPI for highest-risk </a:t>
            </a:r>
            <a:r>
              <a:rPr lang="en-US" sz="2000" dirty="0"/>
              <a:t>patients. </a:t>
            </a:r>
          </a:p>
          <a:p>
            <a:pPr lvl="2"/>
            <a:r>
              <a:rPr lang="en-US" dirty="0"/>
              <a:t>Patient requiring preventative management for </a:t>
            </a:r>
            <a:r>
              <a:rPr lang="en-US" b="1" i="1" dirty="0"/>
              <a:t>cerebrovascular and cardiovascular events, Rheumatoid arthritis</a:t>
            </a:r>
            <a:br>
              <a:rPr lang="en-US" b="1" i="1" dirty="0"/>
            </a:br>
            <a:endParaRPr lang="en-US" b="1" i="1" dirty="0"/>
          </a:p>
        </p:txBody>
      </p:sp>
    </p:spTree>
    <p:extLst>
      <p:ext uri="{BB962C8B-B14F-4D97-AF65-F5344CB8AC3E}">
        <p14:creationId xmlns:p14="http://schemas.microsoft.com/office/powerpoint/2010/main" val="28655837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886" y="0"/>
            <a:ext cx="7538114"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3F98439-5536-2411-8652-A3E7CB5C1D65}"/>
              </a:ext>
            </a:extLst>
          </p:cNvPr>
          <p:cNvSpPr>
            <a:spLocks noGrp="1"/>
          </p:cNvSpPr>
          <p:nvPr>
            <p:ph type="title"/>
          </p:nvPr>
        </p:nvSpPr>
        <p:spPr>
          <a:xfrm>
            <a:off x="5867400" y="609600"/>
            <a:ext cx="5310116" cy="1322887"/>
          </a:xfrm>
        </p:spPr>
        <p:txBody>
          <a:bodyPr>
            <a:normAutofit/>
          </a:bodyPr>
          <a:lstStyle/>
          <a:p>
            <a:r>
              <a:rPr lang="en-US" sz="4100" b="1"/>
              <a:t>Management of Upper GI Bleeding from PUD</a:t>
            </a:r>
            <a:endParaRPr lang="en-US" sz="4100"/>
          </a:p>
        </p:txBody>
      </p:sp>
      <p:pic>
        <p:nvPicPr>
          <p:cNvPr id="5" name="Picture 4" descr="Human stomach anatomy internal organ 3d rendering | Premium Photo">
            <a:extLst>
              <a:ext uri="{FF2B5EF4-FFF2-40B4-BE49-F238E27FC236}">
                <a16:creationId xmlns:a16="http://schemas.microsoft.com/office/drawing/2014/main" id="{CE1EB0E4-BBD7-BFEF-1528-76966B3EB5B2}"/>
              </a:ext>
            </a:extLst>
          </p:cNvPr>
          <p:cNvPicPr>
            <a:picLocks noChangeAspect="1"/>
          </p:cNvPicPr>
          <p:nvPr/>
        </p:nvPicPr>
        <p:blipFill>
          <a:blip r:embed="rId3"/>
          <a:srcRect l="3795" r="-3" b="-3"/>
          <a:stretch>
            <a:fillRect/>
          </a:stretch>
        </p:blipFill>
        <p:spPr>
          <a:xfrm>
            <a:off x="674427" y="1500600"/>
            <a:ext cx="3720152" cy="3866895"/>
          </a:xfrm>
          <a:prstGeom prst="rect">
            <a:avLst/>
          </a:prstGeom>
        </p:spPr>
      </p:pic>
      <p:sp>
        <p:nvSpPr>
          <p:cNvPr id="3" name="Content Placeholder 2">
            <a:extLst>
              <a:ext uri="{FF2B5EF4-FFF2-40B4-BE49-F238E27FC236}">
                <a16:creationId xmlns:a16="http://schemas.microsoft.com/office/drawing/2014/main" id="{4868A570-6E1D-C265-4D1B-6E8B8E3941F7}"/>
              </a:ext>
            </a:extLst>
          </p:cNvPr>
          <p:cNvSpPr>
            <a:spLocks noGrp="1"/>
          </p:cNvSpPr>
          <p:nvPr>
            <p:ph idx="1"/>
          </p:nvPr>
        </p:nvSpPr>
        <p:spPr>
          <a:xfrm>
            <a:off x="5867400" y="2194102"/>
            <a:ext cx="5310116" cy="3908585"/>
          </a:xfrm>
        </p:spPr>
        <p:txBody>
          <a:bodyPr>
            <a:normAutofit/>
          </a:bodyPr>
          <a:lstStyle/>
          <a:p>
            <a:pPr marL="0" indent="0">
              <a:buNone/>
            </a:pPr>
            <a:endParaRPr lang="en-US" sz="2000" dirty="0"/>
          </a:p>
          <a:p>
            <a:r>
              <a:rPr lang="en-US" sz="2000" dirty="0"/>
              <a:t>Key principles:</a:t>
            </a:r>
          </a:p>
          <a:p>
            <a:pPr lvl="1"/>
            <a:r>
              <a:rPr lang="en-US" sz="2000" b="1" dirty="0"/>
              <a:t>Resuscitate first</a:t>
            </a:r>
            <a:r>
              <a:rPr lang="en-US" sz="2000" dirty="0"/>
              <a:t> — crystalloids, transfuse if Hgb &lt;7-8 g/dL (depending on the case)</a:t>
            </a:r>
          </a:p>
          <a:p>
            <a:pPr lvl="1"/>
            <a:r>
              <a:rPr lang="en-US" sz="2000" b="1" dirty="0"/>
              <a:t>Glasgow-Blatchford Score (GBS) ≤1</a:t>
            </a:r>
            <a:r>
              <a:rPr lang="en-US" sz="2000" dirty="0"/>
              <a:t> → safe for outpatient management </a:t>
            </a:r>
          </a:p>
          <a:p>
            <a:pPr lvl="1"/>
            <a:r>
              <a:rPr lang="en-US" sz="2000" b="1" dirty="0"/>
              <a:t>EGD within 24 hours</a:t>
            </a:r>
            <a:r>
              <a:rPr lang="en-US" sz="2000" dirty="0"/>
              <a:t> for all admitted patients</a:t>
            </a:r>
          </a:p>
          <a:p>
            <a:endParaRPr lang="en-US" sz="2000" dirty="0"/>
          </a:p>
        </p:txBody>
      </p:sp>
    </p:spTree>
    <p:extLst>
      <p:ext uri="{BB962C8B-B14F-4D97-AF65-F5344CB8AC3E}">
        <p14:creationId xmlns:p14="http://schemas.microsoft.com/office/powerpoint/2010/main" val="13903870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CC5B2-7BE4-C5F3-7E91-67996386FF52}"/>
              </a:ext>
            </a:extLst>
          </p:cNvPr>
          <p:cNvSpPr>
            <a:spLocks noGrp="1"/>
          </p:cNvSpPr>
          <p:nvPr>
            <p:ph type="title"/>
          </p:nvPr>
        </p:nvSpPr>
        <p:spPr/>
        <p:txBody>
          <a:bodyPr/>
          <a:lstStyle/>
          <a:p>
            <a:r>
              <a:rPr lang="en-US" dirty="0"/>
              <a:t>GBS Score Chart</a:t>
            </a:r>
          </a:p>
        </p:txBody>
      </p:sp>
      <p:pic>
        <p:nvPicPr>
          <p:cNvPr id="4" name="Content Placeholder 3" descr="Glasgow Scores... Not just for coma any more! - St Emlyns">
            <a:extLst>
              <a:ext uri="{FF2B5EF4-FFF2-40B4-BE49-F238E27FC236}">
                <a16:creationId xmlns:a16="http://schemas.microsoft.com/office/drawing/2014/main" id="{1B5DA48D-E4D9-CBC2-8ED6-EBE643131E9E}"/>
              </a:ext>
            </a:extLst>
          </p:cNvPr>
          <p:cNvPicPr>
            <a:picLocks noGrp="1" noChangeAspect="1"/>
          </p:cNvPicPr>
          <p:nvPr>
            <p:ph idx="1"/>
          </p:nvPr>
        </p:nvPicPr>
        <p:blipFill>
          <a:blip r:embed="rId2"/>
          <a:stretch>
            <a:fillRect/>
          </a:stretch>
        </p:blipFill>
        <p:spPr>
          <a:xfrm>
            <a:off x="4526360" y="1825625"/>
            <a:ext cx="3139279" cy="4351338"/>
          </a:xfrm>
          <a:prstGeom prst="rect">
            <a:avLst/>
          </a:prstGeom>
        </p:spPr>
      </p:pic>
    </p:spTree>
    <p:extLst>
      <p:ext uri="{BB962C8B-B14F-4D97-AF65-F5344CB8AC3E}">
        <p14:creationId xmlns:p14="http://schemas.microsoft.com/office/powerpoint/2010/main" val="11218641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886" y="0"/>
            <a:ext cx="7538114"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AE97539-FAAE-6C34-90C1-FC0266607C1F}"/>
              </a:ext>
            </a:extLst>
          </p:cNvPr>
          <p:cNvSpPr>
            <a:spLocks noGrp="1"/>
          </p:cNvSpPr>
          <p:nvPr>
            <p:ph type="title"/>
          </p:nvPr>
        </p:nvSpPr>
        <p:spPr>
          <a:xfrm>
            <a:off x="5867400" y="609600"/>
            <a:ext cx="5310116" cy="1322887"/>
          </a:xfrm>
        </p:spPr>
        <p:txBody>
          <a:bodyPr>
            <a:normAutofit/>
          </a:bodyPr>
          <a:lstStyle/>
          <a:p>
            <a:r>
              <a:rPr lang="en-US" b="1" i="1" dirty="0"/>
              <a:t>***Pearls***</a:t>
            </a:r>
          </a:p>
        </p:txBody>
      </p:sp>
      <p:pic>
        <p:nvPicPr>
          <p:cNvPr id="5" name="Picture 4" descr="Natural Pearls vs. Cultured Pearls: The Difference Explained | Jewelers Mutual">
            <a:extLst>
              <a:ext uri="{FF2B5EF4-FFF2-40B4-BE49-F238E27FC236}">
                <a16:creationId xmlns:a16="http://schemas.microsoft.com/office/drawing/2014/main" id="{1139B8EA-FC7D-56BD-4694-FFD45C4D8E85}"/>
              </a:ext>
            </a:extLst>
          </p:cNvPr>
          <p:cNvPicPr>
            <a:picLocks noChangeAspect="1"/>
          </p:cNvPicPr>
          <p:nvPr/>
        </p:nvPicPr>
        <p:blipFill>
          <a:blip r:embed="rId2"/>
          <a:srcRect l="16524" r="16523" b="-1"/>
          <a:stretch>
            <a:fillRect/>
          </a:stretch>
        </p:blipFill>
        <p:spPr>
          <a:xfrm>
            <a:off x="674427" y="1579593"/>
            <a:ext cx="3720152" cy="3708909"/>
          </a:xfrm>
          <a:prstGeom prst="rect">
            <a:avLst/>
          </a:prstGeom>
        </p:spPr>
      </p:pic>
      <p:sp>
        <p:nvSpPr>
          <p:cNvPr id="3" name="Content Placeholder 2">
            <a:extLst>
              <a:ext uri="{FF2B5EF4-FFF2-40B4-BE49-F238E27FC236}">
                <a16:creationId xmlns:a16="http://schemas.microsoft.com/office/drawing/2014/main" id="{AABB26E5-35F7-3D61-790D-EB39C575AAF4}"/>
              </a:ext>
            </a:extLst>
          </p:cNvPr>
          <p:cNvSpPr>
            <a:spLocks noGrp="1"/>
          </p:cNvSpPr>
          <p:nvPr>
            <p:ph idx="1"/>
          </p:nvPr>
        </p:nvSpPr>
        <p:spPr>
          <a:xfrm>
            <a:off x="5867400" y="2194102"/>
            <a:ext cx="5310116" cy="3908585"/>
          </a:xfrm>
        </p:spPr>
        <p:txBody>
          <a:bodyPr>
            <a:normAutofit/>
          </a:bodyPr>
          <a:lstStyle/>
          <a:p>
            <a:r>
              <a:rPr lang="en-US" sz="1400" b="1" dirty="0"/>
              <a:t>Duodenal ulcers</a:t>
            </a:r>
            <a:r>
              <a:rPr lang="en-US" sz="1400" dirty="0"/>
              <a:t> are more common than gastric ulcers and more strongly associated with H. pylori</a:t>
            </a:r>
          </a:p>
          <a:p>
            <a:r>
              <a:rPr lang="en-US" sz="1400" b="1" dirty="0"/>
              <a:t>Gastric ulcers must be biopsied</a:t>
            </a:r>
            <a:r>
              <a:rPr lang="en-US" sz="1400" dirty="0"/>
              <a:t> to rule out malignancy; duodenal ulcers rarely need biopsy (duodenal cancer is exceedingly rare)</a:t>
            </a:r>
          </a:p>
          <a:p>
            <a:r>
              <a:rPr lang="en-US" sz="1400" b="1" dirty="0"/>
              <a:t>Posterior duodenal ulcers</a:t>
            </a:r>
            <a:r>
              <a:rPr lang="en-US" sz="1400" dirty="0"/>
              <a:t> can erode into the </a:t>
            </a:r>
            <a:r>
              <a:rPr lang="en-US" sz="1400" b="1" dirty="0"/>
              <a:t>gastroduodenal artery</a:t>
            </a:r>
            <a:r>
              <a:rPr lang="en-US" sz="1400" dirty="0"/>
              <a:t> → massive hemorrhage</a:t>
            </a:r>
          </a:p>
          <a:p>
            <a:r>
              <a:rPr lang="en-US" sz="1400" b="1" dirty="0"/>
              <a:t>Posterior gastric ulcers</a:t>
            </a:r>
            <a:r>
              <a:rPr lang="en-US" sz="1400" dirty="0"/>
              <a:t> can erode into the </a:t>
            </a:r>
            <a:r>
              <a:rPr lang="en-US" sz="1400" b="1" dirty="0"/>
              <a:t>splenic artery</a:t>
            </a:r>
            <a:endParaRPr lang="en-US" sz="1400" dirty="0"/>
          </a:p>
          <a:p>
            <a:r>
              <a:rPr lang="en-US" sz="1400" b="1" dirty="0"/>
              <a:t>Anterior duodenal ulcers</a:t>
            </a:r>
            <a:r>
              <a:rPr lang="en-US" sz="1400" dirty="0"/>
              <a:t> are more likely to </a:t>
            </a:r>
            <a:r>
              <a:rPr lang="en-US" sz="1400" b="1" dirty="0"/>
              <a:t>perforate</a:t>
            </a:r>
            <a:r>
              <a:rPr lang="en-US" sz="1400" dirty="0"/>
              <a:t> (free perforation into peritoneum)</a:t>
            </a:r>
          </a:p>
          <a:p>
            <a:r>
              <a:rPr lang="en-US" sz="1400" dirty="0"/>
              <a:t>Confirm H. pylori eradication with a </a:t>
            </a:r>
            <a:r>
              <a:rPr lang="en-US" sz="1400" b="1" dirty="0"/>
              <a:t>urea breath test or stool antigen ≥4 weeks after completing therapy</a:t>
            </a:r>
            <a:endParaRPr lang="en-US" sz="1400" dirty="0"/>
          </a:p>
          <a:p>
            <a:r>
              <a:rPr lang="en-US" sz="1400" b="1" dirty="0"/>
              <a:t>Zollinger-Ellison syndrome</a:t>
            </a:r>
            <a:r>
              <a:rPr lang="en-US" sz="1400" dirty="0"/>
              <a:t>: suspect when ulcers are multiple, distal (jejunal), or refractory to standard PPI therapy</a:t>
            </a:r>
            <a:r>
              <a:rPr lang="en-US" sz="1400" b="1" dirty="0"/>
              <a:t>; check fasting serum gastrin</a:t>
            </a:r>
          </a:p>
          <a:p>
            <a:endParaRPr lang="en-US" sz="1400" dirty="0"/>
          </a:p>
        </p:txBody>
      </p:sp>
    </p:spTree>
    <p:extLst>
      <p:ext uri="{BB962C8B-B14F-4D97-AF65-F5344CB8AC3E}">
        <p14:creationId xmlns:p14="http://schemas.microsoft.com/office/powerpoint/2010/main" val="11512019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F3FA7-8A03-2992-889C-6065268262AC}"/>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b="1" i="1" kern="1200" dirty="0">
                <a:solidFill>
                  <a:srgbClr val="FF0000"/>
                </a:solidFill>
                <a:latin typeface="+mj-lt"/>
                <a:ea typeface="+mj-ea"/>
                <a:cs typeface="+mj-cs"/>
              </a:rPr>
              <a:t>Pyloric Stenosis</a:t>
            </a:r>
            <a:endParaRPr lang="en-US" sz="6600" i="1" kern="1200" dirty="0">
              <a:solidFill>
                <a:srgbClr val="FF0000"/>
              </a:solidFill>
              <a:latin typeface="+mj-lt"/>
              <a:ea typeface="+mj-ea"/>
              <a:cs typeface="+mj-cs"/>
            </a:endParaRPr>
          </a:p>
        </p:txBody>
      </p:sp>
      <p:sp>
        <p:nvSpPr>
          <p:cNvPr id="3" name="Text Placeholder 2">
            <a:extLst>
              <a:ext uri="{FF2B5EF4-FFF2-40B4-BE49-F238E27FC236}">
                <a16:creationId xmlns:a16="http://schemas.microsoft.com/office/drawing/2014/main" id="{E9CDB786-8A85-9B8E-D581-4A2CE517E906}"/>
              </a:ext>
            </a:extLst>
          </p:cNvPr>
          <p:cNvSpPr>
            <a:spLocks noGrp="1"/>
          </p:cNvSpPr>
          <p:nvPr>
            <p:ph type="body" idx="1"/>
          </p:nvPr>
        </p:nvSpPr>
        <p:spPr>
          <a:xfrm>
            <a:off x="638882" y="4631161"/>
            <a:ext cx="3571810" cy="1559327"/>
          </a:xfrm>
        </p:spPr>
        <p:txBody>
          <a:bodyPr vert="horz" lIns="91440" tIns="45720" rIns="91440" bIns="45720" rtlCol="0">
            <a:normAutofit/>
          </a:bodyPr>
          <a:lstStyle/>
          <a:p>
            <a:r>
              <a:rPr lang="en-US" sz="1700" b="1" i="1" u="sng" kern="1200">
                <a:solidFill>
                  <a:schemeClr val="tx1"/>
                </a:solidFill>
                <a:latin typeface="+mn-lt"/>
                <a:ea typeface="+mn-ea"/>
                <a:cs typeface="+mn-cs"/>
              </a:rPr>
              <a:t>Medical Terminology: </a:t>
            </a:r>
          </a:p>
          <a:p>
            <a:r>
              <a:rPr lang="en-US" sz="1700" b="1" kern="1200">
                <a:solidFill>
                  <a:schemeClr val="tx1"/>
                </a:solidFill>
                <a:latin typeface="+mn-lt"/>
                <a:ea typeface="+mn-ea"/>
                <a:cs typeface="+mn-cs"/>
              </a:rPr>
              <a:t>Pylor/o</a:t>
            </a:r>
            <a:r>
              <a:rPr lang="en-US" sz="1700" kern="1200">
                <a:solidFill>
                  <a:schemeClr val="tx1"/>
                </a:solidFill>
                <a:latin typeface="+mn-lt"/>
                <a:ea typeface="+mn-ea"/>
                <a:cs typeface="+mn-cs"/>
              </a:rPr>
              <a:t>: referring to the lower opening of the stomach</a:t>
            </a:r>
            <a:endParaRPr lang="en-US" sz="1700" b="1" kern="1200">
              <a:solidFill>
                <a:schemeClr val="tx1"/>
              </a:solidFill>
              <a:latin typeface="+mn-lt"/>
              <a:ea typeface="+mn-ea"/>
              <a:cs typeface="+mn-cs"/>
            </a:endParaRPr>
          </a:p>
          <a:p>
            <a:r>
              <a:rPr lang="en-US" sz="1700" b="1" kern="1200">
                <a:solidFill>
                  <a:schemeClr val="tx1"/>
                </a:solidFill>
                <a:latin typeface="+mn-lt"/>
                <a:ea typeface="+mn-ea"/>
                <a:cs typeface="+mn-cs"/>
              </a:rPr>
              <a:t>-stenosis</a:t>
            </a:r>
            <a:r>
              <a:rPr lang="en-US" sz="1700" kern="1200">
                <a:solidFill>
                  <a:schemeClr val="tx1"/>
                </a:solidFill>
                <a:latin typeface="+mn-lt"/>
                <a:ea typeface="+mn-ea"/>
                <a:cs typeface="+mn-cs"/>
              </a:rPr>
              <a:t> (Suffix/Root) Meaning: abnormal narrowing or tightening</a:t>
            </a:r>
          </a:p>
        </p:txBody>
      </p:sp>
      <p:sp>
        <p:nvSpPr>
          <p:cNvPr id="25"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uman stomach anatomy internal organ 3d rendering | Premium Photo">
            <a:extLst>
              <a:ext uri="{FF2B5EF4-FFF2-40B4-BE49-F238E27FC236}">
                <a16:creationId xmlns:a16="http://schemas.microsoft.com/office/drawing/2014/main" id="{9790A2C9-8E7B-872C-698E-05D0979EAA8B}"/>
              </a:ext>
            </a:extLst>
          </p:cNvPr>
          <p:cNvPicPr>
            <a:picLocks noChangeAspect="1"/>
          </p:cNvPicPr>
          <p:nvPr/>
        </p:nvPicPr>
        <p:blipFill>
          <a:blip r:embed="rId2"/>
          <a:srcRect l="3795" r="-3" b="-3"/>
          <a:stretch>
            <a:fillRect/>
          </a:stretch>
        </p:blipFill>
        <p:spPr>
          <a:xfrm>
            <a:off x="5591715" y="640080"/>
            <a:ext cx="5339777" cy="5550408"/>
          </a:xfrm>
          <a:prstGeom prst="rect">
            <a:avLst/>
          </a:prstGeom>
        </p:spPr>
      </p:pic>
    </p:spTree>
    <p:extLst>
      <p:ext uri="{BB962C8B-B14F-4D97-AF65-F5344CB8AC3E}">
        <p14:creationId xmlns:p14="http://schemas.microsoft.com/office/powerpoint/2010/main" val="21465386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358FDB-D74A-D929-4C2C-7589A01249EA}"/>
              </a:ext>
            </a:extLst>
          </p:cNvPr>
          <p:cNvSpPr>
            <a:spLocks noGrp="1"/>
          </p:cNvSpPr>
          <p:nvPr>
            <p:ph type="title"/>
          </p:nvPr>
        </p:nvSpPr>
        <p:spPr>
          <a:xfrm>
            <a:off x="6739128" y="638089"/>
            <a:ext cx="4818888" cy="1476801"/>
          </a:xfrm>
        </p:spPr>
        <p:txBody>
          <a:bodyPr anchor="b">
            <a:normAutofit/>
          </a:bodyPr>
          <a:lstStyle/>
          <a:p>
            <a:br>
              <a:rPr lang="en-US" sz="5000" b="1"/>
            </a:br>
            <a:r>
              <a:rPr lang="en-US" sz="5000" b="1"/>
              <a:t>Pyloric Stenosis</a:t>
            </a:r>
            <a:endParaRPr lang="en-US" sz="5000"/>
          </a:p>
        </p:txBody>
      </p:sp>
      <p:pic>
        <p:nvPicPr>
          <p:cNvPr id="5" name="Picture 4" descr="Human stomach anatomy internal organ 3d rendering | Premium Photo">
            <a:extLst>
              <a:ext uri="{FF2B5EF4-FFF2-40B4-BE49-F238E27FC236}">
                <a16:creationId xmlns:a16="http://schemas.microsoft.com/office/drawing/2014/main" id="{227D73D9-CE06-A64A-C36E-982DFA126B24}"/>
              </a:ext>
            </a:extLst>
          </p:cNvPr>
          <p:cNvPicPr>
            <a:picLocks noChangeAspect="1"/>
          </p:cNvPicPr>
          <p:nvPr/>
        </p:nvPicPr>
        <p:blipFill>
          <a:blip r:embed="rId3"/>
          <a:srcRect l="3795" r="-3" b="-3"/>
          <a:stretch>
            <a:fillRect/>
          </a:stretch>
        </p:blipFill>
        <p:spPr>
          <a:xfrm>
            <a:off x="677336" y="640080"/>
            <a:ext cx="5366168" cy="5577840"/>
          </a:xfrm>
          <a:prstGeom prst="rect">
            <a:avLst/>
          </a:prstGeom>
        </p:spPr>
      </p:pic>
      <p:sp>
        <p:nvSpPr>
          <p:cNvPr id="12"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41E0E38-DA2B-F52E-9A3C-150856247526}"/>
              </a:ext>
            </a:extLst>
          </p:cNvPr>
          <p:cNvSpPr>
            <a:spLocks noGrp="1"/>
          </p:cNvSpPr>
          <p:nvPr>
            <p:ph idx="1"/>
          </p:nvPr>
        </p:nvSpPr>
        <p:spPr>
          <a:xfrm>
            <a:off x="6739128" y="2664886"/>
            <a:ext cx="4818888" cy="3550789"/>
          </a:xfrm>
        </p:spPr>
        <p:txBody>
          <a:bodyPr anchor="t">
            <a:normAutofit/>
          </a:bodyPr>
          <a:lstStyle/>
          <a:p>
            <a:r>
              <a:rPr lang="en-US" sz="1900" b="1" dirty="0"/>
              <a:t>Infantile hypertrophic pyloric stenosis (IHPS)</a:t>
            </a:r>
            <a:r>
              <a:rPr lang="en-US" sz="1900" dirty="0"/>
              <a:t> </a:t>
            </a:r>
          </a:p>
          <a:p>
            <a:r>
              <a:rPr lang="en-US" sz="1900" b="1" dirty="0"/>
              <a:t>Epidemiology &amp; Risk Factors</a:t>
            </a:r>
            <a:endParaRPr lang="en-US" sz="1900" dirty="0"/>
          </a:p>
          <a:p>
            <a:pPr lvl="1"/>
            <a:r>
              <a:rPr lang="en-US" sz="1900" dirty="0"/>
              <a:t>Incidence: approximately </a:t>
            </a:r>
            <a:r>
              <a:rPr lang="en-US" sz="1900" b="1" dirty="0"/>
              <a:t>1–5 per 1,000 live births</a:t>
            </a:r>
            <a:r>
              <a:rPr lang="en-US" sz="1900" dirty="0"/>
              <a:t> </a:t>
            </a:r>
          </a:p>
          <a:p>
            <a:pPr lvl="1"/>
            <a:r>
              <a:rPr lang="en-US" sz="1900" b="1" dirty="0"/>
              <a:t>Male-</a:t>
            </a:r>
            <a:r>
              <a:rPr lang="en-US" sz="1900" dirty="0"/>
              <a:t>to-female ratio ~4–5:1</a:t>
            </a:r>
          </a:p>
          <a:p>
            <a:pPr lvl="1"/>
            <a:r>
              <a:rPr lang="en-US" sz="1900" dirty="0"/>
              <a:t>More common in </a:t>
            </a:r>
            <a:r>
              <a:rPr lang="en-US" sz="1900" b="1" dirty="0"/>
              <a:t>firstborn children</a:t>
            </a:r>
            <a:r>
              <a:rPr lang="en-US" sz="1900" dirty="0"/>
              <a:t>, </a:t>
            </a:r>
            <a:r>
              <a:rPr lang="en-US" sz="1900" b="1" dirty="0"/>
              <a:t>Caucasian infants</a:t>
            </a:r>
            <a:r>
              <a:rPr lang="en-US" sz="1900" dirty="0"/>
              <a:t>, and those with a </a:t>
            </a:r>
            <a:r>
              <a:rPr lang="en-US" sz="1900" b="1" dirty="0"/>
              <a:t>positive family history</a:t>
            </a:r>
            <a:r>
              <a:rPr lang="en-US" sz="1900" dirty="0"/>
              <a:t> </a:t>
            </a:r>
          </a:p>
          <a:p>
            <a:pPr lvl="1"/>
            <a:r>
              <a:rPr lang="en-US" sz="1900" dirty="0"/>
              <a:t>Caused by a combination of many genes and environmental factors</a:t>
            </a:r>
          </a:p>
          <a:p>
            <a:endParaRPr lang="en-US" sz="1900" dirty="0"/>
          </a:p>
        </p:txBody>
      </p:sp>
    </p:spTree>
    <p:extLst>
      <p:ext uri="{BB962C8B-B14F-4D97-AF65-F5344CB8AC3E}">
        <p14:creationId xmlns:p14="http://schemas.microsoft.com/office/powerpoint/2010/main" val="32024750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3379CB-6294-3A04-EB62-B7EDE35F3A44}"/>
              </a:ext>
            </a:extLst>
          </p:cNvPr>
          <p:cNvSpPr>
            <a:spLocks noGrp="1"/>
          </p:cNvSpPr>
          <p:nvPr>
            <p:ph type="title"/>
          </p:nvPr>
        </p:nvSpPr>
        <p:spPr>
          <a:xfrm>
            <a:off x="6739128" y="638089"/>
            <a:ext cx="4818888" cy="1476801"/>
          </a:xfrm>
        </p:spPr>
        <p:txBody>
          <a:bodyPr anchor="b">
            <a:normAutofit/>
          </a:bodyPr>
          <a:lstStyle/>
          <a:p>
            <a:r>
              <a:rPr lang="en-US" sz="5000" b="1"/>
              <a:t>Pathophysiology</a:t>
            </a:r>
            <a:endParaRPr lang="en-US" sz="5000"/>
          </a:p>
        </p:txBody>
      </p:sp>
      <p:pic>
        <p:nvPicPr>
          <p:cNvPr id="5" name="Picture 4" descr="Human stomach anatomy internal organ 3d rendering | Premium Photo">
            <a:extLst>
              <a:ext uri="{FF2B5EF4-FFF2-40B4-BE49-F238E27FC236}">
                <a16:creationId xmlns:a16="http://schemas.microsoft.com/office/drawing/2014/main" id="{DBFDB20D-C457-496C-2C0D-7F579010EB75}"/>
              </a:ext>
            </a:extLst>
          </p:cNvPr>
          <p:cNvPicPr>
            <a:picLocks noChangeAspect="1"/>
          </p:cNvPicPr>
          <p:nvPr/>
        </p:nvPicPr>
        <p:blipFill>
          <a:blip r:embed="rId2"/>
          <a:srcRect l="3795" r="-3" b="-3"/>
          <a:stretch>
            <a:fillRect/>
          </a:stretch>
        </p:blipFill>
        <p:spPr>
          <a:xfrm>
            <a:off x="677336" y="640080"/>
            <a:ext cx="5366168" cy="5577840"/>
          </a:xfrm>
          <a:prstGeom prst="rect">
            <a:avLst/>
          </a:prstGeom>
        </p:spPr>
      </p:pic>
      <p:sp>
        <p:nvSpPr>
          <p:cNvPr id="12"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2C05299-2856-55CB-BDB7-5E3094439FCA}"/>
              </a:ext>
            </a:extLst>
          </p:cNvPr>
          <p:cNvSpPr>
            <a:spLocks noGrp="1"/>
          </p:cNvSpPr>
          <p:nvPr>
            <p:ph idx="1"/>
          </p:nvPr>
        </p:nvSpPr>
        <p:spPr>
          <a:xfrm>
            <a:off x="6739128" y="2664886"/>
            <a:ext cx="4818888" cy="3550789"/>
          </a:xfrm>
        </p:spPr>
        <p:txBody>
          <a:bodyPr anchor="t">
            <a:normAutofit/>
          </a:bodyPr>
          <a:lstStyle/>
          <a:p>
            <a:r>
              <a:rPr lang="en-US" sz="2200" dirty="0"/>
              <a:t>The pyloric muscle thickens(</a:t>
            </a:r>
            <a:r>
              <a:rPr lang="en-US" sz="2200" b="1" dirty="0">
                <a:solidFill>
                  <a:srgbClr val="FF0000"/>
                </a:solidFill>
              </a:rPr>
              <a:t>hypertrophy) </a:t>
            </a:r>
          </a:p>
          <a:p>
            <a:pPr lvl="1"/>
            <a:r>
              <a:rPr lang="en-US" sz="2200" dirty="0"/>
              <a:t>gradually narrowing the stomach outlet and creating a blockage that stops food from passing into the intestine. </a:t>
            </a:r>
          </a:p>
          <a:p>
            <a:r>
              <a:rPr lang="en-US" sz="2200" dirty="0"/>
              <a:t>Develops after birth—typically between 3 to 6 weeks of age—rather than being present from birth.</a:t>
            </a:r>
          </a:p>
        </p:txBody>
      </p:sp>
    </p:spTree>
    <p:extLst>
      <p:ext uri="{BB962C8B-B14F-4D97-AF65-F5344CB8AC3E}">
        <p14:creationId xmlns:p14="http://schemas.microsoft.com/office/powerpoint/2010/main" val="9175015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yloric Stenosis In Babies: A Comprehensive Guide For Parents">
            <a:extLst>
              <a:ext uri="{FF2B5EF4-FFF2-40B4-BE49-F238E27FC236}">
                <a16:creationId xmlns:a16="http://schemas.microsoft.com/office/drawing/2014/main" id="{61E7F7A0-1FCB-6E0F-CA44-AEAA1A353985}"/>
              </a:ext>
            </a:extLst>
          </p:cNvPr>
          <p:cNvPicPr>
            <a:picLocks noChangeAspect="1"/>
          </p:cNvPicPr>
          <p:nvPr/>
        </p:nvPicPr>
        <p:blipFill>
          <a:blip r:embed="rId3"/>
          <a:stretch>
            <a:fillRect/>
          </a:stretch>
        </p:blipFill>
        <p:spPr>
          <a:xfrm>
            <a:off x="3810000" y="857250"/>
            <a:ext cx="4572000" cy="5143500"/>
          </a:xfrm>
          <a:prstGeom prst="rect">
            <a:avLst/>
          </a:prstGeom>
        </p:spPr>
      </p:pic>
    </p:spTree>
    <p:extLst>
      <p:ext uri="{BB962C8B-B14F-4D97-AF65-F5344CB8AC3E}">
        <p14:creationId xmlns:p14="http://schemas.microsoft.com/office/powerpoint/2010/main" val="15266364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CB3063-BC04-9A57-9D72-2F8C8F47CEA9}"/>
              </a:ext>
            </a:extLst>
          </p:cNvPr>
          <p:cNvSpPr>
            <a:spLocks noGrp="1"/>
          </p:cNvSpPr>
          <p:nvPr>
            <p:ph type="title"/>
          </p:nvPr>
        </p:nvSpPr>
        <p:spPr>
          <a:xfrm>
            <a:off x="5297762" y="329184"/>
            <a:ext cx="6251110" cy="1783080"/>
          </a:xfrm>
        </p:spPr>
        <p:txBody>
          <a:bodyPr anchor="b">
            <a:normAutofit/>
          </a:bodyPr>
          <a:lstStyle/>
          <a:p>
            <a:r>
              <a:rPr lang="en-US" sz="5400" b="1" dirty="0"/>
              <a:t>Classic Presentation</a:t>
            </a:r>
            <a:endParaRPr lang="en-US" sz="5400" dirty="0"/>
          </a:p>
        </p:txBody>
      </p:sp>
      <p:pic>
        <p:nvPicPr>
          <p:cNvPr id="5" name="Picture 4" descr="Human stomach anatomy internal organ 3d rendering | Premium Photo">
            <a:extLst>
              <a:ext uri="{FF2B5EF4-FFF2-40B4-BE49-F238E27FC236}">
                <a16:creationId xmlns:a16="http://schemas.microsoft.com/office/drawing/2014/main" id="{D651A664-5FBC-E6DD-98CB-0867DC1D20E5}"/>
              </a:ext>
            </a:extLst>
          </p:cNvPr>
          <p:cNvPicPr>
            <a:picLocks noChangeAspect="1"/>
          </p:cNvPicPr>
          <p:nvPr/>
        </p:nvPicPr>
        <p:blipFill>
          <a:blip r:embed="rId2"/>
          <a:srcRect l="17942" r="14147"/>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5"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F34B4BD-B8D9-49D4-B73E-301000FC34D1}"/>
              </a:ext>
            </a:extLst>
          </p:cNvPr>
          <p:cNvSpPr>
            <a:spLocks noGrp="1"/>
          </p:cNvSpPr>
          <p:nvPr>
            <p:ph idx="1"/>
          </p:nvPr>
        </p:nvSpPr>
        <p:spPr>
          <a:xfrm>
            <a:off x="5297762" y="2706624"/>
            <a:ext cx="6251110" cy="3483864"/>
          </a:xfrm>
        </p:spPr>
        <p:txBody>
          <a:bodyPr>
            <a:normAutofit/>
          </a:bodyPr>
          <a:lstStyle/>
          <a:p>
            <a:r>
              <a:rPr lang="en-US" sz="1500" b="1"/>
              <a:t>Nonbilious, projectile vomiting</a:t>
            </a:r>
            <a:r>
              <a:rPr lang="en-US" sz="1500"/>
              <a:t> — the hallmark symptom. </a:t>
            </a:r>
          </a:p>
          <a:p>
            <a:pPr lvl="1"/>
            <a:r>
              <a:rPr lang="en-US" sz="1500"/>
              <a:t>Vomiting is nonbilious because the obstruction is proximal to the ampulla of Vater. </a:t>
            </a:r>
          </a:p>
          <a:p>
            <a:r>
              <a:rPr lang="en-US" sz="1500"/>
              <a:t>The infant is classically described as</a:t>
            </a:r>
          </a:p>
          <a:p>
            <a:pPr lvl="1"/>
            <a:r>
              <a:rPr lang="en-US" sz="1500" b="1"/>
              <a:t>"hungry vomiter"</a:t>
            </a:r>
            <a:r>
              <a:rPr lang="en-US" sz="1500"/>
              <a:t> — eager to feed immediately after vomiting </a:t>
            </a:r>
          </a:p>
          <a:p>
            <a:r>
              <a:rPr lang="en-US" sz="1500"/>
              <a:t>Progressive dehydration, weight loss, and failure to thrive if untreated </a:t>
            </a:r>
          </a:p>
          <a:p>
            <a:r>
              <a:rPr lang="en-US" sz="1500"/>
              <a:t>Physical exam: palpable </a:t>
            </a:r>
            <a:r>
              <a:rPr lang="en-US" sz="1500" b="1"/>
              <a:t>"olive-shaped" mass</a:t>
            </a:r>
            <a:r>
              <a:rPr lang="en-US" sz="1500"/>
              <a:t> in the right upper quadrant/epigastrium (though sensitivity of palpation is only ~74%) </a:t>
            </a:r>
          </a:p>
          <a:p>
            <a:r>
              <a:rPr lang="en-US" sz="1500"/>
              <a:t>Visible gastric peristaltic waves may be observed across the upper abdomen</a:t>
            </a:r>
          </a:p>
          <a:p>
            <a:endParaRPr lang="en-US" sz="1500"/>
          </a:p>
        </p:txBody>
      </p:sp>
    </p:spTree>
    <p:extLst>
      <p:ext uri="{BB962C8B-B14F-4D97-AF65-F5344CB8AC3E}">
        <p14:creationId xmlns:p14="http://schemas.microsoft.com/office/powerpoint/2010/main" val="38488196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6C15C2-81E7-9FA3-77CE-215409F74B2C}"/>
              </a:ext>
            </a:extLst>
          </p:cNvPr>
          <p:cNvSpPr>
            <a:spLocks noGrp="1"/>
          </p:cNvSpPr>
          <p:nvPr>
            <p:ph type="title"/>
          </p:nvPr>
        </p:nvSpPr>
        <p:spPr>
          <a:xfrm>
            <a:off x="572493" y="238539"/>
            <a:ext cx="11018520" cy="1434415"/>
          </a:xfrm>
        </p:spPr>
        <p:txBody>
          <a:bodyPr anchor="b">
            <a:normAutofit/>
          </a:bodyPr>
          <a:lstStyle/>
          <a:p>
            <a:r>
              <a:rPr lang="en-US" sz="4600" b="1"/>
              <a:t>Metabolic Derangement — A Board Favorite</a:t>
            </a:r>
            <a:endParaRPr lang="en-US" sz="460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4D6EF6A-0828-3927-20F8-2F4A3BE5FE6B}"/>
              </a:ext>
            </a:extLst>
          </p:cNvPr>
          <p:cNvSpPr>
            <a:spLocks noGrp="1"/>
          </p:cNvSpPr>
          <p:nvPr>
            <p:ph idx="1"/>
          </p:nvPr>
        </p:nvSpPr>
        <p:spPr>
          <a:xfrm>
            <a:off x="572493" y="2071316"/>
            <a:ext cx="6713552" cy="4119172"/>
          </a:xfrm>
        </p:spPr>
        <p:txBody>
          <a:bodyPr anchor="t">
            <a:normAutofit/>
          </a:bodyPr>
          <a:lstStyle/>
          <a:p>
            <a:r>
              <a:rPr lang="en-US" sz="2200" dirty="0"/>
              <a:t>Persistent vomiting of gastric acid (HCl) leads to a characteristic </a:t>
            </a:r>
            <a:r>
              <a:rPr lang="en-US" sz="2200" b="1" dirty="0" err="1"/>
              <a:t>hypochloremic</a:t>
            </a:r>
            <a:r>
              <a:rPr lang="en-US" sz="2200" b="1" dirty="0"/>
              <a:t>, hypokalemic metabolic alkalosis</a:t>
            </a:r>
            <a:r>
              <a:rPr lang="en-US" sz="2200" dirty="0"/>
              <a:t>.  The cascade:</a:t>
            </a:r>
          </a:p>
          <a:p>
            <a:pPr lvl="1"/>
            <a:r>
              <a:rPr lang="en-US" sz="2200" b="1" dirty="0"/>
              <a:t>Loss of H⁺ and Cl⁻ </a:t>
            </a:r>
            <a:r>
              <a:rPr lang="en-US" sz="2200" dirty="0"/>
              <a:t>→ metabolic alkalosis and hypochloremia</a:t>
            </a:r>
          </a:p>
          <a:p>
            <a:pPr lvl="1"/>
            <a:r>
              <a:rPr lang="en-US" sz="2200" dirty="0"/>
              <a:t>Kidneys attempt to conserve Cl⁻ by exchanging K⁺ for H⁺ in the distal tubule → hypokalemia and </a:t>
            </a:r>
            <a:r>
              <a:rPr lang="en-US" sz="2200" b="1" dirty="0"/>
              <a:t>paradoxical aciduria</a:t>
            </a:r>
          </a:p>
          <a:p>
            <a:pPr lvl="1"/>
            <a:r>
              <a:rPr lang="en-US" sz="2200" dirty="0"/>
              <a:t>Severe alkalosis can cause compensatory hypoventilation and even </a:t>
            </a:r>
            <a:r>
              <a:rPr lang="en-US" sz="2200" b="1" dirty="0"/>
              <a:t>central apneas</a:t>
            </a:r>
            <a:r>
              <a:rPr lang="en-US" sz="2200" dirty="0"/>
              <a:t> in infants.</a:t>
            </a:r>
          </a:p>
          <a:p>
            <a:endParaRPr lang="en-US" sz="2200" dirty="0"/>
          </a:p>
        </p:txBody>
      </p:sp>
      <p:pic>
        <p:nvPicPr>
          <p:cNvPr id="5" name="Picture 4" descr="Human stomach anatomy internal organ 3d rendering | Premium Photo">
            <a:extLst>
              <a:ext uri="{FF2B5EF4-FFF2-40B4-BE49-F238E27FC236}">
                <a16:creationId xmlns:a16="http://schemas.microsoft.com/office/drawing/2014/main" id="{18755C98-F2A1-FD8A-ABF2-C5886CFED850}"/>
              </a:ext>
            </a:extLst>
          </p:cNvPr>
          <p:cNvPicPr>
            <a:picLocks noChangeAspect="1"/>
          </p:cNvPicPr>
          <p:nvPr/>
        </p:nvPicPr>
        <p:blipFill>
          <a:blip r:embed="rId3"/>
          <a:srcRect l="3795" r="-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4923161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BA6283-05CA-2346-32A6-A747D469CAD2}"/>
              </a:ext>
            </a:extLst>
          </p:cNvPr>
          <p:cNvSpPr>
            <a:spLocks noGrp="1"/>
          </p:cNvSpPr>
          <p:nvPr>
            <p:ph type="title"/>
          </p:nvPr>
        </p:nvSpPr>
        <p:spPr>
          <a:xfrm>
            <a:off x="5297762" y="329184"/>
            <a:ext cx="6251110" cy="1783080"/>
          </a:xfrm>
        </p:spPr>
        <p:txBody>
          <a:bodyPr anchor="b">
            <a:normAutofit/>
          </a:bodyPr>
          <a:lstStyle/>
          <a:p>
            <a:r>
              <a:rPr lang="en-US" sz="5400" b="1"/>
              <a:t>Diagnosis</a:t>
            </a:r>
            <a:endParaRPr lang="en-US" sz="5400"/>
          </a:p>
        </p:txBody>
      </p:sp>
      <p:pic>
        <p:nvPicPr>
          <p:cNvPr id="5" name="Picture 4" descr="Human stomach anatomy internal organ 3d rendering | Premium Photo">
            <a:extLst>
              <a:ext uri="{FF2B5EF4-FFF2-40B4-BE49-F238E27FC236}">
                <a16:creationId xmlns:a16="http://schemas.microsoft.com/office/drawing/2014/main" id="{5467D56F-8D84-8D1F-5C15-AA4DEAB9D547}"/>
              </a:ext>
            </a:extLst>
          </p:cNvPr>
          <p:cNvPicPr>
            <a:picLocks noChangeAspect="1"/>
          </p:cNvPicPr>
          <p:nvPr/>
        </p:nvPicPr>
        <p:blipFill>
          <a:blip r:embed="rId2"/>
          <a:srcRect l="17942" r="14147"/>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DC6D137-965B-7DE0-A0AB-45B85FBE0108}"/>
              </a:ext>
            </a:extLst>
          </p:cNvPr>
          <p:cNvSpPr>
            <a:spLocks noGrp="1"/>
          </p:cNvSpPr>
          <p:nvPr>
            <p:ph idx="1"/>
          </p:nvPr>
        </p:nvSpPr>
        <p:spPr>
          <a:xfrm>
            <a:off x="5297762" y="2706624"/>
            <a:ext cx="6251110" cy="3483864"/>
          </a:xfrm>
        </p:spPr>
        <p:txBody>
          <a:bodyPr>
            <a:normAutofit/>
          </a:bodyPr>
          <a:lstStyle/>
          <a:p>
            <a:r>
              <a:rPr lang="en-US" sz="1900" b="1"/>
              <a:t>Abdominal ultrasound is the gold standard</a:t>
            </a:r>
            <a:r>
              <a:rPr lang="en-US" sz="1900"/>
              <a:t> — sensitivity and specificity approaching </a:t>
            </a:r>
            <a:r>
              <a:rPr lang="en-US" sz="1900" b="1"/>
              <a:t>100%</a:t>
            </a:r>
            <a:r>
              <a:rPr lang="en-US" sz="1900"/>
              <a:t> </a:t>
            </a:r>
          </a:p>
          <a:p>
            <a:r>
              <a:rPr lang="en-US" sz="1900"/>
              <a:t>Key US measurements: </a:t>
            </a:r>
            <a:r>
              <a:rPr lang="en-US" sz="1900" b="1"/>
              <a:t>pyloric muscle thickness ≥3 mm</a:t>
            </a:r>
            <a:r>
              <a:rPr lang="en-US" sz="1900"/>
              <a:t> (single wall) and </a:t>
            </a:r>
            <a:r>
              <a:rPr lang="en-US" sz="1900" b="1"/>
              <a:t>pyloric canal length ≥14–16 mm</a:t>
            </a:r>
            <a:r>
              <a:rPr lang="en-US" sz="1900"/>
              <a:t> </a:t>
            </a:r>
          </a:p>
          <a:p>
            <a:r>
              <a:rPr lang="en-US" sz="1900"/>
              <a:t>Classic sonogram findings include the </a:t>
            </a:r>
            <a:r>
              <a:rPr lang="en-US" sz="1900" b="1"/>
              <a:t>"target sign"</a:t>
            </a:r>
            <a:r>
              <a:rPr lang="en-US" sz="1900"/>
              <a:t> (transverse view) and elongated pyloric canal (longitudinal view)</a:t>
            </a:r>
          </a:p>
          <a:p>
            <a:r>
              <a:rPr lang="en-US" sz="1900"/>
              <a:t>Upper GI barium study </a:t>
            </a:r>
          </a:p>
          <a:p>
            <a:pPr lvl="1"/>
            <a:r>
              <a:rPr lang="en-US" sz="1900"/>
              <a:t>shows the </a:t>
            </a:r>
            <a:r>
              <a:rPr lang="en-US" sz="1900" b="1"/>
              <a:t>"string sign"</a:t>
            </a:r>
            <a:r>
              <a:rPr lang="en-US" sz="1900"/>
              <a:t> (narrow pyloric channel) </a:t>
            </a:r>
          </a:p>
          <a:p>
            <a:pPr lvl="1"/>
            <a:r>
              <a:rPr lang="en-US" sz="1900" b="1"/>
              <a:t>"shoulder sign"</a:t>
            </a:r>
            <a:r>
              <a:rPr lang="en-US" sz="1900"/>
              <a:t> (mass impression on the antrum)</a:t>
            </a:r>
          </a:p>
        </p:txBody>
      </p:sp>
    </p:spTree>
    <p:extLst>
      <p:ext uri="{BB962C8B-B14F-4D97-AF65-F5344CB8AC3E}">
        <p14:creationId xmlns:p14="http://schemas.microsoft.com/office/powerpoint/2010/main" val="34372618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2F8903-5CCE-FBA3-7E87-02C6260D5E2E}"/>
              </a:ext>
            </a:extLst>
          </p:cNvPr>
          <p:cNvSpPr>
            <a:spLocks noGrp="1"/>
          </p:cNvSpPr>
          <p:nvPr>
            <p:ph type="title"/>
          </p:nvPr>
        </p:nvSpPr>
        <p:spPr>
          <a:xfrm>
            <a:off x="638881" y="4501453"/>
            <a:ext cx="10909640" cy="1065836"/>
          </a:xfrm>
        </p:spPr>
        <p:txBody>
          <a:bodyPr vert="horz" lIns="91440" tIns="45720" rIns="91440" bIns="45720" rtlCol="0" anchor="ctr">
            <a:normAutofit/>
          </a:bodyPr>
          <a:lstStyle/>
          <a:p>
            <a:pPr algn="ctr"/>
            <a:r>
              <a:rPr lang="en-US" sz="6600" dirty="0"/>
              <a:t>Target Sign</a:t>
            </a:r>
          </a:p>
        </p:txBody>
      </p:sp>
      <p:pic>
        <p:nvPicPr>
          <p:cNvPr id="5" name="Picture 4" descr="Pyloric Stenosis | Radiology Key">
            <a:extLst>
              <a:ext uri="{FF2B5EF4-FFF2-40B4-BE49-F238E27FC236}">
                <a16:creationId xmlns:a16="http://schemas.microsoft.com/office/drawing/2014/main" id="{A00CEB89-4F85-0AF7-AB20-4B58763E9353}"/>
              </a:ext>
            </a:extLst>
          </p:cNvPr>
          <p:cNvPicPr>
            <a:picLocks noChangeAspect="1"/>
          </p:cNvPicPr>
          <p:nvPr/>
        </p:nvPicPr>
        <p:blipFill>
          <a:blip r:embed="rId3"/>
          <a:stretch>
            <a:fillRect/>
          </a:stretch>
        </p:blipFill>
        <p:spPr>
          <a:xfrm>
            <a:off x="1417192" y="320040"/>
            <a:ext cx="3420112" cy="3895344"/>
          </a:xfrm>
          <a:prstGeom prst="rect">
            <a:avLst/>
          </a:prstGeom>
        </p:spPr>
      </p:pic>
      <p:pic>
        <p:nvPicPr>
          <p:cNvPr id="4" name="Content Placeholder 3" descr="Target sign (pyloric stenosis) | Radiology Reference Article ...">
            <a:extLst>
              <a:ext uri="{FF2B5EF4-FFF2-40B4-BE49-F238E27FC236}">
                <a16:creationId xmlns:a16="http://schemas.microsoft.com/office/drawing/2014/main" id="{4A9B651D-6183-400F-01E0-D2F2C38A710B}"/>
              </a:ext>
            </a:extLst>
          </p:cNvPr>
          <p:cNvPicPr>
            <a:picLocks noGrp="1" noChangeAspect="1"/>
          </p:cNvPicPr>
          <p:nvPr>
            <p:ph idx="1"/>
          </p:nvPr>
        </p:nvPicPr>
        <p:blipFill>
          <a:blip r:embed="rId4"/>
          <a:stretch>
            <a:fillRect/>
          </a:stretch>
        </p:blipFill>
        <p:spPr>
          <a:xfrm>
            <a:off x="7109151" y="320040"/>
            <a:ext cx="3905106" cy="3895344"/>
          </a:xfrm>
          <a:prstGeom prst="rect">
            <a:avLst/>
          </a:prstGeom>
        </p:spPr>
      </p:pic>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62454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ypertrophic pyloric stenosis illustrations showing USG measurements and  barium study signs. Save to refer them before you see your next case. #art  #rad #radiology #procreate #ipad #neet #neetpg #anatomy #usg #barium  #radiotech #">
            <a:extLst>
              <a:ext uri="{FF2B5EF4-FFF2-40B4-BE49-F238E27FC236}">
                <a16:creationId xmlns:a16="http://schemas.microsoft.com/office/drawing/2014/main" id="{382A342D-EA6D-5600-B0ED-8746F2F34096}"/>
              </a:ext>
            </a:extLst>
          </p:cNvPr>
          <p:cNvPicPr>
            <a:picLocks noChangeAspect="1"/>
          </p:cNvPicPr>
          <p:nvPr/>
        </p:nvPicPr>
        <p:blipFill>
          <a:blip r:embed="rId2"/>
          <a:stretch>
            <a:fillRect/>
          </a:stretch>
        </p:blipFill>
        <p:spPr>
          <a:xfrm>
            <a:off x="678180" y="457200"/>
            <a:ext cx="8458200" cy="5676900"/>
          </a:xfrm>
          <a:prstGeom prst="rect">
            <a:avLst/>
          </a:prstGeom>
        </p:spPr>
      </p:pic>
    </p:spTree>
    <p:extLst>
      <p:ext uri="{BB962C8B-B14F-4D97-AF65-F5344CB8AC3E}">
        <p14:creationId xmlns:p14="http://schemas.microsoft.com/office/powerpoint/2010/main" val="317050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A1B94E-E0A7-5728-31A0-55379EA49F36}"/>
              </a:ext>
            </a:extLst>
          </p:cNvPr>
          <p:cNvSpPr>
            <a:spLocks noGrp="1"/>
          </p:cNvSpPr>
          <p:nvPr>
            <p:ph type="title"/>
          </p:nvPr>
        </p:nvSpPr>
        <p:spPr>
          <a:xfrm>
            <a:off x="572493" y="238539"/>
            <a:ext cx="11018520" cy="1434415"/>
          </a:xfrm>
        </p:spPr>
        <p:txBody>
          <a:bodyPr anchor="b">
            <a:normAutofit/>
          </a:bodyPr>
          <a:lstStyle/>
          <a:p>
            <a:r>
              <a:rPr lang="en-US" sz="5400"/>
              <a:t>Management</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847C07-3BCF-5729-5A21-865111A75124}"/>
              </a:ext>
            </a:extLst>
          </p:cNvPr>
          <p:cNvSpPr>
            <a:spLocks noGrp="1"/>
          </p:cNvSpPr>
          <p:nvPr>
            <p:ph idx="1"/>
          </p:nvPr>
        </p:nvSpPr>
        <p:spPr>
          <a:xfrm>
            <a:off x="572493" y="2071316"/>
            <a:ext cx="6713552" cy="4119172"/>
          </a:xfrm>
        </p:spPr>
        <p:txBody>
          <a:bodyPr anchor="t">
            <a:normAutofit/>
          </a:bodyPr>
          <a:lstStyle/>
          <a:p>
            <a:r>
              <a:rPr lang="en-US" sz="2200" b="1" dirty="0"/>
              <a:t>Preoperative stabilization is critical</a:t>
            </a:r>
            <a:r>
              <a:rPr lang="en-US" sz="2200" dirty="0"/>
              <a:t> —medical emergency </a:t>
            </a:r>
          </a:p>
          <a:p>
            <a:r>
              <a:rPr lang="en-US" sz="2200" dirty="0"/>
              <a:t> Correct dehydration and electrolyte abnormalities (especially chloride and potassium) with </a:t>
            </a:r>
            <a:r>
              <a:rPr lang="en-US" sz="2200" b="1" dirty="0"/>
              <a:t>IV normal saline with KCl</a:t>
            </a:r>
            <a:r>
              <a:rPr lang="en-US" sz="2200" dirty="0"/>
              <a:t> before proceeding to surgery. </a:t>
            </a:r>
          </a:p>
          <a:p>
            <a:r>
              <a:rPr lang="en-US" sz="2200" dirty="0"/>
              <a:t>Metabolic derangements should be corrected to reduce anesthetic risk (particularly apnea from alkalosis) prior to surgery</a:t>
            </a:r>
          </a:p>
        </p:txBody>
      </p:sp>
      <p:pic>
        <p:nvPicPr>
          <p:cNvPr id="5" name="Picture 4" descr="Human stomach anatomy internal organ 3d rendering | Premium Photo">
            <a:extLst>
              <a:ext uri="{FF2B5EF4-FFF2-40B4-BE49-F238E27FC236}">
                <a16:creationId xmlns:a16="http://schemas.microsoft.com/office/drawing/2014/main" id="{522D5C98-4932-AA06-F6D0-A3205CC1FA92}"/>
              </a:ext>
            </a:extLst>
          </p:cNvPr>
          <p:cNvPicPr>
            <a:picLocks noChangeAspect="1"/>
          </p:cNvPicPr>
          <p:nvPr/>
        </p:nvPicPr>
        <p:blipFill>
          <a:blip r:embed="rId2"/>
          <a:srcRect l="3795" r="-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5066261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3F0AAE-F805-17BE-136F-8BD583FF616F}"/>
              </a:ext>
            </a:extLst>
          </p:cNvPr>
          <p:cNvSpPr>
            <a:spLocks noGrp="1"/>
          </p:cNvSpPr>
          <p:nvPr>
            <p:ph type="title"/>
          </p:nvPr>
        </p:nvSpPr>
        <p:spPr>
          <a:xfrm>
            <a:off x="572493" y="238539"/>
            <a:ext cx="11018520" cy="1434415"/>
          </a:xfrm>
        </p:spPr>
        <p:txBody>
          <a:bodyPr anchor="b">
            <a:normAutofit/>
          </a:bodyPr>
          <a:lstStyle/>
          <a:p>
            <a:r>
              <a:rPr lang="en-US" sz="4600" b="1"/>
              <a:t>Definitive treatment: Ramstedt pyloromyotomy</a:t>
            </a:r>
            <a:endParaRPr lang="en-US" sz="460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39A5A4C-B48B-9CD1-BCE3-3801D02E0730}"/>
              </a:ext>
            </a:extLst>
          </p:cNvPr>
          <p:cNvSpPr>
            <a:spLocks noGrp="1"/>
          </p:cNvSpPr>
          <p:nvPr>
            <p:ph idx="1"/>
          </p:nvPr>
        </p:nvSpPr>
        <p:spPr>
          <a:xfrm>
            <a:off x="572493" y="2071316"/>
            <a:ext cx="6713552" cy="4119172"/>
          </a:xfrm>
        </p:spPr>
        <p:txBody>
          <a:bodyPr anchor="t">
            <a:normAutofit/>
          </a:bodyPr>
          <a:lstStyle/>
          <a:p>
            <a:r>
              <a:rPr lang="en-US" sz="2000" dirty="0"/>
              <a:t>a longitudinal incision through the serosa and hypertrophied muscle down to (but not through) the mucosa. </a:t>
            </a:r>
          </a:p>
          <a:p>
            <a:r>
              <a:rPr lang="en-US" sz="2000" dirty="0"/>
              <a:t>This can be performed via:</a:t>
            </a:r>
          </a:p>
          <a:p>
            <a:pPr lvl="1"/>
            <a:r>
              <a:rPr lang="en-US" sz="2000" b="1" dirty="0"/>
              <a:t>Open approach</a:t>
            </a:r>
            <a:r>
              <a:rPr lang="en-US" sz="2000" dirty="0"/>
              <a:t> (right upper quadrant or </a:t>
            </a:r>
            <a:r>
              <a:rPr lang="en-US" sz="2000" dirty="0" err="1"/>
              <a:t>circumumbilical</a:t>
            </a:r>
            <a:r>
              <a:rPr lang="en-US" sz="2000" dirty="0"/>
              <a:t> incision)</a:t>
            </a:r>
          </a:p>
          <a:p>
            <a:pPr lvl="1"/>
            <a:r>
              <a:rPr lang="en-US" sz="2000" b="1" dirty="0"/>
              <a:t>Laparoscopic approach</a:t>
            </a:r>
            <a:r>
              <a:rPr lang="en-US" sz="2000" dirty="0"/>
              <a:t> — increasingly preferred </a:t>
            </a:r>
          </a:p>
          <a:p>
            <a:pPr lvl="2"/>
            <a:r>
              <a:rPr lang="en-US" dirty="0"/>
              <a:t>associated with fewer complications </a:t>
            </a:r>
          </a:p>
          <a:p>
            <a:pPr lvl="2"/>
            <a:r>
              <a:rPr lang="en-US" dirty="0"/>
              <a:t>shorter hospital stay, and less postoperative pain </a:t>
            </a:r>
          </a:p>
          <a:p>
            <a:r>
              <a:rPr lang="en-US" sz="2000" b="1" dirty="0"/>
              <a:t>Prognosis is excellent</a:t>
            </a:r>
            <a:r>
              <a:rPr lang="en-US" sz="2000" dirty="0"/>
              <a:t> with </a:t>
            </a:r>
            <a:r>
              <a:rPr lang="en-US" sz="2000" i="1" dirty="0"/>
              <a:t>near-zero</a:t>
            </a:r>
            <a:r>
              <a:rPr lang="en-US" sz="2000" dirty="0"/>
              <a:t> mortality after surgical correction</a:t>
            </a:r>
          </a:p>
          <a:p>
            <a:endParaRPr lang="en-US" sz="2000" dirty="0"/>
          </a:p>
        </p:txBody>
      </p:sp>
      <p:pic>
        <p:nvPicPr>
          <p:cNvPr id="5" name="Picture 4" descr="Human stomach anatomy internal organ 3d rendering | Premium Photo">
            <a:extLst>
              <a:ext uri="{FF2B5EF4-FFF2-40B4-BE49-F238E27FC236}">
                <a16:creationId xmlns:a16="http://schemas.microsoft.com/office/drawing/2014/main" id="{EA541EBE-90C6-D6D4-F844-59970FB291AB}"/>
              </a:ext>
            </a:extLst>
          </p:cNvPr>
          <p:cNvPicPr>
            <a:picLocks noChangeAspect="1"/>
          </p:cNvPicPr>
          <p:nvPr/>
        </p:nvPicPr>
        <p:blipFill>
          <a:blip r:embed="rId2"/>
          <a:srcRect l="3795" r="-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9461335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7CA7CC-17B5-CF8D-B7F3-E615C29FA4AB}"/>
              </a:ext>
            </a:extLst>
          </p:cNvPr>
          <p:cNvSpPr>
            <a:spLocks noGrp="1"/>
          </p:cNvSpPr>
          <p:nvPr>
            <p:ph type="title"/>
          </p:nvPr>
        </p:nvSpPr>
        <p:spPr>
          <a:xfrm>
            <a:off x="572493" y="238539"/>
            <a:ext cx="11018520" cy="1434415"/>
          </a:xfrm>
        </p:spPr>
        <p:txBody>
          <a:bodyPr anchor="b">
            <a:normAutofit/>
          </a:bodyPr>
          <a:lstStyle/>
          <a:p>
            <a:r>
              <a:rPr lang="en-US" sz="5400" b="1" i="1" dirty="0"/>
              <a:t>***Pearls***</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A619F8E-3436-C590-C673-C9A43AD1761D}"/>
              </a:ext>
            </a:extLst>
          </p:cNvPr>
          <p:cNvSpPr>
            <a:spLocks noGrp="1"/>
          </p:cNvSpPr>
          <p:nvPr>
            <p:ph idx="1"/>
          </p:nvPr>
        </p:nvSpPr>
        <p:spPr>
          <a:xfrm>
            <a:off x="572493" y="2071316"/>
            <a:ext cx="6713552" cy="4119172"/>
          </a:xfrm>
        </p:spPr>
        <p:txBody>
          <a:bodyPr anchor="t">
            <a:normAutofit/>
          </a:bodyPr>
          <a:lstStyle/>
          <a:p>
            <a:r>
              <a:rPr lang="en-US" sz="2200" dirty="0"/>
              <a:t>Nonbilious vomiting → obstruction </a:t>
            </a:r>
            <a:r>
              <a:rPr lang="en-US" sz="2200" b="1" dirty="0"/>
              <a:t>proximal</a:t>
            </a:r>
            <a:r>
              <a:rPr lang="en-US" sz="2200" dirty="0"/>
              <a:t> to the ampulla of Vater (</a:t>
            </a:r>
            <a:r>
              <a:rPr lang="en-US" sz="2200" b="1" dirty="0"/>
              <a:t>pyloric stenosis)</a:t>
            </a:r>
          </a:p>
          <a:p>
            <a:r>
              <a:rPr lang="en-US" sz="2200" dirty="0"/>
              <a:t>Bilious vomiting → obstruction </a:t>
            </a:r>
            <a:r>
              <a:rPr lang="en-US" sz="2200" b="1" dirty="0"/>
              <a:t>distal</a:t>
            </a:r>
            <a:r>
              <a:rPr lang="en-US" sz="2200" dirty="0"/>
              <a:t> to the ampulla (think </a:t>
            </a:r>
            <a:r>
              <a:rPr lang="en-US" sz="2200" b="1" dirty="0"/>
              <a:t>malrotation with midgut volvulus </a:t>
            </a:r>
            <a:r>
              <a:rPr lang="en-US" sz="2200" dirty="0"/>
              <a:t>— a surgical emergency)</a:t>
            </a:r>
          </a:p>
          <a:p>
            <a:r>
              <a:rPr lang="en-US" sz="2200" dirty="0"/>
              <a:t>Pyloric stenosis is </a:t>
            </a:r>
            <a:r>
              <a:rPr lang="en-US" sz="2200" b="1" dirty="0"/>
              <a:t>not</a:t>
            </a:r>
            <a:r>
              <a:rPr lang="en-US" sz="2200" dirty="0"/>
              <a:t> present at birth; symptoms develop at </a:t>
            </a:r>
            <a:r>
              <a:rPr lang="en-US" sz="2200" b="1" dirty="0"/>
              <a:t>3–6 weeks</a:t>
            </a:r>
            <a:endParaRPr lang="en-US" sz="2200" dirty="0"/>
          </a:p>
          <a:p>
            <a:r>
              <a:rPr lang="en-US" sz="2200" dirty="0"/>
              <a:t>The metabolic picture (</a:t>
            </a:r>
            <a:r>
              <a:rPr lang="en-US" sz="2200" b="1" dirty="0" err="1"/>
              <a:t>hypochloremic</a:t>
            </a:r>
            <a:r>
              <a:rPr lang="en-US" sz="2200" b="1" dirty="0"/>
              <a:t>, hypokalemic metabolic alkalosis</a:t>
            </a:r>
            <a:r>
              <a:rPr lang="en-US" sz="2200" dirty="0"/>
              <a:t>)</a:t>
            </a:r>
          </a:p>
          <a:p>
            <a:endParaRPr lang="en-US" sz="2200" dirty="0"/>
          </a:p>
        </p:txBody>
      </p:sp>
      <p:pic>
        <p:nvPicPr>
          <p:cNvPr id="5" name="Picture 4" descr="Natural Pearls vs. Cultured Pearls: The Difference Explained | Jewelers Mutual">
            <a:extLst>
              <a:ext uri="{FF2B5EF4-FFF2-40B4-BE49-F238E27FC236}">
                <a16:creationId xmlns:a16="http://schemas.microsoft.com/office/drawing/2014/main" id="{C8A6ABAB-C553-EE69-A9D0-37111F1A859F}"/>
              </a:ext>
            </a:extLst>
          </p:cNvPr>
          <p:cNvPicPr>
            <a:picLocks noChangeAspect="1"/>
          </p:cNvPicPr>
          <p:nvPr/>
        </p:nvPicPr>
        <p:blipFill>
          <a:blip r:embed="rId2"/>
          <a:srcRect l="29648" r="6136"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4485545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5B02A-6E51-FA2D-2A90-76BADB666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CC743-07FA-7D6A-2C26-A97CBC119D37}"/>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b="1" dirty="0"/>
              <a:t>Mystery Case</a:t>
            </a:r>
            <a:br>
              <a:rPr lang="en-US" sz="5400" b="1" dirty="0"/>
            </a:br>
            <a:r>
              <a:rPr lang="en-US" sz="5400" b="1" dirty="0"/>
              <a:t>(Continued)</a:t>
            </a:r>
          </a:p>
        </p:txBody>
      </p:sp>
      <p:sp>
        <p:nvSpPr>
          <p:cNvPr id="3" name="Text Placeholder 2">
            <a:extLst>
              <a:ext uri="{FF2B5EF4-FFF2-40B4-BE49-F238E27FC236}">
                <a16:creationId xmlns:a16="http://schemas.microsoft.com/office/drawing/2014/main" id="{2C51B63D-2E12-7372-21F7-1521497516DE}"/>
              </a:ext>
            </a:extLst>
          </p:cNvPr>
          <p:cNvSpPr>
            <a:spLocks noGrp="1"/>
          </p:cNvSpPr>
          <p:nvPr>
            <p:ph type="body" idx="1"/>
          </p:nvPr>
        </p:nvSpPr>
        <p:spPr>
          <a:xfrm>
            <a:off x="890339" y="4636008"/>
            <a:ext cx="3734014" cy="1572768"/>
          </a:xfrm>
        </p:spPr>
        <p:txBody>
          <a:bodyPr vert="horz" lIns="91440" tIns="45720" rIns="91440" bIns="45720" rtlCol="0">
            <a:normAutofit/>
          </a:bodyPr>
          <a:lstStyle/>
          <a:p>
            <a:r>
              <a:rPr lang="en-US" b="1" i="1" dirty="0">
                <a:solidFill>
                  <a:srgbClr val="FF0000"/>
                </a:solidFill>
              </a:rPr>
              <a:t>“Shocking New Revelation</a:t>
            </a:r>
            <a:r>
              <a:rPr lang="en-US" dirty="0">
                <a:solidFill>
                  <a:schemeClr val="tx1"/>
                </a:solidFill>
              </a:rPr>
              <a:t>”</a:t>
            </a:r>
          </a:p>
        </p:txBody>
      </p:sp>
      <p:pic>
        <p:nvPicPr>
          <p:cNvPr id="5" name="Picture 4" descr="780+ Adult Little Red Riding Hood Costume Stock Photos, Pictures &amp;  Royalty-Free Images - iStock">
            <a:extLst>
              <a:ext uri="{FF2B5EF4-FFF2-40B4-BE49-F238E27FC236}">
                <a16:creationId xmlns:a16="http://schemas.microsoft.com/office/drawing/2014/main" id="{A22E6A31-673A-8FB4-EDF5-58F91ADD853B}"/>
              </a:ext>
            </a:extLst>
          </p:cNvPr>
          <p:cNvPicPr>
            <a:picLocks noChangeAspect="1"/>
          </p:cNvPicPr>
          <p:nvPr/>
        </p:nvPicPr>
        <p:blipFill>
          <a:blip r:embed="rId3"/>
          <a:srcRect l="18121" r="14926"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0974426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063A3-D7E5-AF61-F346-094D1C20D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4D329-A9DD-FA98-0C31-1A498C66B3FC}"/>
              </a:ext>
            </a:extLst>
          </p:cNvPr>
          <p:cNvSpPr>
            <a:spLocks noGrp="1"/>
          </p:cNvSpPr>
          <p:nvPr>
            <p:ph type="title"/>
          </p:nvPr>
        </p:nvSpPr>
        <p:spPr>
          <a:xfrm>
            <a:off x="640080" y="325369"/>
            <a:ext cx="4368602" cy="1956841"/>
          </a:xfrm>
        </p:spPr>
        <p:txBody>
          <a:bodyPr anchor="b">
            <a:normAutofit/>
          </a:bodyPr>
          <a:lstStyle/>
          <a:p>
            <a:r>
              <a:rPr lang="en-US" sz="5400" b="1"/>
              <a:t>Mystery Case</a:t>
            </a:r>
            <a:endParaRPr lang="en-US" sz="5400"/>
          </a:p>
        </p:txBody>
      </p:sp>
      <p:sp>
        <p:nvSpPr>
          <p:cNvPr id="3" name="Content Placeholder 2">
            <a:extLst>
              <a:ext uri="{FF2B5EF4-FFF2-40B4-BE49-F238E27FC236}">
                <a16:creationId xmlns:a16="http://schemas.microsoft.com/office/drawing/2014/main" id="{844AAB39-E58B-17A8-639F-C4C6512E836F}"/>
              </a:ext>
            </a:extLst>
          </p:cNvPr>
          <p:cNvSpPr>
            <a:spLocks noGrp="1"/>
          </p:cNvSpPr>
          <p:nvPr>
            <p:ph idx="1"/>
          </p:nvPr>
        </p:nvSpPr>
        <p:spPr>
          <a:xfrm>
            <a:off x="640080" y="2872899"/>
            <a:ext cx="4243589" cy="3320668"/>
          </a:xfrm>
        </p:spPr>
        <p:txBody>
          <a:bodyPr>
            <a:normAutofit/>
          </a:bodyPr>
          <a:lstStyle/>
          <a:p>
            <a:r>
              <a:rPr lang="en-US" sz="2000" dirty="0"/>
              <a:t>Now, Ms. Riding Hood, just revealed that in addition to having burning epigastric </a:t>
            </a:r>
            <a:r>
              <a:rPr lang="en-US" sz="2000" dirty="0" err="1"/>
              <a:t>abd</a:t>
            </a:r>
            <a:r>
              <a:rPr lang="en-US" sz="2000" dirty="0"/>
              <a:t> pain, nausea, vomiting, bloating, early satiety she also </a:t>
            </a:r>
            <a:r>
              <a:rPr lang="en-US" sz="2000" b="1" i="1" u="sng" dirty="0">
                <a:solidFill>
                  <a:srgbClr val="FF0000"/>
                </a:solidFill>
              </a:rPr>
              <a:t>and black tarry stools 6 days ago.</a:t>
            </a:r>
          </a:p>
          <a:p>
            <a:r>
              <a:rPr lang="en-US" sz="2000" dirty="0"/>
              <a:t>What is her diagnosis?</a:t>
            </a:r>
          </a:p>
          <a:p>
            <a:pPr marL="0" indent="0">
              <a:buNone/>
            </a:pPr>
            <a:endParaRPr lang="en-US" sz="2000" dirty="0"/>
          </a:p>
        </p:txBody>
      </p:sp>
      <p:pic>
        <p:nvPicPr>
          <p:cNvPr id="5" name="Picture 4" descr="780+ Adult Little Red Riding Hood Costume Stock Photos, Pictures &amp;  Royalty-Free Images - iStock">
            <a:extLst>
              <a:ext uri="{FF2B5EF4-FFF2-40B4-BE49-F238E27FC236}">
                <a16:creationId xmlns:a16="http://schemas.microsoft.com/office/drawing/2014/main" id="{043524D3-0435-47C8-4B7A-30C4146F36C1}"/>
              </a:ext>
            </a:extLst>
          </p:cNvPr>
          <p:cNvPicPr>
            <a:picLocks noChangeAspect="1"/>
          </p:cNvPicPr>
          <p:nvPr/>
        </p:nvPicPr>
        <p:blipFill>
          <a:blip r:embed="rId3"/>
          <a:srcRect l="18121" r="14926"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8040892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CA8F2F-6085-B030-D1AF-06228FB95CDE}"/>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3800" b="1" i="1" dirty="0">
                <a:solidFill>
                  <a:srgbClr val="FF0000"/>
                </a:solidFill>
              </a:rPr>
              <a:t>Gastrointestinal Bleeding</a:t>
            </a:r>
          </a:p>
        </p:txBody>
      </p:sp>
      <p:sp>
        <p:nvSpPr>
          <p:cNvPr id="3" name="Text Placeholder 2">
            <a:extLst>
              <a:ext uri="{FF2B5EF4-FFF2-40B4-BE49-F238E27FC236}">
                <a16:creationId xmlns:a16="http://schemas.microsoft.com/office/drawing/2014/main" id="{3E0B9BC3-639A-0331-0C7C-16D8CFC43590}"/>
              </a:ext>
            </a:extLst>
          </p:cNvPr>
          <p:cNvSpPr>
            <a:spLocks noGrp="1"/>
          </p:cNvSpPr>
          <p:nvPr>
            <p:ph type="body" idx="1"/>
          </p:nvPr>
        </p:nvSpPr>
        <p:spPr>
          <a:xfrm>
            <a:off x="890339" y="4636008"/>
            <a:ext cx="3734014" cy="1572768"/>
          </a:xfrm>
        </p:spPr>
        <p:txBody>
          <a:bodyPr vert="horz" lIns="91440" tIns="45720" rIns="91440" bIns="45720" rtlCol="0">
            <a:normAutofit/>
          </a:bodyPr>
          <a:lstStyle/>
          <a:p>
            <a:r>
              <a:rPr lang="en-US">
                <a:solidFill>
                  <a:schemeClr val="tx1"/>
                </a:solidFill>
              </a:rPr>
              <a:t>(GIB)</a:t>
            </a:r>
          </a:p>
        </p:txBody>
      </p:sp>
      <p:sp>
        <p:nvSpPr>
          <p:cNvPr id="12"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uman stomach anatomy internal organ 3d rendering | Premium Photo">
            <a:extLst>
              <a:ext uri="{FF2B5EF4-FFF2-40B4-BE49-F238E27FC236}">
                <a16:creationId xmlns:a16="http://schemas.microsoft.com/office/drawing/2014/main" id="{A900670B-08C1-101D-5FD9-104B8BFF353D}"/>
              </a:ext>
            </a:extLst>
          </p:cNvPr>
          <p:cNvPicPr>
            <a:picLocks noChangeAspect="1"/>
          </p:cNvPicPr>
          <p:nvPr/>
        </p:nvPicPr>
        <p:blipFill>
          <a:blip r:embed="rId2"/>
          <a:srcRect t="30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0897307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08FA20-5C49-3308-BA6C-FCBAA2101082}"/>
              </a:ext>
            </a:extLst>
          </p:cNvPr>
          <p:cNvSpPr>
            <a:spLocks noGrp="1"/>
          </p:cNvSpPr>
          <p:nvPr>
            <p:ph type="title"/>
          </p:nvPr>
        </p:nvSpPr>
        <p:spPr>
          <a:xfrm>
            <a:off x="630936" y="640080"/>
            <a:ext cx="4818888" cy="1481328"/>
          </a:xfrm>
        </p:spPr>
        <p:txBody>
          <a:bodyPr anchor="b">
            <a:normAutofit/>
          </a:bodyPr>
          <a:lstStyle/>
          <a:p>
            <a:r>
              <a:rPr lang="en-US" sz="5000"/>
              <a:t>Gastrointestinal Bleeding</a:t>
            </a:r>
          </a:p>
        </p:txBody>
      </p:sp>
      <p:sp>
        <p:nvSpPr>
          <p:cNvPr id="26"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47E45E4-F637-AF20-0619-5D48B925A20F}"/>
              </a:ext>
            </a:extLst>
          </p:cNvPr>
          <p:cNvSpPr>
            <a:spLocks noGrp="1"/>
          </p:cNvSpPr>
          <p:nvPr>
            <p:ph idx="1"/>
          </p:nvPr>
        </p:nvSpPr>
        <p:spPr>
          <a:xfrm>
            <a:off x="630936" y="2660904"/>
            <a:ext cx="4818888" cy="3547872"/>
          </a:xfrm>
        </p:spPr>
        <p:txBody>
          <a:bodyPr anchor="t">
            <a:normAutofit/>
          </a:bodyPr>
          <a:lstStyle/>
          <a:p>
            <a:r>
              <a:rPr lang="en-US" sz="1400" b="1"/>
              <a:t>Definition, Classification, Pathophysiology</a:t>
            </a:r>
            <a:endParaRPr lang="en-US" sz="1400"/>
          </a:p>
          <a:p>
            <a:pPr lvl="1"/>
            <a:r>
              <a:rPr lang="en-US" sz="1400"/>
              <a:t>GI bleeding is classified by anatomic location relative to the </a:t>
            </a:r>
            <a:r>
              <a:rPr lang="en-US" sz="1400" b="1"/>
              <a:t>ligament of Treitz</a:t>
            </a:r>
            <a:r>
              <a:rPr lang="en-US" sz="1400"/>
              <a:t>: </a:t>
            </a:r>
          </a:p>
          <a:p>
            <a:pPr lvl="2"/>
            <a:r>
              <a:rPr lang="en-US" sz="1400"/>
              <a:t>upper GI bleeding (UGIB) originates proximal (esophagus, stomach, duodenum), </a:t>
            </a:r>
          </a:p>
          <a:p>
            <a:pPr lvl="2"/>
            <a:r>
              <a:rPr lang="en-US" sz="1400"/>
              <a:t>lower GI bleeding (LGIB) originates distal to it. </a:t>
            </a:r>
          </a:p>
          <a:p>
            <a:pPr lvl="2"/>
            <a:r>
              <a:rPr lang="en-US" sz="1400"/>
              <a:t>GIB can also be categorized as </a:t>
            </a:r>
          </a:p>
          <a:p>
            <a:pPr lvl="3"/>
            <a:r>
              <a:rPr lang="en-US" sz="1400" b="1"/>
              <a:t>overt</a:t>
            </a:r>
            <a:r>
              <a:rPr lang="en-US" sz="1400"/>
              <a:t> (visible hematemesis, melena, hematochezia), </a:t>
            </a:r>
          </a:p>
          <a:p>
            <a:pPr lvl="3"/>
            <a:r>
              <a:rPr lang="en-US" sz="1400" b="1"/>
              <a:t>occult</a:t>
            </a:r>
            <a:r>
              <a:rPr lang="en-US" sz="1400"/>
              <a:t> (guaiac-positive stools or iron deficiency anemia without visible blood)</a:t>
            </a:r>
          </a:p>
          <a:p>
            <a:pPr lvl="3"/>
            <a:r>
              <a:rPr lang="en-US" sz="1400" b="1"/>
              <a:t>obscure</a:t>
            </a:r>
            <a:r>
              <a:rPr lang="en-US" sz="1400"/>
              <a:t> (unknown source despite complete evaluation). </a:t>
            </a:r>
          </a:p>
          <a:p>
            <a:endParaRPr lang="en-US" sz="1400"/>
          </a:p>
        </p:txBody>
      </p:sp>
      <p:pic>
        <p:nvPicPr>
          <p:cNvPr id="9" name="Picture 8" descr="Ligament of Treitz: Anatomy, Relevance of Radiologic Findings, and  Radiologic-Pathologic Correlation | AJR">
            <a:extLst>
              <a:ext uri="{FF2B5EF4-FFF2-40B4-BE49-F238E27FC236}">
                <a16:creationId xmlns:a16="http://schemas.microsoft.com/office/drawing/2014/main" id="{9442BBB3-C6AA-A426-9E4A-E99EC4A2E4EE}"/>
              </a:ext>
            </a:extLst>
          </p:cNvPr>
          <p:cNvPicPr>
            <a:picLocks noChangeAspect="1"/>
          </p:cNvPicPr>
          <p:nvPr/>
        </p:nvPicPr>
        <p:blipFill>
          <a:blip r:embed="rId2"/>
          <a:stretch>
            <a:fillRect/>
          </a:stretch>
        </p:blipFill>
        <p:spPr>
          <a:xfrm>
            <a:off x="6199327" y="906088"/>
            <a:ext cx="5243169" cy="5577840"/>
          </a:xfrm>
          <a:prstGeom prst="rect">
            <a:avLst/>
          </a:prstGeom>
        </p:spPr>
      </p:pic>
    </p:spTree>
    <p:extLst>
      <p:ext uri="{BB962C8B-B14F-4D97-AF65-F5344CB8AC3E}">
        <p14:creationId xmlns:p14="http://schemas.microsoft.com/office/powerpoint/2010/main" val="21408648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BFE823-A789-AFFF-58A3-B6C28159C71C}"/>
              </a:ext>
            </a:extLst>
          </p:cNvPr>
          <p:cNvSpPr>
            <a:spLocks noGrp="1"/>
          </p:cNvSpPr>
          <p:nvPr>
            <p:ph type="title"/>
          </p:nvPr>
        </p:nvSpPr>
        <p:spPr>
          <a:xfrm>
            <a:off x="630936" y="640080"/>
            <a:ext cx="4818888" cy="1481328"/>
          </a:xfrm>
        </p:spPr>
        <p:txBody>
          <a:bodyPr anchor="b">
            <a:normAutofit/>
          </a:bodyPr>
          <a:lstStyle/>
          <a:p>
            <a:r>
              <a:rPr lang="en-US" sz="5000" b="1"/>
              <a:t>Clinical Presentations</a:t>
            </a:r>
            <a:endParaRPr lang="en-US" sz="5000"/>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2D700E-0ECB-D4FD-9D8D-038C571FA47A}"/>
              </a:ext>
            </a:extLst>
          </p:cNvPr>
          <p:cNvSpPr>
            <a:spLocks noGrp="1"/>
          </p:cNvSpPr>
          <p:nvPr>
            <p:ph idx="1"/>
          </p:nvPr>
        </p:nvSpPr>
        <p:spPr>
          <a:xfrm>
            <a:off x="630936" y="2660904"/>
            <a:ext cx="4818888" cy="3547872"/>
          </a:xfrm>
        </p:spPr>
        <p:txBody>
          <a:bodyPr anchor="t">
            <a:normAutofit/>
          </a:bodyPr>
          <a:lstStyle/>
          <a:p>
            <a:r>
              <a:rPr lang="en-US" sz="2200" b="1"/>
              <a:t>Hematemesis</a:t>
            </a:r>
            <a:r>
              <a:rPr lang="en-US" sz="2200"/>
              <a:t> (bloody or coffee-ground emesis) → strongly suggests UGIB</a:t>
            </a:r>
          </a:p>
          <a:p>
            <a:r>
              <a:rPr lang="en-US" sz="2200" b="1"/>
              <a:t>Melena</a:t>
            </a:r>
            <a:r>
              <a:rPr lang="en-US" sz="2200"/>
              <a:t> (black, tarry stools) → typically UGIB, but can originate from small bowel or right colon</a:t>
            </a:r>
          </a:p>
          <a:p>
            <a:r>
              <a:rPr lang="en-US" sz="2200" b="1"/>
              <a:t>Hematochezia</a:t>
            </a:r>
            <a:r>
              <a:rPr lang="en-US" sz="2200"/>
              <a:t> (bright red blood per rectum) → usually LGIB, but can occur with brisk UGIB </a:t>
            </a:r>
          </a:p>
          <a:p>
            <a:endParaRPr lang="en-US" sz="2200"/>
          </a:p>
        </p:txBody>
      </p:sp>
      <p:pic>
        <p:nvPicPr>
          <p:cNvPr id="4" name="Picture 3" descr="Gastrointestinal Bleeding Flashcards | Quizlet">
            <a:extLst>
              <a:ext uri="{FF2B5EF4-FFF2-40B4-BE49-F238E27FC236}">
                <a16:creationId xmlns:a16="http://schemas.microsoft.com/office/drawing/2014/main" id="{ABFA2281-03DD-ACC6-432B-46F938A28183}"/>
              </a:ext>
            </a:extLst>
          </p:cNvPr>
          <p:cNvPicPr>
            <a:picLocks noChangeAspect="1"/>
          </p:cNvPicPr>
          <p:nvPr/>
        </p:nvPicPr>
        <p:blipFill>
          <a:blip r:embed="rId3"/>
          <a:srcRect r="39336" b="670"/>
          <a:stretch>
            <a:fillRect/>
          </a:stretch>
        </p:blipFill>
        <p:spPr>
          <a:xfrm>
            <a:off x="6099048" y="1320474"/>
            <a:ext cx="3311652" cy="4188786"/>
          </a:xfrm>
          <a:prstGeom prst="rect">
            <a:avLst/>
          </a:prstGeom>
        </p:spPr>
      </p:pic>
    </p:spTree>
    <p:extLst>
      <p:ext uri="{BB962C8B-B14F-4D97-AF65-F5344CB8AC3E}">
        <p14:creationId xmlns:p14="http://schemas.microsoft.com/office/powerpoint/2010/main" val="40428155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27953-6E53-F49C-BEC3-FCAEC3844FF0}"/>
              </a:ext>
            </a:extLst>
          </p:cNvPr>
          <p:cNvSpPr>
            <a:spLocks noGrp="1"/>
          </p:cNvSpPr>
          <p:nvPr>
            <p:ph type="title"/>
          </p:nvPr>
        </p:nvSpPr>
        <p:spPr/>
        <p:txBody>
          <a:bodyPr/>
          <a:lstStyle/>
          <a:p>
            <a:r>
              <a:rPr lang="en-US" b="1" dirty="0"/>
              <a:t>Common Etiologies</a:t>
            </a:r>
            <a:endParaRPr lang="en-US" dirty="0"/>
          </a:p>
        </p:txBody>
      </p:sp>
      <p:graphicFrame>
        <p:nvGraphicFramePr>
          <p:cNvPr id="4" name="Content Placeholder 3">
            <a:extLst>
              <a:ext uri="{FF2B5EF4-FFF2-40B4-BE49-F238E27FC236}">
                <a16:creationId xmlns:a16="http://schemas.microsoft.com/office/drawing/2014/main" id="{F9304CEE-6AC8-1BC9-44BF-F8C66C9957D7}"/>
              </a:ext>
            </a:extLst>
          </p:cNvPr>
          <p:cNvGraphicFramePr>
            <a:graphicFrameLocks noGrp="1"/>
          </p:cNvGraphicFramePr>
          <p:nvPr>
            <p:ph idx="1"/>
            <p:extLst>
              <p:ext uri="{D42A27DB-BD31-4B8C-83A1-F6EECF244321}">
                <p14:modId xmlns:p14="http://schemas.microsoft.com/office/powerpoint/2010/main" val="3658788451"/>
              </p:ext>
            </p:extLst>
          </p:nvPr>
        </p:nvGraphicFramePr>
        <p:xfrm>
          <a:off x="2264230" y="1766022"/>
          <a:ext cx="4482012" cy="4357016"/>
        </p:xfrm>
        <a:graphic>
          <a:graphicData uri="http://schemas.openxmlformats.org/drawingml/2006/table">
            <a:tbl>
              <a:tblPr/>
              <a:tblGrid>
                <a:gridCol w="2241006">
                  <a:extLst>
                    <a:ext uri="{9D8B030D-6E8A-4147-A177-3AD203B41FA5}">
                      <a16:colId xmlns:a16="http://schemas.microsoft.com/office/drawing/2014/main" val="3481877574"/>
                    </a:ext>
                  </a:extLst>
                </a:gridCol>
                <a:gridCol w="2241006">
                  <a:extLst>
                    <a:ext uri="{9D8B030D-6E8A-4147-A177-3AD203B41FA5}">
                      <a16:colId xmlns:a16="http://schemas.microsoft.com/office/drawing/2014/main" val="3725742492"/>
                    </a:ext>
                  </a:extLst>
                </a:gridCol>
              </a:tblGrid>
              <a:tr h="255961">
                <a:tc>
                  <a:txBody>
                    <a:bodyPr/>
                    <a:lstStyle/>
                    <a:p>
                      <a:pPr marL="0" marR="0" indent="0" algn="l" fontAlgn="b">
                        <a:buNone/>
                      </a:pPr>
                      <a:r>
                        <a:rPr lang="en-US" sz="1200" b="1" i="0">
                          <a:effectLst/>
                          <a:latin typeface="Schibsted Grotesk"/>
                        </a:rPr>
                        <a:t>UGIB Causes</a:t>
                      </a:r>
                    </a:p>
                  </a:txBody>
                  <a:tcPr marL="59068" marR="59068" marT="39379" marB="39379" anchor="b">
                    <a:lnL w="12700" cap="flat" cmpd="sng" algn="ctr">
                      <a:solidFill>
                        <a:srgbClr val="C0095C"/>
                      </a:solidFill>
                      <a:prstDash val="solid"/>
                      <a:round/>
                      <a:headEnd type="none" w="med" len="med"/>
                      <a:tailEnd type="none" w="med" len="med"/>
                    </a:lnL>
                    <a:lnR w="12700" cap="flat" cmpd="sng" algn="ctr">
                      <a:solidFill>
                        <a:srgbClr val="20105C"/>
                      </a:solidFill>
                      <a:prstDash val="solid"/>
                      <a:round/>
                      <a:headEnd type="none" w="med" len="med"/>
                      <a:tailEnd type="none" w="med" len="med"/>
                    </a:lnR>
                    <a:lnT w="12700" cap="flat" cmpd="sng" algn="ctr">
                      <a:solidFill>
                        <a:srgbClr val="C0095C"/>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tc>
                  <a:txBody>
                    <a:bodyPr/>
                    <a:lstStyle/>
                    <a:p>
                      <a:pPr marL="0" marR="0" indent="0" algn="l" fontAlgn="b">
                        <a:buNone/>
                      </a:pPr>
                      <a:r>
                        <a:rPr lang="en-US" sz="1200" b="1" i="0">
                          <a:effectLst/>
                          <a:latin typeface="Schibsted Grotesk"/>
                        </a:rPr>
                        <a:t>LGIB Causes</a:t>
                      </a:r>
                    </a:p>
                  </a:txBody>
                  <a:tcPr marL="59068" marR="59068" marT="39379" marB="39379" anchor="b">
                    <a:lnL w="12700" cap="flat" cmpd="sng" algn="ctr">
                      <a:solidFill>
                        <a:srgbClr val="20105C"/>
                      </a:solidFill>
                      <a:prstDash val="solid"/>
                      <a:round/>
                      <a:headEnd type="none" w="med" len="med"/>
                      <a:tailEnd type="none" w="med" len="med"/>
                    </a:lnL>
                    <a:lnR w="12700" cap="flat" cmpd="sng" algn="ctr">
                      <a:solidFill>
                        <a:srgbClr val="102C5C"/>
                      </a:solidFill>
                      <a:prstDash val="solid"/>
                      <a:round/>
                      <a:headEnd type="none" w="med" len="med"/>
                      <a:tailEnd type="none" w="med" len="med"/>
                    </a:lnR>
                    <a:lnT w="12700" cap="flat" cmpd="sng" algn="ctr">
                      <a:solidFill>
                        <a:srgbClr val="20105C"/>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extLst>
                  <a:ext uri="{0D108BD9-81ED-4DB2-BD59-A6C34878D82A}">
                    <a16:rowId xmlns:a16="http://schemas.microsoft.com/office/drawing/2014/main" val="1543470593"/>
                  </a:ext>
                </a:extLst>
              </a:tr>
              <a:tr h="787572">
                <a:tc>
                  <a:txBody>
                    <a:bodyPr/>
                    <a:lstStyle/>
                    <a:p>
                      <a:pPr marL="0" marR="0" indent="0" algn="l" fontAlgn="t">
                        <a:buNone/>
                      </a:pPr>
                      <a:r>
                        <a:rPr lang="en-US" sz="1200" b="1" i="0" dirty="0">
                          <a:effectLst/>
                          <a:latin typeface="Schibsted Grotesk"/>
                        </a:rPr>
                        <a:t>Peptic ulcer disease</a:t>
                      </a:r>
                      <a:r>
                        <a:rPr lang="en-US" sz="1200" b="0" i="0" dirty="0">
                          <a:effectLst/>
                          <a:latin typeface="Schibsted Grotesk"/>
                        </a:rPr>
                        <a:t> (most common; H. pylori, NSAIDs)</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200" b="1" i="0">
                          <a:effectLst/>
                          <a:latin typeface="Schibsted Grotesk"/>
                        </a:rPr>
                        <a:t>Diverticulosis</a:t>
                      </a:r>
                      <a:r>
                        <a:rPr lang="en-US" sz="1200" b="0" i="0">
                          <a:effectLst/>
                          <a:latin typeface="Schibsted Grotesk"/>
                        </a:rPr>
                        <a:t> (most common, 30–65%)</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2246766306"/>
                  </a:ext>
                </a:extLst>
              </a:tr>
              <a:tr h="610369">
                <a:tc>
                  <a:txBody>
                    <a:bodyPr/>
                    <a:lstStyle/>
                    <a:p>
                      <a:pPr marL="0" marR="0" indent="0" algn="l" fontAlgn="t">
                        <a:buNone/>
                      </a:pPr>
                      <a:r>
                        <a:rPr lang="en-US" sz="1200" b="0" i="0">
                          <a:effectLst/>
                          <a:latin typeface="Schibsted Grotesk"/>
                        </a:rPr>
                        <a:t>Erosive esophagitis/gastritis</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200" b="0" i="0">
                          <a:effectLst/>
                          <a:latin typeface="Schibsted Grotesk"/>
                        </a:rPr>
                        <a:t>Ischemic colitis (5–20%)</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3728441683"/>
                  </a:ext>
                </a:extLst>
              </a:tr>
              <a:tr h="610369">
                <a:tc>
                  <a:txBody>
                    <a:bodyPr/>
                    <a:lstStyle/>
                    <a:p>
                      <a:pPr marL="0" marR="0" indent="0" algn="l" fontAlgn="t">
                        <a:buNone/>
                      </a:pPr>
                      <a:r>
                        <a:rPr lang="en-US" sz="1200" b="0" i="0">
                          <a:effectLst/>
                          <a:latin typeface="Schibsted Grotesk"/>
                        </a:rPr>
                        <a:t>Esophageal/gastric varices (portal HTN)</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200" b="0" i="0">
                          <a:effectLst/>
                          <a:latin typeface="Schibsted Grotesk"/>
                        </a:rPr>
                        <a:t>Hemorrhoids (5–20%)</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3383626062"/>
                  </a:ext>
                </a:extLst>
              </a:tr>
              <a:tr h="610369">
                <a:tc>
                  <a:txBody>
                    <a:bodyPr/>
                    <a:lstStyle/>
                    <a:p>
                      <a:pPr marL="0" marR="0" indent="0" algn="l" fontAlgn="t">
                        <a:buNone/>
                      </a:pPr>
                      <a:r>
                        <a:rPr lang="en-US" sz="1200" b="0" i="0">
                          <a:effectLst/>
                          <a:latin typeface="Schibsted Grotesk"/>
                        </a:rPr>
                        <a:t>Mallory-Weiss tear (post-retching)</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200" b="0" i="0">
                          <a:effectLst/>
                          <a:latin typeface="Schibsted Grotesk"/>
                        </a:rPr>
                        <a:t>Colorectal polyps/neoplasms (2–15%)</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4065019186"/>
                  </a:ext>
                </a:extLst>
              </a:tr>
              <a:tr h="433165">
                <a:tc>
                  <a:txBody>
                    <a:bodyPr/>
                    <a:lstStyle/>
                    <a:p>
                      <a:pPr marL="0" marR="0" indent="0" algn="l" fontAlgn="t">
                        <a:buNone/>
                      </a:pPr>
                      <a:r>
                        <a:rPr lang="en-US" sz="1200" b="0" i="0">
                          <a:effectLst/>
                          <a:latin typeface="Schibsted Grotesk"/>
                        </a:rPr>
                        <a:t>Vascular ectasias, Dieulafoy lesion</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200" b="0" i="0">
                          <a:effectLst/>
                          <a:latin typeface="Schibsted Grotesk"/>
                        </a:rPr>
                        <a:t>Angioectasias (5–10%)</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2257278577"/>
                  </a:ext>
                </a:extLst>
              </a:tr>
              <a:tr h="433165">
                <a:tc>
                  <a:txBody>
                    <a:bodyPr/>
                    <a:lstStyle/>
                    <a:p>
                      <a:pPr marL="0" marR="0" indent="0" algn="l" fontAlgn="t">
                        <a:buNone/>
                      </a:pPr>
                      <a:r>
                        <a:rPr lang="en-US" sz="1200" b="0" i="0">
                          <a:effectLst/>
                          <a:latin typeface="Schibsted Grotesk"/>
                        </a:rPr>
                        <a:t>Neoplasms</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200" b="0" i="0">
                          <a:effectLst/>
                          <a:latin typeface="Schibsted Grotesk"/>
                        </a:rPr>
                        <a:t>IBD, infectious colitis</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1486352955"/>
                  </a:ext>
                </a:extLst>
              </a:tr>
              <a:tr h="610369">
                <a:tc>
                  <a:txBody>
                    <a:bodyPr/>
                    <a:lstStyle/>
                    <a:p>
                      <a:pPr marL="0" marR="0" indent="0" algn="l" fontAlgn="t">
                        <a:buNone/>
                      </a:pPr>
                      <a:r>
                        <a:rPr lang="en-US" sz="1200" b="0" i="0">
                          <a:effectLst/>
                          <a:latin typeface="Schibsted Grotesk"/>
                        </a:rPr>
                        <a:t>Aortoenteric fistula (rare but lethal)</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200" b="0" i="0" dirty="0">
                          <a:effectLst/>
                          <a:latin typeface="Schibsted Grotesk"/>
                        </a:rPr>
                        <a:t>Post-polypectomy bleeding</a:t>
                      </a:r>
                    </a:p>
                  </a:txBody>
                  <a:tcPr marL="59068" marR="59068" marT="39379" marB="39379">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4204225323"/>
                  </a:ext>
                </a:extLst>
              </a:tr>
            </a:tbl>
          </a:graphicData>
        </a:graphic>
      </p:graphicFrame>
      <p:pic>
        <p:nvPicPr>
          <p:cNvPr id="5" name="Picture 4" descr="Gastrointestinal Bleeding Flashcards | Quizlet">
            <a:extLst>
              <a:ext uri="{FF2B5EF4-FFF2-40B4-BE49-F238E27FC236}">
                <a16:creationId xmlns:a16="http://schemas.microsoft.com/office/drawing/2014/main" id="{706F0A45-73B4-EEC5-9319-D247CD44F95F}"/>
              </a:ext>
            </a:extLst>
          </p:cNvPr>
          <p:cNvPicPr>
            <a:picLocks noChangeAspect="1"/>
          </p:cNvPicPr>
          <p:nvPr/>
        </p:nvPicPr>
        <p:blipFill>
          <a:blip r:embed="rId2"/>
          <a:srcRect r="39336" b="670"/>
          <a:stretch>
            <a:fillRect/>
          </a:stretch>
        </p:blipFill>
        <p:spPr>
          <a:xfrm>
            <a:off x="8194548" y="809934"/>
            <a:ext cx="3311652" cy="4188786"/>
          </a:xfrm>
          <a:prstGeom prst="rect">
            <a:avLst/>
          </a:prstGeom>
        </p:spPr>
      </p:pic>
    </p:spTree>
    <p:extLst>
      <p:ext uri="{BB962C8B-B14F-4D97-AF65-F5344CB8AC3E}">
        <p14:creationId xmlns:p14="http://schemas.microsoft.com/office/powerpoint/2010/main" val="29574441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6E355-2CB3-FA4D-CED5-4CA9E82E5ABB}"/>
              </a:ext>
            </a:extLst>
          </p:cNvPr>
          <p:cNvSpPr>
            <a:spLocks noGrp="1"/>
          </p:cNvSpPr>
          <p:nvPr>
            <p:ph type="title"/>
          </p:nvPr>
        </p:nvSpPr>
        <p:spPr/>
        <p:txBody>
          <a:bodyPr/>
          <a:lstStyle/>
          <a:p>
            <a:r>
              <a:rPr lang="en-US" dirty="0"/>
              <a:t>Causes of Acute Lower Gastrointestinal Bleeding in Adults</a:t>
            </a:r>
          </a:p>
        </p:txBody>
      </p:sp>
      <p:pic>
        <p:nvPicPr>
          <p:cNvPr id="4" name="Content Placeholder 3">
            <a:extLst>
              <a:ext uri="{FF2B5EF4-FFF2-40B4-BE49-F238E27FC236}">
                <a16:creationId xmlns:a16="http://schemas.microsoft.com/office/drawing/2014/main" id="{80D8B40B-3369-2A41-F129-48AD2AFD4BE8}"/>
              </a:ext>
            </a:extLst>
          </p:cNvPr>
          <p:cNvPicPr>
            <a:picLocks noGrp="1" noChangeAspect="1"/>
          </p:cNvPicPr>
          <p:nvPr>
            <p:ph idx="1"/>
          </p:nvPr>
        </p:nvPicPr>
        <p:blipFill>
          <a:blip r:embed="rId3"/>
          <a:stretch>
            <a:fillRect/>
          </a:stretch>
        </p:blipFill>
        <p:spPr>
          <a:xfrm>
            <a:off x="2299063" y="1690688"/>
            <a:ext cx="7036526" cy="4486275"/>
          </a:xfrm>
          <a:prstGeom prst="rect">
            <a:avLst/>
          </a:prstGeom>
        </p:spPr>
      </p:pic>
    </p:spTree>
    <p:extLst>
      <p:ext uri="{BB962C8B-B14F-4D97-AF65-F5344CB8AC3E}">
        <p14:creationId xmlns:p14="http://schemas.microsoft.com/office/powerpoint/2010/main" val="40905115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461EB6-FBF2-FF78-124C-BAE857908464}"/>
              </a:ext>
            </a:extLst>
          </p:cNvPr>
          <p:cNvSpPr>
            <a:spLocks noGrp="1"/>
          </p:cNvSpPr>
          <p:nvPr>
            <p:ph type="title"/>
          </p:nvPr>
        </p:nvSpPr>
        <p:spPr>
          <a:xfrm>
            <a:off x="5297762" y="329184"/>
            <a:ext cx="6251110" cy="1783080"/>
          </a:xfrm>
        </p:spPr>
        <p:txBody>
          <a:bodyPr anchor="b">
            <a:normAutofit/>
          </a:bodyPr>
          <a:lstStyle/>
          <a:p>
            <a:r>
              <a:rPr lang="en-US" sz="5400" b="1" dirty="0"/>
              <a:t>Initial Assessment and Resuscitation</a:t>
            </a:r>
            <a:endParaRPr lang="en-US" sz="5400" dirty="0"/>
          </a:p>
        </p:txBody>
      </p:sp>
      <p:pic>
        <p:nvPicPr>
          <p:cNvPr id="7" name="Picture 6" descr="Gastrointestinal Bleeding Flashcards | Quizlet">
            <a:extLst>
              <a:ext uri="{FF2B5EF4-FFF2-40B4-BE49-F238E27FC236}">
                <a16:creationId xmlns:a16="http://schemas.microsoft.com/office/drawing/2014/main" id="{27B4F1A8-132D-6837-171B-E25BDAFC538B}"/>
              </a:ext>
            </a:extLst>
          </p:cNvPr>
          <p:cNvPicPr>
            <a:picLocks noChangeAspect="1"/>
          </p:cNvPicPr>
          <p:nvPr/>
        </p:nvPicPr>
        <p:blipFill>
          <a:blip r:embed="rId2"/>
          <a:srcRect l="4101" r="43437" b="-1"/>
          <a:stretch>
            <a:fillRect/>
          </a:stretch>
        </p:blipFill>
        <p:spPr>
          <a:xfrm>
            <a:off x="1" y="10"/>
            <a:ext cx="3421379"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7"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F1D265A-275B-31BA-A209-9CF55FE5C1AC}"/>
              </a:ext>
            </a:extLst>
          </p:cNvPr>
          <p:cNvSpPr>
            <a:spLocks noGrp="1"/>
          </p:cNvSpPr>
          <p:nvPr>
            <p:ph idx="1"/>
          </p:nvPr>
        </p:nvSpPr>
        <p:spPr>
          <a:xfrm>
            <a:off x="5297762" y="2706624"/>
            <a:ext cx="6251110" cy="3483864"/>
          </a:xfrm>
        </p:spPr>
        <p:txBody>
          <a:bodyPr>
            <a:normAutofit/>
          </a:bodyPr>
          <a:lstStyle/>
          <a:p>
            <a:r>
              <a:rPr lang="en-US" sz="1400" dirty="0"/>
              <a:t>A focused history, physical exam, and labs should be obtained simultaneously with hemodynamic resuscitation. </a:t>
            </a:r>
          </a:p>
          <a:p>
            <a:r>
              <a:rPr lang="en-US" sz="1400" dirty="0"/>
              <a:t>Key steps:</a:t>
            </a:r>
          </a:p>
          <a:p>
            <a:pPr lvl="1"/>
            <a:r>
              <a:rPr lang="en-US" sz="1400" b="1" dirty="0"/>
              <a:t>ABCs and hemodynamic status</a:t>
            </a:r>
            <a:r>
              <a:rPr lang="en-US" sz="1400" dirty="0"/>
              <a:t>: </a:t>
            </a:r>
          </a:p>
          <a:p>
            <a:pPr lvl="2"/>
            <a:r>
              <a:rPr lang="en-US" sz="1400" dirty="0"/>
              <a:t>Assess for tachycardia, hypotension, orthostasis, and signs of shock. </a:t>
            </a:r>
          </a:p>
          <a:p>
            <a:pPr lvl="2"/>
            <a:r>
              <a:rPr lang="en-US" sz="1400" dirty="0"/>
              <a:t>Initiate IV crystalloid resuscitation for hemodynamically unstable patients. </a:t>
            </a:r>
          </a:p>
          <a:p>
            <a:pPr lvl="1"/>
            <a:r>
              <a:rPr lang="en-US" sz="1400" b="1" dirty="0"/>
              <a:t>Labs</a:t>
            </a:r>
            <a:r>
              <a:rPr lang="en-US" sz="1400" dirty="0"/>
              <a:t>: CBC, BMP (BUN/Cr), coagulation panel, liver function tests, type and crossmatch. </a:t>
            </a:r>
          </a:p>
          <a:p>
            <a:pPr lvl="1"/>
            <a:r>
              <a:rPr lang="en-US" sz="1400" b="1" dirty="0"/>
              <a:t>Transfusion threshold</a:t>
            </a:r>
            <a:r>
              <a:rPr lang="en-US" sz="1400" dirty="0"/>
              <a:t>: A </a:t>
            </a:r>
            <a:r>
              <a:rPr lang="en-US" sz="1400" b="1" dirty="0"/>
              <a:t>restrictive transfusion strategy</a:t>
            </a:r>
            <a:r>
              <a:rPr lang="en-US" sz="1400" dirty="0"/>
              <a:t> (transfuse when Hgb &lt;</a:t>
            </a:r>
            <a:r>
              <a:rPr lang="en-US" sz="1400" b="1" dirty="0"/>
              <a:t>7 g/dL</a:t>
            </a:r>
            <a:r>
              <a:rPr lang="en-US" sz="1400" dirty="0"/>
              <a:t>) </a:t>
            </a:r>
          </a:p>
          <a:p>
            <a:pPr lvl="2"/>
            <a:r>
              <a:rPr lang="en-US" sz="1400" dirty="0"/>
              <a:t>Hypotensive patients may be transfused before reaching these thresholds. </a:t>
            </a:r>
            <a:br>
              <a:rPr lang="en-US" sz="1400" dirty="0"/>
            </a:br>
            <a:endParaRPr lang="en-US" sz="1400" dirty="0"/>
          </a:p>
        </p:txBody>
      </p:sp>
    </p:spTree>
    <p:extLst>
      <p:ext uri="{BB962C8B-B14F-4D97-AF65-F5344CB8AC3E}">
        <p14:creationId xmlns:p14="http://schemas.microsoft.com/office/powerpoint/2010/main" val="38823829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D603DF-FFAE-2116-240A-D3C893F2D11E}"/>
              </a:ext>
            </a:extLst>
          </p:cNvPr>
          <p:cNvSpPr>
            <a:spLocks noGrp="1"/>
          </p:cNvSpPr>
          <p:nvPr>
            <p:ph type="title"/>
          </p:nvPr>
        </p:nvSpPr>
        <p:spPr>
          <a:xfrm>
            <a:off x="5297762" y="329184"/>
            <a:ext cx="6251110" cy="1783080"/>
          </a:xfrm>
        </p:spPr>
        <p:txBody>
          <a:bodyPr anchor="b">
            <a:normAutofit/>
          </a:bodyPr>
          <a:lstStyle/>
          <a:p>
            <a:r>
              <a:rPr lang="en-US" sz="5400" b="1"/>
              <a:t>Risk Stratification Scores</a:t>
            </a:r>
            <a:endParaRPr lang="en-US" sz="5400"/>
          </a:p>
        </p:txBody>
      </p:sp>
      <p:pic>
        <p:nvPicPr>
          <p:cNvPr id="5" name="Picture 4" descr="Gastrointestinal Bleeding Flashcards | Quizlet">
            <a:extLst>
              <a:ext uri="{FF2B5EF4-FFF2-40B4-BE49-F238E27FC236}">
                <a16:creationId xmlns:a16="http://schemas.microsoft.com/office/drawing/2014/main" id="{8B1E7213-6591-70EB-FD58-BC86021CB925}"/>
              </a:ext>
            </a:extLst>
          </p:cNvPr>
          <p:cNvPicPr>
            <a:picLocks noChangeAspect="1"/>
          </p:cNvPicPr>
          <p:nvPr/>
        </p:nvPicPr>
        <p:blipFill>
          <a:blip r:embed="rId2"/>
          <a:srcRect l="4101" r="43437"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59F66AB-BD24-6D15-1B9F-220600CC0B49}"/>
              </a:ext>
            </a:extLst>
          </p:cNvPr>
          <p:cNvSpPr>
            <a:spLocks noGrp="1"/>
          </p:cNvSpPr>
          <p:nvPr>
            <p:ph idx="1"/>
          </p:nvPr>
        </p:nvSpPr>
        <p:spPr>
          <a:xfrm>
            <a:off x="5297762" y="2706624"/>
            <a:ext cx="6251110" cy="3483864"/>
          </a:xfrm>
        </p:spPr>
        <p:txBody>
          <a:bodyPr>
            <a:normAutofit/>
          </a:bodyPr>
          <a:lstStyle/>
          <a:p>
            <a:pPr lvl="1"/>
            <a:r>
              <a:rPr lang="en-US" sz="1900" b="1" dirty="0"/>
              <a:t>Glasgow-Blatchford Score (GBS)</a:t>
            </a:r>
            <a:r>
              <a:rPr lang="en-US" sz="1900" dirty="0"/>
              <a:t> (range 0–23): Best validated for predicting need for intervention (transfusion, endoscopy, surgery) or death. </a:t>
            </a:r>
          </a:p>
          <a:p>
            <a:pPr lvl="2"/>
            <a:r>
              <a:rPr lang="en-US" sz="1500" dirty="0"/>
              <a:t>A GBS </a:t>
            </a:r>
            <a:r>
              <a:rPr lang="en-US" sz="1500" b="1" dirty="0"/>
              <a:t>≤1</a:t>
            </a:r>
            <a:r>
              <a:rPr lang="en-US" sz="1500" dirty="0"/>
              <a:t> identifies very low-risk patients who may be safely managed as outpatients. A GBS </a:t>
            </a:r>
            <a:r>
              <a:rPr lang="en-US" sz="1500" b="1" dirty="0"/>
              <a:t>≥7</a:t>
            </a:r>
            <a:r>
              <a:rPr lang="en-US" sz="1500" dirty="0"/>
              <a:t> predicts likely need for endoscopic therapy. </a:t>
            </a:r>
          </a:p>
          <a:p>
            <a:pPr lvl="1"/>
            <a:r>
              <a:rPr lang="en-US" sz="1900" b="1" dirty="0"/>
              <a:t>Rockall Score</a:t>
            </a:r>
            <a:r>
              <a:rPr lang="en-US" sz="1900" dirty="0"/>
              <a:t>: Requires endoscopic findings for the full score; </a:t>
            </a:r>
          </a:p>
          <a:p>
            <a:pPr lvl="2"/>
            <a:r>
              <a:rPr lang="en-US" sz="1500" dirty="0"/>
              <a:t>predicts rebleeding and mortality in hospitalized patients. </a:t>
            </a:r>
          </a:p>
          <a:p>
            <a:r>
              <a:rPr lang="en-US" sz="1900" dirty="0"/>
              <a:t>The </a:t>
            </a:r>
            <a:r>
              <a:rPr lang="en-US" sz="1900" b="1" dirty="0"/>
              <a:t>GBS </a:t>
            </a:r>
            <a:r>
              <a:rPr lang="en-US" sz="1900" dirty="0"/>
              <a:t>is the </a:t>
            </a:r>
            <a:r>
              <a:rPr lang="en-US" sz="1900" b="1" dirty="0"/>
              <a:t>most recommended </a:t>
            </a:r>
            <a:r>
              <a:rPr lang="en-US" sz="1900" dirty="0"/>
              <a:t>first-line triage tool per current guidelines</a:t>
            </a:r>
          </a:p>
          <a:p>
            <a:endParaRPr lang="en-US" sz="1900" dirty="0"/>
          </a:p>
        </p:txBody>
      </p:sp>
    </p:spTree>
    <p:extLst>
      <p:ext uri="{BB962C8B-B14F-4D97-AF65-F5344CB8AC3E}">
        <p14:creationId xmlns:p14="http://schemas.microsoft.com/office/powerpoint/2010/main" val="11352392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E9B17-0AD0-142D-5EB2-A4F0990A38EB}"/>
              </a:ext>
            </a:extLst>
          </p:cNvPr>
          <p:cNvSpPr>
            <a:spLocks noGrp="1"/>
          </p:cNvSpPr>
          <p:nvPr>
            <p:ph type="title"/>
          </p:nvPr>
        </p:nvSpPr>
        <p:spPr/>
        <p:txBody>
          <a:bodyPr/>
          <a:lstStyle/>
          <a:p>
            <a:r>
              <a:rPr lang="en-US" b="1" dirty="0"/>
              <a:t>Management of UGIB</a:t>
            </a:r>
            <a:endParaRPr lang="en-US" dirty="0"/>
          </a:p>
        </p:txBody>
      </p:sp>
      <p:pic>
        <p:nvPicPr>
          <p:cNvPr id="4" name="Content Placeholder 3">
            <a:extLst>
              <a:ext uri="{FF2B5EF4-FFF2-40B4-BE49-F238E27FC236}">
                <a16:creationId xmlns:a16="http://schemas.microsoft.com/office/drawing/2014/main" id="{067329F8-6A7B-A6B6-B54D-C14EA2D919C5}"/>
              </a:ext>
            </a:extLst>
          </p:cNvPr>
          <p:cNvPicPr>
            <a:picLocks noGrp="1" noChangeAspect="1"/>
          </p:cNvPicPr>
          <p:nvPr>
            <p:ph idx="1"/>
          </p:nvPr>
        </p:nvPicPr>
        <p:blipFill>
          <a:blip r:embed="rId3"/>
          <a:stretch>
            <a:fillRect/>
          </a:stretch>
        </p:blipFill>
        <p:spPr>
          <a:xfrm>
            <a:off x="1628503" y="1825625"/>
            <a:ext cx="6459675" cy="4351338"/>
          </a:xfrm>
          <a:prstGeom prst="rect">
            <a:avLst/>
          </a:prstGeom>
        </p:spPr>
      </p:pic>
    </p:spTree>
    <p:extLst>
      <p:ext uri="{BB962C8B-B14F-4D97-AF65-F5344CB8AC3E}">
        <p14:creationId xmlns:p14="http://schemas.microsoft.com/office/powerpoint/2010/main" val="141989626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26FCEF-B4DD-8E13-94F4-169DFF0E1804}"/>
              </a:ext>
            </a:extLst>
          </p:cNvPr>
          <p:cNvSpPr>
            <a:spLocks noGrp="1"/>
          </p:cNvSpPr>
          <p:nvPr>
            <p:ph type="title"/>
          </p:nvPr>
        </p:nvSpPr>
        <p:spPr>
          <a:xfrm>
            <a:off x="838200" y="365125"/>
            <a:ext cx="10515600" cy="1325563"/>
          </a:xfrm>
        </p:spPr>
        <p:txBody>
          <a:bodyPr>
            <a:normAutofit/>
          </a:bodyPr>
          <a:lstStyle/>
          <a:p>
            <a:r>
              <a:rPr lang="en-US" sz="5400"/>
              <a:t>Key management principles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6856BC3-4F52-55DF-467F-1E02D5D240B6}"/>
              </a:ext>
            </a:extLst>
          </p:cNvPr>
          <p:cNvSpPr>
            <a:spLocks noGrp="1"/>
          </p:cNvSpPr>
          <p:nvPr>
            <p:ph idx="1"/>
          </p:nvPr>
        </p:nvSpPr>
        <p:spPr>
          <a:xfrm>
            <a:off x="838200" y="1929384"/>
            <a:ext cx="10515600" cy="4251960"/>
          </a:xfrm>
        </p:spPr>
        <p:txBody>
          <a:bodyPr>
            <a:normAutofit/>
          </a:bodyPr>
          <a:lstStyle/>
          <a:p>
            <a:r>
              <a:rPr lang="en-US" sz="1700" b="1" dirty="0"/>
              <a:t>PPI therapy</a:t>
            </a:r>
            <a:r>
              <a:rPr lang="en-US" sz="1700" dirty="0"/>
              <a:t>: Initiate upon presentation. </a:t>
            </a:r>
          </a:p>
          <a:p>
            <a:pPr lvl="1"/>
            <a:r>
              <a:rPr lang="en-US" sz="1700" dirty="0"/>
              <a:t>After endoscopic hemostasis for high-risk ulcer patients, </a:t>
            </a:r>
            <a:r>
              <a:rPr lang="en-US" sz="1700" b="1" dirty="0"/>
              <a:t>high-dose PPI</a:t>
            </a:r>
            <a:r>
              <a:rPr lang="en-US" sz="1700" dirty="0"/>
              <a:t> (80 mg IV bolus → 8 mg/</a:t>
            </a:r>
            <a:r>
              <a:rPr lang="en-US" sz="1700" dirty="0" err="1"/>
              <a:t>hr</a:t>
            </a:r>
            <a:r>
              <a:rPr lang="en-US" sz="1700" dirty="0"/>
              <a:t> infusion, or intermittent dosing totaling 80–160 mg/day) for </a:t>
            </a:r>
            <a:r>
              <a:rPr lang="en-US" sz="1700" b="1" dirty="0"/>
              <a:t>72 hours</a:t>
            </a:r>
            <a:r>
              <a:rPr lang="en-US" sz="1700" dirty="0"/>
              <a:t> markedly (reduces rebleeding, surgery, and mortality.)</a:t>
            </a:r>
          </a:p>
          <a:p>
            <a:r>
              <a:rPr lang="en-US" sz="1700" b="1" dirty="0"/>
              <a:t>Endoscopy within 24 hours</a:t>
            </a:r>
            <a:r>
              <a:rPr lang="en-US" sz="1700" dirty="0"/>
              <a:t> for all admitted patients with UGIB. </a:t>
            </a:r>
          </a:p>
          <a:p>
            <a:pPr lvl="1"/>
            <a:r>
              <a:rPr lang="en-US" sz="1700" dirty="0"/>
              <a:t>Resuscitation should precede endoscopy.</a:t>
            </a:r>
          </a:p>
          <a:p>
            <a:r>
              <a:rPr lang="en-US" sz="1700" b="1" dirty="0"/>
              <a:t>Endoscopic hemostasis</a:t>
            </a:r>
            <a:r>
              <a:rPr lang="en-US" sz="1700" dirty="0"/>
              <a:t>: Epinephrine injection should </a:t>
            </a:r>
            <a:r>
              <a:rPr lang="en-US" sz="1700" b="1" dirty="0"/>
              <a:t>never be used alone</a:t>
            </a:r>
            <a:r>
              <a:rPr lang="en-US" sz="1700" dirty="0"/>
              <a:t> — always combine with a second modality (thermal, clips). </a:t>
            </a:r>
          </a:p>
          <a:p>
            <a:r>
              <a:rPr lang="en-US" sz="1700" b="1" dirty="0"/>
              <a:t>Variceal bleeding</a:t>
            </a:r>
            <a:r>
              <a:rPr lang="en-US" sz="1700" dirty="0"/>
              <a:t>: Requires antibiotics (e.g., ceftriaxone) + vasoactive drugs (octreotide or </a:t>
            </a:r>
            <a:r>
              <a:rPr lang="en-US" sz="1700" dirty="0" err="1"/>
              <a:t>terlipressin</a:t>
            </a:r>
            <a:r>
              <a:rPr lang="en-US" sz="1700" dirty="0"/>
              <a:t>) started at presentation.</a:t>
            </a:r>
          </a:p>
          <a:p>
            <a:r>
              <a:rPr lang="en-US" sz="1700" b="1" dirty="0"/>
              <a:t>Erythromycin</a:t>
            </a:r>
            <a:r>
              <a:rPr lang="en-US" sz="1700" dirty="0"/>
              <a:t> (250 mg IV) given 30–120 minutes pre-endoscopy can improve gastric visualization and reduce need for repeat endoscopy.</a:t>
            </a:r>
          </a:p>
          <a:p>
            <a:r>
              <a:rPr lang="en-US" sz="1700" b="1" dirty="0"/>
              <a:t>Failed endoscopic hemostasis</a:t>
            </a:r>
            <a:r>
              <a:rPr lang="en-US" sz="1700" dirty="0"/>
              <a:t>: Attempt repeat endoscopy → if unsuccessful, proceed to </a:t>
            </a:r>
            <a:r>
              <a:rPr lang="en-US" sz="1700" b="1" dirty="0"/>
              <a:t>transcatheter arterial embolization (TAE)</a:t>
            </a:r>
            <a:r>
              <a:rPr lang="en-US" sz="1700" dirty="0"/>
              <a:t> → surgery as last resort. </a:t>
            </a:r>
          </a:p>
          <a:p>
            <a:endParaRPr lang="en-US" sz="1700" dirty="0"/>
          </a:p>
        </p:txBody>
      </p:sp>
    </p:spTree>
    <p:extLst>
      <p:ext uri="{BB962C8B-B14F-4D97-AF65-F5344CB8AC3E}">
        <p14:creationId xmlns:p14="http://schemas.microsoft.com/office/powerpoint/2010/main" val="422472044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3B3247-0A69-6606-59D6-A96697ECDAC1}"/>
              </a:ext>
            </a:extLst>
          </p:cNvPr>
          <p:cNvSpPr>
            <a:spLocks noGrp="1"/>
          </p:cNvSpPr>
          <p:nvPr>
            <p:ph type="title"/>
          </p:nvPr>
        </p:nvSpPr>
        <p:spPr>
          <a:xfrm>
            <a:off x="838200" y="365125"/>
            <a:ext cx="10515600" cy="1325563"/>
          </a:xfrm>
        </p:spPr>
        <p:txBody>
          <a:bodyPr>
            <a:normAutofit/>
          </a:bodyPr>
          <a:lstStyle/>
          <a:p>
            <a:r>
              <a:rPr lang="en-US" sz="5400" b="1"/>
              <a:t>Management of LGIB</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FD18BB6-9AA7-DAED-7A87-C6F173F9CE54}"/>
              </a:ext>
            </a:extLst>
          </p:cNvPr>
          <p:cNvSpPr>
            <a:spLocks noGrp="1"/>
          </p:cNvSpPr>
          <p:nvPr>
            <p:ph idx="1"/>
          </p:nvPr>
        </p:nvSpPr>
        <p:spPr>
          <a:xfrm>
            <a:off x="838200" y="1929384"/>
            <a:ext cx="10515600" cy="4251960"/>
          </a:xfrm>
        </p:spPr>
        <p:txBody>
          <a:bodyPr>
            <a:normAutofit/>
          </a:bodyPr>
          <a:lstStyle/>
          <a:p>
            <a:r>
              <a:rPr lang="en-US" sz="2200" b="1"/>
              <a:t>~75% of LGIB episodes stop spontaneously</a:t>
            </a:r>
            <a:r>
              <a:rPr lang="en-US" sz="2200"/>
              <a:t>. </a:t>
            </a:r>
          </a:p>
          <a:p>
            <a:r>
              <a:rPr lang="en-US" sz="2200" b="1"/>
              <a:t>Colonoscopy</a:t>
            </a:r>
            <a:r>
              <a:rPr lang="en-US" sz="2200"/>
              <a:t> (after bowel prep) is the preferred diagnostic and therapeutic modality for hemodynamically stable patients, ideally within 8–24 hours of admission. </a:t>
            </a:r>
          </a:p>
          <a:p>
            <a:r>
              <a:rPr lang="en-US" sz="2200"/>
              <a:t>For </a:t>
            </a:r>
            <a:r>
              <a:rPr lang="en-US" sz="2200" b="1"/>
              <a:t>hemodynamically unstable</a:t>
            </a:r>
            <a:r>
              <a:rPr lang="en-US" sz="2200"/>
              <a:t> patients or those with suspected ongoing bleeding, </a:t>
            </a:r>
            <a:r>
              <a:rPr lang="en-US" sz="2200" b="1"/>
              <a:t>CT angiography</a:t>
            </a:r>
            <a:r>
              <a:rPr lang="en-US" sz="2200"/>
              <a:t> is the initial study of choice to localize the bleeding source, followed by </a:t>
            </a:r>
            <a:r>
              <a:rPr lang="en-US" sz="2200" b="1"/>
              <a:t>embolization</a:t>
            </a:r>
            <a:r>
              <a:rPr lang="en-US" sz="2200"/>
              <a:t> if positive. </a:t>
            </a:r>
          </a:p>
          <a:p>
            <a:r>
              <a:rPr lang="en-US" sz="2200"/>
              <a:t>The </a:t>
            </a:r>
            <a:r>
              <a:rPr lang="en-US" sz="2200" b="1"/>
              <a:t>Oakland Score</a:t>
            </a:r>
            <a:r>
              <a:rPr lang="en-US" sz="2200"/>
              <a:t> can help risk-stratify LGIB patients for safe outpatient management</a:t>
            </a:r>
          </a:p>
          <a:p>
            <a:endParaRPr lang="en-US" sz="2200"/>
          </a:p>
        </p:txBody>
      </p:sp>
    </p:spTree>
    <p:extLst>
      <p:ext uri="{BB962C8B-B14F-4D97-AF65-F5344CB8AC3E}">
        <p14:creationId xmlns:p14="http://schemas.microsoft.com/office/powerpoint/2010/main" val="10053624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20F2-B3B5-76D3-4B35-C6FC83C56AD9}"/>
              </a:ext>
            </a:extLst>
          </p:cNvPr>
          <p:cNvSpPr>
            <a:spLocks noGrp="1"/>
          </p:cNvSpPr>
          <p:nvPr>
            <p:ph type="title"/>
          </p:nvPr>
        </p:nvSpPr>
        <p:spPr/>
        <p:txBody>
          <a:bodyPr>
            <a:noAutofit/>
          </a:bodyPr>
          <a:lstStyle/>
          <a:p>
            <a:r>
              <a:rPr lang="en-US" sz="3600" dirty="0"/>
              <a:t>Initial evaluation of patients presenting with acute lower gastrointestinal bleeding (Using the Oakland score)</a:t>
            </a:r>
          </a:p>
        </p:txBody>
      </p:sp>
      <p:pic>
        <p:nvPicPr>
          <p:cNvPr id="4" name="Content Placeholder 3">
            <a:extLst>
              <a:ext uri="{FF2B5EF4-FFF2-40B4-BE49-F238E27FC236}">
                <a16:creationId xmlns:a16="http://schemas.microsoft.com/office/drawing/2014/main" id="{873AB106-790D-3D71-493A-D080F99D79D8}"/>
              </a:ext>
            </a:extLst>
          </p:cNvPr>
          <p:cNvPicPr>
            <a:picLocks noGrp="1" noChangeAspect="1"/>
          </p:cNvPicPr>
          <p:nvPr>
            <p:ph idx="1"/>
          </p:nvPr>
        </p:nvPicPr>
        <p:blipFill>
          <a:blip r:embed="rId3"/>
          <a:stretch>
            <a:fillRect/>
          </a:stretch>
        </p:blipFill>
        <p:spPr>
          <a:xfrm>
            <a:off x="3169436" y="1825625"/>
            <a:ext cx="5853127" cy="4351338"/>
          </a:xfrm>
          <a:prstGeom prst="rect">
            <a:avLst/>
          </a:prstGeom>
        </p:spPr>
      </p:pic>
    </p:spTree>
    <p:extLst>
      <p:ext uri="{BB962C8B-B14F-4D97-AF65-F5344CB8AC3E}">
        <p14:creationId xmlns:p14="http://schemas.microsoft.com/office/powerpoint/2010/main" val="21574248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B51457-19E0-D108-F8D5-241F9F85D712}"/>
              </a:ext>
            </a:extLst>
          </p:cNvPr>
          <p:cNvSpPr>
            <a:spLocks noGrp="1"/>
          </p:cNvSpPr>
          <p:nvPr>
            <p:ph type="title"/>
          </p:nvPr>
        </p:nvSpPr>
        <p:spPr>
          <a:xfrm>
            <a:off x="572493" y="238539"/>
            <a:ext cx="11018520" cy="1434415"/>
          </a:xfrm>
        </p:spPr>
        <p:txBody>
          <a:bodyPr anchor="b">
            <a:normAutofit/>
          </a:bodyPr>
          <a:lstStyle/>
          <a:p>
            <a:r>
              <a:rPr lang="en-US" sz="5400" b="1" i="1"/>
              <a:t>****Pearls</a:t>
            </a:r>
            <a:endParaRPr lang="en-US" sz="5400" i="1"/>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0CC7988-061B-75DE-831B-8484120D9199}"/>
              </a:ext>
            </a:extLst>
          </p:cNvPr>
          <p:cNvSpPr>
            <a:spLocks noGrp="1"/>
          </p:cNvSpPr>
          <p:nvPr>
            <p:ph idx="1"/>
          </p:nvPr>
        </p:nvSpPr>
        <p:spPr>
          <a:xfrm>
            <a:off x="572493" y="2071316"/>
            <a:ext cx="6713552" cy="4119172"/>
          </a:xfrm>
        </p:spPr>
        <p:txBody>
          <a:bodyPr anchor="t">
            <a:normAutofit/>
          </a:bodyPr>
          <a:lstStyle/>
          <a:p>
            <a:r>
              <a:rPr lang="en-US" sz="1900"/>
              <a:t>Always consider UGIB in patients with hematochezia and hemodynamic instability — </a:t>
            </a:r>
            <a:r>
              <a:rPr lang="en-US" sz="1900" b="1" i="1"/>
              <a:t>brisk upper sources </a:t>
            </a:r>
            <a:r>
              <a:rPr lang="en-US" sz="1900"/>
              <a:t>can present with </a:t>
            </a:r>
            <a:r>
              <a:rPr lang="en-US" sz="1900" b="1" i="1"/>
              <a:t>bright red blood per rectum</a:t>
            </a:r>
            <a:r>
              <a:rPr lang="en-US" sz="1900"/>
              <a:t>.</a:t>
            </a:r>
          </a:p>
          <a:p>
            <a:r>
              <a:rPr lang="en-US" sz="1900" b="1"/>
              <a:t>NSAIDs and H. pylori</a:t>
            </a:r>
            <a:r>
              <a:rPr lang="en-US" sz="1900"/>
              <a:t> are the two most important modifiable risk factors for peptic ulcer bleeding. </a:t>
            </a:r>
          </a:p>
          <a:p>
            <a:r>
              <a:rPr lang="en-US" sz="1900"/>
              <a:t>A </a:t>
            </a:r>
            <a:r>
              <a:rPr lang="en-US" sz="1900" b="1"/>
              <a:t>GBS of 0–1</a:t>
            </a:r>
            <a:r>
              <a:rPr lang="en-US" sz="1900"/>
              <a:t> is the threshold for safe outpatient management of UGIB. </a:t>
            </a:r>
          </a:p>
          <a:p>
            <a:r>
              <a:rPr lang="en-US" sz="1900" b="1"/>
              <a:t>*Aortoenteric fistula</a:t>
            </a:r>
            <a:r>
              <a:rPr lang="en-US" sz="1900"/>
              <a:t> is rare but must be considered in any patient with a history of aortic graft and GI bleeding — it is a surgical emergency.</a:t>
            </a:r>
          </a:p>
          <a:p>
            <a:r>
              <a:rPr lang="en-US" sz="1900"/>
              <a:t>In cirrhotic patients with GI bleeding, always </a:t>
            </a:r>
            <a:r>
              <a:rPr lang="en-US" sz="1900" b="1" i="1"/>
              <a:t>assume variceal source </a:t>
            </a:r>
            <a:r>
              <a:rPr lang="en-US" sz="1900"/>
              <a:t>until proven otherwise and </a:t>
            </a:r>
            <a:r>
              <a:rPr lang="en-US" sz="1900" b="1" i="1"/>
              <a:t>start antibiotics + vasopressors empirically</a:t>
            </a:r>
            <a:r>
              <a:rPr lang="en-US" sz="1900"/>
              <a:t>.</a:t>
            </a:r>
          </a:p>
          <a:p>
            <a:endParaRPr lang="en-US" sz="1900"/>
          </a:p>
        </p:txBody>
      </p:sp>
      <p:pic>
        <p:nvPicPr>
          <p:cNvPr id="5" name="Picture 4" descr="Natural Pearls vs. Cultured Pearls: The Difference Explained | Jewelers Mutual">
            <a:extLst>
              <a:ext uri="{FF2B5EF4-FFF2-40B4-BE49-F238E27FC236}">
                <a16:creationId xmlns:a16="http://schemas.microsoft.com/office/drawing/2014/main" id="{CDDD4926-9835-8705-35D3-92F42122952A}"/>
              </a:ext>
            </a:extLst>
          </p:cNvPr>
          <p:cNvPicPr>
            <a:picLocks noChangeAspect="1"/>
          </p:cNvPicPr>
          <p:nvPr/>
        </p:nvPicPr>
        <p:blipFill>
          <a:blip r:embed="rId3"/>
          <a:srcRect l="29648" r="6136"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4508974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4A453-F94A-B687-2DD5-FE1AADEE3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926DC-8C2C-ADC4-260D-855C86BC1509}"/>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b="1" dirty="0"/>
              <a:t>Mystery Case</a:t>
            </a:r>
            <a:br>
              <a:rPr lang="en-US" sz="5400" b="1" dirty="0"/>
            </a:br>
            <a:r>
              <a:rPr lang="en-US" sz="5400" b="1" dirty="0"/>
              <a:t>(Continued)</a:t>
            </a:r>
          </a:p>
        </p:txBody>
      </p:sp>
      <p:sp>
        <p:nvSpPr>
          <p:cNvPr id="3" name="Text Placeholder 2">
            <a:extLst>
              <a:ext uri="{FF2B5EF4-FFF2-40B4-BE49-F238E27FC236}">
                <a16:creationId xmlns:a16="http://schemas.microsoft.com/office/drawing/2014/main" id="{6DC3FD85-BFB0-BB5A-9E74-7BB984DD606E}"/>
              </a:ext>
            </a:extLst>
          </p:cNvPr>
          <p:cNvSpPr>
            <a:spLocks noGrp="1"/>
          </p:cNvSpPr>
          <p:nvPr>
            <p:ph type="body" idx="1"/>
          </p:nvPr>
        </p:nvSpPr>
        <p:spPr>
          <a:xfrm>
            <a:off x="890339" y="4636008"/>
            <a:ext cx="3734014" cy="1572768"/>
          </a:xfrm>
        </p:spPr>
        <p:txBody>
          <a:bodyPr vert="horz" lIns="91440" tIns="45720" rIns="91440" bIns="45720" rtlCol="0">
            <a:normAutofit/>
          </a:bodyPr>
          <a:lstStyle/>
          <a:p>
            <a:r>
              <a:rPr lang="en-US" b="1" i="1" dirty="0">
                <a:solidFill>
                  <a:srgbClr val="FF0000"/>
                </a:solidFill>
              </a:rPr>
              <a:t>“More Revelations</a:t>
            </a:r>
            <a:r>
              <a:rPr lang="en-US" dirty="0">
                <a:solidFill>
                  <a:schemeClr val="tx1"/>
                </a:solidFill>
              </a:rPr>
              <a:t>”</a:t>
            </a:r>
          </a:p>
        </p:txBody>
      </p:sp>
      <p:pic>
        <p:nvPicPr>
          <p:cNvPr id="5" name="Picture 4" descr="780+ Adult Little Red Riding Hood Costume Stock Photos, Pictures &amp;  Royalty-Free Images - iStock">
            <a:extLst>
              <a:ext uri="{FF2B5EF4-FFF2-40B4-BE49-F238E27FC236}">
                <a16:creationId xmlns:a16="http://schemas.microsoft.com/office/drawing/2014/main" id="{E3E1570F-E145-78A4-D5D2-0DF4858314C5}"/>
              </a:ext>
            </a:extLst>
          </p:cNvPr>
          <p:cNvPicPr>
            <a:picLocks noChangeAspect="1"/>
          </p:cNvPicPr>
          <p:nvPr/>
        </p:nvPicPr>
        <p:blipFill>
          <a:blip r:embed="rId3"/>
          <a:srcRect l="18121" r="14926"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57792717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CF0C8-3F9C-7521-2663-F637B53549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B0893-86A9-C8D7-D4DD-01FE11131321}"/>
              </a:ext>
            </a:extLst>
          </p:cNvPr>
          <p:cNvSpPr>
            <a:spLocks noGrp="1"/>
          </p:cNvSpPr>
          <p:nvPr>
            <p:ph type="title"/>
          </p:nvPr>
        </p:nvSpPr>
        <p:spPr>
          <a:xfrm>
            <a:off x="640080" y="325369"/>
            <a:ext cx="4368602" cy="1956841"/>
          </a:xfrm>
        </p:spPr>
        <p:txBody>
          <a:bodyPr anchor="b">
            <a:normAutofit/>
          </a:bodyPr>
          <a:lstStyle/>
          <a:p>
            <a:r>
              <a:rPr lang="en-US" sz="5400" b="1"/>
              <a:t>Mystery Case</a:t>
            </a:r>
            <a:endParaRPr lang="en-US" sz="5400"/>
          </a:p>
        </p:txBody>
      </p:sp>
      <p:sp>
        <p:nvSpPr>
          <p:cNvPr id="3" name="Content Placeholder 2">
            <a:extLst>
              <a:ext uri="{FF2B5EF4-FFF2-40B4-BE49-F238E27FC236}">
                <a16:creationId xmlns:a16="http://schemas.microsoft.com/office/drawing/2014/main" id="{A57411B8-B986-E917-E07D-0172E09DAC81}"/>
              </a:ext>
            </a:extLst>
          </p:cNvPr>
          <p:cNvSpPr>
            <a:spLocks noGrp="1"/>
          </p:cNvSpPr>
          <p:nvPr>
            <p:ph idx="1"/>
          </p:nvPr>
        </p:nvSpPr>
        <p:spPr>
          <a:xfrm>
            <a:off x="640080" y="2872899"/>
            <a:ext cx="4243589" cy="3320668"/>
          </a:xfrm>
        </p:spPr>
        <p:txBody>
          <a:bodyPr>
            <a:normAutofit/>
          </a:bodyPr>
          <a:lstStyle/>
          <a:p>
            <a:r>
              <a:rPr lang="en-US" sz="2000" dirty="0"/>
              <a:t>Now, Ms. Riding Hood, in addition to having burning epigastric </a:t>
            </a:r>
            <a:r>
              <a:rPr lang="en-US" sz="2000" dirty="0" err="1"/>
              <a:t>abd</a:t>
            </a:r>
            <a:r>
              <a:rPr lang="en-US" sz="2000" dirty="0"/>
              <a:t> pain, nausea, vomiting, bloating, early satiety, black tarry stools 6 days ago. </a:t>
            </a:r>
            <a:r>
              <a:rPr lang="en-US" sz="2000" b="1" i="1" u="sng" dirty="0">
                <a:solidFill>
                  <a:srgbClr val="FF0000"/>
                </a:solidFill>
              </a:rPr>
              <a:t>Now her pain has radiated to her RLQ and her temp is now 102.3 F and she is still very nauseous and is vomiting.</a:t>
            </a:r>
          </a:p>
          <a:p>
            <a:r>
              <a:rPr lang="en-US" sz="2000" dirty="0"/>
              <a:t>What is her diagnosis?</a:t>
            </a:r>
          </a:p>
          <a:p>
            <a:pPr marL="0" indent="0">
              <a:buNone/>
            </a:pPr>
            <a:endParaRPr lang="en-US" sz="2000" dirty="0"/>
          </a:p>
        </p:txBody>
      </p:sp>
      <p:pic>
        <p:nvPicPr>
          <p:cNvPr id="5" name="Picture 4" descr="780+ Adult Little Red Riding Hood Costume Stock Photos, Pictures &amp;  Royalty-Free Images - iStock">
            <a:extLst>
              <a:ext uri="{FF2B5EF4-FFF2-40B4-BE49-F238E27FC236}">
                <a16:creationId xmlns:a16="http://schemas.microsoft.com/office/drawing/2014/main" id="{6D91EBF7-BECC-9548-52B5-58274F7FC178}"/>
              </a:ext>
            </a:extLst>
          </p:cNvPr>
          <p:cNvPicPr>
            <a:picLocks noChangeAspect="1"/>
          </p:cNvPicPr>
          <p:nvPr/>
        </p:nvPicPr>
        <p:blipFill>
          <a:blip r:embed="rId3"/>
          <a:srcRect l="18121" r="14926"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19616526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02FBC1-3258-3E49-1AEE-3A808B755AD0}"/>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0B8BE2-B4AA-F9F1-FF8A-17433C885191}"/>
              </a:ext>
            </a:extLst>
          </p:cNvPr>
          <p:cNvSpPr>
            <a:spLocks noGrp="1"/>
          </p:cNvSpPr>
          <p:nvPr>
            <p:ph type="title"/>
          </p:nvPr>
        </p:nvSpPr>
        <p:spPr>
          <a:xfrm>
            <a:off x="630936" y="640080"/>
            <a:ext cx="4818888" cy="1481328"/>
          </a:xfrm>
        </p:spPr>
        <p:txBody>
          <a:bodyPr anchor="b">
            <a:normAutofit/>
          </a:bodyPr>
          <a:lstStyle/>
          <a:p>
            <a:r>
              <a:rPr lang="en-US" sz="5000"/>
              <a:t>Diseases of the Small Intestine</a:t>
            </a:r>
          </a:p>
        </p:txBody>
      </p:sp>
      <p:sp>
        <p:nvSpPr>
          <p:cNvPr id="14"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2C2321E-F80B-2F8D-88E6-31048F9D4EA1}"/>
              </a:ext>
            </a:extLst>
          </p:cNvPr>
          <p:cNvSpPr>
            <a:spLocks noGrp="1"/>
          </p:cNvSpPr>
          <p:nvPr>
            <p:ph idx="1"/>
          </p:nvPr>
        </p:nvSpPr>
        <p:spPr>
          <a:xfrm>
            <a:off x="630936" y="2660904"/>
            <a:ext cx="4818888" cy="3547872"/>
          </a:xfrm>
        </p:spPr>
        <p:txBody>
          <a:bodyPr anchor="t">
            <a:normAutofit/>
          </a:bodyPr>
          <a:lstStyle/>
          <a:p>
            <a:r>
              <a:rPr lang="en-US" sz="2200" b="1" i="1" dirty="0">
                <a:solidFill>
                  <a:srgbClr val="FF0000"/>
                </a:solidFill>
              </a:rPr>
              <a:t>Appendicitis</a:t>
            </a:r>
          </a:p>
          <a:p>
            <a:r>
              <a:rPr lang="en-US" sz="2200" b="1" i="1" dirty="0">
                <a:solidFill>
                  <a:srgbClr val="FF0000"/>
                </a:solidFill>
              </a:rPr>
              <a:t>Celiac disease</a:t>
            </a:r>
          </a:p>
          <a:p>
            <a:r>
              <a:rPr lang="en-US" sz="2200" b="1" i="1" dirty="0">
                <a:solidFill>
                  <a:srgbClr val="FF0000"/>
                </a:solidFill>
              </a:rPr>
              <a:t>Intussusception</a:t>
            </a:r>
          </a:p>
          <a:p>
            <a:r>
              <a:rPr lang="en-US" sz="2200" b="1" i="1" dirty="0">
                <a:solidFill>
                  <a:srgbClr val="FF0000"/>
                </a:solidFill>
              </a:rPr>
              <a:t>Obstruction </a:t>
            </a:r>
          </a:p>
          <a:p>
            <a:r>
              <a:rPr lang="en-US" sz="2200" b="1" i="1" dirty="0">
                <a:solidFill>
                  <a:srgbClr val="FF0000"/>
                </a:solidFill>
              </a:rPr>
              <a:t>Polyps</a:t>
            </a:r>
          </a:p>
          <a:p>
            <a:endParaRPr lang="en-US" sz="2200" dirty="0"/>
          </a:p>
        </p:txBody>
      </p:sp>
      <p:pic>
        <p:nvPicPr>
          <p:cNvPr id="4" name="Picture 3" descr="Small Intestine Diseases | MedlinePlus">
            <a:extLst>
              <a:ext uri="{FF2B5EF4-FFF2-40B4-BE49-F238E27FC236}">
                <a16:creationId xmlns:a16="http://schemas.microsoft.com/office/drawing/2014/main" id="{66D12F94-5DD7-035B-F269-78492DC35B76}"/>
              </a:ext>
            </a:extLst>
          </p:cNvPr>
          <p:cNvPicPr>
            <a:picLocks noChangeAspect="1"/>
          </p:cNvPicPr>
          <p:nvPr/>
        </p:nvPicPr>
        <p:blipFill>
          <a:blip r:embed="rId2"/>
          <a:stretch>
            <a:fillRect/>
          </a:stretch>
        </p:blipFill>
        <p:spPr>
          <a:xfrm>
            <a:off x="6099048" y="699516"/>
            <a:ext cx="5458968" cy="5458968"/>
          </a:xfrm>
          <a:prstGeom prst="rect">
            <a:avLst/>
          </a:prstGeom>
        </p:spPr>
      </p:pic>
    </p:spTree>
    <p:extLst>
      <p:ext uri="{BB962C8B-B14F-4D97-AF65-F5344CB8AC3E}">
        <p14:creationId xmlns:p14="http://schemas.microsoft.com/office/powerpoint/2010/main" val="32780155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4E1FC5-B9F0-A76F-7B5A-941EED5D1ACC}"/>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000" b="1" i="1" dirty="0">
                <a:solidFill>
                  <a:srgbClr val="FF0000"/>
                </a:solidFill>
              </a:rPr>
              <a:t>Appendicitis</a:t>
            </a:r>
          </a:p>
        </p:txBody>
      </p:sp>
      <p:sp>
        <p:nvSpPr>
          <p:cNvPr id="3" name="Text Placeholder 2">
            <a:extLst>
              <a:ext uri="{FF2B5EF4-FFF2-40B4-BE49-F238E27FC236}">
                <a16:creationId xmlns:a16="http://schemas.microsoft.com/office/drawing/2014/main" id="{B718F905-D83E-BA96-EE0D-F730F310111D}"/>
              </a:ext>
            </a:extLst>
          </p:cNvPr>
          <p:cNvSpPr>
            <a:spLocks noGrp="1"/>
          </p:cNvSpPr>
          <p:nvPr>
            <p:ph type="body" idx="1"/>
          </p:nvPr>
        </p:nvSpPr>
        <p:spPr>
          <a:xfrm>
            <a:off x="890339" y="4636008"/>
            <a:ext cx="3734014" cy="1572768"/>
          </a:xfrm>
        </p:spPr>
        <p:txBody>
          <a:bodyPr vert="horz" lIns="91440" tIns="45720" rIns="91440" bIns="45720" rtlCol="0">
            <a:normAutofit/>
          </a:bodyPr>
          <a:lstStyle/>
          <a:p>
            <a:r>
              <a:rPr lang="en-US" sz="1300">
                <a:solidFill>
                  <a:schemeClr val="tx1"/>
                </a:solidFill>
              </a:rPr>
              <a:t>Medical Terminology</a:t>
            </a:r>
          </a:p>
          <a:p>
            <a:pPr lvl="0"/>
            <a:r>
              <a:rPr lang="en-US" sz="1300" b="1">
                <a:solidFill>
                  <a:schemeClr val="tx1"/>
                </a:solidFill>
              </a:rPr>
              <a:t>Appendic-</a:t>
            </a:r>
            <a:r>
              <a:rPr lang="en-US" sz="1300">
                <a:solidFill>
                  <a:schemeClr val="tx1"/>
                </a:solidFill>
              </a:rPr>
              <a:t>: Refers to the appendix, coming from the Latin word meaning "something attached".</a:t>
            </a:r>
          </a:p>
          <a:p>
            <a:pPr lvl="0"/>
            <a:r>
              <a:rPr lang="en-US" sz="1300" b="1">
                <a:solidFill>
                  <a:schemeClr val="tx1"/>
                </a:solidFill>
              </a:rPr>
              <a:t>-itis</a:t>
            </a:r>
            <a:r>
              <a:rPr lang="en-US" sz="1300">
                <a:solidFill>
                  <a:schemeClr val="tx1"/>
                </a:solidFill>
              </a:rPr>
              <a:t>: A medical suffix that means "inflammation of". </a:t>
            </a:r>
          </a:p>
          <a:p>
            <a:endParaRPr lang="en-US" sz="1300">
              <a:solidFill>
                <a:schemeClr val="tx1"/>
              </a:solidFill>
            </a:endParaRPr>
          </a:p>
        </p:txBody>
      </p:sp>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mall Intestine Diseases | MedlinePlus">
            <a:extLst>
              <a:ext uri="{FF2B5EF4-FFF2-40B4-BE49-F238E27FC236}">
                <a16:creationId xmlns:a16="http://schemas.microsoft.com/office/drawing/2014/main" id="{9B8D1EA2-BC42-AA29-9440-2573E3FB0E48}"/>
              </a:ext>
            </a:extLst>
          </p:cNvPr>
          <p:cNvPicPr>
            <a:picLocks noChangeAspect="1"/>
          </p:cNvPicPr>
          <p:nvPr/>
        </p:nvPicPr>
        <p:blipFill>
          <a:blip r:embed="rId2"/>
          <a:srcRect b="303"/>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6235256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572771-1295-BEB5-68FE-8BCC79B2A1BC}"/>
              </a:ext>
            </a:extLst>
          </p:cNvPr>
          <p:cNvSpPr>
            <a:spLocks noGrp="1"/>
          </p:cNvSpPr>
          <p:nvPr>
            <p:ph type="title"/>
          </p:nvPr>
        </p:nvSpPr>
        <p:spPr>
          <a:xfrm>
            <a:off x="572493" y="238539"/>
            <a:ext cx="11018520" cy="1434415"/>
          </a:xfrm>
        </p:spPr>
        <p:txBody>
          <a:bodyPr anchor="b">
            <a:normAutofit/>
          </a:bodyPr>
          <a:lstStyle/>
          <a:p>
            <a:r>
              <a:rPr lang="en-US" sz="5400"/>
              <a:t>Appendicitis</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F1E816-7222-8116-A5C8-9536E1F870F9}"/>
              </a:ext>
            </a:extLst>
          </p:cNvPr>
          <p:cNvSpPr>
            <a:spLocks noGrp="1"/>
          </p:cNvSpPr>
          <p:nvPr>
            <p:ph idx="1"/>
          </p:nvPr>
        </p:nvSpPr>
        <p:spPr>
          <a:xfrm>
            <a:off x="572493" y="2071316"/>
            <a:ext cx="6713552" cy="4119172"/>
          </a:xfrm>
        </p:spPr>
        <p:txBody>
          <a:bodyPr anchor="t">
            <a:normAutofit/>
          </a:bodyPr>
          <a:lstStyle/>
          <a:p>
            <a:r>
              <a:rPr lang="en-US" sz="2200" b="1"/>
              <a:t>Epidemiology</a:t>
            </a:r>
            <a:endParaRPr lang="en-US" sz="2200"/>
          </a:p>
          <a:p>
            <a:pPr lvl="1"/>
            <a:r>
              <a:rPr lang="en-US" sz="2200"/>
              <a:t>Acute appendicitis is the </a:t>
            </a:r>
            <a:r>
              <a:rPr lang="en-US" sz="2200" b="1"/>
              <a:t>most common abdominal surgical emergency</a:t>
            </a:r>
            <a:r>
              <a:rPr lang="en-US" sz="2200"/>
              <a:t> worldwide, </a:t>
            </a:r>
          </a:p>
          <a:p>
            <a:pPr lvl="1"/>
            <a:r>
              <a:rPr lang="en-US" sz="2200"/>
              <a:t>Incidence peaks in the second decade of life with a </a:t>
            </a:r>
            <a:r>
              <a:rPr lang="en-US" sz="2200" b="1" i="1"/>
              <a:t>male</a:t>
            </a:r>
            <a:r>
              <a:rPr lang="en-US" sz="2200"/>
              <a:t>-to-female ratio of approximately 2:1.</a:t>
            </a:r>
          </a:p>
          <a:p>
            <a:pPr lvl="1"/>
            <a:r>
              <a:rPr lang="en-US" sz="2200"/>
              <a:t>It is also the </a:t>
            </a:r>
            <a:r>
              <a:rPr lang="en-US" sz="2200" b="1" i="1"/>
              <a:t>most common non-obstetric surgical emergency during pregnancy</a:t>
            </a:r>
            <a:r>
              <a:rPr lang="en-US" sz="2200"/>
              <a:t>.</a:t>
            </a:r>
          </a:p>
          <a:p>
            <a:endParaRPr lang="en-US" sz="2200"/>
          </a:p>
        </p:txBody>
      </p:sp>
      <p:pic>
        <p:nvPicPr>
          <p:cNvPr id="4" name="Picture 3" descr="Small Intestine Diseases | MedlinePlus">
            <a:extLst>
              <a:ext uri="{FF2B5EF4-FFF2-40B4-BE49-F238E27FC236}">
                <a16:creationId xmlns:a16="http://schemas.microsoft.com/office/drawing/2014/main" id="{C37F7CBC-32B9-19F2-83B5-3177BCD3416C}"/>
              </a:ext>
            </a:extLst>
          </p:cNvPr>
          <p:cNvPicPr>
            <a:picLocks noChangeAspect="1"/>
          </p:cNvPicPr>
          <p:nvPr/>
        </p:nvPicPr>
        <p:blipFill>
          <a:blip r:embed="rId3"/>
          <a:srcRect r="3792"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421087051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BC4E56-C52A-DD23-A545-EB64ACFB1CF6}"/>
              </a:ext>
            </a:extLst>
          </p:cNvPr>
          <p:cNvSpPr>
            <a:spLocks noGrp="1"/>
          </p:cNvSpPr>
          <p:nvPr>
            <p:ph type="title"/>
          </p:nvPr>
        </p:nvSpPr>
        <p:spPr>
          <a:xfrm>
            <a:off x="572493" y="238539"/>
            <a:ext cx="11018520" cy="1434415"/>
          </a:xfrm>
        </p:spPr>
        <p:txBody>
          <a:bodyPr anchor="b">
            <a:normAutofit/>
          </a:bodyPr>
          <a:lstStyle/>
          <a:p>
            <a:r>
              <a:rPr lang="en-US" sz="5400" b="1"/>
              <a:t>Pathophysiology</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E59ECA4-96EE-940B-04EC-957A593E4E30}"/>
              </a:ext>
            </a:extLst>
          </p:cNvPr>
          <p:cNvSpPr>
            <a:spLocks noGrp="1"/>
          </p:cNvSpPr>
          <p:nvPr>
            <p:ph idx="1"/>
          </p:nvPr>
        </p:nvSpPr>
        <p:spPr>
          <a:xfrm>
            <a:off x="572493" y="2071316"/>
            <a:ext cx="6713552" cy="4119172"/>
          </a:xfrm>
        </p:spPr>
        <p:txBody>
          <a:bodyPr anchor="t">
            <a:normAutofit/>
          </a:bodyPr>
          <a:lstStyle/>
          <a:p>
            <a:r>
              <a:rPr lang="en-US" sz="1700" dirty="0"/>
              <a:t>The key mechanism is </a:t>
            </a:r>
            <a:r>
              <a:rPr lang="en-US" sz="1700" b="1" dirty="0"/>
              <a:t>appendiceal luminal obstruction</a:t>
            </a:r>
            <a:r>
              <a:rPr lang="en-US" sz="1700" dirty="0"/>
              <a:t> → increased intraluminal pressure → vascular compromise → ischemia → necrosis → perforation. </a:t>
            </a:r>
          </a:p>
          <a:p>
            <a:r>
              <a:rPr lang="en-US" sz="1700" b="1" dirty="0"/>
              <a:t>Causes </a:t>
            </a:r>
            <a:r>
              <a:rPr lang="en-US" sz="1700" dirty="0"/>
              <a:t>of obstruction vary by age:</a:t>
            </a:r>
          </a:p>
          <a:p>
            <a:pPr lvl="1"/>
            <a:r>
              <a:rPr lang="en-US" sz="1700" b="1" dirty="0"/>
              <a:t>Young adults</a:t>
            </a:r>
            <a:r>
              <a:rPr lang="en-US" sz="1700" dirty="0"/>
              <a:t>: lymphoid follicular hyperplasia (55–65% of cases)</a:t>
            </a:r>
          </a:p>
          <a:p>
            <a:pPr lvl="1"/>
            <a:r>
              <a:rPr lang="en-US" sz="1700" b="1" dirty="0"/>
              <a:t>Older adults</a:t>
            </a:r>
            <a:r>
              <a:rPr lang="en-US" sz="1700" dirty="0"/>
              <a:t>:</a:t>
            </a:r>
            <a:r>
              <a:rPr lang="en-US" sz="1700" dirty="0">
                <a:solidFill>
                  <a:srgbClr val="FF0000"/>
                </a:solidFill>
              </a:rPr>
              <a:t> </a:t>
            </a:r>
            <a:r>
              <a:rPr lang="en-US" sz="1700" b="1" dirty="0">
                <a:solidFill>
                  <a:srgbClr val="FF0000"/>
                </a:solidFill>
              </a:rPr>
              <a:t>appendicoliths </a:t>
            </a:r>
            <a:r>
              <a:rPr lang="en-US" sz="1700" b="1" dirty="0"/>
              <a:t>or neoplasm </a:t>
            </a:r>
          </a:p>
          <a:p>
            <a:pPr lvl="1"/>
            <a:r>
              <a:rPr lang="en-US" sz="1700" dirty="0"/>
              <a:t>Other causes: fecaliths (~35%), foreign bodies, parasitic infections, tumors </a:t>
            </a:r>
          </a:p>
          <a:p>
            <a:r>
              <a:rPr lang="en-US" sz="1700" dirty="0"/>
              <a:t>As the appendix distends, </a:t>
            </a:r>
            <a:r>
              <a:rPr lang="en-US" sz="1700" b="1" dirty="0"/>
              <a:t>T8–T10 visceral afferent nerves</a:t>
            </a:r>
            <a:r>
              <a:rPr lang="en-US" sz="1700" dirty="0"/>
              <a:t> produce vague periumbilical pain. </a:t>
            </a:r>
          </a:p>
          <a:p>
            <a:pPr lvl="1"/>
            <a:r>
              <a:rPr lang="en-US" sz="1700" dirty="0"/>
              <a:t>When inflammation reaches the parietal peritoneum, somatic nerve stimulation causes the classic migration to the </a:t>
            </a:r>
            <a:r>
              <a:rPr lang="en-US" sz="1700" b="1" dirty="0"/>
              <a:t>right lower quadrant</a:t>
            </a:r>
            <a:r>
              <a:rPr lang="en-US" sz="1700" dirty="0"/>
              <a:t>.</a:t>
            </a:r>
          </a:p>
          <a:p>
            <a:endParaRPr lang="en-US" sz="1700" dirty="0"/>
          </a:p>
        </p:txBody>
      </p:sp>
      <p:pic>
        <p:nvPicPr>
          <p:cNvPr id="4" name="Picture 3" descr="Small Intestine Diseases | MedlinePlus">
            <a:extLst>
              <a:ext uri="{FF2B5EF4-FFF2-40B4-BE49-F238E27FC236}">
                <a16:creationId xmlns:a16="http://schemas.microsoft.com/office/drawing/2014/main" id="{7BA0CCE1-F72B-6C17-FD6E-D742E2014390}"/>
              </a:ext>
            </a:extLst>
          </p:cNvPr>
          <p:cNvPicPr>
            <a:picLocks noChangeAspect="1"/>
          </p:cNvPicPr>
          <p:nvPr/>
        </p:nvPicPr>
        <p:blipFill>
          <a:blip r:embed="rId3"/>
          <a:srcRect r="3792"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7818424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89D47-9632-B9B1-900B-588ED3790148}"/>
              </a:ext>
            </a:extLst>
          </p:cNvPr>
          <p:cNvSpPr>
            <a:spLocks noGrp="1"/>
          </p:cNvSpPr>
          <p:nvPr>
            <p:ph type="title"/>
          </p:nvPr>
        </p:nvSpPr>
        <p:spPr/>
        <p:txBody>
          <a:bodyPr/>
          <a:lstStyle/>
          <a:p>
            <a:r>
              <a:rPr lang="en-US" dirty="0"/>
              <a:t>Pathophysiology of Acute Appendicitis</a:t>
            </a:r>
          </a:p>
        </p:txBody>
      </p:sp>
      <p:pic>
        <p:nvPicPr>
          <p:cNvPr id="4" name="Content Placeholder 3">
            <a:extLst>
              <a:ext uri="{FF2B5EF4-FFF2-40B4-BE49-F238E27FC236}">
                <a16:creationId xmlns:a16="http://schemas.microsoft.com/office/drawing/2014/main" id="{95AD73FB-0CC7-D1EF-0BC3-EAADB5905CBD}"/>
              </a:ext>
            </a:extLst>
          </p:cNvPr>
          <p:cNvPicPr>
            <a:picLocks noGrp="1" noChangeAspect="1"/>
          </p:cNvPicPr>
          <p:nvPr>
            <p:ph idx="1"/>
          </p:nvPr>
        </p:nvPicPr>
        <p:blipFill>
          <a:blip r:embed="rId2"/>
          <a:stretch>
            <a:fillRect/>
          </a:stretch>
        </p:blipFill>
        <p:spPr>
          <a:xfrm>
            <a:off x="1281819" y="1690688"/>
            <a:ext cx="8025983" cy="4468858"/>
          </a:xfrm>
          <a:prstGeom prst="rect">
            <a:avLst/>
          </a:prstGeom>
        </p:spPr>
      </p:pic>
    </p:spTree>
    <p:extLst>
      <p:ext uri="{BB962C8B-B14F-4D97-AF65-F5344CB8AC3E}">
        <p14:creationId xmlns:p14="http://schemas.microsoft.com/office/powerpoint/2010/main" val="408509342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EA2704-D957-82F8-9600-478372366BCD}"/>
              </a:ext>
            </a:extLst>
          </p:cNvPr>
          <p:cNvSpPr>
            <a:spLocks noGrp="1"/>
          </p:cNvSpPr>
          <p:nvPr>
            <p:ph type="title"/>
          </p:nvPr>
        </p:nvSpPr>
        <p:spPr>
          <a:xfrm>
            <a:off x="572493" y="238539"/>
            <a:ext cx="11018520" cy="1434415"/>
          </a:xfrm>
        </p:spPr>
        <p:txBody>
          <a:bodyPr anchor="b">
            <a:normAutofit/>
          </a:bodyPr>
          <a:lstStyle/>
          <a:p>
            <a:r>
              <a:rPr lang="en-US" sz="5400"/>
              <a:t>Clinical Presentation</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037BCC6-D29E-0DF8-6D80-F9D5664184F5}"/>
              </a:ext>
            </a:extLst>
          </p:cNvPr>
          <p:cNvSpPr>
            <a:spLocks noGrp="1"/>
          </p:cNvSpPr>
          <p:nvPr>
            <p:ph idx="1"/>
          </p:nvPr>
        </p:nvSpPr>
        <p:spPr>
          <a:xfrm>
            <a:off x="572493" y="2071316"/>
            <a:ext cx="6713552" cy="4119172"/>
          </a:xfrm>
        </p:spPr>
        <p:txBody>
          <a:bodyPr anchor="t">
            <a:normAutofit/>
          </a:bodyPr>
          <a:lstStyle/>
          <a:p>
            <a:r>
              <a:rPr lang="en-US" sz="2200"/>
              <a:t>Vague </a:t>
            </a:r>
            <a:r>
              <a:rPr lang="en-US" sz="2200" b="1"/>
              <a:t>periumbilical pain</a:t>
            </a:r>
            <a:r>
              <a:rPr lang="en-US" sz="2200"/>
              <a:t> (visceral)</a:t>
            </a:r>
          </a:p>
          <a:p>
            <a:r>
              <a:rPr lang="en-US" sz="2200" b="1"/>
              <a:t>Anorexia</a:t>
            </a:r>
            <a:r>
              <a:rPr lang="en-US" sz="2200"/>
              <a:t>, nausea, vomiting (pain typically precedes vomiting)</a:t>
            </a:r>
          </a:p>
          <a:p>
            <a:r>
              <a:rPr lang="en-US" sz="2200" b="1"/>
              <a:t>Migration of pain to the RLQ</a:t>
            </a:r>
            <a:r>
              <a:rPr lang="en-US" sz="2200"/>
              <a:t> within ~24 hours </a:t>
            </a:r>
          </a:p>
          <a:p>
            <a:r>
              <a:rPr lang="en-US" sz="2200"/>
              <a:t>Low-grade </a:t>
            </a:r>
            <a:r>
              <a:rPr lang="en-US" sz="2200" b="1"/>
              <a:t>fever</a:t>
            </a:r>
            <a:endParaRPr lang="en-US" sz="2200"/>
          </a:p>
          <a:p>
            <a:r>
              <a:rPr lang="en-US" sz="2200"/>
              <a:t>Important caveat: only about </a:t>
            </a:r>
            <a:r>
              <a:rPr lang="en-US" sz="2200" b="1"/>
              <a:t>40% of patients present with all classic features</a:t>
            </a:r>
            <a:r>
              <a:rPr lang="en-US" sz="2200"/>
              <a:t>. </a:t>
            </a:r>
          </a:p>
          <a:p>
            <a:pPr lvl="1"/>
            <a:r>
              <a:rPr lang="en-US" sz="2200"/>
              <a:t> Atypical presentations are </a:t>
            </a:r>
            <a:r>
              <a:rPr lang="en-US" sz="2200" b="1" i="1"/>
              <a:t>common</a:t>
            </a:r>
            <a:r>
              <a:rPr lang="en-US" sz="2200"/>
              <a:t> with retrocecal or pelvic appendix( back or lower pelvic) positions. </a:t>
            </a:r>
          </a:p>
        </p:txBody>
      </p:sp>
      <p:pic>
        <p:nvPicPr>
          <p:cNvPr id="4" name="Picture 3" descr="Small Intestine Diseases | MedlinePlus">
            <a:extLst>
              <a:ext uri="{FF2B5EF4-FFF2-40B4-BE49-F238E27FC236}">
                <a16:creationId xmlns:a16="http://schemas.microsoft.com/office/drawing/2014/main" id="{DA63E7CB-5976-553E-33D0-5184E701EBCF}"/>
              </a:ext>
            </a:extLst>
          </p:cNvPr>
          <p:cNvPicPr>
            <a:picLocks noChangeAspect="1"/>
          </p:cNvPicPr>
          <p:nvPr/>
        </p:nvPicPr>
        <p:blipFill>
          <a:blip r:embed="rId3"/>
          <a:srcRect r="3792"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4288005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041DA-795D-3F2B-EB38-0F7035A1B1AA}"/>
              </a:ext>
            </a:extLst>
          </p:cNvPr>
          <p:cNvSpPr>
            <a:spLocks noGrp="1"/>
          </p:cNvSpPr>
          <p:nvPr>
            <p:ph type="title"/>
          </p:nvPr>
        </p:nvSpPr>
        <p:spPr/>
        <p:txBody>
          <a:bodyPr/>
          <a:lstStyle/>
          <a:p>
            <a:r>
              <a:rPr lang="en-US" b="1" dirty="0"/>
              <a:t>Key Physical Exam Signs</a:t>
            </a:r>
            <a:endParaRPr lang="en-US" dirty="0"/>
          </a:p>
        </p:txBody>
      </p:sp>
      <p:graphicFrame>
        <p:nvGraphicFramePr>
          <p:cNvPr id="4" name="Content Placeholder 3">
            <a:extLst>
              <a:ext uri="{FF2B5EF4-FFF2-40B4-BE49-F238E27FC236}">
                <a16:creationId xmlns:a16="http://schemas.microsoft.com/office/drawing/2014/main" id="{11F6AFAE-8C05-726E-988C-E30A0CEB9844}"/>
              </a:ext>
            </a:extLst>
          </p:cNvPr>
          <p:cNvGraphicFramePr>
            <a:graphicFrameLocks noGrp="1"/>
          </p:cNvGraphicFramePr>
          <p:nvPr>
            <p:ph idx="1"/>
            <p:extLst>
              <p:ext uri="{D42A27DB-BD31-4B8C-83A1-F6EECF244321}">
                <p14:modId xmlns:p14="http://schemas.microsoft.com/office/powerpoint/2010/main" val="4071396672"/>
              </p:ext>
            </p:extLst>
          </p:nvPr>
        </p:nvGraphicFramePr>
        <p:xfrm>
          <a:off x="3027896" y="1700622"/>
          <a:ext cx="4182264" cy="4875575"/>
        </p:xfrm>
        <a:graphic>
          <a:graphicData uri="http://schemas.openxmlformats.org/drawingml/2006/table">
            <a:tbl>
              <a:tblPr/>
              <a:tblGrid>
                <a:gridCol w="1045566">
                  <a:extLst>
                    <a:ext uri="{9D8B030D-6E8A-4147-A177-3AD203B41FA5}">
                      <a16:colId xmlns:a16="http://schemas.microsoft.com/office/drawing/2014/main" val="1592018119"/>
                    </a:ext>
                  </a:extLst>
                </a:gridCol>
                <a:gridCol w="1045566">
                  <a:extLst>
                    <a:ext uri="{9D8B030D-6E8A-4147-A177-3AD203B41FA5}">
                      <a16:colId xmlns:a16="http://schemas.microsoft.com/office/drawing/2014/main" val="2523059491"/>
                    </a:ext>
                  </a:extLst>
                </a:gridCol>
                <a:gridCol w="1045566">
                  <a:extLst>
                    <a:ext uri="{9D8B030D-6E8A-4147-A177-3AD203B41FA5}">
                      <a16:colId xmlns:a16="http://schemas.microsoft.com/office/drawing/2014/main" val="2758939664"/>
                    </a:ext>
                  </a:extLst>
                </a:gridCol>
                <a:gridCol w="1045566">
                  <a:extLst>
                    <a:ext uri="{9D8B030D-6E8A-4147-A177-3AD203B41FA5}">
                      <a16:colId xmlns:a16="http://schemas.microsoft.com/office/drawing/2014/main" val="3285968822"/>
                    </a:ext>
                  </a:extLst>
                </a:gridCol>
              </a:tblGrid>
              <a:tr h="273229">
                <a:tc>
                  <a:txBody>
                    <a:bodyPr/>
                    <a:lstStyle/>
                    <a:p>
                      <a:pPr marL="0" marR="0" indent="0" algn="l" fontAlgn="b">
                        <a:buNone/>
                      </a:pPr>
                      <a:r>
                        <a:rPr lang="en-US" sz="800" b="1" i="0">
                          <a:effectLst/>
                          <a:latin typeface="Schibsted Grotesk"/>
                        </a:rPr>
                        <a:t>Sign</a:t>
                      </a:r>
                    </a:p>
                  </a:txBody>
                  <a:tcPr marL="43083" marR="43083" marT="28722" marB="28722" anchor="b">
                    <a:lnL w="12700" cap="flat" cmpd="sng" algn="ctr">
                      <a:solidFill>
                        <a:srgbClr val="60DBA8"/>
                      </a:solidFill>
                      <a:prstDash val="solid"/>
                      <a:round/>
                      <a:headEnd type="none" w="med" len="med"/>
                      <a:tailEnd type="none" w="med" len="med"/>
                    </a:lnL>
                    <a:lnR w="12700" cap="flat" cmpd="sng" algn="ctr">
                      <a:solidFill>
                        <a:srgbClr val="E0D930"/>
                      </a:solidFill>
                      <a:prstDash val="solid"/>
                      <a:round/>
                      <a:headEnd type="none" w="med" len="med"/>
                      <a:tailEnd type="none" w="med" len="med"/>
                    </a:lnR>
                    <a:lnT w="12700" cap="flat" cmpd="sng" algn="ctr">
                      <a:solidFill>
                        <a:srgbClr val="60DBA8"/>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tc>
                  <a:txBody>
                    <a:bodyPr/>
                    <a:lstStyle/>
                    <a:p>
                      <a:pPr marL="0" marR="0" indent="0" algn="l" fontAlgn="b">
                        <a:buNone/>
                      </a:pPr>
                      <a:r>
                        <a:rPr lang="en-US" sz="800" b="1" i="0">
                          <a:effectLst/>
                          <a:latin typeface="Schibsted Grotesk"/>
                        </a:rPr>
                        <a:t>Description</a:t>
                      </a:r>
                    </a:p>
                  </a:txBody>
                  <a:tcPr marL="43083" marR="43083" marT="28722" marB="28722" anchor="b">
                    <a:lnL w="12700" cap="flat" cmpd="sng" algn="ctr">
                      <a:solidFill>
                        <a:srgbClr val="E0D930"/>
                      </a:solidFill>
                      <a:prstDash val="solid"/>
                      <a:round/>
                      <a:headEnd type="none" w="med" len="med"/>
                      <a:tailEnd type="none" w="med" len="med"/>
                    </a:lnL>
                    <a:lnR w="12700" cap="flat" cmpd="sng" algn="ctr">
                      <a:solidFill>
                        <a:srgbClr val="C01830"/>
                      </a:solidFill>
                      <a:prstDash val="solid"/>
                      <a:round/>
                      <a:headEnd type="none" w="med" len="med"/>
                      <a:tailEnd type="none" w="med" len="med"/>
                    </a:lnR>
                    <a:lnT w="12700" cap="flat" cmpd="sng" algn="ctr">
                      <a:solidFill>
                        <a:srgbClr val="E0D930"/>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tc>
                  <a:txBody>
                    <a:bodyPr/>
                    <a:lstStyle/>
                    <a:p>
                      <a:pPr marL="0" marR="0" indent="0" algn="l" fontAlgn="b">
                        <a:buNone/>
                      </a:pPr>
                      <a:r>
                        <a:rPr lang="en-US" sz="800" b="1" i="0">
                          <a:effectLst/>
                          <a:latin typeface="Schibsted Grotesk"/>
                        </a:rPr>
                        <a:t>Sensitivity</a:t>
                      </a:r>
                    </a:p>
                  </a:txBody>
                  <a:tcPr marL="43083" marR="43083" marT="28722" marB="28722" anchor="b">
                    <a:lnL w="12700" cap="flat" cmpd="sng" algn="ctr">
                      <a:solidFill>
                        <a:srgbClr val="C01830"/>
                      </a:solidFill>
                      <a:prstDash val="solid"/>
                      <a:round/>
                      <a:headEnd type="none" w="med" len="med"/>
                      <a:tailEnd type="none" w="med" len="med"/>
                    </a:lnL>
                    <a:lnR w="12700" cap="flat" cmpd="sng" algn="ctr">
                      <a:solidFill>
                        <a:srgbClr val="602730"/>
                      </a:solidFill>
                      <a:prstDash val="solid"/>
                      <a:round/>
                      <a:headEnd type="none" w="med" len="med"/>
                      <a:tailEnd type="none" w="med" len="med"/>
                    </a:lnR>
                    <a:lnT w="12700" cap="flat" cmpd="sng" algn="ctr">
                      <a:solidFill>
                        <a:srgbClr val="C01830"/>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tc>
                  <a:txBody>
                    <a:bodyPr/>
                    <a:lstStyle/>
                    <a:p>
                      <a:pPr marL="0" marR="0" indent="0" algn="l" fontAlgn="b">
                        <a:buNone/>
                      </a:pPr>
                      <a:r>
                        <a:rPr lang="en-US" sz="800" b="1" i="0">
                          <a:effectLst/>
                          <a:latin typeface="Schibsted Grotesk"/>
                        </a:rPr>
                        <a:t>Specificity</a:t>
                      </a:r>
                    </a:p>
                  </a:txBody>
                  <a:tcPr marL="43083" marR="43083" marT="28722" marB="28722" anchor="b">
                    <a:lnL w="12700" cap="flat" cmpd="sng" algn="ctr">
                      <a:solidFill>
                        <a:srgbClr val="602730"/>
                      </a:solidFill>
                      <a:prstDash val="solid"/>
                      <a:round/>
                      <a:headEnd type="none" w="med" len="med"/>
                      <a:tailEnd type="none" w="med" len="med"/>
                    </a:lnL>
                    <a:lnR w="12700" cap="flat" cmpd="sng" algn="ctr">
                      <a:solidFill>
                        <a:srgbClr val="C04B30"/>
                      </a:solidFill>
                      <a:prstDash val="solid"/>
                      <a:round/>
                      <a:headEnd type="none" w="med" len="med"/>
                      <a:tailEnd type="none" w="med" len="med"/>
                    </a:lnR>
                    <a:lnT w="12700" cap="flat" cmpd="sng" algn="ctr">
                      <a:solidFill>
                        <a:srgbClr val="602730"/>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extLst>
                  <a:ext uri="{0D108BD9-81ED-4DB2-BD59-A6C34878D82A}">
                    <a16:rowId xmlns:a16="http://schemas.microsoft.com/office/drawing/2014/main" val="344102801"/>
                  </a:ext>
                </a:extLst>
              </a:tr>
              <a:tr h="793086">
                <a:tc>
                  <a:txBody>
                    <a:bodyPr/>
                    <a:lstStyle/>
                    <a:p>
                      <a:pPr marL="0" marR="0" indent="0" algn="l" fontAlgn="t">
                        <a:buNone/>
                      </a:pPr>
                      <a:r>
                        <a:rPr lang="en-US" sz="800" b="1" i="0">
                          <a:effectLst/>
                          <a:latin typeface="Schibsted Grotesk"/>
                        </a:rPr>
                        <a:t>McBurney point</a:t>
                      </a:r>
                      <a:endParaRPr lang="en-US" sz="800" b="0" i="0">
                        <a:effectLst/>
                        <a:latin typeface="Schibsted Grotesk"/>
                      </a:endParaRP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dirty="0">
                          <a:effectLst/>
                          <a:latin typeface="Schibsted Grotesk"/>
                        </a:rPr>
                        <a:t>Tenderness 1/3 distance from ASIS to umbilicus</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50–94%</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75–86%</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1819121138"/>
                  </a:ext>
                </a:extLst>
              </a:tr>
              <a:tr h="686933">
                <a:tc>
                  <a:txBody>
                    <a:bodyPr/>
                    <a:lstStyle/>
                    <a:p>
                      <a:pPr marL="0" marR="0" indent="0" algn="l" fontAlgn="t">
                        <a:buNone/>
                      </a:pPr>
                      <a:r>
                        <a:rPr lang="en-US" sz="800" b="1" i="0">
                          <a:effectLst/>
                          <a:latin typeface="Schibsted Grotesk"/>
                        </a:rPr>
                        <a:t>Rovsing sign</a:t>
                      </a:r>
                      <a:endParaRPr lang="en-US" sz="800" b="0" i="0">
                        <a:effectLst/>
                        <a:latin typeface="Schibsted Grotesk"/>
                      </a:endParaRP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RLQ pain with LLQ palpation</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22–68%</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58–96%</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77196208"/>
                  </a:ext>
                </a:extLst>
              </a:tr>
              <a:tr h="1217697">
                <a:tc>
                  <a:txBody>
                    <a:bodyPr/>
                    <a:lstStyle/>
                    <a:p>
                      <a:pPr marL="0" marR="0" indent="0" algn="l" fontAlgn="t">
                        <a:buNone/>
                      </a:pPr>
                      <a:r>
                        <a:rPr lang="en-US" sz="800" b="1" i="0">
                          <a:effectLst/>
                          <a:latin typeface="Schibsted Grotesk"/>
                        </a:rPr>
                        <a:t>Psoas sign</a:t>
                      </a:r>
                      <a:endParaRPr lang="en-US" sz="800" b="0" i="0">
                        <a:effectLst/>
                        <a:latin typeface="Schibsted Grotesk"/>
                      </a:endParaRP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RLQ pain with passive R hip extension (retrocecal appendix)</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13–42%</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dirty="0">
                          <a:effectLst/>
                          <a:latin typeface="Schibsted Grotesk"/>
                        </a:rPr>
                        <a:t>79–97%</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3297002225"/>
                  </a:ext>
                </a:extLst>
              </a:tr>
              <a:tr h="1111544">
                <a:tc>
                  <a:txBody>
                    <a:bodyPr/>
                    <a:lstStyle/>
                    <a:p>
                      <a:pPr marL="0" marR="0" indent="0" algn="l" fontAlgn="t">
                        <a:buNone/>
                      </a:pPr>
                      <a:r>
                        <a:rPr lang="en-US" sz="800" b="1" i="0">
                          <a:effectLst/>
                          <a:latin typeface="Schibsted Grotesk"/>
                        </a:rPr>
                        <a:t>Obturator sign</a:t>
                      </a:r>
                      <a:endParaRPr lang="en-US" sz="800" b="0" i="0">
                        <a:effectLst/>
                        <a:latin typeface="Schibsted Grotesk"/>
                      </a:endParaRP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RLQ pain with R hip flexion + internal rotation (pelvic appendix)</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5–15%</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90–95%</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1013728459"/>
                  </a:ext>
                </a:extLst>
              </a:tr>
              <a:tr h="793086">
                <a:tc>
                  <a:txBody>
                    <a:bodyPr/>
                    <a:lstStyle/>
                    <a:p>
                      <a:pPr marL="0" marR="0" indent="0" algn="l" fontAlgn="t">
                        <a:buNone/>
                      </a:pPr>
                      <a:r>
                        <a:rPr lang="en-US" sz="800" b="1" i="0">
                          <a:effectLst/>
                          <a:latin typeface="Schibsted Grotesk"/>
                        </a:rPr>
                        <a:t>Rebound tenderness</a:t>
                      </a:r>
                      <a:endParaRPr lang="en-US" sz="800" b="0" i="0">
                        <a:effectLst/>
                        <a:latin typeface="Schibsted Grotesk"/>
                      </a:endParaRP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Pain on release of pressure (peritonitis)</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a:effectLst/>
                          <a:latin typeface="Schibsted Grotesk"/>
                        </a:rPr>
                        <a:t>55–70%</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800" b="0" i="0" dirty="0">
                          <a:effectLst/>
                          <a:latin typeface="Schibsted Grotesk"/>
                        </a:rPr>
                        <a:t>65–80%</a:t>
                      </a:r>
                    </a:p>
                  </a:txBody>
                  <a:tcPr marL="43083" marR="43083" marT="28722" marB="28722">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3342804594"/>
                  </a:ext>
                </a:extLst>
              </a:tr>
            </a:tbl>
          </a:graphicData>
        </a:graphic>
      </p:graphicFrame>
      <p:pic>
        <p:nvPicPr>
          <p:cNvPr id="5" name="Picture 4" descr="Small Intestine Diseases | MedlinePlus">
            <a:extLst>
              <a:ext uri="{FF2B5EF4-FFF2-40B4-BE49-F238E27FC236}">
                <a16:creationId xmlns:a16="http://schemas.microsoft.com/office/drawing/2014/main" id="{C5FF7E31-FA77-5961-CF99-67D30E8321C3}"/>
              </a:ext>
            </a:extLst>
          </p:cNvPr>
          <p:cNvPicPr>
            <a:picLocks noChangeAspect="1"/>
          </p:cNvPicPr>
          <p:nvPr/>
        </p:nvPicPr>
        <p:blipFill>
          <a:blip r:embed="rId3"/>
          <a:stretch>
            <a:fillRect/>
          </a:stretch>
        </p:blipFill>
        <p:spPr>
          <a:xfrm>
            <a:off x="9204960" y="1"/>
            <a:ext cx="2987040" cy="2987040"/>
          </a:xfrm>
          <a:prstGeom prst="rect">
            <a:avLst/>
          </a:prstGeom>
        </p:spPr>
      </p:pic>
    </p:spTree>
    <p:extLst>
      <p:ext uri="{BB962C8B-B14F-4D97-AF65-F5344CB8AC3E}">
        <p14:creationId xmlns:p14="http://schemas.microsoft.com/office/powerpoint/2010/main" val="6249821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2701F2-2D38-6931-C9B0-03478BD230B5}"/>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5600" kern="1200" dirty="0">
                <a:solidFill>
                  <a:schemeClr val="tx1"/>
                </a:solidFill>
                <a:latin typeface="+mj-lt"/>
                <a:ea typeface="+mj-ea"/>
                <a:cs typeface="+mj-cs"/>
              </a:rPr>
              <a:t>McBurney’s Sign</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McBurney's sign indicates acute appendicitis">
            <a:extLst>
              <a:ext uri="{FF2B5EF4-FFF2-40B4-BE49-F238E27FC236}">
                <a16:creationId xmlns:a16="http://schemas.microsoft.com/office/drawing/2014/main" id="{68E723A3-D970-9FB5-CFC9-A0A4F652A994}"/>
              </a:ext>
            </a:extLst>
          </p:cNvPr>
          <p:cNvPicPr>
            <a:picLocks noGrp="1" noChangeAspect="1"/>
          </p:cNvPicPr>
          <p:nvPr>
            <p:ph idx="1"/>
          </p:nvPr>
        </p:nvPicPr>
        <p:blipFill>
          <a:blip r:embed="rId2"/>
          <a:stretch>
            <a:fillRect/>
          </a:stretch>
        </p:blipFill>
        <p:spPr>
          <a:xfrm>
            <a:off x="5486400" y="640080"/>
            <a:ext cx="5550408" cy="5550408"/>
          </a:xfrm>
          <a:prstGeom prst="rect">
            <a:avLst/>
          </a:prstGeom>
        </p:spPr>
      </p:pic>
    </p:spTree>
    <p:extLst>
      <p:ext uri="{BB962C8B-B14F-4D97-AF65-F5344CB8AC3E}">
        <p14:creationId xmlns:p14="http://schemas.microsoft.com/office/powerpoint/2010/main" val="311772075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CB63AE-1C6E-27D5-93C2-7E8C04587D66}"/>
              </a:ext>
            </a:extLst>
          </p:cNvPr>
          <p:cNvSpPr>
            <a:spLocks noGrp="1"/>
          </p:cNvSpPr>
          <p:nvPr>
            <p:ph type="title"/>
          </p:nvPr>
        </p:nvSpPr>
        <p:spPr>
          <a:xfrm>
            <a:off x="572493" y="238539"/>
            <a:ext cx="11018520" cy="1434415"/>
          </a:xfrm>
        </p:spPr>
        <p:txBody>
          <a:bodyPr anchor="b">
            <a:normAutofit/>
          </a:bodyPr>
          <a:lstStyle/>
          <a:p>
            <a:r>
              <a:rPr lang="en-US" sz="5400" b="1"/>
              <a:t>Laboratory Evaluation</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05CCF4C-2287-A5D0-6687-FF3C3AE726B0}"/>
              </a:ext>
            </a:extLst>
          </p:cNvPr>
          <p:cNvSpPr>
            <a:spLocks noGrp="1"/>
          </p:cNvSpPr>
          <p:nvPr>
            <p:ph idx="1"/>
          </p:nvPr>
        </p:nvSpPr>
        <p:spPr>
          <a:xfrm>
            <a:off x="572493" y="2071316"/>
            <a:ext cx="6713552" cy="4119172"/>
          </a:xfrm>
        </p:spPr>
        <p:txBody>
          <a:bodyPr anchor="t">
            <a:normAutofit/>
          </a:bodyPr>
          <a:lstStyle/>
          <a:p>
            <a:r>
              <a:rPr lang="en-US" sz="1900" b="1"/>
              <a:t>CBC with differential</a:t>
            </a:r>
            <a:r>
              <a:rPr lang="en-US" sz="1900"/>
              <a:t>: Mild leukocytosis (WBC &gt;10,000/μL) in 67–90% of patients; ~80% have a </a:t>
            </a:r>
            <a:r>
              <a:rPr lang="en-US" sz="1900" b="1"/>
              <a:t>left shift</a:t>
            </a:r>
            <a:r>
              <a:rPr lang="en-US" sz="1900"/>
              <a:t> (increase in immature white blood cells, specifically </a:t>
            </a:r>
            <a:r>
              <a:rPr lang="en-US" sz="1900" b="1"/>
              <a:t>band neutrophils)</a:t>
            </a:r>
            <a:endParaRPr lang="en-US" sz="1900"/>
          </a:p>
          <a:p>
            <a:r>
              <a:rPr lang="en-US" sz="1900"/>
              <a:t>WBC sensitivity ~70–80%, specificity ~55–65% — a normal WBC does not rule out appendicitis </a:t>
            </a:r>
          </a:p>
          <a:p>
            <a:r>
              <a:rPr lang="en-US" sz="1900"/>
              <a:t>Higher WBC correlates with gangrenous or perforated appendicitis.</a:t>
            </a:r>
          </a:p>
          <a:p>
            <a:r>
              <a:rPr lang="en-US" sz="1900" b="1"/>
              <a:t>Urinalysis</a:t>
            </a:r>
            <a:r>
              <a:rPr lang="en-US" sz="1900"/>
              <a:t>: to rule out UTI (mild pyuria/hematuria can occur from adjacent inflammation)</a:t>
            </a:r>
          </a:p>
          <a:p>
            <a:r>
              <a:rPr lang="en-US" sz="1900" b="1"/>
              <a:t>β-hCG</a:t>
            </a:r>
            <a:r>
              <a:rPr lang="en-US" sz="1900"/>
              <a:t>: mandatory in women of reproductive age to exclude ectopic pregnancy </a:t>
            </a:r>
          </a:p>
          <a:p>
            <a:br>
              <a:rPr lang="en-US" sz="1900"/>
            </a:br>
            <a:endParaRPr lang="en-US" sz="1900"/>
          </a:p>
        </p:txBody>
      </p:sp>
      <p:pic>
        <p:nvPicPr>
          <p:cNvPr id="4" name="Picture 3" descr="Small Intestine Diseases | MedlinePlus">
            <a:extLst>
              <a:ext uri="{FF2B5EF4-FFF2-40B4-BE49-F238E27FC236}">
                <a16:creationId xmlns:a16="http://schemas.microsoft.com/office/drawing/2014/main" id="{7C54D08B-86FA-D200-976D-87B1F777A1F2}"/>
              </a:ext>
            </a:extLst>
          </p:cNvPr>
          <p:cNvPicPr>
            <a:picLocks noChangeAspect="1"/>
          </p:cNvPicPr>
          <p:nvPr/>
        </p:nvPicPr>
        <p:blipFill>
          <a:blip r:embed="rId3"/>
          <a:srcRect r="3792"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0234250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1C2B85-DA6C-12FC-C38B-D9F67C4182EA}"/>
              </a:ext>
            </a:extLst>
          </p:cNvPr>
          <p:cNvSpPr>
            <a:spLocks noGrp="1"/>
          </p:cNvSpPr>
          <p:nvPr>
            <p:ph type="title"/>
          </p:nvPr>
        </p:nvSpPr>
        <p:spPr>
          <a:xfrm>
            <a:off x="572493" y="238539"/>
            <a:ext cx="11018520" cy="1434415"/>
          </a:xfrm>
        </p:spPr>
        <p:txBody>
          <a:bodyPr anchor="b">
            <a:normAutofit/>
          </a:bodyPr>
          <a:lstStyle/>
          <a:p>
            <a:r>
              <a:rPr lang="en-US" sz="5400" b="1"/>
              <a:t>Scoring Systems</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65BAF6-1F4A-3CBB-1A7E-D94BE08D8D72}"/>
              </a:ext>
            </a:extLst>
          </p:cNvPr>
          <p:cNvSpPr>
            <a:spLocks noGrp="1"/>
          </p:cNvSpPr>
          <p:nvPr>
            <p:ph idx="1"/>
          </p:nvPr>
        </p:nvSpPr>
        <p:spPr>
          <a:xfrm>
            <a:off x="572493" y="2071316"/>
            <a:ext cx="6713552" cy="4119172"/>
          </a:xfrm>
        </p:spPr>
        <p:txBody>
          <a:bodyPr anchor="t">
            <a:normAutofit/>
          </a:bodyPr>
          <a:lstStyle/>
          <a:p>
            <a:r>
              <a:rPr lang="en-US" sz="2200"/>
              <a:t>The </a:t>
            </a:r>
            <a:r>
              <a:rPr lang="en-US" sz="2200" b="1"/>
              <a:t>Alvarado score</a:t>
            </a:r>
            <a:r>
              <a:rPr lang="en-US" sz="2200"/>
              <a:t> (MANTRELS mnemonic) is the most widely studied tool. A score &lt;4 makes appendicitis unlikely; 4–6 warrants imaging; ≥7 suggests surgical consultation. </a:t>
            </a:r>
          </a:p>
          <a:p>
            <a:r>
              <a:rPr lang="en-US" sz="2200"/>
              <a:t>However, ACEP (American College of Emergency Physicians (ACEP)) notes its diagnostic accuracy is insufficient to use alone without imaging.</a:t>
            </a:r>
          </a:p>
          <a:p>
            <a:r>
              <a:rPr lang="en-US" sz="2200"/>
              <a:t>The </a:t>
            </a:r>
            <a:r>
              <a:rPr lang="en-US" sz="2200" b="1"/>
              <a:t>Appendicitis Inflammatory Response (AIR) score</a:t>
            </a:r>
            <a:r>
              <a:rPr lang="en-US" sz="2200"/>
              <a:t> incorporates CRP and may outperform the Alvarado score in accuracy</a:t>
            </a:r>
          </a:p>
          <a:p>
            <a:endParaRPr lang="en-US" sz="2200"/>
          </a:p>
        </p:txBody>
      </p:sp>
      <p:pic>
        <p:nvPicPr>
          <p:cNvPr id="4" name="Picture 3" descr="Small Intestine Diseases | MedlinePlus">
            <a:extLst>
              <a:ext uri="{FF2B5EF4-FFF2-40B4-BE49-F238E27FC236}">
                <a16:creationId xmlns:a16="http://schemas.microsoft.com/office/drawing/2014/main" id="{8894D5FB-F398-C576-73E7-27E5C5B31FE2}"/>
              </a:ext>
            </a:extLst>
          </p:cNvPr>
          <p:cNvPicPr>
            <a:picLocks noChangeAspect="1"/>
          </p:cNvPicPr>
          <p:nvPr/>
        </p:nvPicPr>
        <p:blipFill>
          <a:blip r:embed="rId3"/>
          <a:srcRect r="3792"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12298623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774CE-E2C6-3CFA-65BE-57BA4465B3C0}"/>
              </a:ext>
            </a:extLst>
          </p:cNvPr>
          <p:cNvSpPr>
            <a:spLocks noGrp="1"/>
          </p:cNvSpPr>
          <p:nvPr>
            <p:ph type="title"/>
          </p:nvPr>
        </p:nvSpPr>
        <p:spPr/>
        <p:txBody>
          <a:bodyPr/>
          <a:lstStyle/>
          <a:p>
            <a:r>
              <a:rPr lang="en-US" b="1" dirty="0"/>
              <a:t>Scoring Systems</a:t>
            </a:r>
            <a:endParaRPr lang="en-US" dirty="0"/>
          </a:p>
        </p:txBody>
      </p:sp>
      <p:sp>
        <p:nvSpPr>
          <p:cNvPr id="3" name="Text Placeholder 2">
            <a:extLst>
              <a:ext uri="{FF2B5EF4-FFF2-40B4-BE49-F238E27FC236}">
                <a16:creationId xmlns:a16="http://schemas.microsoft.com/office/drawing/2014/main" id="{0FD1A333-E493-7916-C04A-DD2E1387581B}"/>
              </a:ext>
            </a:extLst>
          </p:cNvPr>
          <p:cNvSpPr>
            <a:spLocks noGrp="1"/>
          </p:cNvSpPr>
          <p:nvPr>
            <p:ph type="body" idx="1"/>
          </p:nvPr>
        </p:nvSpPr>
        <p:spPr>
          <a:xfrm>
            <a:off x="839787" y="1376363"/>
            <a:ext cx="5157787" cy="823912"/>
          </a:xfrm>
        </p:spPr>
        <p:txBody>
          <a:bodyPr/>
          <a:lstStyle/>
          <a:p>
            <a:r>
              <a:rPr lang="en-US" dirty="0"/>
              <a:t>Alvardo Score</a:t>
            </a:r>
          </a:p>
        </p:txBody>
      </p:sp>
      <p:pic>
        <p:nvPicPr>
          <p:cNvPr id="7" name="Content Placeholder 6" descr="The Alvarado score for predicting acute appendicitis: a ...">
            <a:extLst>
              <a:ext uri="{FF2B5EF4-FFF2-40B4-BE49-F238E27FC236}">
                <a16:creationId xmlns:a16="http://schemas.microsoft.com/office/drawing/2014/main" id="{51291B32-CB04-3109-678F-C563763F1ADC}"/>
              </a:ext>
            </a:extLst>
          </p:cNvPr>
          <p:cNvPicPr>
            <a:picLocks noGrp="1" noChangeAspect="1"/>
          </p:cNvPicPr>
          <p:nvPr>
            <p:ph sz="half" idx="2"/>
          </p:nvPr>
        </p:nvPicPr>
        <p:blipFill>
          <a:blip r:embed="rId2"/>
          <a:stretch>
            <a:fillRect/>
          </a:stretch>
        </p:blipFill>
        <p:spPr>
          <a:xfrm>
            <a:off x="2195918" y="2276475"/>
            <a:ext cx="2445523" cy="3684588"/>
          </a:xfrm>
          <a:prstGeom prst="rect">
            <a:avLst/>
          </a:prstGeom>
        </p:spPr>
      </p:pic>
      <p:sp>
        <p:nvSpPr>
          <p:cNvPr id="5" name="Text Placeholder 4">
            <a:extLst>
              <a:ext uri="{FF2B5EF4-FFF2-40B4-BE49-F238E27FC236}">
                <a16:creationId xmlns:a16="http://schemas.microsoft.com/office/drawing/2014/main" id="{937DC798-6F3E-FCB6-7386-E478B204A5C9}"/>
              </a:ext>
            </a:extLst>
          </p:cNvPr>
          <p:cNvSpPr>
            <a:spLocks noGrp="1"/>
          </p:cNvSpPr>
          <p:nvPr>
            <p:ph type="body" sz="quarter" idx="3"/>
          </p:nvPr>
        </p:nvSpPr>
        <p:spPr>
          <a:xfrm>
            <a:off x="6259512" y="1376363"/>
            <a:ext cx="5183188" cy="823912"/>
          </a:xfrm>
        </p:spPr>
        <p:txBody>
          <a:bodyPr/>
          <a:lstStyle/>
          <a:p>
            <a:r>
              <a:rPr lang="en-US" dirty="0"/>
              <a:t>AIR Score</a:t>
            </a:r>
          </a:p>
        </p:txBody>
      </p:sp>
      <p:pic>
        <p:nvPicPr>
          <p:cNvPr id="11" name="Content Placeholder 10" descr="Validation of the Appendicitis Inflammatory Response (AIR ...">
            <a:extLst>
              <a:ext uri="{FF2B5EF4-FFF2-40B4-BE49-F238E27FC236}">
                <a16:creationId xmlns:a16="http://schemas.microsoft.com/office/drawing/2014/main" id="{19D9BD28-16F0-3394-80F6-88910C93E1D8}"/>
              </a:ext>
            </a:extLst>
          </p:cNvPr>
          <p:cNvPicPr>
            <a:picLocks noGrp="1" noChangeAspect="1"/>
          </p:cNvPicPr>
          <p:nvPr>
            <p:ph sz="quarter" idx="4"/>
          </p:nvPr>
        </p:nvPicPr>
        <p:blipFill>
          <a:blip r:embed="rId3"/>
          <a:stretch>
            <a:fillRect/>
          </a:stretch>
        </p:blipFill>
        <p:spPr>
          <a:xfrm>
            <a:off x="6585990" y="2276475"/>
            <a:ext cx="4530231" cy="3684588"/>
          </a:xfrm>
          <a:prstGeom prst="rect">
            <a:avLst/>
          </a:prstGeom>
        </p:spPr>
      </p:pic>
    </p:spTree>
    <p:extLst>
      <p:ext uri="{BB962C8B-B14F-4D97-AF65-F5344CB8AC3E}">
        <p14:creationId xmlns:p14="http://schemas.microsoft.com/office/powerpoint/2010/main" val="50340288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B53A0C-FD4A-D26E-569B-CDB4DBE1E91A}"/>
              </a:ext>
            </a:extLst>
          </p:cNvPr>
          <p:cNvSpPr>
            <a:spLocks noGrp="1"/>
          </p:cNvSpPr>
          <p:nvPr>
            <p:ph type="title"/>
          </p:nvPr>
        </p:nvSpPr>
        <p:spPr>
          <a:xfrm>
            <a:off x="572493" y="238539"/>
            <a:ext cx="11018520" cy="1434415"/>
          </a:xfrm>
        </p:spPr>
        <p:txBody>
          <a:bodyPr anchor="b">
            <a:normAutofit/>
          </a:bodyPr>
          <a:lstStyle/>
          <a:p>
            <a:r>
              <a:rPr lang="en-US" sz="5400" b="1"/>
              <a:t>Diagnostic Imaging</a:t>
            </a:r>
            <a:endParaRPr lang="en-US" sz="5400"/>
          </a:p>
        </p:txBody>
      </p:sp>
      <p:sp>
        <p:nvSpPr>
          <p:cNvPr id="1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87313A9-C3DA-51D6-F420-07D6472F6701}"/>
              </a:ext>
            </a:extLst>
          </p:cNvPr>
          <p:cNvSpPr>
            <a:spLocks noGrp="1"/>
          </p:cNvSpPr>
          <p:nvPr>
            <p:ph idx="1"/>
          </p:nvPr>
        </p:nvSpPr>
        <p:spPr>
          <a:xfrm>
            <a:off x="572493" y="2071316"/>
            <a:ext cx="6713552" cy="4119172"/>
          </a:xfrm>
        </p:spPr>
        <p:txBody>
          <a:bodyPr anchor="t">
            <a:normAutofit/>
          </a:bodyPr>
          <a:lstStyle/>
          <a:p>
            <a:r>
              <a:rPr lang="en-US" sz="1700" b="1"/>
              <a:t>CT abdomen/pelvis with IV contrast</a:t>
            </a:r>
            <a:r>
              <a:rPr lang="en-US" sz="1700"/>
              <a:t> is the first-line imaging modality in adults in the US (sensitivity </a:t>
            </a:r>
            <a:r>
              <a:rPr lang="en-US" sz="1700" b="1"/>
              <a:t>96%</a:t>
            </a:r>
            <a:r>
              <a:rPr lang="en-US" sz="1700"/>
              <a:t>, specificity </a:t>
            </a:r>
            <a:r>
              <a:rPr lang="en-US" sz="1700" b="1"/>
              <a:t>96%</a:t>
            </a:r>
            <a:r>
              <a:rPr lang="en-US" sz="1700"/>
              <a:t>). Key CT findings: </a:t>
            </a:r>
          </a:p>
          <a:p>
            <a:pPr lvl="1"/>
            <a:r>
              <a:rPr lang="en-US" sz="1700"/>
              <a:t>Dilated appendix </a:t>
            </a:r>
            <a:r>
              <a:rPr lang="en-US" sz="1700" b="1"/>
              <a:t>≥7 mm</a:t>
            </a:r>
            <a:endParaRPr lang="en-US" sz="1700"/>
          </a:p>
          <a:p>
            <a:pPr lvl="1"/>
            <a:r>
              <a:rPr lang="en-US" sz="1700"/>
              <a:t>Appendiceal wall thickening/hyperenhancement</a:t>
            </a:r>
          </a:p>
          <a:p>
            <a:pPr lvl="1"/>
            <a:r>
              <a:rPr lang="en-US" sz="1700"/>
              <a:t>Periappendiceal fat stranding</a:t>
            </a:r>
          </a:p>
          <a:p>
            <a:pPr lvl="1"/>
            <a:r>
              <a:rPr lang="en-US" sz="1700"/>
              <a:t>Appendicoliths (present in ~40% of appendicitis cases; associated with </a:t>
            </a:r>
            <a:r>
              <a:rPr lang="en-US" sz="1700" b="1"/>
              <a:t>38.7% vs 4.4% perforation rate</a:t>
            </a:r>
            <a:r>
              <a:rPr lang="en-US" sz="1700"/>
              <a:t>) </a:t>
            </a:r>
          </a:p>
          <a:p>
            <a:pPr lvl="1"/>
            <a:r>
              <a:rPr lang="en-US" sz="1700"/>
              <a:t>Complicated: wall defect, extraluminal gas, abscess, free fluid </a:t>
            </a:r>
          </a:p>
          <a:p>
            <a:r>
              <a:rPr lang="en-US" sz="1700" b="1"/>
              <a:t>Ultrasound</a:t>
            </a:r>
            <a:r>
              <a:rPr lang="en-US" sz="1700"/>
              <a:t> is first-line in </a:t>
            </a:r>
            <a:r>
              <a:rPr lang="en-US" sz="1700" b="1"/>
              <a:t>children</a:t>
            </a:r>
            <a:r>
              <a:rPr lang="en-US" sz="1700"/>
              <a:t> and </a:t>
            </a:r>
            <a:r>
              <a:rPr lang="en-US" sz="1700" b="1"/>
              <a:t>pregnant patients</a:t>
            </a:r>
            <a:r>
              <a:rPr lang="en-US" sz="1700"/>
              <a:t> (no radiation). </a:t>
            </a:r>
          </a:p>
          <a:p>
            <a:r>
              <a:rPr lang="en-US" sz="1700" b="1"/>
              <a:t>MRI</a:t>
            </a:r>
            <a:r>
              <a:rPr lang="en-US" sz="1700"/>
              <a:t> is used when CT is contraindicated (pregnancy, radiation concerns); sensitivity 95%, specificity 92%</a:t>
            </a:r>
          </a:p>
          <a:p>
            <a:endParaRPr lang="en-US" sz="1700"/>
          </a:p>
          <a:p>
            <a:endParaRPr lang="en-US" sz="1700"/>
          </a:p>
        </p:txBody>
      </p:sp>
      <p:pic>
        <p:nvPicPr>
          <p:cNvPr id="5" name="Picture 4" descr="Small Intestine Diseases | MedlinePlus">
            <a:extLst>
              <a:ext uri="{FF2B5EF4-FFF2-40B4-BE49-F238E27FC236}">
                <a16:creationId xmlns:a16="http://schemas.microsoft.com/office/drawing/2014/main" id="{7AD60F33-781F-1FAB-EEB8-8DB6C226C021}"/>
              </a:ext>
            </a:extLst>
          </p:cNvPr>
          <p:cNvPicPr>
            <a:picLocks noChangeAspect="1"/>
          </p:cNvPicPr>
          <p:nvPr/>
        </p:nvPicPr>
        <p:blipFill>
          <a:blip r:embed="rId2"/>
          <a:srcRect r="3792"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5829013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E892E-2D99-800C-F6FA-117F1C9803EF}"/>
              </a:ext>
            </a:extLst>
          </p:cNvPr>
          <p:cNvSpPr>
            <a:spLocks noGrp="1"/>
          </p:cNvSpPr>
          <p:nvPr>
            <p:ph type="title"/>
          </p:nvPr>
        </p:nvSpPr>
        <p:spPr/>
        <p:txBody>
          <a:bodyPr>
            <a:noAutofit/>
          </a:bodyPr>
          <a:lstStyle/>
          <a:p>
            <a:r>
              <a:rPr lang="en-US" sz="3200" dirty="0"/>
              <a:t>Diagnosis and Treatment of Acute Appendicitis: The 2025 Edition of the World Society of Emergency Surgery (WSES) Jerusalem Guidelines</a:t>
            </a:r>
          </a:p>
        </p:txBody>
      </p:sp>
      <p:pic>
        <p:nvPicPr>
          <p:cNvPr id="4" name="Content Placeholder 3">
            <a:extLst>
              <a:ext uri="{FF2B5EF4-FFF2-40B4-BE49-F238E27FC236}">
                <a16:creationId xmlns:a16="http://schemas.microsoft.com/office/drawing/2014/main" id="{FFB656BB-A770-5F06-582C-A25452D1A2EC}"/>
              </a:ext>
            </a:extLst>
          </p:cNvPr>
          <p:cNvPicPr>
            <a:picLocks noGrp="1" noChangeAspect="1"/>
          </p:cNvPicPr>
          <p:nvPr>
            <p:ph idx="1"/>
          </p:nvPr>
        </p:nvPicPr>
        <p:blipFill>
          <a:blip r:embed="rId3"/>
          <a:stretch>
            <a:fillRect/>
          </a:stretch>
        </p:blipFill>
        <p:spPr>
          <a:xfrm>
            <a:off x="2658016" y="1825625"/>
            <a:ext cx="6875968" cy="4351338"/>
          </a:xfrm>
          <a:prstGeom prst="rect">
            <a:avLst/>
          </a:prstGeom>
        </p:spPr>
      </p:pic>
    </p:spTree>
    <p:extLst>
      <p:ext uri="{BB962C8B-B14F-4D97-AF65-F5344CB8AC3E}">
        <p14:creationId xmlns:p14="http://schemas.microsoft.com/office/powerpoint/2010/main" val="20879368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405DBF-7C7C-0E3F-A909-A61837E5169D}"/>
              </a:ext>
            </a:extLst>
          </p:cNvPr>
          <p:cNvSpPr>
            <a:spLocks noGrp="1"/>
          </p:cNvSpPr>
          <p:nvPr>
            <p:ph type="title"/>
          </p:nvPr>
        </p:nvSpPr>
        <p:spPr>
          <a:xfrm>
            <a:off x="572493" y="238539"/>
            <a:ext cx="11018520" cy="1434415"/>
          </a:xfrm>
        </p:spPr>
        <p:txBody>
          <a:bodyPr anchor="b">
            <a:normAutofit/>
          </a:bodyPr>
          <a:lstStyle/>
          <a:p>
            <a:r>
              <a:rPr lang="en-US" sz="5400" b="1"/>
              <a:t>Classification and Complications</a:t>
            </a:r>
            <a:endParaRPr lang="en-US" sz="540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831F7C3-9D44-B97C-1880-8A43BD783992}"/>
              </a:ext>
            </a:extLst>
          </p:cNvPr>
          <p:cNvSpPr>
            <a:spLocks noGrp="1"/>
          </p:cNvSpPr>
          <p:nvPr>
            <p:ph idx="1"/>
          </p:nvPr>
        </p:nvSpPr>
        <p:spPr>
          <a:xfrm>
            <a:off x="572493" y="2071316"/>
            <a:ext cx="6713552" cy="4119172"/>
          </a:xfrm>
        </p:spPr>
        <p:txBody>
          <a:bodyPr anchor="t">
            <a:normAutofit/>
          </a:bodyPr>
          <a:lstStyle/>
          <a:p>
            <a:r>
              <a:rPr lang="en-US" sz="2200" b="1"/>
              <a:t>Uncomplicated</a:t>
            </a:r>
            <a:r>
              <a:rPr lang="en-US" sz="2200"/>
              <a:t> (~75–80%): inflamed appendix without perforation </a:t>
            </a:r>
          </a:p>
          <a:p>
            <a:r>
              <a:rPr lang="en-US" sz="2200" b="1"/>
              <a:t>Complicated</a:t>
            </a:r>
            <a:r>
              <a:rPr lang="en-US" sz="2200"/>
              <a:t> (~20–25%): gangrenous, perforated, with abscess or phlegmon </a:t>
            </a:r>
          </a:p>
          <a:p>
            <a:r>
              <a:rPr lang="en-US" sz="2200" b="1"/>
              <a:t>Perforation</a:t>
            </a:r>
            <a:r>
              <a:rPr lang="en-US" sz="2200"/>
              <a:t> risk increases with symptom duration: </a:t>
            </a:r>
          </a:p>
          <a:p>
            <a:pPr lvl="1"/>
            <a:r>
              <a:rPr lang="en-US" sz="2200"/>
              <a:t>Risk factors for perforation include male sex, older age, appendicoliths, and symptom duration &gt;24 hours.</a:t>
            </a:r>
          </a:p>
          <a:p>
            <a:endParaRPr lang="en-US" sz="2200"/>
          </a:p>
        </p:txBody>
      </p:sp>
      <p:pic>
        <p:nvPicPr>
          <p:cNvPr id="5" name="Picture 4" descr="Small Intestine Diseases | MedlinePlus">
            <a:extLst>
              <a:ext uri="{FF2B5EF4-FFF2-40B4-BE49-F238E27FC236}">
                <a16:creationId xmlns:a16="http://schemas.microsoft.com/office/drawing/2014/main" id="{D15EA6CB-F6B7-AD4C-3BBD-744A863945A3}"/>
              </a:ext>
            </a:extLst>
          </p:cNvPr>
          <p:cNvPicPr>
            <a:picLocks noChangeAspect="1"/>
          </p:cNvPicPr>
          <p:nvPr/>
        </p:nvPicPr>
        <p:blipFill>
          <a:blip r:embed="rId2"/>
          <a:srcRect r="3792"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994975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DA17CF-E4E8-A2A8-1F4F-51197D864804}"/>
              </a:ext>
            </a:extLst>
          </p:cNvPr>
          <p:cNvSpPr>
            <a:spLocks noGrp="1"/>
          </p:cNvSpPr>
          <p:nvPr>
            <p:ph type="title"/>
          </p:nvPr>
        </p:nvSpPr>
        <p:spPr>
          <a:xfrm>
            <a:off x="838200" y="365125"/>
            <a:ext cx="10515600" cy="1325563"/>
          </a:xfrm>
        </p:spPr>
        <p:txBody>
          <a:bodyPr>
            <a:normAutofit/>
          </a:bodyPr>
          <a:lstStyle/>
          <a:p>
            <a:r>
              <a:rPr lang="en-US" sz="5400" b="1"/>
              <a:t>Management</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1AF7B82-CE44-7FD1-E134-0F5A028F0C8D}"/>
              </a:ext>
            </a:extLst>
          </p:cNvPr>
          <p:cNvSpPr>
            <a:spLocks noGrp="1"/>
          </p:cNvSpPr>
          <p:nvPr>
            <p:ph idx="1"/>
          </p:nvPr>
        </p:nvSpPr>
        <p:spPr>
          <a:xfrm>
            <a:off x="838200" y="1929384"/>
            <a:ext cx="10515600" cy="4251960"/>
          </a:xfrm>
        </p:spPr>
        <p:txBody>
          <a:bodyPr>
            <a:normAutofit/>
          </a:bodyPr>
          <a:lstStyle/>
          <a:p>
            <a:r>
              <a:rPr lang="en-US" sz="1900" b="1"/>
              <a:t>Surgical (standard of care)</a:t>
            </a:r>
            <a:endParaRPr lang="en-US" sz="1900"/>
          </a:p>
          <a:p>
            <a:pPr lvl="1"/>
            <a:r>
              <a:rPr lang="en-US" sz="1900" b="1"/>
              <a:t>Laparoscopic appendectomy</a:t>
            </a:r>
            <a:r>
              <a:rPr lang="en-US" sz="1900"/>
              <a:t> is the gold standard — associated with less postoperative pain, faster recovery, and earlier discharge compared with open surgery. </a:t>
            </a:r>
          </a:p>
          <a:p>
            <a:pPr lvl="1"/>
            <a:r>
              <a:rPr lang="en-US" sz="1900"/>
              <a:t>Emergent surgery is required for </a:t>
            </a:r>
            <a:r>
              <a:rPr lang="en-US" sz="1900" b="1"/>
              <a:t>perforation with generalized peritonitis</a:t>
            </a:r>
            <a:r>
              <a:rPr lang="en-US" sz="1900"/>
              <a:t>. </a:t>
            </a:r>
          </a:p>
          <a:p>
            <a:r>
              <a:rPr lang="en-US" sz="1900" b="1"/>
              <a:t>Antibiotics-first approach (for selected uncomplicated cases)</a:t>
            </a:r>
            <a:endParaRPr lang="en-US" sz="1900"/>
          </a:p>
          <a:p>
            <a:pPr lvl="1"/>
            <a:r>
              <a:rPr lang="en-US" sz="1900"/>
              <a:t>Approximately </a:t>
            </a:r>
            <a:r>
              <a:rPr lang="en-US" sz="1900" b="1"/>
              <a:t>70% of patients</a:t>
            </a:r>
            <a:r>
              <a:rPr lang="en-US" sz="1900"/>
              <a:t> with uncomplicated appendicitis can be successfully treated with antibiotics alone. </a:t>
            </a:r>
          </a:p>
          <a:p>
            <a:pPr lvl="1"/>
            <a:r>
              <a:rPr lang="en-US" sz="1900"/>
              <a:t>Regimens: piperacillin-tazobactam monotherapy, or cephalosporin/fluoroquinolone + metronidazole for 7–10 days. </a:t>
            </a:r>
          </a:p>
          <a:p>
            <a:pPr lvl="1"/>
            <a:r>
              <a:rPr lang="en-US" sz="1900"/>
              <a:t>Over 5 years, </a:t>
            </a:r>
            <a:r>
              <a:rPr lang="en-US" sz="1900" b="1"/>
              <a:t>30–40% of antibiotic-treated patients</a:t>
            </a:r>
            <a:r>
              <a:rPr lang="en-US" sz="1900"/>
              <a:t> will ultimately undergo appendectomy. </a:t>
            </a:r>
          </a:p>
          <a:p>
            <a:pPr lvl="1"/>
            <a:r>
              <a:rPr lang="en-US" sz="1900"/>
              <a:t>If an appendicolith (hardened piece of stool), a mass, or an appendix thicker than 13 mm is found on a CT scan, non-surgical treatment is much more likely to fail (about 40% of the time). Therefore, these patients should get surgery.</a:t>
            </a:r>
          </a:p>
          <a:p>
            <a:pPr lvl="1"/>
            <a:endParaRPr lang="en-US" sz="1900"/>
          </a:p>
          <a:p>
            <a:endParaRPr lang="en-US" sz="1900"/>
          </a:p>
        </p:txBody>
      </p:sp>
    </p:spTree>
    <p:extLst>
      <p:ext uri="{BB962C8B-B14F-4D97-AF65-F5344CB8AC3E}">
        <p14:creationId xmlns:p14="http://schemas.microsoft.com/office/powerpoint/2010/main" val="195325837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67945B-212C-E329-A9EA-6FB86D04FDDD}"/>
              </a:ext>
            </a:extLst>
          </p:cNvPr>
          <p:cNvSpPr>
            <a:spLocks noGrp="1"/>
          </p:cNvSpPr>
          <p:nvPr>
            <p:ph type="title"/>
          </p:nvPr>
        </p:nvSpPr>
        <p:spPr>
          <a:xfrm>
            <a:off x="838200" y="365125"/>
            <a:ext cx="10515600" cy="1325563"/>
          </a:xfrm>
        </p:spPr>
        <p:txBody>
          <a:bodyPr>
            <a:normAutofit/>
          </a:bodyPr>
          <a:lstStyle/>
          <a:p>
            <a:r>
              <a:rPr lang="en-US" sz="5400" b="1"/>
              <a:t>Management continued</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B0FB3AF-83AB-0962-24AB-9152DB85D3E8}"/>
              </a:ext>
            </a:extLst>
          </p:cNvPr>
          <p:cNvSpPr>
            <a:spLocks noGrp="1"/>
          </p:cNvSpPr>
          <p:nvPr>
            <p:ph idx="1"/>
          </p:nvPr>
        </p:nvSpPr>
        <p:spPr>
          <a:xfrm>
            <a:off x="838200" y="1929384"/>
            <a:ext cx="10515600" cy="4251960"/>
          </a:xfrm>
        </p:spPr>
        <p:txBody>
          <a:bodyPr>
            <a:normAutofit/>
          </a:bodyPr>
          <a:lstStyle/>
          <a:p>
            <a:r>
              <a:rPr lang="en-US" sz="2200" b="1"/>
              <a:t>Complicated appendicitis with abscess/phlegmon</a:t>
            </a:r>
            <a:endParaRPr lang="en-US" sz="2200"/>
          </a:p>
          <a:p>
            <a:pPr lvl="1"/>
            <a:r>
              <a:rPr lang="en-US" sz="2200"/>
              <a:t>Initial management: IV antibiotics ± percutaneous drainage</a:t>
            </a:r>
          </a:p>
          <a:p>
            <a:pPr marL="457200" lvl="1" indent="0">
              <a:buNone/>
            </a:pPr>
            <a:endParaRPr lang="en-US" sz="2200"/>
          </a:p>
          <a:p>
            <a:pPr lvl="1"/>
            <a:r>
              <a:rPr lang="en-US" sz="2200"/>
              <a:t>Interval appendectomy( planned surgical removal) may be considered, particularly in patients ≥35 years (to rule out underlying neoplasm)</a:t>
            </a:r>
          </a:p>
          <a:p>
            <a:endParaRPr lang="en-US" sz="2200"/>
          </a:p>
        </p:txBody>
      </p:sp>
    </p:spTree>
    <p:extLst>
      <p:ext uri="{BB962C8B-B14F-4D97-AF65-F5344CB8AC3E}">
        <p14:creationId xmlns:p14="http://schemas.microsoft.com/office/powerpoint/2010/main" val="424404895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042A92-2643-EEBB-F5DC-9FBF7114C095}"/>
              </a:ext>
            </a:extLst>
          </p:cNvPr>
          <p:cNvSpPr>
            <a:spLocks noGrp="1"/>
          </p:cNvSpPr>
          <p:nvPr>
            <p:ph type="title"/>
          </p:nvPr>
        </p:nvSpPr>
        <p:spPr>
          <a:xfrm>
            <a:off x="838200" y="365125"/>
            <a:ext cx="10515600" cy="1325563"/>
          </a:xfrm>
        </p:spPr>
        <p:txBody>
          <a:bodyPr>
            <a:normAutofit/>
          </a:bodyPr>
          <a:lstStyle/>
          <a:p>
            <a:r>
              <a:rPr lang="en-US" sz="5400" b="1"/>
              <a:t>Special Populations</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36654A1-3DB7-58AB-8BB7-65DD678C3754}"/>
              </a:ext>
            </a:extLst>
          </p:cNvPr>
          <p:cNvSpPr>
            <a:spLocks noGrp="1"/>
          </p:cNvSpPr>
          <p:nvPr>
            <p:ph idx="1"/>
          </p:nvPr>
        </p:nvSpPr>
        <p:spPr>
          <a:xfrm>
            <a:off x="838200" y="1929384"/>
            <a:ext cx="10515600" cy="4251960"/>
          </a:xfrm>
        </p:spPr>
        <p:txBody>
          <a:bodyPr>
            <a:normAutofit/>
          </a:bodyPr>
          <a:lstStyle/>
          <a:p>
            <a:r>
              <a:rPr lang="en-US" sz="2000" b="1" dirty="0"/>
              <a:t>Pregnant patients</a:t>
            </a:r>
            <a:r>
              <a:rPr lang="en-US" sz="2000" dirty="0"/>
              <a:t>: Appendicitis most common in 2nd trimester. Perforation rates as high as </a:t>
            </a:r>
            <a:r>
              <a:rPr lang="en-US" sz="2000" b="1" dirty="0"/>
              <a:t>55%</a:t>
            </a:r>
            <a:r>
              <a:rPr lang="en-US" sz="2000" dirty="0"/>
              <a:t> (vs 4–19% in general population) due to delayed/atypical presentation. </a:t>
            </a:r>
          </a:p>
          <a:p>
            <a:pPr lvl="1"/>
            <a:r>
              <a:rPr lang="en-US" sz="2000" dirty="0"/>
              <a:t>Physical exam signs are unreliable as the gravid uterus displaces the appendix. </a:t>
            </a:r>
          </a:p>
          <a:p>
            <a:pPr lvl="1"/>
            <a:r>
              <a:rPr lang="en-US" sz="2000" dirty="0"/>
              <a:t>Imaging: </a:t>
            </a:r>
            <a:r>
              <a:rPr lang="en-US" sz="2000" b="1" dirty="0"/>
              <a:t>US first → MRI if equivocal</a:t>
            </a:r>
            <a:r>
              <a:rPr lang="en-US" sz="2000" dirty="0"/>
              <a:t> (avoid CT if possible). </a:t>
            </a:r>
          </a:p>
          <a:p>
            <a:pPr lvl="1"/>
            <a:r>
              <a:rPr lang="en-US" sz="2000" dirty="0"/>
              <a:t>Appendectomy is advised when diagnosis is reasonably certain. </a:t>
            </a:r>
          </a:p>
          <a:p>
            <a:r>
              <a:rPr lang="en-US" sz="2000" b="1" dirty="0"/>
              <a:t>Pediatric patients</a:t>
            </a:r>
            <a:r>
              <a:rPr lang="en-US" sz="2000" dirty="0"/>
              <a:t>: US is first-line imaging; if equivocal, follow with MRI or CT. The Pediatric Appendicitis Score (PAS) can aid risk stratification. </a:t>
            </a:r>
          </a:p>
          <a:p>
            <a:r>
              <a:rPr lang="en-US" sz="2000" b="1" dirty="0"/>
              <a:t>Elderly patients</a:t>
            </a:r>
            <a:r>
              <a:rPr lang="en-US" sz="2000" dirty="0"/>
              <a:t>: More likely to present </a:t>
            </a:r>
            <a:r>
              <a:rPr lang="en-US" sz="2000" b="1" i="1" dirty="0"/>
              <a:t>atypically</a:t>
            </a:r>
            <a:r>
              <a:rPr lang="en-US" sz="2000" dirty="0"/>
              <a:t> (generalized pain, lack of leukocytosis) and have higher rates of complicated appendicitis. </a:t>
            </a:r>
          </a:p>
          <a:p>
            <a:pPr lvl="1"/>
            <a:r>
              <a:rPr lang="en-US" sz="2000" dirty="0"/>
              <a:t>Luminal obstruction by appendicolith or mass is more common</a:t>
            </a:r>
          </a:p>
          <a:p>
            <a:pPr lvl="1"/>
            <a:r>
              <a:rPr lang="en-US" sz="2000" dirty="0"/>
              <a:t>always consider </a:t>
            </a:r>
            <a:r>
              <a:rPr lang="en-US" sz="2000" b="1" dirty="0"/>
              <a:t>underlying malignancy</a:t>
            </a:r>
            <a:r>
              <a:rPr lang="en-US" sz="2000" dirty="0"/>
              <a:t>.</a:t>
            </a:r>
          </a:p>
          <a:p>
            <a:endParaRPr lang="en-US" sz="2000" dirty="0"/>
          </a:p>
        </p:txBody>
      </p:sp>
    </p:spTree>
    <p:extLst>
      <p:ext uri="{BB962C8B-B14F-4D97-AF65-F5344CB8AC3E}">
        <p14:creationId xmlns:p14="http://schemas.microsoft.com/office/powerpoint/2010/main" val="262830717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49749F-DA26-4988-0E2B-F2B1104E4439}"/>
              </a:ext>
            </a:extLst>
          </p:cNvPr>
          <p:cNvSpPr>
            <a:spLocks noGrp="1"/>
          </p:cNvSpPr>
          <p:nvPr>
            <p:ph type="title"/>
          </p:nvPr>
        </p:nvSpPr>
        <p:spPr>
          <a:xfrm>
            <a:off x="572493" y="238539"/>
            <a:ext cx="11018520" cy="1434415"/>
          </a:xfrm>
        </p:spPr>
        <p:txBody>
          <a:bodyPr anchor="b">
            <a:normAutofit/>
          </a:bodyPr>
          <a:lstStyle/>
          <a:p>
            <a:r>
              <a:rPr lang="en-US" sz="5400" b="1" i="1" dirty="0"/>
              <a:t>***Pearls***</a:t>
            </a:r>
            <a:endParaRPr lang="en-US" sz="5400" i="1" dirty="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8CFD3BD-CCA8-65C6-6D75-ADE743928B89}"/>
              </a:ext>
            </a:extLst>
          </p:cNvPr>
          <p:cNvSpPr>
            <a:spLocks noGrp="1"/>
          </p:cNvSpPr>
          <p:nvPr>
            <p:ph idx="1"/>
          </p:nvPr>
        </p:nvSpPr>
        <p:spPr>
          <a:xfrm>
            <a:off x="572493" y="2071316"/>
            <a:ext cx="6713552" cy="4119172"/>
          </a:xfrm>
        </p:spPr>
        <p:txBody>
          <a:bodyPr anchor="t">
            <a:normAutofit/>
          </a:bodyPr>
          <a:lstStyle/>
          <a:p>
            <a:r>
              <a:rPr lang="en-US" sz="1900" dirty="0"/>
              <a:t>Pain before vomiting (</a:t>
            </a:r>
            <a:r>
              <a:rPr lang="en-US" sz="1900" b="1" dirty="0"/>
              <a:t>&gt;90% sensitive) </a:t>
            </a:r>
            <a:r>
              <a:rPr lang="en-US" sz="1900" dirty="0"/>
              <a:t>— distinguishes from gastroenteritis where vomiting often precedes pain </a:t>
            </a:r>
          </a:p>
          <a:p>
            <a:r>
              <a:rPr lang="en-US" sz="1900" dirty="0"/>
              <a:t>Migrating periumbilical → RLQ pain is the </a:t>
            </a:r>
            <a:r>
              <a:rPr lang="en-US" sz="1900" b="1" dirty="0"/>
              <a:t>strongest</a:t>
            </a:r>
            <a:r>
              <a:rPr lang="en-US" sz="1900" dirty="0"/>
              <a:t> clinical predictor </a:t>
            </a:r>
          </a:p>
          <a:p>
            <a:r>
              <a:rPr lang="en-US" sz="1900" b="1" dirty="0"/>
              <a:t>McBurney point </a:t>
            </a:r>
            <a:r>
              <a:rPr lang="en-US" sz="1900" dirty="0"/>
              <a:t>is the single most important physical exam sign</a:t>
            </a:r>
          </a:p>
          <a:p>
            <a:r>
              <a:rPr lang="en-US" sz="1900" b="1" dirty="0"/>
              <a:t>Appendicoliths on CT </a:t>
            </a:r>
            <a:r>
              <a:rPr lang="en-US" sz="1900" dirty="0"/>
              <a:t>= higher perforation risk and higher antibiotic failure rate.</a:t>
            </a:r>
          </a:p>
          <a:p>
            <a:r>
              <a:rPr lang="en-US" sz="1900" b="1" dirty="0"/>
              <a:t>In pregnancy: US → MRI (not CT</a:t>
            </a:r>
            <a:r>
              <a:rPr lang="en-US" sz="1900" dirty="0"/>
              <a:t>); perforation risk is much higher </a:t>
            </a:r>
          </a:p>
          <a:p>
            <a:r>
              <a:rPr lang="en-US" sz="1900" b="1" dirty="0"/>
              <a:t>Nonoperative management </a:t>
            </a:r>
            <a:r>
              <a:rPr lang="en-US" sz="1900" dirty="0"/>
              <a:t>is an option for uncomplicated appendicitis without appendicoliths, but ~1 in 3 patients will eventually need surgery.</a:t>
            </a:r>
          </a:p>
          <a:p>
            <a:endParaRPr lang="en-US" sz="1900" dirty="0"/>
          </a:p>
        </p:txBody>
      </p:sp>
      <p:pic>
        <p:nvPicPr>
          <p:cNvPr id="5" name="Picture 4" descr="Natural Pearls vs. Cultured Pearls: The Difference Explained | Jewelers Mutual">
            <a:extLst>
              <a:ext uri="{FF2B5EF4-FFF2-40B4-BE49-F238E27FC236}">
                <a16:creationId xmlns:a16="http://schemas.microsoft.com/office/drawing/2014/main" id="{90216C85-496F-9B35-8D16-0131A6784E13}"/>
              </a:ext>
            </a:extLst>
          </p:cNvPr>
          <p:cNvPicPr>
            <a:picLocks noChangeAspect="1"/>
          </p:cNvPicPr>
          <p:nvPr/>
        </p:nvPicPr>
        <p:blipFill>
          <a:blip r:embed="rId2"/>
          <a:srcRect l="29648" r="6136"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423901337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7DBD53-E403-67CC-63C9-BF6196EB1906}"/>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b="1" i="1" kern="1200">
                <a:solidFill>
                  <a:schemeClr val="tx1"/>
                </a:solidFill>
                <a:latin typeface="+mj-lt"/>
                <a:ea typeface="+mj-ea"/>
                <a:cs typeface="+mj-cs"/>
              </a:rPr>
              <a:t>Celiac Disease</a:t>
            </a:r>
          </a:p>
        </p:txBody>
      </p:sp>
      <p:sp>
        <p:nvSpPr>
          <p:cNvPr id="3" name="Text Placeholder 2">
            <a:extLst>
              <a:ext uri="{FF2B5EF4-FFF2-40B4-BE49-F238E27FC236}">
                <a16:creationId xmlns:a16="http://schemas.microsoft.com/office/drawing/2014/main" id="{94F00E63-F249-70AA-EA0F-C5AEC38FB215}"/>
              </a:ext>
            </a:extLst>
          </p:cNvPr>
          <p:cNvSpPr>
            <a:spLocks noGrp="1"/>
          </p:cNvSpPr>
          <p:nvPr>
            <p:ph type="body" idx="1"/>
          </p:nvPr>
        </p:nvSpPr>
        <p:spPr>
          <a:xfrm>
            <a:off x="638882" y="4631161"/>
            <a:ext cx="3571810" cy="1559327"/>
          </a:xfrm>
        </p:spPr>
        <p:txBody>
          <a:bodyPr vert="horz" lIns="91440" tIns="45720" rIns="91440" bIns="45720" rtlCol="0">
            <a:normAutofit/>
          </a:bodyPr>
          <a:lstStyle/>
          <a:p>
            <a:endParaRPr lang="en-US" sz="2400" kern="1200">
              <a:solidFill>
                <a:schemeClr val="tx1"/>
              </a:solidFill>
              <a:latin typeface="+mn-lt"/>
              <a:ea typeface="+mn-ea"/>
              <a:cs typeface="+mn-cs"/>
            </a:endParaRPr>
          </a:p>
        </p:txBody>
      </p:sp>
      <p:sp>
        <p:nvSpPr>
          <p:cNvPr id="1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eliac disease and gluten issues symbol – Royalty-Free Vector | VectorStock">
            <a:extLst>
              <a:ext uri="{FF2B5EF4-FFF2-40B4-BE49-F238E27FC236}">
                <a16:creationId xmlns:a16="http://schemas.microsoft.com/office/drawing/2014/main" id="{0378C411-46FE-0179-5041-9A83B1CF93FA}"/>
              </a:ext>
            </a:extLst>
          </p:cNvPr>
          <p:cNvPicPr>
            <a:picLocks noChangeAspect="1"/>
          </p:cNvPicPr>
          <p:nvPr/>
        </p:nvPicPr>
        <p:blipFill>
          <a:blip r:embed="rId2"/>
          <a:srcRect r="2084" b="10654"/>
          <a:stretch>
            <a:fillRect/>
          </a:stretch>
        </p:blipFill>
        <p:spPr>
          <a:xfrm>
            <a:off x="4654296" y="691500"/>
            <a:ext cx="7214616" cy="5447568"/>
          </a:xfrm>
          <a:prstGeom prst="rect">
            <a:avLst/>
          </a:prstGeom>
        </p:spPr>
      </p:pic>
    </p:spTree>
    <p:extLst>
      <p:ext uri="{BB962C8B-B14F-4D97-AF65-F5344CB8AC3E}">
        <p14:creationId xmlns:p14="http://schemas.microsoft.com/office/powerpoint/2010/main" val="3411609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lants in a field">
            <a:extLst>
              <a:ext uri="{FF2B5EF4-FFF2-40B4-BE49-F238E27FC236}">
                <a16:creationId xmlns:a16="http://schemas.microsoft.com/office/drawing/2014/main" id="{FEE77885-A276-30E7-54FC-C4EE51F8D142}"/>
              </a:ext>
            </a:extLst>
          </p:cNvPr>
          <p:cNvPicPr>
            <a:picLocks noChangeAspect="1"/>
          </p:cNvPicPr>
          <p:nvPr/>
        </p:nvPicPr>
        <p:blipFill>
          <a:blip r:embed="rId2"/>
          <a:srcRect l="17276" r="23458" b="-1"/>
          <a:stretch>
            <a:fillRect/>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7E38F-60AE-A1DA-D732-FA48B8B1605B}"/>
              </a:ext>
            </a:extLst>
          </p:cNvPr>
          <p:cNvSpPr>
            <a:spLocks noGrp="1"/>
          </p:cNvSpPr>
          <p:nvPr>
            <p:ph type="title"/>
          </p:nvPr>
        </p:nvSpPr>
        <p:spPr>
          <a:xfrm>
            <a:off x="761801" y="328512"/>
            <a:ext cx="4778387" cy="1628970"/>
          </a:xfrm>
        </p:spPr>
        <p:txBody>
          <a:bodyPr anchor="ctr">
            <a:normAutofit/>
          </a:bodyPr>
          <a:lstStyle/>
          <a:p>
            <a:r>
              <a:rPr lang="en-US" sz="4000" b="1"/>
              <a:t>Epidemiology and Genetics</a:t>
            </a:r>
            <a:endParaRPr lang="en-US" sz="4000"/>
          </a:p>
        </p:txBody>
      </p:sp>
      <p:sp>
        <p:nvSpPr>
          <p:cNvPr id="3" name="Content Placeholder 2">
            <a:extLst>
              <a:ext uri="{FF2B5EF4-FFF2-40B4-BE49-F238E27FC236}">
                <a16:creationId xmlns:a16="http://schemas.microsoft.com/office/drawing/2014/main" id="{56A7DD14-811D-7EAE-7081-5C7F1AA308A5}"/>
              </a:ext>
            </a:extLst>
          </p:cNvPr>
          <p:cNvSpPr>
            <a:spLocks noGrp="1"/>
          </p:cNvSpPr>
          <p:nvPr>
            <p:ph idx="1"/>
          </p:nvPr>
        </p:nvSpPr>
        <p:spPr>
          <a:xfrm>
            <a:off x="761801" y="2884929"/>
            <a:ext cx="4659756" cy="3374137"/>
          </a:xfrm>
        </p:spPr>
        <p:txBody>
          <a:bodyPr anchor="ctr">
            <a:normAutofit/>
          </a:bodyPr>
          <a:lstStyle/>
          <a:p>
            <a:r>
              <a:rPr lang="en-US" sz="1700" dirty="0"/>
              <a:t>Celiac disease affects approximately </a:t>
            </a:r>
            <a:r>
              <a:rPr lang="en-US" sz="1700" b="1" dirty="0"/>
              <a:t>1% of the population</a:t>
            </a:r>
            <a:r>
              <a:rPr lang="en-US" sz="1700" dirty="0"/>
              <a:t> and is </a:t>
            </a:r>
          </a:p>
          <a:p>
            <a:pPr lvl="1"/>
            <a:r>
              <a:rPr lang="en-US" sz="1300" dirty="0"/>
              <a:t>an </a:t>
            </a:r>
            <a:r>
              <a:rPr lang="en-US" sz="1300" b="1" dirty="0"/>
              <a:t>immune-mediated enteropathy </a:t>
            </a:r>
            <a:r>
              <a:rPr lang="en-US" sz="1300" dirty="0"/>
              <a:t>triggered by gluten (wheat, barley, rye) in genetically susceptible individuals. </a:t>
            </a:r>
          </a:p>
          <a:p>
            <a:r>
              <a:rPr lang="en-US" sz="1700" dirty="0"/>
              <a:t>Nearly all patients carry </a:t>
            </a:r>
            <a:r>
              <a:rPr lang="en-US" sz="1700" b="1" dirty="0"/>
              <a:t>HLA-DQ2 (&gt;90%) or HLA-DQ8 (5–10%)</a:t>
            </a:r>
            <a:endParaRPr lang="en-US" sz="1700" dirty="0"/>
          </a:p>
          <a:p>
            <a:pPr lvl="1"/>
            <a:r>
              <a:rPr lang="en-US" sz="1300" b="1" i="1" dirty="0"/>
              <a:t>absence of both alleles </a:t>
            </a:r>
            <a:r>
              <a:rPr lang="en-US" sz="1300" dirty="0"/>
              <a:t>essentially rules out celiac disease (high negative predictive value).  </a:t>
            </a:r>
          </a:p>
          <a:p>
            <a:r>
              <a:rPr lang="en-US" sz="1700" dirty="0"/>
              <a:t>However, ~35% of the general population carries these alleles, so their presence alone is insufficient for diagnosis.</a:t>
            </a:r>
          </a:p>
        </p:txBody>
      </p:sp>
    </p:spTree>
    <p:extLst>
      <p:ext uri="{BB962C8B-B14F-4D97-AF65-F5344CB8AC3E}">
        <p14:creationId xmlns:p14="http://schemas.microsoft.com/office/powerpoint/2010/main" val="406008111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8A1C57-7A27-2DC1-2293-91C72CA97707}"/>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036931-7115-57F5-41FD-7C00A655B24C}"/>
              </a:ext>
            </a:extLst>
          </p:cNvPr>
          <p:cNvSpPr>
            <a:spLocks noGrp="1"/>
          </p:cNvSpPr>
          <p:nvPr>
            <p:ph type="title"/>
          </p:nvPr>
        </p:nvSpPr>
        <p:spPr>
          <a:xfrm>
            <a:off x="640080" y="329184"/>
            <a:ext cx="6894576" cy="1783080"/>
          </a:xfrm>
        </p:spPr>
        <p:txBody>
          <a:bodyPr anchor="b">
            <a:normAutofit/>
          </a:bodyPr>
          <a:lstStyle/>
          <a:p>
            <a:r>
              <a:rPr lang="en-US" sz="5400" b="1"/>
              <a:t>Pathophysiology</a:t>
            </a:r>
            <a:endParaRPr lang="en-US" sz="5400"/>
          </a:p>
        </p:txBody>
      </p:sp>
      <p:sp>
        <p:nvSpPr>
          <p:cNvPr id="2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4285D3B-218E-93B5-99FC-35E508A4DCE8}"/>
              </a:ext>
            </a:extLst>
          </p:cNvPr>
          <p:cNvSpPr>
            <a:spLocks noGrp="1"/>
          </p:cNvSpPr>
          <p:nvPr>
            <p:ph idx="1"/>
          </p:nvPr>
        </p:nvSpPr>
        <p:spPr>
          <a:xfrm>
            <a:off x="640080" y="2706624"/>
            <a:ext cx="6894576" cy="3483864"/>
          </a:xfrm>
        </p:spPr>
        <p:txBody>
          <a:bodyPr>
            <a:normAutofit/>
          </a:bodyPr>
          <a:lstStyle/>
          <a:p>
            <a:r>
              <a:rPr lang="en-US" sz="1700" b="1" dirty="0"/>
              <a:t>Undigested gluten peptides </a:t>
            </a:r>
            <a:r>
              <a:rPr lang="en-US" sz="1700" dirty="0"/>
              <a:t>cross the gut lining. </a:t>
            </a:r>
          </a:p>
          <a:p>
            <a:r>
              <a:rPr lang="en-US" sz="1700" dirty="0"/>
              <a:t>Once inside, an </a:t>
            </a:r>
            <a:r>
              <a:rPr lang="en-US" sz="1700" b="1" dirty="0"/>
              <a:t>enzyme called </a:t>
            </a:r>
            <a:r>
              <a:rPr lang="en-US" sz="1700" b="1"/>
              <a:t>tTG</a:t>
            </a:r>
            <a:r>
              <a:rPr lang="en-US" sz="1700" b="1" dirty="0"/>
              <a:t> </a:t>
            </a:r>
            <a:r>
              <a:rPr lang="en-US" sz="1700" dirty="0"/>
              <a:t>modifies these peptides, making them bind strongly to immune system </a:t>
            </a:r>
            <a:r>
              <a:rPr lang="en-US" sz="1700" b="1" dirty="0"/>
              <a:t>receptors (HLA-DQ2/DQ8). </a:t>
            </a:r>
          </a:p>
          <a:p>
            <a:r>
              <a:rPr lang="en-US" sz="1700" dirty="0"/>
              <a:t>This triggers both </a:t>
            </a:r>
            <a:r>
              <a:rPr lang="en-US" sz="1700" b="1" dirty="0"/>
              <a:t>adaptive and innate immune responses, leading to chronic inflammation that damages the small intestine</a:t>
            </a:r>
            <a:r>
              <a:rPr lang="en-US" sz="1700" dirty="0"/>
              <a:t>—specifically causing </a:t>
            </a:r>
            <a:r>
              <a:rPr lang="en-US" sz="1700" b="1" dirty="0"/>
              <a:t>flattened villous linings, enlarged crypts, and a buildup of immune cells</a:t>
            </a:r>
          </a:p>
          <a:p>
            <a:r>
              <a:rPr lang="en-US" sz="1700" dirty="0"/>
              <a:t>*</a:t>
            </a:r>
            <a:r>
              <a:rPr lang="en-US" sz="1700" b="1" i="1" u="sng" dirty="0"/>
              <a:t>Simplified Version*</a:t>
            </a:r>
          </a:p>
          <a:p>
            <a:pPr lvl="1"/>
            <a:r>
              <a:rPr lang="en-US" sz="1700" dirty="0"/>
              <a:t>Parts of gluten survive digestion and slip through the intestinal wall. </a:t>
            </a:r>
          </a:p>
          <a:p>
            <a:pPr lvl="1"/>
            <a:r>
              <a:rPr lang="en-US" sz="1700" dirty="0"/>
              <a:t>There, they trigger an immune reaction that causes severe inflammation and damages the lining of the small intestine.</a:t>
            </a:r>
          </a:p>
        </p:txBody>
      </p:sp>
      <p:pic>
        <p:nvPicPr>
          <p:cNvPr id="7" name="Picture 6" descr="Celiac Disease | Dr. Rheinchard Reyes MDPA">
            <a:extLst>
              <a:ext uri="{FF2B5EF4-FFF2-40B4-BE49-F238E27FC236}">
                <a16:creationId xmlns:a16="http://schemas.microsoft.com/office/drawing/2014/main" id="{72528EDF-469C-9437-D22E-853246C8F666}"/>
              </a:ext>
            </a:extLst>
          </p:cNvPr>
          <p:cNvPicPr>
            <a:picLocks noChangeAspect="1"/>
          </p:cNvPicPr>
          <p:nvPr/>
        </p:nvPicPr>
        <p:blipFill>
          <a:blip r:embed="rId3"/>
          <a:srcRect l="3795" r="-3" b="-3"/>
          <a:stretch>
            <a:fillRect/>
          </a:stretch>
        </p:blipFill>
        <p:spPr>
          <a:xfrm>
            <a:off x="8221045" y="329183"/>
            <a:ext cx="3299806" cy="3429969"/>
          </a:xfrm>
          <a:prstGeom prst="rect">
            <a:avLst/>
          </a:prstGeom>
        </p:spPr>
      </p:pic>
      <p:pic>
        <p:nvPicPr>
          <p:cNvPr id="8" name="Picture 7" descr="Q&amp;A: Is gluten-free the way to be? A dive into the science">
            <a:extLst>
              <a:ext uri="{FF2B5EF4-FFF2-40B4-BE49-F238E27FC236}">
                <a16:creationId xmlns:a16="http://schemas.microsoft.com/office/drawing/2014/main" id="{309A99EC-3BE1-1D99-EF3C-D61492662B14}"/>
              </a:ext>
            </a:extLst>
          </p:cNvPr>
          <p:cNvPicPr>
            <a:picLocks noChangeAspect="1"/>
          </p:cNvPicPr>
          <p:nvPr/>
        </p:nvPicPr>
        <p:blipFill>
          <a:blip r:embed="rId4"/>
          <a:stretch>
            <a:fillRect/>
          </a:stretch>
        </p:blipFill>
        <p:spPr>
          <a:xfrm>
            <a:off x="8773668" y="4079193"/>
            <a:ext cx="2176272" cy="2176272"/>
          </a:xfrm>
          <a:prstGeom prst="rect">
            <a:avLst/>
          </a:prstGeom>
        </p:spPr>
      </p:pic>
    </p:spTree>
    <p:extLst>
      <p:ext uri="{BB962C8B-B14F-4D97-AF65-F5344CB8AC3E}">
        <p14:creationId xmlns:p14="http://schemas.microsoft.com/office/powerpoint/2010/main" val="32667805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E1DA-60BA-BBAC-B715-3E47C55EB9FE}"/>
              </a:ext>
            </a:extLst>
          </p:cNvPr>
          <p:cNvSpPr>
            <a:spLocks noGrp="1"/>
          </p:cNvSpPr>
          <p:nvPr>
            <p:ph type="title"/>
          </p:nvPr>
        </p:nvSpPr>
        <p:spPr/>
        <p:txBody>
          <a:bodyPr>
            <a:normAutofit fontScale="90000"/>
          </a:bodyPr>
          <a:lstStyle/>
          <a:p>
            <a:r>
              <a:rPr lang="en-US" dirty="0"/>
              <a:t>Interaction of Gluten with Environmental, Immune, and Genetic Factors in Celiac Disease</a:t>
            </a:r>
          </a:p>
        </p:txBody>
      </p:sp>
      <p:pic>
        <p:nvPicPr>
          <p:cNvPr id="4" name="Content Placeholder 3">
            <a:extLst>
              <a:ext uri="{FF2B5EF4-FFF2-40B4-BE49-F238E27FC236}">
                <a16:creationId xmlns:a16="http://schemas.microsoft.com/office/drawing/2014/main" id="{04D3CEAA-F344-1633-9790-70D921D4FEA3}"/>
              </a:ext>
            </a:extLst>
          </p:cNvPr>
          <p:cNvPicPr>
            <a:picLocks noGrp="1" noChangeAspect="1"/>
          </p:cNvPicPr>
          <p:nvPr>
            <p:ph idx="1"/>
          </p:nvPr>
        </p:nvPicPr>
        <p:blipFill>
          <a:blip r:embed="rId3"/>
          <a:stretch>
            <a:fillRect/>
          </a:stretch>
        </p:blipFill>
        <p:spPr>
          <a:xfrm>
            <a:off x="1558834" y="1690688"/>
            <a:ext cx="6365966" cy="4946332"/>
          </a:xfrm>
          <a:prstGeom prst="rect">
            <a:avLst/>
          </a:prstGeom>
        </p:spPr>
      </p:pic>
    </p:spTree>
    <p:extLst>
      <p:ext uri="{BB962C8B-B14F-4D97-AF65-F5344CB8AC3E}">
        <p14:creationId xmlns:p14="http://schemas.microsoft.com/office/powerpoint/2010/main" val="156623394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E8EBD8-7D4A-D5DD-6B61-5B44F74F5E35}"/>
              </a:ext>
            </a:extLst>
          </p:cNvPr>
          <p:cNvSpPr>
            <a:spLocks noGrp="1"/>
          </p:cNvSpPr>
          <p:nvPr>
            <p:ph type="title"/>
          </p:nvPr>
        </p:nvSpPr>
        <p:spPr>
          <a:xfrm>
            <a:off x="630936" y="639520"/>
            <a:ext cx="3429000" cy="1719072"/>
          </a:xfrm>
        </p:spPr>
        <p:txBody>
          <a:bodyPr anchor="b">
            <a:normAutofit/>
          </a:bodyPr>
          <a:lstStyle/>
          <a:p>
            <a:r>
              <a:rPr lang="en-US" sz="5000"/>
              <a:t>Step by Step Breakdown</a:t>
            </a: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6B5A340-AC33-AC59-DE33-44E4EAFA5435}"/>
              </a:ext>
            </a:extLst>
          </p:cNvPr>
          <p:cNvSpPr>
            <a:spLocks noGrp="1"/>
          </p:cNvSpPr>
          <p:nvPr>
            <p:ph idx="1"/>
          </p:nvPr>
        </p:nvSpPr>
        <p:spPr>
          <a:xfrm>
            <a:off x="630936" y="2807208"/>
            <a:ext cx="3429000" cy="3410712"/>
          </a:xfrm>
        </p:spPr>
        <p:txBody>
          <a:bodyPr anchor="t">
            <a:normAutofit/>
          </a:bodyPr>
          <a:lstStyle/>
          <a:p>
            <a:pPr lvl="0"/>
            <a:r>
              <a:rPr lang="en-US" sz="1000" b="1"/>
              <a:t>Eat Gluten:</a:t>
            </a:r>
            <a:r>
              <a:rPr lang="en-US" sz="1000"/>
              <a:t> Gluten contains a protein called </a:t>
            </a:r>
            <a:r>
              <a:rPr lang="en-US" sz="1000" b="1"/>
              <a:t>gliadin</a:t>
            </a:r>
            <a:r>
              <a:rPr lang="en-US" sz="1000"/>
              <a:t>.</a:t>
            </a:r>
          </a:p>
          <a:p>
            <a:pPr lvl="0"/>
            <a:r>
              <a:rPr lang="en-US" sz="1000" b="1"/>
              <a:t>Immune Trigger:</a:t>
            </a:r>
            <a:r>
              <a:rPr lang="en-US" sz="1000"/>
              <a:t> In people with specific genes (HLA-DQ2 or HLA-DQ8), the immune system treats gliadin like an enemy.</a:t>
            </a:r>
          </a:p>
          <a:p>
            <a:pPr lvl="0"/>
            <a:r>
              <a:rPr lang="en-US" sz="1000" b="1"/>
              <a:t>Enzyme Action:</a:t>
            </a:r>
            <a:r>
              <a:rPr lang="en-US" sz="1000"/>
              <a:t> An enzyme named </a:t>
            </a:r>
            <a:r>
              <a:rPr lang="en-US" sz="1000" b="1"/>
              <a:t>tTG</a:t>
            </a:r>
            <a:r>
              <a:rPr lang="en-US" sz="1000"/>
              <a:t> changes the gliadin piece to make the immune reaction even stronger.</a:t>
            </a:r>
          </a:p>
          <a:p>
            <a:pPr lvl="0"/>
            <a:r>
              <a:rPr lang="en-US" sz="1000" b="1"/>
              <a:t>Gut Damage:</a:t>
            </a:r>
            <a:r>
              <a:rPr lang="en-US" sz="1000"/>
              <a:t> White blood cells attack the lining of the small intestine, causing inflammation.</a:t>
            </a:r>
          </a:p>
          <a:p>
            <a:pPr lvl="0"/>
            <a:r>
              <a:rPr lang="en-US" sz="1000" b="1"/>
              <a:t>Flattened Villi:</a:t>
            </a:r>
            <a:r>
              <a:rPr lang="en-US" sz="1000"/>
              <a:t> The helpful finger-like folds (</a:t>
            </a:r>
            <a:r>
              <a:rPr lang="en-US" sz="1000" b="1"/>
              <a:t>villi</a:t>
            </a:r>
            <a:r>
              <a:rPr lang="en-US" sz="1000"/>
              <a:t>) wear down and flatten out (</a:t>
            </a:r>
            <a:r>
              <a:rPr lang="en-US" sz="1000" b="1"/>
              <a:t>villous atrophy</a:t>
            </a:r>
            <a:r>
              <a:rPr lang="en-US" sz="1000"/>
              <a:t>).</a:t>
            </a:r>
          </a:p>
          <a:p>
            <a:pPr lvl="0"/>
            <a:r>
              <a:rPr lang="en-US" sz="1000" b="1"/>
              <a:t>Bad Absorption:</a:t>
            </a:r>
            <a:r>
              <a:rPr lang="en-US" sz="1000"/>
              <a:t> With fewer working villi, the body cannot absorb vitamins, minerals, and water properly, leading to stomach pain, weight loss, and fatigue.</a:t>
            </a:r>
          </a:p>
          <a:p>
            <a:endParaRPr lang="en-US" sz="1000"/>
          </a:p>
        </p:txBody>
      </p:sp>
      <p:pic>
        <p:nvPicPr>
          <p:cNvPr id="4" name="Picture 3" descr="Overview of Celiac Disease">
            <a:extLst>
              <a:ext uri="{FF2B5EF4-FFF2-40B4-BE49-F238E27FC236}">
                <a16:creationId xmlns:a16="http://schemas.microsoft.com/office/drawing/2014/main" id="{9A0E8572-008F-4320-D938-9EF5AD148D56}"/>
              </a:ext>
            </a:extLst>
          </p:cNvPr>
          <p:cNvPicPr>
            <a:picLocks noChangeAspect="1"/>
          </p:cNvPicPr>
          <p:nvPr/>
        </p:nvPicPr>
        <p:blipFill>
          <a:blip r:embed="rId3"/>
          <a:stretch>
            <a:fillRect/>
          </a:stretch>
        </p:blipFill>
        <p:spPr>
          <a:xfrm>
            <a:off x="4680206" y="1499056"/>
            <a:ext cx="6903720" cy="3883342"/>
          </a:xfrm>
          <a:prstGeom prst="rect">
            <a:avLst/>
          </a:prstGeom>
        </p:spPr>
      </p:pic>
    </p:spTree>
    <p:extLst>
      <p:ext uri="{BB962C8B-B14F-4D97-AF65-F5344CB8AC3E}">
        <p14:creationId xmlns:p14="http://schemas.microsoft.com/office/powerpoint/2010/main" val="291645231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81A95C-30DB-25B9-C61E-24F73E7C6579}"/>
              </a:ext>
            </a:extLst>
          </p:cNvPr>
          <p:cNvSpPr>
            <a:spLocks noGrp="1"/>
          </p:cNvSpPr>
          <p:nvPr>
            <p:ph type="title"/>
          </p:nvPr>
        </p:nvSpPr>
        <p:spPr>
          <a:xfrm>
            <a:off x="838200" y="365125"/>
            <a:ext cx="10515600" cy="1325563"/>
          </a:xfrm>
        </p:spPr>
        <p:txBody>
          <a:bodyPr>
            <a:normAutofit/>
          </a:bodyPr>
          <a:lstStyle/>
          <a:p>
            <a:r>
              <a:rPr lang="en-US" sz="5000" b="1"/>
              <a:t>Clinical Presentation and (</a:t>
            </a:r>
            <a:r>
              <a:rPr lang="en-US" sz="5000" i="1"/>
              <a:t>“the why”)</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AFA45C0-C928-E866-142A-6E63E3EABB64}"/>
              </a:ext>
            </a:extLst>
          </p:cNvPr>
          <p:cNvSpPr>
            <a:spLocks noGrp="1"/>
          </p:cNvSpPr>
          <p:nvPr>
            <p:ph idx="1"/>
          </p:nvPr>
        </p:nvSpPr>
        <p:spPr>
          <a:xfrm>
            <a:off x="838200" y="1929384"/>
            <a:ext cx="10515600" cy="4251960"/>
          </a:xfrm>
        </p:spPr>
        <p:txBody>
          <a:bodyPr>
            <a:normAutofit/>
          </a:bodyPr>
          <a:lstStyle/>
          <a:p>
            <a:pPr lvl="1"/>
            <a:r>
              <a:rPr lang="en-US" sz="1700" b="1" dirty="0"/>
              <a:t>Classic GI symptoms</a:t>
            </a:r>
            <a:r>
              <a:rPr lang="en-US" sz="1700" dirty="0"/>
              <a:t>: Diarrhea (~40–50% of patients), bloating, abdominal pain, constipation, steatorrhea, weight loss, bloating</a:t>
            </a:r>
          </a:p>
          <a:p>
            <a:pPr lvl="1"/>
            <a:r>
              <a:rPr lang="en-US" sz="1700" b="1" dirty="0"/>
              <a:t>Iron-deficiency anemia</a:t>
            </a:r>
            <a:r>
              <a:rPr lang="en-US" sz="1700" dirty="0"/>
              <a:t> refractory to oral supplementation (seen in ~32% of adults) </a:t>
            </a:r>
          </a:p>
          <a:p>
            <a:pPr lvl="1"/>
            <a:r>
              <a:rPr lang="en-US" sz="1700" b="1" dirty="0"/>
              <a:t>Osteoporosis/osteopenia</a:t>
            </a:r>
            <a:r>
              <a:rPr lang="en-US" sz="1700" dirty="0"/>
              <a:t> (up to 60% of patients) </a:t>
            </a:r>
          </a:p>
          <a:p>
            <a:pPr lvl="1"/>
            <a:r>
              <a:rPr lang="en-US" sz="1700" b="1" dirty="0">
                <a:hlinkClick r:id="rId3"/>
              </a:rPr>
              <a:t>Dermatitis herpetiformis</a:t>
            </a:r>
            <a:r>
              <a:rPr lang="en-US" sz="1700" b="1" dirty="0"/>
              <a:t> (“</a:t>
            </a:r>
            <a:r>
              <a:rPr lang="en-US" sz="1700" dirty="0"/>
              <a:t>antibodies </a:t>
            </a:r>
            <a:r>
              <a:rPr lang="en-US" sz="1700" i="1" dirty="0"/>
              <a:t>binding to proteins in the skin to form an </a:t>
            </a:r>
            <a:r>
              <a:rPr lang="en-US" sz="1700" b="1" i="1" dirty="0"/>
              <a:t>intensely itchy rash.”)</a:t>
            </a:r>
          </a:p>
          <a:p>
            <a:pPr lvl="2"/>
            <a:r>
              <a:rPr lang="en-US" sz="1700" i="1" dirty="0"/>
              <a:t>-</a:t>
            </a:r>
            <a:r>
              <a:rPr lang="en-US" sz="1700" dirty="0"/>
              <a:t> Intensely pruritic, papulovesicular rash on extensor surfaces (elbows, knees, buttocks); diagnosed by </a:t>
            </a:r>
            <a:r>
              <a:rPr lang="en-US" sz="1700" b="1" dirty="0"/>
              <a:t>granular IgA deposits on perilesional skin biopsy</a:t>
            </a:r>
            <a:r>
              <a:rPr lang="en-US" sz="1700" dirty="0"/>
              <a:t> — this is pathognomonic </a:t>
            </a:r>
          </a:p>
          <a:p>
            <a:pPr lvl="1"/>
            <a:r>
              <a:rPr lang="en-US" sz="1700" b="1" dirty="0"/>
              <a:t>Elevated liver transaminases</a:t>
            </a:r>
            <a:r>
              <a:rPr lang="en-US" sz="1700" dirty="0"/>
              <a:t> </a:t>
            </a:r>
            <a:r>
              <a:rPr lang="en-US" sz="1700" dirty="0">
                <a:sym typeface="Wingdings" panose="05000000000000000000" pitchFamily="2" charset="2"/>
              </a:rPr>
              <a:t>(“</a:t>
            </a:r>
            <a:r>
              <a:rPr lang="en-US" sz="1700" i="1" dirty="0"/>
              <a:t>a damaged gut allows intestinal inflammation, toxins, and immune proteins to travel directly to the liver through the blood”)</a:t>
            </a:r>
          </a:p>
          <a:p>
            <a:pPr lvl="1"/>
            <a:r>
              <a:rPr lang="en-US" sz="1700" b="1" dirty="0"/>
              <a:t>Neuropsychiatric (“</a:t>
            </a:r>
            <a:r>
              <a:rPr lang="en-US" sz="1700" i="1" dirty="0"/>
              <a:t>the body's immune antibodies mistakenly attack nervous system tissue or cause brain inflammation” </a:t>
            </a:r>
            <a:r>
              <a:rPr lang="en-US" sz="1700" dirty="0"/>
              <a:t>): Peripheral neuropathy, cerebellar ataxia, migraine</a:t>
            </a:r>
          </a:p>
          <a:p>
            <a:pPr lvl="1"/>
            <a:r>
              <a:rPr lang="en-US" sz="1700" b="1" dirty="0"/>
              <a:t>Reproductive (“</a:t>
            </a:r>
            <a:r>
              <a:rPr lang="en-US" sz="1700" i="1" dirty="0"/>
              <a:t>immune attacks to reproductive tissues”</a:t>
            </a:r>
            <a:r>
              <a:rPr lang="en-US" sz="1700" b="1" dirty="0"/>
              <a:t>)</a:t>
            </a:r>
            <a:r>
              <a:rPr lang="en-US" sz="1700" dirty="0"/>
              <a:t>: Infertility, recurrent miscarriage, delayed menarche</a:t>
            </a:r>
          </a:p>
          <a:p>
            <a:pPr lvl="1"/>
            <a:r>
              <a:rPr lang="en-US" sz="1700" b="1" dirty="0"/>
              <a:t>Pediatric (“</a:t>
            </a:r>
            <a:r>
              <a:rPr lang="en-US" sz="1700" i="1" dirty="0"/>
              <a:t>stops the SI from absorbing vital nutrients”</a:t>
            </a:r>
            <a:r>
              <a:rPr lang="en-US" sz="1700" b="1" dirty="0"/>
              <a:t>): </a:t>
            </a:r>
            <a:r>
              <a:rPr lang="en-US" sz="1700" dirty="0"/>
              <a:t>Growth failure, delayed puberty, dental enamel defects</a:t>
            </a:r>
          </a:p>
          <a:p>
            <a:endParaRPr lang="en-US" sz="1700" dirty="0"/>
          </a:p>
        </p:txBody>
      </p:sp>
    </p:spTree>
    <p:extLst>
      <p:ext uri="{BB962C8B-B14F-4D97-AF65-F5344CB8AC3E}">
        <p14:creationId xmlns:p14="http://schemas.microsoft.com/office/powerpoint/2010/main" val="330096609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24975-014F-E1AA-0537-50A89893D634}"/>
              </a:ext>
            </a:extLst>
          </p:cNvPr>
          <p:cNvSpPr>
            <a:spLocks noGrp="1"/>
          </p:cNvSpPr>
          <p:nvPr>
            <p:ph type="title"/>
          </p:nvPr>
        </p:nvSpPr>
        <p:spPr/>
        <p:txBody>
          <a:bodyPr/>
          <a:lstStyle/>
          <a:p>
            <a:r>
              <a:rPr lang="en-US" b="1" dirty="0">
                <a:hlinkClick r:id="rId3"/>
              </a:rPr>
              <a:t>Dermatitis herpetiformis</a:t>
            </a:r>
            <a:endParaRPr lang="en-US" dirty="0"/>
          </a:p>
        </p:txBody>
      </p:sp>
      <p:pic>
        <p:nvPicPr>
          <p:cNvPr id="4" name="Content Placeholder 3" descr="Celiac Rash: Could Gluten Be The Cause Of Your Adverse Skin Conditions? -  Gluten Free Society">
            <a:extLst>
              <a:ext uri="{FF2B5EF4-FFF2-40B4-BE49-F238E27FC236}">
                <a16:creationId xmlns:a16="http://schemas.microsoft.com/office/drawing/2014/main" id="{BBBC1B7B-F5D1-784F-CFAB-9AC8B775E0B1}"/>
              </a:ext>
            </a:extLst>
          </p:cNvPr>
          <p:cNvPicPr>
            <a:picLocks noGrp="1" noChangeAspect="1"/>
          </p:cNvPicPr>
          <p:nvPr>
            <p:ph idx="1"/>
          </p:nvPr>
        </p:nvPicPr>
        <p:blipFill>
          <a:blip r:embed="rId4"/>
          <a:srcRect r="6987" b="19373"/>
          <a:stretch>
            <a:fillRect/>
          </a:stretch>
        </p:blipFill>
        <p:spPr>
          <a:xfrm>
            <a:off x="2614930" y="1825625"/>
            <a:ext cx="6475730" cy="3508375"/>
          </a:xfrm>
          <a:prstGeom prst="rect">
            <a:avLst/>
          </a:prstGeom>
        </p:spPr>
      </p:pic>
    </p:spTree>
    <p:extLst>
      <p:ext uri="{BB962C8B-B14F-4D97-AF65-F5344CB8AC3E}">
        <p14:creationId xmlns:p14="http://schemas.microsoft.com/office/powerpoint/2010/main" val="193176961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42BFE3-923A-2A88-FA3C-72189A7CAE26}"/>
              </a:ext>
            </a:extLst>
          </p:cNvPr>
          <p:cNvSpPr>
            <a:spLocks noGrp="1"/>
          </p:cNvSpPr>
          <p:nvPr>
            <p:ph type="title"/>
          </p:nvPr>
        </p:nvSpPr>
        <p:spPr>
          <a:xfrm>
            <a:off x="838200" y="365125"/>
            <a:ext cx="10515600" cy="1325563"/>
          </a:xfrm>
        </p:spPr>
        <p:txBody>
          <a:bodyPr>
            <a:normAutofit/>
          </a:bodyPr>
          <a:lstStyle/>
          <a:p>
            <a:r>
              <a:rPr lang="en-US" sz="5400" b="1"/>
              <a:t>Diagnosis</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80E99E4-FE01-CF13-0134-190B25B99511}"/>
              </a:ext>
            </a:extLst>
          </p:cNvPr>
          <p:cNvSpPr>
            <a:spLocks noGrp="1"/>
          </p:cNvSpPr>
          <p:nvPr>
            <p:ph idx="1"/>
          </p:nvPr>
        </p:nvSpPr>
        <p:spPr>
          <a:xfrm>
            <a:off x="838200" y="1929384"/>
            <a:ext cx="10515600" cy="4251960"/>
          </a:xfrm>
        </p:spPr>
        <p:txBody>
          <a:bodyPr>
            <a:normAutofit/>
          </a:bodyPr>
          <a:lstStyle/>
          <a:p>
            <a:r>
              <a:rPr lang="en-US" sz="1900" dirty="0"/>
              <a:t>The diagnostic approach follows a </a:t>
            </a:r>
            <a:r>
              <a:rPr lang="en-US" sz="1900" b="1" dirty="0"/>
              <a:t>serologic-then-biopsy</a:t>
            </a:r>
            <a:r>
              <a:rPr lang="en-US" sz="1900" dirty="0"/>
              <a:t> algorithm per ACG guidelines: </a:t>
            </a:r>
          </a:p>
          <a:p>
            <a:pPr lvl="1"/>
            <a:r>
              <a:rPr lang="en-US" sz="1900" b="1" dirty="0"/>
              <a:t>First-line test</a:t>
            </a:r>
            <a:r>
              <a:rPr lang="en-US" sz="1900" dirty="0"/>
              <a:t>: IgA anti-tissue transglutaminase (</a:t>
            </a:r>
            <a:r>
              <a:rPr lang="en-US" sz="1900" dirty="0" err="1"/>
              <a:t>tTG</a:t>
            </a:r>
            <a:r>
              <a:rPr lang="en-US" sz="1900" dirty="0"/>
              <a:t>-IgA) — sensitivity ~93%, specificity ~98% </a:t>
            </a:r>
          </a:p>
          <a:p>
            <a:pPr lvl="1"/>
            <a:r>
              <a:rPr lang="en-US" sz="1900" b="1" dirty="0"/>
              <a:t>Simultaneously check total serum IgA</a:t>
            </a:r>
            <a:r>
              <a:rPr lang="en-US" sz="1900" dirty="0"/>
              <a:t> — selective IgA deficiency occurs in 2–3% of celiac patients and causes false-negative IgA-based tests</a:t>
            </a:r>
          </a:p>
          <a:p>
            <a:pPr lvl="1"/>
            <a:r>
              <a:rPr lang="en-US" sz="1900" dirty="0"/>
              <a:t>If IgA-deficient → use </a:t>
            </a:r>
            <a:r>
              <a:rPr lang="en-US" sz="1900" b="1" dirty="0"/>
              <a:t>IgG-based testing</a:t>
            </a:r>
            <a:endParaRPr lang="en-US" sz="1900" dirty="0"/>
          </a:p>
          <a:p>
            <a:pPr lvl="1"/>
            <a:r>
              <a:rPr lang="en-US" sz="1900" b="1" dirty="0"/>
              <a:t>Confirmatory test in adults</a:t>
            </a:r>
            <a:r>
              <a:rPr lang="en-US" sz="1900" dirty="0"/>
              <a:t>: Upper endoscopy with </a:t>
            </a:r>
            <a:r>
              <a:rPr lang="en-US" sz="1900" b="1" dirty="0"/>
              <a:t>≥4 duodenal biopsies</a:t>
            </a:r>
            <a:r>
              <a:rPr lang="en-US" sz="1900" dirty="0"/>
              <a:t> (lesions can be patchy) showing villous atrophy, crypt hyperplasia, and &gt;25 intraepithelial lymphocytes</a:t>
            </a:r>
          </a:p>
          <a:p>
            <a:pPr lvl="1"/>
            <a:r>
              <a:rPr lang="en-US" sz="1900" b="1" dirty="0" err="1"/>
              <a:t>Endomysial</a:t>
            </a:r>
            <a:r>
              <a:rPr lang="en-US" sz="1900" b="1" dirty="0"/>
              <a:t> antibody (EMA-IgA)</a:t>
            </a:r>
            <a:r>
              <a:rPr lang="en-US" sz="1900" dirty="0"/>
              <a:t>: Near 100% specificity; used as a </a:t>
            </a:r>
            <a:r>
              <a:rPr lang="en-US" sz="1900" b="1" dirty="0"/>
              <a:t>confirmatory test </a:t>
            </a:r>
          </a:p>
          <a:p>
            <a:pPr lvl="1"/>
            <a:r>
              <a:rPr lang="en-US" sz="1900" b="1" dirty="0"/>
              <a:t>Avoiding Biopsy in Children:</a:t>
            </a:r>
            <a:r>
              <a:rPr lang="en-US" sz="1900" dirty="0"/>
              <a:t> According to ESPGHAN guidelines, a celiac disease diagnosis can be made without a biopsy if the </a:t>
            </a:r>
            <a:r>
              <a:rPr lang="en-US" sz="1900" dirty="0" err="1"/>
              <a:t>tTG</a:t>
            </a:r>
            <a:r>
              <a:rPr lang="en-US" sz="1900" dirty="0"/>
              <a:t>-IgA level is at least </a:t>
            </a:r>
            <a:r>
              <a:rPr lang="en-US" sz="1900" b="1" dirty="0"/>
              <a:t>10 times the upper </a:t>
            </a:r>
            <a:r>
              <a:rPr lang="en-US" sz="1900" dirty="0"/>
              <a:t>limit of normal and a separate blood test is positive for EMA.</a:t>
            </a:r>
          </a:p>
          <a:p>
            <a:r>
              <a:rPr lang="en-US" sz="1900" dirty="0"/>
              <a:t>Critical point: </a:t>
            </a:r>
            <a:r>
              <a:rPr lang="en-US" sz="1900" b="1" dirty="0"/>
              <a:t>Testing must be performed while the patient is on a gluten-containing diet</a:t>
            </a:r>
            <a:r>
              <a:rPr lang="en-US" sz="1900" dirty="0"/>
              <a:t> — a gluten-free diet causes false negatives. </a:t>
            </a:r>
          </a:p>
          <a:p>
            <a:endParaRPr lang="en-US" sz="1900" dirty="0"/>
          </a:p>
          <a:p>
            <a:endParaRPr lang="en-US" sz="1900" dirty="0"/>
          </a:p>
        </p:txBody>
      </p:sp>
    </p:spTree>
    <p:extLst>
      <p:ext uri="{BB962C8B-B14F-4D97-AF65-F5344CB8AC3E}">
        <p14:creationId xmlns:p14="http://schemas.microsoft.com/office/powerpoint/2010/main" val="234575767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AC69A-E118-A661-DF3A-E89337EA2898}"/>
              </a:ext>
            </a:extLst>
          </p:cNvPr>
          <p:cNvSpPr>
            <a:spLocks noGrp="1"/>
          </p:cNvSpPr>
          <p:nvPr>
            <p:ph type="title"/>
          </p:nvPr>
        </p:nvSpPr>
        <p:spPr/>
        <p:txBody>
          <a:bodyPr/>
          <a:lstStyle/>
          <a:p>
            <a:r>
              <a:rPr lang="en-US" dirty="0"/>
              <a:t>Diagnosis of Celiac Disease</a:t>
            </a:r>
          </a:p>
        </p:txBody>
      </p:sp>
      <p:pic>
        <p:nvPicPr>
          <p:cNvPr id="4" name="Content Placeholder 3">
            <a:extLst>
              <a:ext uri="{FF2B5EF4-FFF2-40B4-BE49-F238E27FC236}">
                <a16:creationId xmlns:a16="http://schemas.microsoft.com/office/drawing/2014/main" id="{ED451DD0-A070-3282-F3A8-4A4F1620AFED}"/>
              </a:ext>
            </a:extLst>
          </p:cNvPr>
          <p:cNvPicPr>
            <a:picLocks noGrp="1" noChangeAspect="1"/>
          </p:cNvPicPr>
          <p:nvPr>
            <p:ph idx="1"/>
          </p:nvPr>
        </p:nvPicPr>
        <p:blipFill>
          <a:blip r:embed="rId3"/>
          <a:stretch>
            <a:fillRect/>
          </a:stretch>
        </p:blipFill>
        <p:spPr>
          <a:xfrm>
            <a:off x="1759131" y="1825625"/>
            <a:ext cx="7654835" cy="4351338"/>
          </a:xfrm>
          <a:prstGeom prst="rect">
            <a:avLst/>
          </a:prstGeom>
        </p:spPr>
      </p:pic>
    </p:spTree>
    <p:extLst>
      <p:ext uri="{BB962C8B-B14F-4D97-AF65-F5344CB8AC3E}">
        <p14:creationId xmlns:p14="http://schemas.microsoft.com/office/powerpoint/2010/main" val="389527729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A5437-AA20-F29E-8DFB-5CB47BD85186}"/>
              </a:ext>
            </a:extLst>
          </p:cNvPr>
          <p:cNvSpPr>
            <a:spLocks noGrp="1"/>
          </p:cNvSpPr>
          <p:nvPr>
            <p:ph type="title"/>
          </p:nvPr>
        </p:nvSpPr>
        <p:spPr/>
        <p:txBody>
          <a:bodyPr/>
          <a:lstStyle/>
          <a:p>
            <a:r>
              <a:rPr lang="en-US" b="1" dirty="0"/>
              <a:t>Associated Conditions and Who to Screen</a:t>
            </a:r>
            <a:endParaRPr lang="en-US" dirty="0"/>
          </a:p>
        </p:txBody>
      </p:sp>
      <p:graphicFrame>
        <p:nvGraphicFramePr>
          <p:cNvPr id="4" name="Content Placeholder 3">
            <a:extLst>
              <a:ext uri="{FF2B5EF4-FFF2-40B4-BE49-F238E27FC236}">
                <a16:creationId xmlns:a16="http://schemas.microsoft.com/office/drawing/2014/main" id="{7DF0D425-1691-8A97-5970-06B182F91380}"/>
              </a:ext>
            </a:extLst>
          </p:cNvPr>
          <p:cNvGraphicFramePr>
            <a:graphicFrameLocks noGrp="1"/>
          </p:cNvGraphicFramePr>
          <p:nvPr>
            <p:ph idx="1"/>
            <p:extLst>
              <p:ext uri="{D42A27DB-BD31-4B8C-83A1-F6EECF244321}">
                <p14:modId xmlns:p14="http://schemas.microsoft.com/office/powerpoint/2010/main" val="3946641987"/>
              </p:ext>
            </p:extLst>
          </p:nvPr>
        </p:nvGraphicFramePr>
        <p:xfrm>
          <a:off x="2203270" y="1760426"/>
          <a:ext cx="4060868" cy="4373071"/>
        </p:xfrm>
        <a:graphic>
          <a:graphicData uri="http://schemas.openxmlformats.org/drawingml/2006/table">
            <a:tbl>
              <a:tblPr/>
              <a:tblGrid>
                <a:gridCol w="2030434">
                  <a:extLst>
                    <a:ext uri="{9D8B030D-6E8A-4147-A177-3AD203B41FA5}">
                      <a16:colId xmlns:a16="http://schemas.microsoft.com/office/drawing/2014/main" val="830584459"/>
                    </a:ext>
                  </a:extLst>
                </a:gridCol>
                <a:gridCol w="2030434">
                  <a:extLst>
                    <a:ext uri="{9D8B030D-6E8A-4147-A177-3AD203B41FA5}">
                      <a16:colId xmlns:a16="http://schemas.microsoft.com/office/drawing/2014/main" val="847448398"/>
                    </a:ext>
                  </a:extLst>
                </a:gridCol>
              </a:tblGrid>
              <a:tr h="503839">
                <a:tc>
                  <a:txBody>
                    <a:bodyPr/>
                    <a:lstStyle/>
                    <a:p>
                      <a:pPr marL="0" marR="0" indent="0" algn="l" fontAlgn="b">
                        <a:buNone/>
                      </a:pPr>
                      <a:r>
                        <a:rPr lang="en-US" sz="1400" b="1" i="0">
                          <a:effectLst/>
                          <a:latin typeface="Schibsted Grotesk"/>
                        </a:rPr>
                        <a:t>High-Risk Group</a:t>
                      </a:r>
                    </a:p>
                  </a:txBody>
                  <a:tcPr marL="68705" marR="68705" marT="45804" marB="45804" anchor="b">
                    <a:lnL w="12700" cap="flat" cmpd="sng" algn="ctr">
                      <a:solidFill>
                        <a:srgbClr val="9081A2"/>
                      </a:solidFill>
                      <a:prstDash val="solid"/>
                      <a:round/>
                      <a:headEnd type="none" w="med" len="med"/>
                      <a:tailEnd type="none" w="med" len="med"/>
                    </a:lnL>
                    <a:lnR w="12700" cap="flat" cmpd="sng" algn="ctr">
                      <a:solidFill>
                        <a:srgbClr val="E0A3A2"/>
                      </a:solidFill>
                      <a:prstDash val="solid"/>
                      <a:round/>
                      <a:headEnd type="none" w="med" len="med"/>
                      <a:tailEnd type="none" w="med" len="med"/>
                    </a:lnR>
                    <a:lnT w="12700" cap="flat" cmpd="sng" algn="ctr">
                      <a:solidFill>
                        <a:srgbClr val="9081A2"/>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tc>
                  <a:txBody>
                    <a:bodyPr/>
                    <a:lstStyle/>
                    <a:p>
                      <a:pPr marL="0" marR="0" indent="0" algn="l" fontAlgn="b">
                        <a:buNone/>
                      </a:pPr>
                      <a:r>
                        <a:rPr lang="en-US" sz="1400" b="1" i="0">
                          <a:effectLst/>
                          <a:latin typeface="Schibsted Grotesk"/>
                        </a:rPr>
                        <a:t>Prevalence of Celiac Disease</a:t>
                      </a:r>
                    </a:p>
                  </a:txBody>
                  <a:tcPr marL="68705" marR="68705" marT="45804" marB="45804" anchor="b">
                    <a:lnL w="12700" cap="flat" cmpd="sng" algn="ctr">
                      <a:solidFill>
                        <a:srgbClr val="E0A3A2"/>
                      </a:solidFill>
                      <a:prstDash val="solid"/>
                      <a:round/>
                      <a:headEnd type="none" w="med" len="med"/>
                      <a:tailEnd type="none" w="med" len="med"/>
                    </a:lnL>
                    <a:lnR w="12700" cap="flat" cmpd="sng" algn="ctr">
                      <a:solidFill>
                        <a:srgbClr val="10BCA2"/>
                      </a:solidFill>
                      <a:prstDash val="solid"/>
                      <a:round/>
                      <a:headEnd type="none" w="med" len="med"/>
                      <a:tailEnd type="none" w="med" len="med"/>
                    </a:lnR>
                    <a:lnT w="12700" cap="flat" cmpd="sng" algn="ctr">
                      <a:solidFill>
                        <a:srgbClr val="E0A3A2"/>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extLst>
                  <a:ext uri="{0D108BD9-81ED-4DB2-BD59-A6C34878D82A}">
                    <a16:rowId xmlns:a16="http://schemas.microsoft.com/office/drawing/2014/main" val="1488851735"/>
                  </a:ext>
                </a:extLst>
              </a:tr>
              <a:tr h="503839">
                <a:tc>
                  <a:txBody>
                    <a:bodyPr/>
                    <a:lstStyle/>
                    <a:p>
                      <a:pPr marL="0" marR="0" indent="0" algn="l" fontAlgn="t">
                        <a:buNone/>
                      </a:pPr>
                      <a:r>
                        <a:rPr lang="en-US" sz="1400" b="0" i="0">
                          <a:effectLst/>
                          <a:latin typeface="Schibsted Grotesk"/>
                        </a:rPr>
                        <a:t>First-degree relatives</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400" b="0" i="0">
                          <a:effectLst/>
                          <a:latin typeface="Schibsted Grotesk"/>
                        </a:rPr>
                        <a:t>~5–10%</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3434162977"/>
                  </a:ext>
                </a:extLst>
              </a:tr>
              <a:tr h="297723">
                <a:tc>
                  <a:txBody>
                    <a:bodyPr/>
                    <a:lstStyle/>
                    <a:p>
                      <a:pPr marL="0" marR="0" indent="0" algn="l" fontAlgn="t">
                        <a:buNone/>
                      </a:pPr>
                      <a:r>
                        <a:rPr lang="en-US" sz="1400" b="0" i="0">
                          <a:effectLst/>
                          <a:latin typeface="Schibsted Grotesk"/>
                        </a:rPr>
                        <a:t>Type 1 diabetes</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400" b="0" i="0">
                          <a:effectLst/>
                          <a:latin typeface="Schibsted Grotesk"/>
                        </a:rPr>
                        <a:t>1.6–16.4%</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3985114006"/>
                  </a:ext>
                </a:extLst>
              </a:tr>
              <a:tr h="916071">
                <a:tc>
                  <a:txBody>
                    <a:bodyPr/>
                    <a:lstStyle/>
                    <a:p>
                      <a:pPr marL="0" marR="0" indent="0" algn="l" fontAlgn="t">
                        <a:buNone/>
                      </a:pPr>
                      <a:r>
                        <a:rPr lang="en-US" sz="1400" b="0" i="0">
                          <a:effectLst/>
                          <a:latin typeface="Schibsted Grotesk"/>
                        </a:rPr>
                        <a:t>Autoimmune thyroid disease (Hashimoto's, Graves')</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400" b="0" i="0">
                          <a:effectLst/>
                          <a:latin typeface="Schibsted Grotesk"/>
                        </a:rPr>
                        <a:t>Increased</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3238033479"/>
                  </a:ext>
                </a:extLst>
              </a:tr>
              <a:tr h="916071">
                <a:tc>
                  <a:txBody>
                    <a:bodyPr/>
                    <a:lstStyle/>
                    <a:p>
                      <a:pPr marL="0" marR="0" indent="0" algn="l" fontAlgn="t">
                        <a:buNone/>
                      </a:pPr>
                      <a:r>
                        <a:rPr lang="en-US" sz="1400" b="0" i="0">
                          <a:effectLst/>
                          <a:latin typeface="Schibsted Grotesk"/>
                        </a:rPr>
                        <a:t>Down syndrome, Turner syndrome, Williams syndrome</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400" b="0" i="0">
                          <a:effectLst/>
                          <a:latin typeface="Schibsted Grotesk"/>
                        </a:rPr>
                        <a:t>Increased</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2336385996"/>
                  </a:ext>
                </a:extLst>
              </a:tr>
              <a:tr h="503839">
                <a:tc>
                  <a:txBody>
                    <a:bodyPr/>
                    <a:lstStyle/>
                    <a:p>
                      <a:pPr marL="0" marR="0" indent="0" algn="l" fontAlgn="t">
                        <a:buNone/>
                      </a:pPr>
                      <a:r>
                        <a:rPr lang="en-US" sz="1400" b="0" i="0">
                          <a:effectLst/>
                          <a:latin typeface="Schibsted Grotesk"/>
                        </a:rPr>
                        <a:t>Selective IgA deficiency</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400" b="0" i="0">
                          <a:effectLst/>
                          <a:latin typeface="Schibsted Grotesk"/>
                        </a:rPr>
                        <a:t>Increased</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361834872"/>
                  </a:ext>
                </a:extLst>
              </a:tr>
              <a:tr h="709955">
                <a:tc>
                  <a:txBody>
                    <a:bodyPr/>
                    <a:lstStyle/>
                    <a:p>
                      <a:pPr marL="0" marR="0" indent="0" algn="l" fontAlgn="t">
                        <a:buNone/>
                      </a:pPr>
                      <a:r>
                        <a:rPr lang="en-US" sz="1400" b="0" i="0">
                          <a:effectLst/>
                          <a:latin typeface="Schibsted Grotesk"/>
                        </a:rPr>
                        <a:t>Dermatitis herpetiformis</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400" b="0" i="0" dirty="0">
                          <a:effectLst/>
                          <a:latin typeface="Schibsted Grotesk"/>
                        </a:rPr>
                        <a:t>~100% (DH is celiac disease of the skin)</a:t>
                      </a:r>
                    </a:p>
                  </a:txBody>
                  <a:tcPr marL="68705" marR="68705" marT="45804" marB="45804">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2402921739"/>
                  </a:ext>
                </a:extLst>
              </a:tr>
            </a:tbl>
          </a:graphicData>
        </a:graphic>
      </p:graphicFrame>
    </p:spTree>
    <p:extLst>
      <p:ext uri="{BB962C8B-B14F-4D97-AF65-F5344CB8AC3E}">
        <p14:creationId xmlns:p14="http://schemas.microsoft.com/office/powerpoint/2010/main" val="373309801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19BBAF-288E-3500-F849-91357FAB04B7}"/>
              </a:ext>
            </a:extLst>
          </p:cNvPr>
          <p:cNvSpPr>
            <a:spLocks noGrp="1"/>
          </p:cNvSpPr>
          <p:nvPr>
            <p:ph type="title"/>
          </p:nvPr>
        </p:nvSpPr>
        <p:spPr>
          <a:xfrm>
            <a:off x="572493" y="238539"/>
            <a:ext cx="11018520" cy="1434415"/>
          </a:xfrm>
        </p:spPr>
        <p:txBody>
          <a:bodyPr anchor="b">
            <a:normAutofit/>
          </a:bodyPr>
          <a:lstStyle/>
          <a:p>
            <a:r>
              <a:rPr lang="en-US" sz="5400"/>
              <a:t>Management</a:t>
            </a:r>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45FE003-C086-2DE0-3C83-0C0925C39329}"/>
              </a:ext>
            </a:extLst>
          </p:cNvPr>
          <p:cNvSpPr>
            <a:spLocks noGrp="1"/>
          </p:cNvSpPr>
          <p:nvPr>
            <p:ph idx="1"/>
          </p:nvPr>
        </p:nvSpPr>
        <p:spPr>
          <a:xfrm>
            <a:off x="572493" y="2071316"/>
            <a:ext cx="6713552" cy="4119172"/>
          </a:xfrm>
        </p:spPr>
        <p:txBody>
          <a:bodyPr anchor="t">
            <a:normAutofit/>
          </a:bodyPr>
          <a:lstStyle/>
          <a:p>
            <a:r>
              <a:rPr lang="en-US" sz="2200" b="1"/>
              <a:t>Strict lifelong gluten-free diet (GFD)</a:t>
            </a:r>
            <a:r>
              <a:rPr lang="en-US" sz="2200"/>
              <a:t> is the only effective treatment — avoid wheat, barley, and rye</a:t>
            </a:r>
          </a:p>
          <a:p>
            <a:r>
              <a:rPr lang="en-US" sz="2200" b="1"/>
              <a:t>Dietitian referral is recommended</a:t>
            </a:r>
            <a:r>
              <a:rPr lang="en-US" sz="2200"/>
              <a:t> at diagnosis. </a:t>
            </a:r>
          </a:p>
          <a:p>
            <a:r>
              <a:rPr lang="en-US" sz="2200"/>
              <a:t>Symptoms typically improve within days to weeks; diarrhea resolves in ~80% within 60 days. Mucosal healing takes months to years. </a:t>
            </a:r>
          </a:p>
          <a:p>
            <a:r>
              <a:rPr lang="en-US" sz="2200" b="1"/>
              <a:t>tTG-IgA should decline</a:t>
            </a:r>
            <a:r>
              <a:rPr lang="en-US" sz="2200"/>
              <a:t> on GFD and is used to monitor adherence; full normalization may take &gt;2 years. </a:t>
            </a:r>
          </a:p>
          <a:p>
            <a:endParaRPr lang="en-US" sz="2200"/>
          </a:p>
        </p:txBody>
      </p:sp>
      <p:pic>
        <p:nvPicPr>
          <p:cNvPr id="4" name="Picture 3" descr="Q&amp;A: Is gluten-free the way to be? A dive into the science">
            <a:extLst>
              <a:ext uri="{FF2B5EF4-FFF2-40B4-BE49-F238E27FC236}">
                <a16:creationId xmlns:a16="http://schemas.microsoft.com/office/drawing/2014/main" id="{27D77B90-91A9-BC1D-2462-925F2BE1E4BF}"/>
              </a:ext>
            </a:extLst>
          </p:cNvPr>
          <p:cNvPicPr>
            <a:picLocks noChangeAspect="1"/>
          </p:cNvPicPr>
          <p:nvPr/>
        </p:nvPicPr>
        <p:blipFill>
          <a:blip r:embed="rId3"/>
          <a:srcRect l="1919" r="187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27925823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23514C-075F-7D58-1789-11BD308BC179}"/>
              </a:ext>
            </a:extLst>
          </p:cNvPr>
          <p:cNvSpPr>
            <a:spLocks noGrp="1"/>
          </p:cNvSpPr>
          <p:nvPr>
            <p:ph type="title"/>
          </p:nvPr>
        </p:nvSpPr>
        <p:spPr>
          <a:xfrm>
            <a:off x="572493" y="238539"/>
            <a:ext cx="11018520" cy="1434415"/>
          </a:xfrm>
        </p:spPr>
        <p:txBody>
          <a:bodyPr anchor="b">
            <a:normAutofit/>
          </a:bodyPr>
          <a:lstStyle/>
          <a:p>
            <a:r>
              <a:rPr lang="en-US" sz="5400" b="1"/>
              <a:t>Baseline and follow-up workup</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E3C63F8-37CC-95ED-08C5-C707B03DE09E}"/>
              </a:ext>
            </a:extLst>
          </p:cNvPr>
          <p:cNvSpPr>
            <a:spLocks noGrp="1"/>
          </p:cNvSpPr>
          <p:nvPr>
            <p:ph idx="1"/>
          </p:nvPr>
        </p:nvSpPr>
        <p:spPr>
          <a:xfrm>
            <a:off x="572493" y="2071316"/>
            <a:ext cx="6713552" cy="4119172"/>
          </a:xfrm>
        </p:spPr>
        <p:txBody>
          <a:bodyPr anchor="t">
            <a:normAutofit/>
          </a:bodyPr>
          <a:lstStyle/>
          <a:p>
            <a:r>
              <a:rPr lang="en-US" sz="2200" b="1" dirty="0"/>
              <a:t>CBC, iron/ferritin, folate, vitamins B12, D, A, E, zinc, copper</a:t>
            </a:r>
          </a:p>
          <a:p>
            <a:r>
              <a:rPr lang="en-US" sz="2200" b="1" dirty="0"/>
              <a:t>Liver enzymes </a:t>
            </a:r>
            <a:r>
              <a:rPr lang="en-US" sz="2200" dirty="0"/>
              <a:t>(AST/ALT)</a:t>
            </a:r>
          </a:p>
          <a:p>
            <a:r>
              <a:rPr lang="en-US" sz="2200" b="1" dirty="0"/>
              <a:t>TSH</a:t>
            </a:r>
            <a:r>
              <a:rPr lang="en-US" sz="2200" dirty="0"/>
              <a:t> (screen for autoimmune thyroid disease)</a:t>
            </a:r>
          </a:p>
          <a:p>
            <a:r>
              <a:rPr lang="en-US" sz="2200" b="1" dirty="0"/>
              <a:t>DEXA scan</a:t>
            </a:r>
            <a:r>
              <a:rPr lang="en-US" sz="2200" dirty="0"/>
              <a:t> for bone density assessment in adults</a:t>
            </a:r>
          </a:p>
          <a:p>
            <a:r>
              <a:rPr lang="en-US" sz="2200" b="1" dirty="0"/>
              <a:t>Pneumococcal vaccination</a:t>
            </a:r>
            <a:r>
              <a:rPr lang="en-US" sz="2200" dirty="0"/>
              <a:t> (risk of </a:t>
            </a:r>
            <a:r>
              <a:rPr lang="en-US" sz="2200" dirty="0" err="1"/>
              <a:t>hyposplenism</a:t>
            </a:r>
            <a:r>
              <a:rPr lang="en-US" sz="2200" dirty="0"/>
              <a:t>) </a:t>
            </a:r>
          </a:p>
          <a:p>
            <a:r>
              <a:rPr lang="en-US" sz="2200" dirty="0"/>
              <a:t>Screen </a:t>
            </a:r>
            <a:r>
              <a:rPr lang="en-US" sz="2200" b="1" dirty="0"/>
              <a:t>first-degree</a:t>
            </a:r>
            <a:r>
              <a:rPr lang="en-US" sz="2200" dirty="0"/>
              <a:t> relatives</a:t>
            </a:r>
          </a:p>
          <a:p>
            <a:endParaRPr lang="en-US" sz="2200" dirty="0"/>
          </a:p>
        </p:txBody>
      </p:sp>
      <p:pic>
        <p:nvPicPr>
          <p:cNvPr id="4" name="Picture 3" descr="Q&amp;A: Is gluten-free the way to be? A dive into the science">
            <a:extLst>
              <a:ext uri="{FF2B5EF4-FFF2-40B4-BE49-F238E27FC236}">
                <a16:creationId xmlns:a16="http://schemas.microsoft.com/office/drawing/2014/main" id="{BF9CA634-2675-FE87-9A5B-66CE4720D88D}"/>
              </a:ext>
            </a:extLst>
          </p:cNvPr>
          <p:cNvPicPr>
            <a:picLocks noChangeAspect="1"/>
          </p:cNvPicPr>
          <p:nvPr/>
        </p:nvPicPr>
        <p:blipFill>
          <a:blip r:embed="rId2"/>
          <a:srcRect l="1919" r="187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98790719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1C6146-FC10-77AB-9655-DED5203F987C}"/>
              </a:ext>
            </a:extLst>
          </p:cNvPr>
          <p:cNvSpPr>
            <a:spLocks noGrp="1"/>
          </p:cNvSpPr>
          <p:nvPr>
            <p:ph type="title"/>
          </p:nvPr>
        </p:nvSpPr>
        <p:spPr>
          <a:xfrm>
            <a:off x="572493" y="238539"/>
            <a:ext cx="11018520" cy="1434415"/>
          </a:xfrm>
        </p:spPr>
        <p:txBody>
          <a:bodyPr anchor="b">
            <a:normAutofit/>
          </a:bodyPr>
          <a:lstStyle/>
          <a:p>
            <a:r>
              <a:rPr lang="en-US" sz="5400" b="1"/>
              <a:t>Complications</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FF0340B-0EBE-A088-E399-EB86BF6B651C}"/>
              </a:ext>
            </a:extLst>
          </p:cNvPr>
          <p:cNvSpPr>
            <a:spLocks noGrp="1"/>
          </p:cNvSpPr>
          <p:nvPr>
            <p:ph idx="1"/>
          </p:nvPr>
        </p:nvSpPr>
        <p:spPr>
          <a:xfrm>
            <a:off x="572493" y="2071316"/>
            <a:ext cx="6713552" cy="4119172"/>
          </a:xfrm>
        </p:spPr>
        <p:txBody>
          <a:bodyPr anchor="t">
            <a:normAutofit/>
          </a:bodyPr>
          <a:lstStyle/>
          <a:p>
            <a:r>
              <a:rPr lang="en-US" sz="2000" b="1" dirty="0"/>
              <a:t>Refractory celiac disease</a:t>
            </a:r>
            <a:r>
              <a:rPr lang="en-US" sz="2000" dirty="0"/>
              <a:t>: Persistent symptoms/villous atrophy despite strict GFD for ≥6–12 months. </a:t>
            </a:r>
          </a:p>
          <a:p>
            <a:pPr lvl="1"/>
            <a:r>
              <a:rPr lang="en-US" sz="2000" dirty="0"/>
              <a:t>Type I has no malignant potential; </a:t>
            </a:r>
          </a:p>
          <a:p>
            <a:pPr lvl="1"/>
            <a:r>
              <a:rPr lang="en-US" sz="2000" b="1" dirty="0"/>
              <a:t>Type II</a:t>
            </a:r>
            <a:r>
              <a:rPr lang="en-US" sz="2000" dirty="0"/>
              <a:t> can progress to </a:t>
            </a:r>
            <a:r>
              <a:rPr lang="en-US" sz="2000" b="1" dirty="0"/>
              <a:t>enteropathy-associated T-cell lymphoma (EATL)</a:t>
            </a:r>
            <a:r>
              <a:rPr lang="en-US" sz="2000" dirty="0"/>
              <a:t> </a:t>
            </a:r>
          </a:p>
          <a:p>
            <a:r>
              <a:rPr lang="en-US" sz="2000" b="1" dirty="0"/>
              <a:t>Non-Hodgkin lymphoma</a:t>
            </a:r>
            <a:r>
              <a:rPr lang="en-US" sz="2000" dirty="0"/>
              <a:t> risk is significantly elevated particularly in the first years after diagnosis and in those with poor dietary adherence </a:t>
            </a:r>
          </a:p>
          <a:p>
            <a:r>
              <a:rPr lang="en-US" sz="2000" b="1" dirty="0"/>
              <a:t>Small bowel adenocarcinoma</a:t>
            </a:r>
            <a:r>
              <a:rPr lang="en-US" sz="2000" dirty="0"/>
              <a:t>: Risk increased ~3× </a:t>
            </a:r>
          </a:p>
          <a:p>
            <a:r>
              <a:rPr lang="en-US" sz="2000" dirty="0"/>
              <a:t>GFD adherence appears to </a:t>
            </a:r>
            <a:r>
              <a:rPr lang="en-US" sz="2000" b="1" dirty="0"/>
              <a:t>reduce lymphoma risk</a:t>
            </a:r>
            <a:r>
              <a:rPr lang="en-US" sz="2000" dirty="0"/>
              <a:t> over time</a:t>
            </a:r>
          </a:p>
          <a:p>
            <a:endParaRPr lang="en-US" sz="2000" dirty="0"/>
          </a:p>
        </p:txBody>
      </p:sp>
      <p:pic>
        <p:nvPicPr>
          <p:cNvPr id="4" name="Picture 3" descr="Q&amp;A: Is gluten-free the way to be? A dive into the science">
            <a:extLst>
              <a:ext uri="{FF2B5EF4-FFF2-40B4-BE49-F238E27FC236}">
                <a16:creationId xmlns:a16="http://schemas.microsoft.com/office/drawing/2014/main" id="{1547C828-81FC-2822-315B-A3219BAF5154}"/>
              </a:ext>
            </a:extLst>
          </p:cNvPr>
          <p:cNvPicPr>
            <a:picLocks noChangeAspect="1"/>
          </p:cNvPicPr>
          <p:nvPr/>
        </p:nvPicPr>
        <p:blipFill>
          <a:blip r:embed="rId2"/>
          <a:srcRect l="1919" r="1873"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0686312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FCA5F4-5C0A-E9CF-9732-8DB93D8DB0A4}"/>
              </a:ext>
            </a:extLst>
          </p:cNvPr>
          <p:cNvSpPr>
            <a:spLocks noGrp="1"/>
          </p:cNvSpPr>
          <p:nvPr>
            <p:ph type="title"/>
          </p:nvPr>
        </p:nvSpPr>
        <p:spPr>
          <a:xfrm>
            <a:off x="572493" y="238539"/>
            <a:ext cx="11018520" cy="1434415"/>
          </a:xfrm>
        </p:spPr>
        <p:txBody>
          <a:bodyPr anchor="b">
            <a:normAutofit/>
          </a:bodyPr>
          <a:lstStyle/>
          <a:p>
            <a:r>
              <a:rPr lang="en-US" sz="5400" b="1" i="1" dirty="0"/>
              <a:t>***Pearls***</a:t>
            </a:r>
            <a:endParaRPr lang="en-US" sz="5400" i="1" dirty="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75002F8-64CE-37FE-FBCC-8BB39B2209C7}"/>
              </a:ext>
            </a:extLst>
          </p:cNvPr>
          <p:cNvSpPr>
            <a:spLocks noGrp="1"/>
          </p:cNvSpPr>
          <p:nvPr>
            <p:ph idx="1"/>
          </p:nvPr>
        </p:nvSpPr>
        <p:spPr>
          <a:xfrm>
            <a:off x="572493" y="2071316"/>
            <a:ext cx="6713552" cy="4119172"/>
          </a:xfrm>
        </p:spPr>
        <p:txBody>
          <a:bodyPr anchor="t">
            <a:normAutofit/>
          </a:bodyPr>
          <a:lstStyle/>
          <a:p>
            <a:r>
              <a:rPr lang="en-US" sz="2000"/>
              <a:t>Celiac disease = HLA-DQ2/DQ8 + gluten + tTG deamidation → villous atrophy (see the step by step slide)</a:t>
            </a:r>
          </a:p>
          <a:p>
            <a:r>
              <a:rPr lang="en-US" sz="2000"/>
              <a:t>Best initial test: </a:t>
            </a:r>
            <a:r>
              <a:rPr lang="en-US" sz="2000" b="1"/>
              <a:t>tTG-IgA</a:t>
            </a:r>
            <a:r>
              <a:rPr lang="en-US" sz="2000"/>
              <a:t> (always check total IgA)</a:t>
            </a:r>
          </a:p>
          <a:p>
            <a:r>
              <a:rPr lang="en-US" sz="2000"/>
              <a:t>Best confirmatory test in adults: </a:t>
            </a:r>
            <a:r>
              <a:rPr lang="en-US" sz="2000" b="1"/>
              <a:t>Duodenal Biopsy</a:t>
            </a:r>
            <a:endParaRPr lang="en-US" sz="2000"/>
          </a:p>
          <a:p>
            <a:r>
              <a:rPr lang="en-US" sz="2000"/>
              <a:t>Dermatitis herpetiformis = granular IgA on skin biopsy = celiac disease</a:t>
            </a:r>
          </a:p>
          <a:p>
            <a:r>
              <a:rPr lang="en-US" sz="2000"/>
              <a:t>Associated with type 1 diabetes, autoimmune thyroid disease, </a:t>
            </a:r>
            <a:r>
              <a:rPr lang="en-US" sz="2000">
                <a:hlinkClick r:id="rId2"/>
              </a:rPr>
              <a:t>Down syndrome</a:t>
            </a:r>
            <a:endParaRPr lang="en-US" sz="2000"/>
          </a:p>
          <a:p>
            <a:r>
              <a:rPr lang="en-US" sz="2000"/>
              <a:t>Complication to fear: refractory celiac disease type II → EATL (</a:t>
            </a:r>
            <a:r>
              <a:rPr lang="en-US" sz="2000" b="1"/>
              <a:t>enteropathy-associated T-cell lymphoma )</a:t>
            </a:r>
            <a:endParaRPr lang="en-US" sz="2000"/>
          </a:p>
          <a:p>
            <a:endParaRPr lang="en-US" sz="2000"/>
          </a:p>
        </p:txBody>
      </p:sp>
      <p:pic>
        <p:nvPicPr>
          <p:cNvPr id="5" name="Picture 4" descr="Natural Pearls vs. Cultured Pearls: The Difference Explained | Jewelers Mutual">
            <a:extLst>
              <a:ext uri="{FF2B5EF4-FFF2-40B4-BE49-F238E27FC236}">
                <a16:creationId xmlns:a16="http://schemas.microsoft.com/office/drawing/2014/main" id="{4C9B794C-5C52-00B3-F185-C3EF06684D8A}"/>
              </a:ext>
            </a:extLst>
          </p:cNvPr>
          <p:cNvPicPr>
            <a:picLocks noChangeAspect="1"/>
          </p:cNvPicPr>
          <p:nvPr/>
        </p:nvPicPr>
        <p:blipFill>
          <a:blip r:embed="rId3"/>
          <a:srcRect l="29648" r="6136"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27875733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66E4AF-EC2C-FAD8-018D-71A5969FBA33}"/>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3600" b="1" i="1" kern="1200" dirty="0">
                <a:solidFill>
                  <a:srgbClr val="FF0000"/>
                </a:solidFill>
                <a:latin typeface="+mj-lt"/>
                <a:ea typeface="+mj-ea"/>
                <a:cs typeface="+mj-cs"/>
              </a:rPr>
              <a:t>Intussusception</a:t>
            </a:r>
            <a:br>
              <a:rPr lang="en-US" sz="3600" b="1" kern="1200" dirty="0">
                <a:solidFill>
                  <a:schemeClr val="tx1"/>
                </a:solidFill>
                <a:latin typeface="+mj-lt"/>
                <a:ea typeface="+mj-ea"/>
                <a:cs typeface="+mj-cs"/>
              </a:rPr>
            </a:br>
            <a:endParaRPr lang="en-US" sz="3600"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0527B060-EB86-839E-F985-7AFBC16DDB6D}"/>
              </a:ext>
            </a:extLst>
          </p:cNvPr>
          <p:cNvSpPr>
            <a:spLocks noGrp="1"/>
          </p:cNvSpPr>
          <p:nvPr>
            <p:ph type="body" idx="1"/>
          </p:nvPr>
        </p:nvSpPr>
        <p:spPr>
          <a:xfrm>
            <a:off x="638882" y="4631161"/>
            <a:ext cx="3571810" cy="1559327"/>
          </a:xfrm>
        </p:spPr>
        <p:txBody>
          <a:bodyPr vert="horz" lIns="91440" tIns="45720" rIns="91440" bIns="45720" rtlCol="0">
            <a:normAutofit/>
          </a:bodyPr>
          <a:lstStyle/>
          <a:p>
            <a:r>
              <a:rPr lang="en-US" sz="1300" b="1" i="1" u="sng" kern="1200" dirty="0">
                <a:solidFill>
                  <a:schemeClr val="tx1"/>
                </a:solidFill>
                <a:latin typeface="+mn-lt"/>
                <a:ea typeface="+mn-ea"/>
                <a:cs typeface="+mn-cs"/>
              </a:rPr>
              <a:t>Medical Terminology</a:t>
            </a:r>
          </a:p>
          <a:p>
            <a:pPr lvl="0"/>
            <a:r>
              <a:rPr lang="en-US" sz="1300" b="1" kern="1200" dirty="0" err="1">
                <a:solidFill>
                  <a:schemeClr val="tx1"/>
                </a:solidFill>
                <a:latin typeface="+mn-lt"/>
                <a:ea typeface="+mn-ea"/>
                <a:cs typeface="+mn-cs"/>
              </a:rPr>
              <a:t>Intus</a:t>
            </a:r>
            <a:r>
              <a:rPr lang="en-US" sz="1300" b="1" kern="1200" dirty="0">
                <a:solidFill>
                  <a:schemeClr val="tx1"/>
                </a:solidFill>
                <a:latin typeface="+mn-lt"/>
                <a:ea typeface="+mn-ea"/>
                <a:cs typeface="+mn-cs"/>
              </a:rPr>
              <a:t>-</a:t>
            </a:r>
            <a:r>
              <a:rPr lang="en-US" sz="1300" kern="1200" dirty="0">
                <a:solidFill>
                  <a:schemeClr val="tx1"/>
                </a:solidFill>
                <a:latin typeface="+mn-lt"/>
                <a:ea typeface="+mn-ea"/>
                <a:cs typeface="+mn-cs"/>
              </a:rPr>
              <a:t>: Prefix meaning "within" or "inward". </a:t>
            </a:r>
          </a:p>
          <a:p>
            <a:pPr lvl="0"/>
            <a:r>
              <a:rPr lang="en-US" sz="1300" b="1" kern="1200" dirty="0" err="1">
                <a:solidFill>
                  <a:schemeClr val="tx1"/>
                </a:solidFill>
                <a:latin typeface="+mn-lt"/>
                <a:ea typeface="+mn-ea"/>
                <a:cs typeface="+mn-cs"/>
              </a:rPr>
              <a:t>Susceptio</a:t>
            </a:r>
            <a:r>
              <a:rPr lang="en-US" sz="1300" b="1" kern="1200" dirty="0">
                <a:solidFill>
                  <a:schemeClr val="tx1"/>
                </a:solidFill>
                <a:latin typeface="+mn-lt"/>
                <a:ea typeface="+mn-ea"/>
                <a:cs typeface="+mn-cs"/>
              </a:rPr>
              <a:t> / </a:t>
            </a:r>
            <a:r>
              <a:rPr lang="en-US" sz="1300" b="1" kern="1200" dirty="0" err="1">
                <a:solidFill>
                  <a:schemeClr val="tx1"/>
                </a:solidFill>
                <a:latin typeface="+mn-lt"/>
                <a:ea typeface="+mn-ea"/>
                <a:cs typeface="+mn-cs"/>
              </a:rPr>
              <a:t>Suscipere</a:t>
            </a:r>
            <a:r>
              <a:rPr lang="en-US" sz="1300" kern="1200" dirty="0">
                <a:solidFill>
                  <a:schemeClr val="tx1"/>
                </a:solidFill>
                <a:latin typeface="+mn-lt"/>
                <a:ea typeface="+mn-ea"/>
                <a:cs typeface="+mn-cs"/>
              </a:rPr>
              <a:t>: Root/suffix meaning "to take up," "catch," or "receive" (from </a:t>
            </a:r>
            <a:r>
              <a:rPr lang="en-US" sz="1300" i="1" kern="1200" dirty="0">
                <a:solidFill>
                  <a:schemeClr val="tx1"/>
                </a:solidFill>
                <a:latin typeface="+mn-lt"/>
                <a:ea typeface="+mn-ea"/>
                <a:cs typeface="+mn-cs"/>
              </a:rPr>
              <a:t>sub-</a:t>
            </a:r>
            <a:r>
              <a:rPr lang="en-US" sz="1300" kern="1200" dirty="0">
                <a:solidFill>
                  <a:schemeClr val="tx1"/>
                </a:solidFill>
                <a:latin typeface="+mn-lt"/>
                <a:ea typeface="+mn-ea"/>
                <a:cs typeface="+mn-cs"/>
              </a:rPr>
              <a:t> meaning "from under" + </a:t>
            </a:r>
            <a:r>
              <a:rPr lang="en-US" sz="1300" i="1" kern="1200" dirty="0" err="1">
                <a:solidFill>
                  <a:schemeClr val="tx1"/>
                </a:solidFill>
                <a:latin typeface="+mn-lt"/>
                <a:ea typeface="+mn-ea"/>
                <a:cs typeface="+mn-cs"/>
              </a:rPr>
              <a:t>capere</a:t>
            </a:r>
            <a:r>
              <a:rPr lang="en-US" sz="1300" kern="1200" dirty="0">
                <a:solidFill>
                  <a:schemeClr val="tx1"/>
                </a:solidFill>
                <a:latin typeface="+mn-lt"/>
                <a:ea typeface="+mn-ea"/>
                <a:cs typeface="+mn-cs"/>
              </a:rPr>
              <a:t> meaning "to take")</a:t>
            </a:r>
          </a:p>
          <a:p>
            <a:endParaRPr lang="en-US" sz="1300" kern="1200" dirty="0">
              <a:solidFill>
                <a:schemeClr val="tx1"/>
              </a:solidFill>
              <a:latin typeface="+mn-lt"/>
              <a:ea typeface="+mn-ea"/>
              <a:cs typeface="+mn-cs"/>
            </a:endParaRPr>
          </a:p>
        </p:txBody>
      </p:sp>
      <p:sp>
        <p:nvSpPr>
          <p:cNvPr id="16"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Intussusception – Zero To Finals">
            <a:extLst>
              <a:ext uri="{FF2B5EF4-FFF2-40B4-BE49-F238E27FC236}">
                <a16:creationId xmlns:a16="http://schemas.microsoft.com/office/drawing/2014/main" id="{9A610CFE-3705-ABAF-69DE-81A4171D033F}"/>
              </a:ext>
            </a:extLst>
          </p:cNvPr>
          <p:cNvPicPr>
            <a:picLocks noChangeAspect="1"/>
          </p:cNvPicPr>
          <p:nvPr/>
        </p:nvPicPr>
        <p:blipFill>
          <a:blip r:embed="rId2"/>
          <a:stretch>
            <a:fillRect/>
          </a:stretch>
        </p:blipFill>
        <p:spPr>
          <a:xfrm>
            <a:off x="4654296" y="1386173"/>
            <a:ext cx="7214616" cy="4058221"/>
          </a:xfrm>
          <a:prstGeom prst="rect">
            <a:avLst/>
          </a:prstGeom>
        </p:spPr>
      </p:pic>
    </p:spTree>
    <p:extLst>
      <p:ext uri="{BB962C8B-B14F-4D97-AF65-F5344CB8AC3E}">
        <p14:creationId xmlns:p14="http://schemas.microsoft.com/office/powerpoint/2010/main" val="124698925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7E8EF5-440C-3646-EED2-58AFF87212B4}"/>
              </a:ext>
            </a:extLst>
          </p:cNvPr>
          <p:cNvSpPr>
            <a:spLocks noGrp="1"/>
          </p:cNvSpPr>
          <p:nvPr>
            <p:ph type="title"/>
          </p:nvPr>
        </p:nvSpPr>
        <p:spPr>
          <a:xfrm>
            <a:off x="640080" y="329184"/>
            <a:ext cx="6894576" cy="1783080"/>
          </a:xfrm>
        </p:spPr>
        <p:txBody>
          <a:bodyPr anchor="b">
            <a:normAutofit/>
          </a:bodyPr>
          <a:lstStyle/>
          <a:p>
            <a:r>
              <a:rPr lang="en-US" sz="5400"/>
              <a:t> Intussusception</a:t>
            </a:r>
          </a:p>
        </p:txBody>
      </p:sp>
      <p:sp>
        <p:nvSpPr>
          <p:cNvPr id="20"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118C81E-A84D-2A04-5991-E0278BB31C3F}"/>
              </a:ext>
            </a:extLst>
          </p:cNvPr>
          <p:cNvSpPr>
            <a:spLocks noGrp="1"/>
          </p:cNvSpPr>
          <p:nvPr>
            <p:ph idx="1"/>
          </p:nvPr>
        </p:nvSpPr>
        <p:spPr>
          <a:xfrm>
            <a:off x="640080" y="2706624"/>
            <a:ext cx="6894576" cy="3483864"/>
          </a:xfrm>
        </p:spPr>
        <p:txBody>
          <a:bodyPr>
            <a:normAutofit/>
          </a:bodyPr>
          <a:lstStyle/>
          <a:p>
            <a:r>
              <a:rPr lang="en-US" sz="2200" b="1"/>
              <a:t>telescoping of one segment of bowel (intussusceptum) into the lumen of an adjacent segment (intussuscipiens)</a:t>
            </a:r>
            <a:endParaRPr lang="en-US" sz="2200"/>
          </a:p>
          <a:p>
            <a:r>
              <a:rPr lang="en-US" sz="2200"/>
              <a:t>it is one of the </a:t>
            </a:r>
            <a:r>
              <a:rPr lang="en-US" sz="2200" b="1"/>
              <a:t>most common causes of intestinal obstruction in infants and young children. </a:t>
            </a:r>
            <a:br>
              <a:rPr lang="en-US" sz="2200" b="1"/>
            </a:br>
            <a:endParaRPr lang="en-US" sz="2200" b="1"/>
          </a:p>
        </p:txBody>
      </p:sp>
      <p:pic>
        <p:nvPicPr>
          <p:cNvPr id="5" name="Picture 4" descr="INTUSSUSCEPTION surgery in noida positive change in 30 % of new patients">
            <a:extLst>
              <a:ext uri="{FF2B5EF4-FFF2-40B4-BE49-F238E27FC236}">
                <a16:creationId xmlns:a16="http://schemas.microsoft.com/office/drawing/2014/main" id="{50F97871-B52A-CD3C-6DE7-99907C6A23D8}"/>
              </a:ext>
            </a:extLst>
          </p:cNvPr>
          <p:cNvPicPr>
            <a:picLocks noChangeAspect="1"/>
          </p:cNvPicPr>
          <p:nvPr/>
        </p:nvPicPr>
        <p:blipFill>
          <a:blip r:embed="rId3"/>
          <a:stretch>
            <a:fillRect/>
          </a:stretch>
        </p:blipFill>
        <p:spPr>
          <a:xfrm>
            <a:off x="8402460" y="329183"/>
            <a:ext cx="2936976" cy="3429969"/>
          </a:xfrm>
          <a:prstGeom prst="rect">
            <a:avLst/>
          </a:prstGeom>
        </p:spPr>
      </p:pic>
      <p:pic>
        <p:nvPicPr>
          <p:cNvPr id="4" name="Picture 3" descr="Intussusception of the intestines, illustration - Stock ...">
            <a:extLst>
              <a:ext uri="{FF2B5EF4-FFF2-40B4-BE49-F238E27FC236}">
                <a16:creationId xmlns:a16="http://schemas.microsoft.com/office/drawing/2014/main" id="{796A69C3-B5FF-6E05-C144-C844443010A9}"/>
              </a:ext>
            </a:extLst>
          </p:cNvPr>
          <p:cNvPicPr>
            <a:picLocks noChangeAspect="1"/>
          </p:cNvPicPr>
          <p:nvPr/>
        </p:nvPicPr>
        <p:blipFill>
          <a:blip r:embed="rId4"/>
          <a:srcRect l="825" r="32585"/>
          <a:stretch>
            <a:fillRect/>
          </a:stretch>
        </p:blipFill>
        <p:spPr>
          <a:xfrm>
            <a:off x="7890948" y="3886200"/>
            <a:ext cx="2936975" cy="2369265"/>
          </a:xfrm>
          <a:prstGeom prst="rect">
            <a:avLst/>
          </a:prstGeom>
        </p:spPr>
      </p:pic>
    </p:spTree>
    <p:extLst>
      <p:ext uri="{BB962C8B-B14F-4D97-AF65-F5344CB8AC3E}">
        <p14:creationId xmlns:p14="http://schemas.microsoft.com/office/powerpoint/2010/main" val="384400086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BD5C5-2AA5-1B10-4A95-E46CDFD7C8D3}"/>
              </a:ext>
            </a:extLst>
          </p:cNvPr>
          <p:cNvSpPr>
            <a:spLocks noGrp="1"/>
          </p:cNvSpPr>
          <p:nvPr>
            <p:ph type="title"/>
          </p:nvPr>
        </p:nvSpPr>
        <p:spPr/>
        <p:txBody>
          <a:bodyPr/>
          <a:lstStyle/>
          <a:p>
            <a:r>
              <a:rPr lang="en-US" dirty="0"/>
              <a:t>Abdominal Imaging of the Intussusception</a:t>
            </a:r>
          </a:p>
        </p:txBody>
      </p:sp>
      <p:pic>
        <p:nvPicPr>
          <p:cNvPr id="4" name="Content Placeholder 3">
            <a:extLst>
              <a:ext uri="{FF2B5EF4-FFF2-40B4-BE49-F238E27FC236}">
                <a16:creationId xmlns:a16="http://schemas.microsoft.com/office/drawing/2014/main" id="{F4AB38DA-7B98-A3FD-AFF1-F8FDC221D195}"/>
              </a:ext>
            </a:extLst>
          </p:cNvPr>
          <p:cNvPicPr>
            <a:picLocks noGrp="1" noChangeAspect="1"/>
          </p:cNvPicPr>
          <p:nvPr>
            <p:ph idx="1"/>
          </p:nvPr>
        </p:nvPicPr>
        <p:blipFill>
          <a:blip r:embed="rId2"/>
          <a:stretch>
            <a:fillRect/>
          </a:stretch>
        </p:blipFill>
        <p:spPr>
          <a:xfrm>
            <a:off x="1393371" y="1825625"/>
            <a:ext cx="6783977" cy="4667250"/>
          </a:xfrm>
          <a:prstGeom prst="rect">
            <a:avLst/>
          </a:prstGeom>
        </p:spPr>
      </p:pic>
    </p:spTree>
    <p:extLst>
      <p:ext uri="{BB962C8B-B14F-4D97-AF65-F5344CB8AC3E}">
        <p14:creationId xmlns:p14="http://schemas.microsoft.com/office/powerpoint/2010/main" val="361567192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CD0A5D-FB05-9508-5171-D297C30FE2FF}"/>
              </a:ext>
            </a:extLst>
          </p:cNvPr>
          <p:cNvSpPr>
            <a:spLocks noGrp="1"/>
          </p:cNvSpPr>
          <p:nvPr>
            <p:ph type="title"/>
          </p:nvPr>
        </p:nvSpPr>
        <p:spPr>
          <a:xfrm>
            <a:off x="572493" y="238539"/>
            <a:ext cx="11018520" cy="1434415"/>
          </a:xfrm>
        </p:spPr>
        <p:txBody>
          <a:bodyPr anchor="b">
            <a:normAutofit/>
          </a:bodyPr>
          <a:lstStyle/>
          <a:p>
            <a:r>
              <a:rPr lang="en-US" sz="5400" b="1"/>
              <a:t>Epidemiology &amp; Risk Factors</a:t>
            </a:r>
            <a:endParaRPr lang="en-US" sz="540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69F1501-A457-AEEA-E7CB-724A218E27F8}"/>
              </a:ext>
            </a:extLst>
          </p:cNvPr>
          <p:cNvSpPr>
            <a:spLocks noGrp="1"/>
          </p:cNvSpPr>
          <p:nvPr>
            <p:ph idx="1"/>
          </p:nvPr>
        </p:nvSpPr>
        <p:spPr>
          <a:xfrm>
            <a:off x="572493" y="2071316"/>
            <a:ext cx="6713552" cy="4119172"/>
          </a:xfrm>
        </p:spPr>
        <p:txBody>
          <a:bodyPr anchor="t">
            <a:normAutofit/>
          </a:bodyPr>
          <a:lstStyle/>
          <a:p>
            <a:r>
              <a:rPr lang="en-US" sz="2200" b="1"/>
              <a:t>Peak age: 5–9 months</a:t>
            </a:r>
            <a:r>
              <a:rPr lang="en-US" sz="2200"/>
              <a:t>, with most cases occurring between </a:t>
            </a:r>
            <a:r>
              <a:rPr lang="en-US" sz="2200" b="1"/>
              <a:t>3 months and 5 years</a:t>
            </a:r>
            <a:r>
              <a:rPr lang="en-US" sz="2200"/>
              <a:t> </a:t>
            </a:r>
          </a:p>
          <a:p>
            <a:r>
              <a:rPr lang="en-US" sz="2200"/>
              <a:t>Boys are affected </a:t>
            </a:r>
            <a:r>
              <a:rPr lang="en-US" sz="2200" b="1"/>
              <a:t>2–8 times more often</a:t>
            </a:r>
            <a:r>
              <a:rPr lang="en-US" sz="2200"/>
              <a:t> than girls</a:t>
            </a:r>
          </a:p>
          <a:p>
            <a:r>
              <a:rPr lang="en-US" sz="2200"/>
              <a:t>Incidence: approximately 35 per 100,000 infants </a:t>
            </a:r>
          </a:p>
          <a:p>
            <a:r>
              <a:rPr lang="en-US" sz="2200" b="1"/>
              <a:t>75% of ileocolic intussusceptions are idiopathic</a:t>
            </a:r>
            <a:r>
              <a:rPr lang="en-US" sz="2200"/>
              <a:t>; the remainder are associated with a pathologic lead point (10–25%)</a:t>
            </a:r>
          </a:p>
          <a:p>
            <a:r>
              <a:rPr lang="en-US" sz="2200"/>
              <a:t>Viral infections (especially </a:t>
            </a:r>
            <a:r>
              <a:rPr lang="en-US" sz="2200" b="1"/>
              <a:t>adenovirus</a:t>
            </a:r>
            <a:r>
              <a:rPr lang="en-US" sz="2200"/>
              <a:t> and HHV-6) are associated with intussusception, likely through lymphoid hyperplasia acting as a trigger </a:t>
            </a:r>
          </a:p>
          <a:p>
            <a:pPr marL="0" indent="0">
              <a:buNone/>
            </a:pPr>
            <a:endParaRPr lang="en-US" sz="2200"/>
          </a:p>
        </p:txBody>
      </p:sp>
      <p:pic>
        <p:nvPicPr>
          <p:cNvPr id="5" name="Picture 4" descr="Intussusception of the intestines, illustration - Stock ...">
            <a:extLst>
              <a:ext uri="{FF2B5EF4-FFF2-40B4-BE49-F238E27FC236}">
                <a16:creationId xmlns:a16="http://schemas.microsoft.com/office/drawing/2014/main" id="{726D31BD-4210-D23C-9490-1F1A8C79EA05}"/>
              </a:ext>
            </a:extLst>
          </p:cNvPr>
          <p:cNvPicPr>
            <a:picLocks noChangeAspect="1"/>
          </p:cNvPicPr>
          <p:nvPr/>
        </p:nvPicPr>
        <p:blipFill>
          <a:blip r:embed="rId2"/>
          <a:srcRect r="27846"/>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4786970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7A6449-011D-10EC-CD6F-DB9BAA7CCC52}"/>
              </a:ext>
            </a:extLst>
          </p:cNvPr>
          <p:cNvSpPr>
            <a:spLocks noGrp="1"/>
          </p:cNvSpPr>
          <p:nvPr>
            <p:ph type="title"/>
          </p:nvPr>
        </p:nvSpPr>
        <p:spPr>
          <a:xfrm>
            <a:off x="572493" y="238539"/>
            <a:ext cx="11018520" cy="1434415"/>
          </a:xfrm>
        </p:spPr>
        <p:txBody>
          <a:bodyPr anchor="b">
            <a:normAutofit/>
          </a:bodyPr>
          <a:lstStyle/>
          <a:p>
            <a:r>
              <a:rPr lang="en-US" sz="5400" b="1"/>
              <a:t>Epidemiology &amp; Risk Factors</a:t>
            </a:r>
            <a:endParaRPr lang="en-US" sz="5400"/>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64B7966-8D93-EAC0-AF82-60AF4E09834C}"/>
              </a:ext>
            </a:extLst>
          </p:cNvPr>
          <p:cNvSpPr>
            <a:spLocks noGrp="1"/>
          </p:cNvSpPr>
          <p:nvPr>
            <p:ph idx="1"/>
          </p:nvPr>
        </p:nvSpPr>
        <p:spPr>
          <a:xfrm>
            <a:off x="572493" y="2071316"/>
            <a:ext cx="6713552" cy="4119172"/>
          </a:xfrm>
        </p:spPr>
        <p:txBody>
          <a:bodyPr anchor="t">
            <a:normAutofit/>
          </a:bodyPr>
          <a:lstStyle/>
          <a:p>
            <a:r>
              <a:rPr lang="en-US" sz="1900" b="1" dirty="0"/>
              <a:t>Common Lead Points (Causes):</a:t>
            </a:r>
            <a:endParaRPr lang="en-US" sz="1900" dirty="0"/>
          </a:p>
          <a:p>
            <a:pPr lvl="1"/>
            <a:r>
              <a:rPr lang="en-US" sz="1900" b="1" dirty="0"/>
              <a:t>Lymphoid Hyperplasia (Most Common):</a:t>
            </a:r>
            <a:r>
              <a:rPr lang="en-US" sz="1900" dirty="0"/>
              <a:t> Following a </a:t>
            </a:r>
            <a:r>
              <a:rPr lang="en-US" sz="1900" b="1" i="1" dirty="0"/>
              <a:t>viral or bacterial infection</a:t>
            </a:r>
            <a:r>
              <a:rPr lang="en-US" sz="1900" dirty="0"/>
              <a:t>, Swollen immune tissue creates a bump that normal gut movements catch and pull forward.</a:t>
            </a:r>
          </a:p>
          <a:p>
            <a:pPr lvl="1"/>
            <a:r>
              <a:rPr lang="en-US" sz="1900" b="1" dirty="0"/>
              <a:t>Meckel's Diverticulum:</a:t>
            </a:r>
            <a:r>
              <a:rPr lang="en-US" sz="1900" dirty="0"/>
              <a:t> A small pouch from fetal development that gets caught by gut contractions and dragged inward.</a:t>
            </a:r>
          </a:p>
          <a:p>
            <a:pPr lvl="1"/>
            <a:r>
              <a:rPr lang="en-US" sz="1900" b="1" dirty="0"/>
              <a:t>Intestinal Polyps:</a:t>
            </a:r>
            <a:r>
              <a:rPr lang="en-US" sz="1900" dirty="0"/>
              <a:t> Hanging growths that gut movements snag, pulling them and their base downstream.</a:t>
            </a:r>
          </a:p>
          <a:p>
            <a:pPr lvl="1"/>
            <a:r>
              <a:rPr lang="en-US" sz="1900" b="1" dirty="0"/>
              <a:t>Duplication Cysts:</a:t>
            </a:r>
            <a:r>
              <a:rPr lang="en-US" sz="1900" dirty="0"/>
              <a:t> Fluid-filled birth defects that create a physical lump, getting caught and pulled forward.</a:t>
            </a:r>
          </a:p>
          <a:p>
            <a:pPr lvl="1"/>
            <a:r>
              <a:rPr lang="en-US" sz="1900" b="1" dirty="0"/>
              <a:t>Lymphoma:</a:t>
            </a:r>
            <a:r>
              <a:rPr lang="en-US" sz="1900" dirty="0"/>
              <a:t> A bulky tumor in the gut wall that gets caught and pulled into the next segment.</a:t>
            </a:r>
          </a:p>
          <a:p>
            <a:endParaRPr lang="en-US" sz="1900" dirty="0"/>
          </a:p>
        </p:txBody>
      </p:sp>
      <p:pic>
        <p:nvPicPr>
          <p:cNvPr id="4" name="Picture 3" descr="117 Intussusception Royalty-Free Images, Stock Photos &amp; Pictures |  Shutterstock">
            <a:extLst>
              <a:ext uri="{FF2B5EF4-FFF2-40B4-BE49-F238E27FC236}">
                <a16:creationId xmlns:a16="http://schemas.microsoft.com/office/drawing/2014/main" id="{12D5101D-BEA1-83F8-CAE2-981559D38F3C}"/>
              </a:ext>
            </a:extLst>
          </p:cNvPr>
          <p:cNvPicPr>
            <a:picLocks noChangeAspect="1"/>
          </p:cNvPicPr>
          <p:nvPr/>
        </p:nvPicPr>
        <p:blipFill>
          <a:blip r:embed="rId2"/>
          <a:srcRect l="22034" r="26249" b="5692"/>
          <a:stretch>
            <a:fillRect/>
          </a:stretch>
        </p:blipFill>
        <p:spPr>
          <a:xfrm>
            <a:off x="7675658" y="2093976"/>
            <a:ext cx="3800062" cy="3863340"/>
          </a:xfrm>
          <a:prstGeom prst="rect">
            <a:avLst/>
          </a:prstGeom>
        </p:spPr>
      </p:pic>
    </p:spTree>
    <p:extLst>
      <p:ext uri="{BB962C8B-B14F-4D97-AF65-F5344CB8AC3E}">
        <p14:creationId xmlns:p14="http://schemas.microsoft.com/office/powerpoint/2010/main" val="101297693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94842B0-684D-44CC-B4BC-D13331CFD2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D58C01-2AF2-27A6-08B4-9433D50ACB2E}"/>
              </a:ext>
            </a:extLst>
          </p:cNvPr>
          <p:cNvSpPr>
            <a:spLocks noGrp="1"/>
          </p:cNvSpPr>
          <p:nvPr>
            <p:ph type="title"/>
          </p:nvPr>
        </p:nvSpPr>
        <p:spPr>
          <a:xfrm>
            <a:off x="640080" y="329184"/>
            <a:ext cx="6894576" cy="1783080"/>
          </a:xfrm>
        </p:spPr>
        <p:txBody>
          <a:bodyPr anchor="b">
            <a:normAutofit/>
          </a:bodyPr>
          <a:lstStyle/>
          <a:p>
            <a:r>
              <a:rPr lang="en-US" sz="6600" b="1"/>
              <a:t>Pathophysiology</a:t>
            </a:r>
            <a:endParaRPr lang="en-US" sz="6600"/>
          </a:p>
        </p:txBody>
      </p:sp>
      <p:sp>
        <p:nvSpPr>
          <p:cNvPr id="18" name="sketch line">
            <a:extLst>
              <a:ext uri="{FF2B5EF4-FFF2-40B4-BE49-F238E27FC236}">
                <a16:creationId xmlns:a16="http://schemas.microsoft.com/office/drawing/2014/main" id="{4C2A3DC3-F495-4B99-9FF3-3FB30D632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F326C6-C7A4-E424-5D8C-FE83AB71D560}"/>
              </a:ext>
            </a:extLst>
          </p:cNvPr>
          <p:cNvSpPr>
            <a:spLocks noGrp="1"/>
          </p:cNvSpPr>
          <p:nvPr>
            <p:ph idx="1"/>
          </p:nvPr>
        </p:nvSpPr>
        <p:spPr>
          <a:xfrm>
            <a:off x="640080" y="2706624"/>
            <a:ext cx="6894576" cy="3483864"/>
          </a:xfrm>
        </p:spPr>
        <p:txBody>
          <a:bodyPr>
            <a:normAutofit/>
          </a:bodyPr>
          <a:lstStyle/>
          <a:p>
            <a:r>
              <a:rPr lang="en-US" sz="2200" dirty="0"/>
              <a:t>The </a:t>
            </a:r>
            <a:r>
              <a:rPr lang="en-US" sz="2200" dirty="0" err="1"/>
              <a:t>intussusceptum</a:t>
            </a:r>
            <a:r>
              <a:rPr lang="en-US" sz="2200" dirty="0"/>
              <a:t> drags its mesentery into the </a:t>
            </a:r>
            <a:r>
              <a:rPr lang="en-US" sz="2200" b="1" dirty="0">
                <a:solidFill>
                  <a:srgbClr val="FF0000"/>
                </a:solidFill>
              </a:rPr>
              <a:t>intussuscipiens, causing venous congestion → bowel wall edema → arterial compromise → ischemia → necrosis → perforation </a:t>
            </a:r>
            <a:r>
              <a:rPr lang="en-US" sz="2200" dirty="0"/>
              <a:t>if untreated. The </a:t>
            </a:r>
            <a:r>
              <a:rPr lang="en-US" sz="2200" b="1" dirty="0"/>
              <a:t>most common type is ileocolic</a:t>
            </a:r>
            <a:r>
              <a:rPr lang="en-US" sz="2200" dirty="0"/>
              <a:t> (</a:t>
            </a:r>
            <a:r>
              <a:rPr lang="en-US" sz="2200" i="1" dirty="0"/>
              <a:t>ileum telescopes through the ileocecal valve into the cecum/ascending colon</a:t>
            </a:r>
            <a:r>
              <a:rPr lang="en-US" sz="2200" dirty="0"/>
              <a:t>).</a:t>
            </a:r>
          </a:p>
        </p:txBody>
      </p:sp>
      <p:pic>
        <p:nvPicPr>
          <p:cNvPr id="5" name="Picture 4" descr="Understanding intussusception and its diagnosis">
            <a:extLst>
              <a:ext uri="{FF2B5EF4-FFF2-40B4-BE49-F238E27FC236}">
                <a16:creationId xmlns:a16="http://schemas.microsoft.com/office/drawing/2014/main" id="{194177A6-5766-715E-DB86-37DC17849E86}"/>
              </a:ext>
            </a:extLst>
          </p:cNvPr>
          <p:cNvPicPr>
            <a:picLocks noChangeAspect="1"/>
          </p:cNvPicPr>
          <p:nvPr/>
        </p:nvPicPr>
        <p:blipFill>
          <a:blip r:embed="rId2"/>
          <a:srcRect t="15607"/>
          <a:stretch>
            <a:fillRect/>
          </a:stretch>
        </p:blipFill>
        <p:spPr>
          <a:xfrm>
            <a:off x="8156454" y="-7"/>
            <a:ext cx="4035547" cy="4178808"/>
          </a:xfrm>
          <a:custGeom>
            <a:avLst/>
            <a:gdLst/>
            <a:ahLst/>
            <a:cxnLst/>
            <a:rect l="l" t="t" r="r" b="b"/>
            <a:pathLst>
              <a:path w="4035547" h="4178808">
                <a:moveTo>
                  <a:pt x="14988" y="0"/>
                </a:moveTo>
                <a:lnTo>
                  <a:pt x="4035547" y="0"/>
                </a:lnTo>
                <a:lnTo>
                  <a:pt x="4035547" y="4161794"/>
                </a:lnTo>
                <a:lnTo>
                  <a:pt x="3918602" y="4164199"/>
                </a:lnTo>
                <a:cubicBezTo>
                  <a:pt x="3673497" y="4178956"/>
                  <a:pt x="3428120" y="4172295"/>
                  <a:pt x="3183014" y="4175560"/>
                </a:cubicBezTo>
                <a:cubicBezTo>
                  <a:pt x="2855121" y="4180001"/>
                  <a:pt x="2527499" y="4168639"/>
                  <a:pt x="2199742" y="4167595"/>
                </a:cubicBezTo>
                <a:cubicBezTo>
                  <a:pt x="2132562" y="4167334"/>
                  <a:pt x="2065110" y="4170729"/>
                  <a:pt x="1998202" y="4175952"/>
                </a:cubicBezTo>
                <a:cubicBezTo>
                  <a:pt x="1905507" y="4183005"/>
                  <a:pt x="1814033" y="4174124"/>
                  <a:pt x="1722153" y="4165766"/>
                </a:cubicBezTo>
                <a:cubicBezTo>
                  <a:pt x="1611407" y="4155711"/>
                  <a:pt x="1500933" y="4164591"/>
                  <a:pt x="1390867" y="4176214"/>
                </a:cubicBezTo>
                <a:lnTo>
                  <a:pt x="1348076" y="4178808"/>
                </a:lnTo>
                <a:lnTo>
                  <a:pt x="597587" y="4178808"/>
                </a:lnTo>
                <a:lnTo>
                  <a:pt x="507890" y="4175773"/>
                </a:lnTo>
                <a:cubicBezTo>
                  <a:pt x="403218" y="4174810"/>
                  <a:pt x="298546" y="4175691"/>
                  <a:pt x="193840" y="4176214"/>
                </a:cubicBezTo>
                <a:lnTo>
                  <a:pt x="2757" y="4175742"/>
                </a:lnTo>
                <a:lnTo>
                  <a:pt x="2810" y="4034870"/>
                </a:lnTo>
                <a:cubicBezTo>
                  <a:pt x="5629" y="3979851"/>
                  <a:pt x="10539" y="3924896"/>
                  <a:pt x="15416" y="3870068"/>
                </a:cubicBezTo>
                <a:cubicBezTo>
                  <a:pt x="23018" y="3799731"/>
                  <a:pt x="25045" y="3728899"/>
                  <a:pt x="21498" y="3658244"/>
                </a:cubicBezTo>
                <a:cubicBezTo>
                  <a:pt x="17063" y="3602147"/>
                  <a:pt x="10095" y="3546050"/>
                  <a:pt x="8828" y="3489953"/>
                </a:cubicBezTo>
                <a:cubicBezTo>
                  <a:pt x="6548" y="3389688"/>
                  <a:pt x="7434" y="3289424"/>
                  <a:pt x="13262" y="3189160"/>
                </a:cubicBezTo>
                <a:cubicBezTo>
                  <a:pt x="16176" y="3138901"/>
                  <a:pt x="20864" y="3089150"/>
                  <a:pt x="22891" y="3038510"/>
                </a:cubicBezTo>
                <a:cubicBezTo>
                  <a:pt x="24918" y="2987870"/>
                  <a:pt x="28973" y="2936723"/>
                  <a:pt x="17444" y="2887098"/>
                </a:cubicBezTo>
                <a:cubicBezTo>
                  <a:pt x="-2068" y="2802699"/>
                  <a:pt x="12249" y="2718680"/>
                  <a:pt x="16430" y="2634534"/>
                </a:cubicBezTo>
                <a:cubicBezTo>
                  <a:pt x="18964" y="2582244"/>
                  <a:pt x="34168" y="2528685"/>
                  <a:pt x="20738" y="2477919"/>
                </a:cubicBezTo>
                <a:cubicBezTo>
                  <a:pt x="-421" y="2398342"/>
                  <a:pt x="13389" y="2320415"/>
                  <a:pt x="20738" y="2242107"/>
                </a:cubicBezTo>
                <a:cubicBezTo>
                  <a:pt x="29213" y="2168001"/>
                  <a:pt x="27718" y="2093082"/>
                  <a:pt x="16303" y="2019369"/>
                </a:cubicBezTo>
                <a:cubicBezTo>
                  <a:pt x="1986" y="1946239"/>
                  <a:pt x="1986" y="1871028"/>
                  <a:pt x="16303" y="1797899"/>
                </a:cubicBezTo>
                <a:cubicBezTo>
                  <a:pt x="28162" y="1737537"/>
                  <a:pt x="29530" y="1675589"/>
                  <a:pt x="20357" y="1614758"/>
                </a:cubicBezTo>
                <a:cubicBezTo>
                  <a:pt x="14149" y="1571226"/>
                  <a:pt x="3000" y="1527947"/>
                  <a:pt x="1480" y="1484415"/>
                </a:cubicBezTo>
                <a:cubicBezTo>
                  <a:pt x="-1662" y="1393377"/>
                  <a:pt x="200" y="1302238"/>
                  <a:pt x="7055" y="1211417"/>
                </a:cubicBezTo>
                <a:cubicBezTo>
                  <a:pt x="15036" y="1107980"/>
                  <a:pt x="30366" y="1004923"/>
                  <a:pt x="19724" y="900725"/>
                </a:cubicBezTo>
                <a:cubicBezTo>
                  <a:pt x="16050" y="864934"/>
                  <a:pt x="8575" y="829270"/>
                  <a:pt x="7815" y="793353"/>
                </a:cubicBezTo>
                <a:cubicBezTo>
                  <a:pt x="6168" y="726087"/>
                  <a:pt x="5407" y="659710"/>
                  <a:pt x="9208" y="590286"/>
                </a:cubicBezTo>
                <a:cubicBezTo>
                  <a:pt x="13009" y="520863"/>
                  <a:pt x="27452" y="450424"/>
                  <a:pt x="17697" y="382270"/>
                </a:cubicBezTo>
                <a:cubicBezTo>
                  <a:pt x="7941" y="314115"/>
                  <a:pt x="14276" y="247103"/>
                  <a:pt x="20611" y="180218"/>
                </a:cubicBezTo>
                <a:cubicBezTo>
                  <a:pt x="23652" y="148426"/>
                  <a:pt x="25711" y="116982"/>
                  <a:pt x="25156" y="85665"/>
                </a:cubicBezTo>
                <a:close/>
              </a:path>
            </a:pathLst>
          </a:custGeom>
        </p:spPr>
      </p:pic>
      <p:pic>
        <p:nvPicPr>
          <p:cNvPr id="4" name="Picture 3" descr="Intussusception – Zero To Finals">
            <a:extLst>
              <a:ext uri="{FF2B5EF4-FFF2-40B4-BE49-F238E27FC236}">
                <a16:creationId xmlns:a16="http://schemas.microsoft.com/office/drawing/2014/main" id="{E3EF1954-7139-E471-96F8-CEE0051DFE81}"/>
              </a:ext>
            </a:extLst>
          </p:cNvPr>
          <p:cNvPicPr>
            <a:picLocks noChangeAspect="1"/>
          </p:cNvPicPr>
          <p:nvPr/>
        </p:nvPicPr>
        <p:blipFill>
          <a:blip r:embed="rId3"/>
          <a:srcRect l="4379" r="7744" b="3"/>
          <a:stretch>
            <a:fillRect/>
          </a:stretch>
        </p:blipFill>
        <p:spPr>
          <a:xfrm>
            <a:off x="8144356" y="4267201"/>
            <a:ext cx="4047645" cy="2590808"/>
          </a:xfrm>
          <a:custGeom>
            <a:avLst/>
            <a:gdLst/>
            <a:ahLst/>
            <a:cxnLst/>
            <a:rect l="l" t="t" r="r" b="b"/>
            <a:pathLst>
              <a:path w="4047645" h="2495811">
                <a:moveTo>
                  <a:pt x="2441891" y="4"/>
                </a:moveTo>
                <a:cubicBezTo>
                  <a:pt x="2489381" y="-78"/>
                  <a:pt x="2536882" y="1163"/>
                  <a:pt x="2584383" y="4428"/>
                </a:cubicBezTo>
                <a:cubicBezTo>
                  <a:pt x="2744314" y="17813"/>
                  <a:pt x="2904989" y="21079"/>
                  <a:pt x="3065367" y="14222"/>
                </a:cubicBezTo>
                <a:cubicBezTo>
                  <a:pt x="3194244" y="5694"/>
                  <a:pt x="3323514" y="4206"/>
                  <a:pt x="3452568" y="9782"/>
                </a:cubicBezTo>
                <a:cubicBezTo>
                  <a:pt x="3572813" y="16442"/>
                  <a:pt x="3693059" y="23233"/>
                  <a:pt x="3813712" y="19315"/>
                </a:cubicBezTo>
                <a:cubicBezTo>
                  <a:pt x="3861755" y="17748"/>
                  <a:pt x="3909121" y="15789"/>
                  <a:pt x="3956758" y="13177"/>
                </a:cubicBezTo>
                <a:lnTo>
                  <a:pt x="4047645" y="9696"/>
                </a:lnTo>
                <a:lnTo>
                  <a:pt x="4047645" y="2495811"/>
                </a:lnTo>
                <a:lnTo>
                  <a:pt x="28177" y="2495811"/>
                </a:lnTo>
                <a:lnTo>
                  <a:pt x="28782" y="2485852"/>
                </a:lnTo>
                <a:cubicBezTo>
                  <a:pt x="31911" y="2365446"/>
                  <a:pt x="35027" y="2245002"/>
                  <a:pt x="38157" y="2124521"/>
                </a:cubicBezTo>
                <a:cubicBezTo>
                  <a:pt x="38284" y="2119444"/>
                  <a:pt x="39171" y="2114494"/>
                  <a:pt x="39171" y="2109417"/>
                </a:cubicBezTo>
                <a:cubicBezTo>
                  <a:pt x="48166" y="1995573"/>
                  <a:pt x="53107" y="1881729"/>
                  <a:pt x="18899" y="1770550"/>
                </a:cubicBezTo>
                <a:cubicBezTo>
                  <a:pt x="15871" y="1760104"/>
                  <a:pt x="14262" y="1749304"/>
                  <a:pt x="14084" y="1738440"/>
                </a:cubicBezTo>
                <a:cubicBezTo>
                  <a:pt x="12413" y="1641514"/>
                  <a:pt x="16644" y="1544587"/>
                  <a:pt x="26754" y="1448181"/>
                </a:cubicBezTo>
                <a:cubicBezTo>
                  <a:pt x="31949" y="1389038"/>
                  <a:pt x="26754" y="1329006"/>
                  <a:pt x="43478" y="1270498"/>
                </a:cubicBezTo>
                <a:cubicBezTo>
                  <a:pt x="50864" y="1241421"/>
                  <a:pt x="55109" y="1211634"/>
                  <a:pt x="56147" y="1181656"/>
                </a:cubicBezTo>
                <a:cubicBezTo>
                  <a:pt x="59948" y="1109060"/>
                  <a:pt x="38537" y="1040779"/>
                  <a:pt x="18139" y="972244"/>
                </a:cubicBezTo>
                <a:cubicBezTo>
                  <a:pt x="7370" y="935945"/>
                  <a:pt x="-5426" y="898886"/>
                  <a:pt x="2429" y="860811"/>
                </a:cubicBezTo>
                <a:cubicBezTo>
                  <a:pt x="16707" y="802251"/>
                  <a:pt x="24854" y="742359"/>
                  <a:pt x="26754" y="682112"/>
                </a:cubicBezTo>
                <a:cubicBezTo>
                  <a:pt x="26754" y="639468"/>
                  <a:pt x="16365" y="597712"/>
                  <a:pt x="20039" y="555195"/>
                </a:cubicBezTo>
                <a:cubicBezTo>
                  <a:pt x="28211" y="472712"/>
                  <a:pt x="30238" y="389734"/>
                  <a:pt x="26121" y="306946"/>
                </a:cubicBezTo>
                <a:cubicBezTo>
                  <a:pt x="26095" y="273846"/>
                  <a:pt x="29846" y="240848"/>
                  <a:pt x="37270" y="208585"/>
                </a:cubicBezTo>
                <a:cubicBezTo>
                  <a:pt x="46506" y="151651"/>
                  <a:pt x="48419" y="93777"/>
                  <a:pt x="42971" y="36360"/>
                </a:cubicBezTo>
                <a:lnTo>
                  <a:pt x="38853" y="8429"/>
                </a:lnTo>
                <a:lnTo>
                  <a:pt x="56649" y="7824"/>
                </a:lnTo>
                <a:cubicBezTo>
                  <a:pt x="210497" y="-156"/>
                  <a:pt x="364754" y="3162"/>
                  <a:pt x="518087" y="17748"/>
                </a:cubicBezTo>
                <a:cubicBezTo>
                  <a:pt x="626567" y="25440"/>
                  <a:pt x="735534" y="24213"/>
                  <a:pt x="843809" y="14092"/>
                </a:cubicBezTo>
                <a:cubicBezTo>
                  <a:pt x="1042499" y="-1711"/>
                  <a:pt x="1240782" y="10958"/>
                  <a:pt x="1439065" y="21666"/>
                </a:cubicBezTo>
                <a:cubicBezTo>
                  <a:pt x="1631105" y="32113"/>
                  <a:pt x="1823010" y="24408"/>
                  <a:pt x="2015050" y="17487"/>
                </a:cubicBezTo>
                <a:cubicBezTo>
                  <a:pt x="2157045" y="12394"/>
                  <a:pt x="2299420" y="249"/>
                  <a:pt x="2441891" y="4"/>
                </a:cubicBezTo>
                <a:close/>
              </a:path>
            </a:pathLst>
          </a:custGeom>
        </p:spPr>
      </p:pic>
    </p:spTree>
    <p:extLst>
      <p:ext uri="{BB962C8B-B14F-4D97-AF65-F5344CB8AC3E}">
        <p14:creationId xmlns:p14="http://schemas.microsoft.com/office/powerpoint/2010/main" val="300263105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B1CC88-50D9-9EBD-AE4A-10698D785028}"/>
              </a:ext>
            </a:extLst>
          </p:cNvPr>
          <p:cNvSpPr>
            <a:spLocks noGrp="1"/>
          </p:cNvSpPr>
          <p:nvPr>
            <p:ph type="title"/>
          </p:nvPr>
        </p:nvSpPr>
        <p:spPr>
          <a:xfrm>
            <a:off x="572493" y="238539"/>
            <a:ext cx="11018520" cy="1434415"/>
          </a:xfrm>
        </p:spPr>
        <p:txBody>
          <a:bodyPr anchor="b">
            <a:normAutofit/>
          </a:bodyPr>
          <a:lstStyle/>
          <a:p>
            <a:r>
              <a:rPr lang="en-US" sz="5400" b="1"/>
              <a:t>Clinical Presentation</a:t>
            </a:r>
            <a:endParaRPr lang="en-US" sz="5400"/>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79CC353-6F30-5544-5E76-39003F5E1E3A}"/>
              </a:ext>
            </a:extLst>
          </p:cNvPr>
          <p:cNvSpPr>
            <a:spLocks noGrp="1"/>
          </p:cNvSpPr>
          <p:nvPr>
            <p:ph idx="1"/>
          </p:nvPr>
        </p:nvSpPr>
        <p:spPr>
          <a:xfrm>
            <a:off x="572493" y="2071316"/>
            <a:ext cx="6713552" cy="4119172"/>
          </a:xfrm>
        </p:spPr>
        <p:txBody>
          <a:bodyPr anchor="t">
            <a:normAutofit/>
          </a:bodyPr>
          <a:lstStyle/>
          <a:p>
            <a:r>
              <a:rPr lang="en-US" sz="1900"/>
              <a:t>The </a:t>
            </a:r>
            <a:r>
              <a:rPr lang="en-US" sz="1900" b="1"/>
              <a:t>classic triad</a:t>
            </a:r>
            <a:r>
              <a:rPr lang="en-US" sz="1900"/>
              <a:t> — intermittent </a:t>
            </a:r>
            <a:r>
              <a:rPr lang="en-US" sz="1900" b="1" i="1"/>
              <a:t>colicky abdominal pain, currant jelly stool, and palpable sausage-shaped mass </a:t>
            </a:r>
          </a:p>
          <a:p>
            <a:r>
              <a:rPr lang="en-US" sz="1900" b="1"/>
              <a:t>Most common symptoms</a:t>
            </a:r>
            <a:r>
              <a:rPr lang="en-US" sz="1900"/>
              <a:t>: intermittent, episodic abdominal pain/irritability (&gt;90%), vomiting (often nonbilious initially, ~70%), and bloody stools </a:t>
            </a:r>
          </a:p>
          <a:p>
            <a:r>
              <a:rPr lang="en-US" sz="1900"/>
              <a:t>Children </a:t>
            </a:r>
            <a:r>
              <a:rPr lang="en-US" sz="1900" b="1"/>
              <a:t>&lt;12 months</a:t>
            </a:r>
            <a:r>
              <a:rPr lang="en-US" sz="1900"/>
              <a:t> are more likely to present with </a:t>
            </a:r>
            <a:r>
              <a:rPr lang="en-US" sz="1900" b="1"/>
              <a:t>emesis, irritability, and guaiac-positive/grossly bloody stools</a:t>
            </a:r>
            <a:endParaRPr lang="en-US" sz="1900"/>
          </a:p>
          <a:p>
            <a:r>
              <a:rPr lang="en-US" sz="1900" b="1"/>
              <a:t>***High-yield pearl</a:t>
            </a:r>
            <a:r>
              <a:rPr lang="en-US" sz="1900"/>
              <a:t>: Young infants can present </a:t>
            </a:r>
            <a:r>
              <a:rPr lang="en-US" sz="1900" b="1"/>
              <a:t>atypically with lethargy or altered mental status</a:t>
            </a:r>
            <a:r>
              <a:rPr lang="en-US" sz="1900"/>
              <a:t> — intussusception should be on the differential for unexplained lethargy in an infant even without classic GI symptoms </a:t>
            </a:r>
          </a:p>
          <a:p>
            <a:endParaRPr lang="en-US" sz="1900"/>
          </a:p>
        </p:txBody>
      </p:sp>
      <p:pic>
        <p:nvPicPr>
          <p:cNvPr id="6" name="Picture 5" descr="117 Intussusception Royalty-Free Images, Stock Photos &amp; Pictures |  Shutterstock">
            <a:extLst>
              <a:ext uri="{FF2B5EF4-FFF2-40B4-BE49-F238E27FC236}">
                <a16:creationId xmlns:a16="http://schemas.microsoft.com/office/drawing/2014/main" id="{28F299B5-86A9-55BB-8043-8B52A5AE5A91}"/>
              </a:ext>
            </a:extLst>
          </p:cNvPr>
          <p:cNvPicPr>
            <a:picLocks noChangeAspect="1"/>
          </p:cNvPicPr>
          <p:nvPr/>
        </p:nvPicPr>
        <p:blipFill>
          <a:blip r:embed="rId3"/>
          <a:srcRect l="22035" r="25302" b="7217"/>
          <a:stretch>
            <a:fillRect/>
          </a:stretch>
        </p:blipFill>
        <p:spPr>
          <a:xfrm>
            <a:off x="7675658" y="2093976"/>
            <a:ext cx="3869635" cy="3800856"/>
          </a:xfrm>
          <a:prstGeom prst="rect">
            <a:avLst/>
          </a:prstGeom>
        </p:spPr>
      </p:pic>
    </p:spTree>
    <p:extLst>
      <p:ext uri="{BB962C8B-B14F-4D97-AF65-F5344CB8AC3E}">
        <p14:creationId xmlns:p14="http://schemas.microsoft.com/office/powerpoint/2010/main" val="397560466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A5D62-592F-102A-0531-EC2EBC596EC6}"/>
              </a:ext>
            </a:extLst>
          </p:cNvPr>
          <p:cNvSpPr>
            <a:spLocks noGrp="1"/>
          </p:cNvSpPr>
          <p:nvPr>
            <p:ph type="title"/>
          </p:nvPr>
        </p:nvSpPr>
        <p:spPr>
          <a:xfrm>
            <a:off x="572493" y="238539"/>
            <a:ext cx="11018520" cy="1434415"/>
          </a:xfrm>
        </p:spPr>
        <p:txBody>
          <a:bodyPr anchor="b">
            <a:normAutofit/>
          </a:bodyPr>
          <a:lstStyle/>
          <a:p>
            <a:r>
              <a:rPr lang="en-US" sz="5400" b="1"/>
              <a:t>Diagnosis</a:t>
            </a:r>
            <a:endParaRPr lang="en-US" sz="540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03B491B-75A2-7610-3783-1717E94B1B39}"/>
              </a:ext>
            </a:extLst>
          </p:cNvPr>
          <p:cNvSpPr>
            <a:spLocks noGrp="1"/>
          </p:cNvSpPr>
          <p:nvPr>
            <p:ph idx="1"/>
          </p:nvPr>
        </p:nvSpPr>
        <p:spPr>
          <a:xfrm>
            <a:off x="572493" y="2071316"/>
            <a:ext cx="6713552" cy="4119172"/>
          </a:xfrm>
        </p:spPr>
        <p:txBody>
          <a:bodyPr anchor="t">
            <a:normAutofit/>
          </a:bodyPr>
          <a:lstStyle/>
          <a:p>
            <a:r>
              <a:rPr lang="en-US" sz="2200" b="1" dirty="0"/>
              <a:t>Ultrasound is the diagnostic modality of choice</a:t>
            </a:r>
            <a:r>
              <a:rPr lang="en-US" sz="2200" dirty="0"/>
              <a:t> — sensitivity &gt;98%, specificity 88–100% [9-10]</a:t>
            </a:r>
          </a:p>
          <a:p>
            <a:pPr lvl="1"/>
            <a:r>
              <a:rPr lang="en-US" sz="2200" dirty="0"/>
              <a:t>Classic findings: </a:t>
            </a:r>
            <a:r>
              <a:rPr lang="en-US" sz="2200" b="1" dirty="0"/>
              <a:t>"target sign/doughnut sign"</a:t>
            </a:r>
            <a:r>
              <a:rPr lang="en-US" sz="2200" dirty="0"/>
              <a:t> on transverse view; </a:t>
            </a:r>
            <a:r>
              <a:rPr lang="en-US" sz="2200" b="1" dirty="0"/>
              <a:t>"pseudo-kidney sign"</a:t>
            </a:r>
            <a:r>
              <a:rPr lang="en-US" sz="2200" dirty="0"/>
              <a:t> on longitudinal view </a:t>
            </a:r>
          </a:p>
          <a:p>
            <a:r>
              <a:rPr lang="en-US" sz="2200" b="1" dirty="0"/>
              <a:t>Abdominal radiographs</a:t>
            </a:r>
            <a:r>
              <a:rPr lang="en-US" sz="2200" dirty="0"/>
              <a:t> are less sensitive but may show absence of gas in the right lower quadrant/ascending colon, a soft-tissue mass, or signs of obstruction/perforation </a:t>
            </a:r>
          </a:p>
          <a:p>
            <a:endParaRPr lang="en-US" sz="2200" dirty="0"/>
          </a:p>
        </p:txBody>
      </p:sp>
      <p:pic>
        <p:nvPicPr>
          <p:cNvPr id="5" name="Picture 4" descr="117 Intussusception Royalty-Free Images, Stock Photos &amp; Pictures |  Shutterstock">
            <a:extLst>
              <a:ext uri="{FF2B5EF4-FFF2-40B4-BE49-F238E27FC236}">
                <a16:creationId xmlns:a16="http://schemas.microsoft.com/office/drawing/2014/main" id="{5BDFE3F5-765A-FAB4-6761-498EFE26F8D1}"/>
              </a:ext>
            </a:extLst>
          </p:cNvPr>
          <p:cNvPicPr>
            <a:picLocks noChangeAspect="1"/>
          </p:cNvPicPr>
          <p:nvPr/>
        </p:nvPicPr>
        <p:blipFill>
          <a:blip r:embed="rId3"/>
          <a:srcRect l="22035" r="25302" b="5394"/>
          <a:stretch>
            <a:fillRect/>
          </a:stretch>
        </p:blipFill>
        <p:spPr>
          <a:xfrm>
            <a:off x="7675658" y="2093976"/>
            <a:ext cx="3869635" cy="3875532"/>
          </a:xfrm>
          <a:prstGeom prst="rect">
            <a:avLst/>
          </a:prstGeom>
        </p:spPr>
      </p:pic>
    </p:spTree>
    <p:extLst>
      <p:ext uri="{BB962C8B-B14F-4D97-AF65-F5344CB8AC3E}">
        <p14:creationId xmlns:p14="http://schemas.microsoft.com/office/powerpoint/2010/main" val="334553958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860D3-6F73-7E9E-4F52-46AE4C7653CB}"/>
              </a:ext>
            </a:extLst>
          </p:cNvPr>
          <p:cNvSpPr>
            <a:spLocks noGrp="1"/>
          </p:cNvSpPr>
          <p:nvPr>
            <p:ph type="title"/>
          </p:nvPr>
        </p:nvSpPr>
        <p:spPr/>
        <p:txBody>
          <a:bodyPr/>
          <a:lstStyle/>
          <a:p>
            <a:r>
              <a:rPr lang="en-US" dirty="0"/>
              <a:t>Diagnosis</a:t>
            </a:r>
          </a:p>
        </p:txBody>
      </p:sp>
      <p:sp>
        <p:nvSpPr>
          <p:cNvPr id="3" name="Text Placeholder 2">
            <a:extLst>
              <a:ext uri="{FF2B5EF4-FFF2-40B4-BE49-F238E27FC236}">
                <a16:creationId xmlns:a16="http://schemas.microsoft.com/office/drawing/2014/main" id="{8FD3B5CA-AC58-74F8-99AF-00A22F48744F}"/>
              </a:ext>
            </a:extLst>
          </p:cNvPr>
          <p:cNvSpPr>
            <a:spLocks noGrp="1"/>
          </p:cNvSpPr>
          <p:nvPr>
            <p:ph type="body" idx="1"/>
          </p:nvPr>
        </p:nvSpPr>
        <p:spPr/>
        <p:txBody>
          <a:bodyPr/>
          <a:lstStyle/>
          <a:p>
            <a:r>
              <a:rPr lang="en-US" dirty="0"/>
              <a:t>Target/Donut Sign</a:t>
            </a:r>
          </a:p>
        </p:txBody>
      </p:sp>
      <p:sp>
        <p:nvSpPr>
          <p:cNvPr id="5" name="Text Placeholder 4">
            <a:extLst>
              <a:ext uri="{FF2B5EF4-FFF2-40B4-BE49-F238E27FC236}">
                <a16:creationId xmlns:a16="http://schemas.microsoft.com/office/drawing/2014/main" id="{BE4E44EA-DCC7-6D7A-201F-CE2FC7C8DE35}"/>
              </a:ext>
            </a:extLst>
          </p:cNvPr>
          <p:cNvSpPr>
            <a:spLocks noGrp="1"/>
          </p:cNvSpPr>
          <p:nvPr>
            <p:ph type="body" sz="quarter" idx="3"/>
          </p:nvPr>
        </p:nvSpPr>
        <p:spPr/>
        <p:txBody>
          <a:bodyPr/>
          <a:lstStyle/>
          <a:p>
            <a:r>
              <a:rPr lang="en-US" dirty="0" err="1"/>
              <a:t>Pseudokidney</a:t>
            </a:r>
            <a:r>
              <a:rPr lang="en-US" dirty="0"/>
              <a:t> Sign</a:t>
            </a:r>
          </a:p>
        </p:txBody>
      </p:sp>
      <p:pic>
        <p:nvPicPr>
          <p:cNvPr id="7" name="Content Placeholder 3" descr="Targetsign ,donut sign Pseudo kidney, sandwich signs in intussception #signsinradiology #radiologysigns #radiology #ultrasound #intussception">
            <a:extLst>
              <a:ext uri="{FF2B5EF4-FFF2-40B4-BE49-F238E27FC236}">
                <a16:creationId xmlns:a16="http://schemas.microsoft.com/office/drawing/2014/main" id="{2ADB7D7F-52FA-188B-B731-C5C194AFE20C}"/>
              </a:ext>
            </a:extLst>
          </p:cNvPr>
          <p:cNvPicPr>
            <a:picLocks noGrp="1" noChangeAspect="1"/>
          </p:cNvPicPr>
          <p:nvPr>
            <p:ph sz="half" idx="2"/>
          </p:nvPr>
        </p:nvPicPr>
        <p:blipFill>
          <a:blip r:embed="rId2"/>
          <a:stretch>
            <a:fillRect/>
          </a:stretch>
        </p:blipFill>
        <p:spPr>
          <a:xfrm>
            <a:off x="906780" y="2505075"/>
            <a:ext cx="4411980" cy="3684588"/>
          </a:xfrm>
          <a:prstGeom prst="rect">
            <a:avLst/>
          </a:prstGeom>
        </p:spPr>
      </p:pic>
      <p:pic>
        <p:nvPicPr>
          <p:cNvPr id="9" name="Content Placeholder 8" descr="EPOS&amp;trade;">
            <a:extLst>
              <a:ext uri="{FF2B5EF4-FFF2-40B4-BE49-F238E27FC236}">
                <a16:creationId xmlns:a16="http://schemas.microsoft.com/office/drawing/2014/main" id="{017E92E8-D308-3BFB-8EDC-55FD502B6A5C}"/>
              </a:ext>
            </a:extLst>
          </p:cNvPr>
          <p:cNvPicPr>
            <a:picLocks noGrp="1" noChangeAspect="1"/>
          </p:cNvPicPr>
          <p:nvPr>
            <p:ph sz="quarter" idx="4"/>
          </p:nvPr>
        </p:nvPicPr>
        <p:blipFill>
          <a:blip r:embed="rId3"/>
          <a:stretch>
            <a:fillRect/>
          </a:stretch>
        </p:blipFill>
        <p:spPr>
          <a:xfrm>
            <a:off x="6172200" y="2621281"/>
            <a:ext cx="5183188" cy="3684588"/>
          </a:xfrm>
          <a:prstGeom prst="rect">
            <a:avLst/>
          </a:prstGeom>
        </p:spPr>
      </p:pic>
    </p:spTree>
    <p:extLst>
      <p:ext uri="{BB962C8B-B14F-4D97-AF65-F5344CB8AC3E}">
        <p14:creationId xmlns:p14="http://schemas.microsoft.com/office/powerpoint/2010/main" val="162821188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3FFE8A-04DD-93C0-5D59-BF3B3A24239D}"/>
              </a:ext>
            </a:extLst>
          </p:cNvPr>
          <p:cNvSpPr>
            <a:spLocks noGrp="1"/>
          </p:cNvSpPr>
          <p:nvPr>
            <p:ph type="title"/>
          </p:nvPr>
        </p:nvSpPr>
        <p:spPr>
          <a:xfrm>
            <a:off x="572493" y="238539"/>
            <a:ext cx="11018520" cy="1434415"/>
          </a:xfrm>
        </p:spPr>
        <p:txBody>
          <a:bodyPr anchor="b">
            <a:normAutofit/>
          </a:bodyPr>
          <a:lstStyle/>
          <a:p>
            <a:r>
              <a:rPr lang="en-US" sz="5400" b="1"/>
              <a:t>Management</a:t>
            </a:r>
            <a:endParaRPr lang="en-US" sz="540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E64C6CE-8B2B-F8D7-FA8F-C18A0DA164C0}"/>
              </a:ext>
            </a:extLst>
          </p:cNvPr>
          <p:cNvSpPr>
            <a:spLocks noGrp="1"/>
          </p:cNvSpPr>
          <p:nvPr>
            <p:ph idx="1"/>
          </p:nvPr>
        </p:nvSpPr>
        <p:spPr>
          <a:xfrm>
            <a:off x="572493" y="2071316"/>
            <a:ext cx="6713552" cy="4119172"/>
          </a:xfrm>
        </p:spPr>
        <p:txBody>
          <a:bodyPr anchor="t">
            <a:normAutofit/>
          </a:bodyPr>
          <a:lstStyle/>
          <a:p>
            <a:r>
              <a:rPr lang="en-US" sz="1700" dirty="0"/>
              <a:t>This is a </a:t>
            </a:r>
            <a:r>
              <a:rPr lang="en-US" sz="1700" b="1" i="1" u="sng" dirty="0">
                <a:solidFill>
                  <a:srgbClr val="FF0000"/>
                </a:solidFill>
              </a:rPr>
              <a:t>medical/surgical emergency </a:t>
            </a:r>
            <a:r>
              <a:rPr lang="en-US" sz="1700" dirty="0"/>
              <a:t>— delay increases risk of surgical intervention and mortality</a:t>
            </a:r>
          </a:p>
          <a:p>
            <a:r>
              <a:rPr lang="en-US" sz="1700" b="1" dirty="0"/>
              <a:t>First-line treatment: non-operative enema reduction</a:t>
            </a:r>
            <a:r>
              <a:rPr lang="en-US" sz="1700" dirty="0"/>
              <a:t> (pneumatic with air or hydrostatic with saline/contrast) in hemodynamically stable patients without perforation </a:t>
            </a:r>
          </a:p>
          <a:p>
            <a:pPr lvl="1"/>
            <a:r>
              <a:rPr lang="en-US" sz="1700" b="1" dirty="0"/>
              <a:t>Air (pneumatic) enema</a:t>
            </a:r>
            <a:r>
              <a:rPr lang="en-US" sz="1700" dirty="0"/>
              <a:t> is generally preferred — faster reduction, lower radiation exposure, and fewer complications if perforation occurs </a:t>
            </a:r>
          </a:p>
          <a:p>
            <a:pPr lvl="1"/>
            <a:r>
              <a:rPr lang="en-US" sz="1700" dirty="0"/>
              <a:t>Pressure maintained at </a:t>
            </a:r>
            <a:r>
              <a:rPr lang="en-US" sz="1700" b="1" dirty="0"/>
              <a:t>80–120 mmHg</a:t>
            </a:r>
            <a:r>
              <a:rPr lang="en-US" sz="1700" dirty="0"/>
              <a:t>; the "</a:t>
            </a:r>
            <a:r>
              <a:rPr lang="en-US" sz="1700" b="1" dirty="0"/>
              <a:t>rule of threes</a:t>
            </a:r>
            <a:r>
              <a:rPr lang="en-US" sz="1700" dirty="0"/>
              <a:t>" — if no progress after </a:t>
            </a:r>
            <a:r>
              <a:rPr lang="en-US" sz="1700" b="1" dirty="0"/>
              <a:t>three 5-minute attempts</a:t>
            </a:r>
            <a:r>
              <a:rPr lang="en-US" sz="1700" dirty="0"/>
              <a:t>, reduction is likely unsuccessful </a:t>
            </a:r>
          </a:p>
          <a:p>
            <a:pPr lvl="1"/>
            <a:r>
              <a:rPr lang="en-US" sz="1700" dirty="0"/>
              <a:t>Success rate approximately </a:t>
            </a:r>
            <a:r>
              <a:rPr lang="en-US" sz="1700" b="1" dirty="0"/>
              <a:t>66–71%</a:t>
            </a:r>
          </a:p>
          <a:p>
            <a:pPr lvl="1"/>
            <a:r>
              <a:rPr lang="en-US" sz="1700" dirty="0"/>
              <a:t>If </a:t>
            </a:r>
            <a:r>
              <a:rPr lang="en-US" sz="1700" b="1" dirty="0"/>
              <a:t>tension pneumoperitoneum </a:t>
            </a:r>
            <a:r>
              <a:rPr lang="en-US" sz="1700" dirty="0"/>
              <a:t>occurs, immediate </a:t>
            </a:r>
            <a:r>
              <a:rPr lang="en-US" sz="1700" b="1" dirty="0"/>
              <a:t>needle decompression</a:t>
            </a:r>
            <a:r>
              <a:rPr lang="en-US" sz="1700" dirty="0"/>
              <a:t> at the midline infraumbilical location</a:t>
            </a:r>
          </a:p>
          <a:p>
            <a:pPr lvl="1"/>
            <a:endParaRPr lang="en-US" sz="1700" dirty="0"/>
          </a:p>
          <a:p>
            <a:endParaRPr lang="en-US" sz="1700" dirty="0"/>
          </a:p>
        </p:txBody>
      </p:sp>
      <p:pic>
        <p:nvPicPr>
          <p:cNvPr id="5" name="Picture 4" descr="117 Intussusception Royalty-Free Images, Stock Photos &amp; Pictures |  Shutterstock">
            <a:extLst>
              <a:ext uri="{FF2B5EF4-FFF2-40B4-BE49-F238E27FC236}">
                <a16:creationId xmlns:a16="http://schemas.microsoft.com/office/drawing/2014/main" id="{599483DA-9A4D-658C-DCF4-58FE3B90B7E6}"/>
              </a:ext>
            </a:extLst>
          </p:cNvPr>
          <p:cNvPicPr>
            <a:picLocks noChangeAspect="1"/>
          </p:cNvPicPr>
          <p:nvPr/>
        </p:nvPicPr>
        <p:blipFill>
          <a:blip r:embed="rId2"/>
          <a:srcRect l="22035" r="24679" b="7404"/>
          <a:stretch>
            <a:fillRect/>
          </a:stretch>
        </p:blipFill>
        <p:spPr>
          <a:xfrm>
            <a:off x="7675658" y="2093976"/>
            <a:ext cx="3915355" cy="3793236"/>
          </a:xfrm>
          <a:prstGeom prst="rect">
            <a:avLst/>
          </a:prstGeom>
        </p:spPr>
      </p:pic>
    </p:spTree>
    <p:extLst>
      <p:ext uri="{BB962C8B-B14F-4D97-AF65-F5344CB8AC3E}">
        <p14:creationId xmlns:p14="http://schemas.microsoft.com/office/powerpoint/2010/main" val="41432597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62A6A8-1486-4034-EFFD-B1D6558ACFC7}"/>
              </a:ext>
            </a:extLst>
          </p:cNvPr>
          <p:cNvSpPr>
            <a:spLocks noGrp="1"/>
          </p:cNvSpPr>
          <p:nvPr>
            <p:ph type="title"/>
          </p:nvPr>
        </p:nvSpPr>
        <p:spPr>
          <a:xfrm>
            <a:off x="572493" y="238539"/>
            <a:ext cx="11018520" cy="1434415"/>
          </a:xfrm>
        </p:spPr>
        <p:txBody>
          <a:bodyPr anchor="b">
            <a:normAutofit/>
          </a:bodyPr>
          <a:lstStyle/>
          <a:p>
            <a:r>
              <a:rPr lang="en-US" sz="5400"/>
              <a:t>Management continued</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2072654-557C-B204-7ACE-2067C2905C46}"/>
              </a:ext>
            </a:extLst>
          </p:cNvPr>
          <p:cNvSpPr>
            <a:spLocks noGrp="1"/>
          </p:cNvSpPr>
          <p:nvPr>
            <p:ph idx="1"/>
          </p:nvPr>
        </p:nvSpPr>
        <p:spPr>
          <a:xfrm>
            <a:off x="572493" y="2071316"/>
            <a:ext cx="6713552" cy="4119172"/>
          </a:xfrm>
        </p:spPr>
        <p:txBody>
          <a:bodyPr anchor="t">
            <a:normAutofit/>
          </a:bodyPr>
          <a:lstStyle/>
          <a:p>
            <a:r>
              <a:rPr lang="en-US" sz="2000" b="1" dirty="0"/>
              <a:t>Recurrence rate</a:t>
            </a:r>
            <a:r>
              <a:rPr lang="en-US" sz="2000" dirty="0"/>
              <a:t> after successful non-operative reduction: approximately </a:t>
            </a:r>
            <a:r>
              <a:rPr lang="en-US" sz="2000" b="1" dirty="0"/>
              <a:t>5–9%</a:t>
            </a:r>
            <a:r>
              <a:rPr lang="en-US" sz="2000" dirty="0"/>
              <a:t> </a:t>
            </a:r>
          </a:p>
          <a:p>
            <a:r>
              <a:rPr lang="en-US" sz="2000" b="1" dirty="0"/>
              <a:t>Dexamethasone</a:t>
            </a:r>
            <a:r>
              <a:rPr lang="en-US" sz="2000" dirty="0"/>
              <a:t> may reduce recurrence rates </a:t>
            </a:r>
          </a:p>
          <a:p>
            <a:r>
              <a:rPr lang="en-US" sz="2000" b="1" dirty="0"/>
              <a:t>Surgical intervention</a:t>
            </a:r>
            <a:r>
              <a:rPr lang="en-US" sz="2000" dirty="0"/>
              <a:t> (laparotomy or laparoscopy with manual reduction ± bowel resection) is indicated when: </a:t>
            </a:r>
          </a:p>
          <a:p>
            <a:pPr lvl="1"/>
            <a:r>
              <a:rPr lang="en-US" sz="2000" dirty="0"/>
              <a:t>Patient is hemodynamically </a:t>
            </a:r>
            <a:r>
              <a:rPr lang="en-US" sz="2000" b="1" dirty="0"/>
              <a:t>unstable or </a:t>
            </a:r>
            <a:r>
              <a:rPr lang="en-US" sz="2000" b="1" dirty="0" err="1"/>
              <a:t>peritonitic</a:t>
            </a:r>
            <a:endParaRPr lang="en-US" sz="2000" b="1" dirty="0"/>
          </a:p>
          <a:p>
            <a:pPr lvl="1"/>
            <a:r>
              <a:rPr lang="en-US" sz="2000" dirty="0"/>
              <a:t>Evidence of </a:t>
            </a:r>
            <a:r>
              <a:rPr lang="en-US" sz="2000" b="1" dirty="0"/>
              <a:t>perforation</a:t>
            </a:r>
          </a:p>
          <a:p>
            <a:pPr lvl="1"/>
            <a:r>
              <a:rPr lang="en-US" sz="2000" b="1" dirty="0"/>
              <a:t>Failed enema </a:t>
            </a:r>
            <a:r>
              <a:rPr lang="en-US" sz="2000" dirty="0"/>
              <a:t>reduction</a:t>
            </a:r>
          </a:p>
          <a:p>
            <a:pPr lvl="1"/>
            <a:r>
              <a:rPr lang="en-US" sz="2000" dirty="0"/>
              <a:t>Identified </a:t>
            </a:r>
            <a:r>
              <a:rPr lang="en-US" sz="2000" b="1" dirty="0"/>
              <a:t>pathologic lead point</a:t>
            </a:r>
          </a:p>
          <a:p>
            <a:r>
              <a:rPr lang="en-US" sz="2000" b="1" dirty="0"/>
              <a:t>Discharge criteria</a:t>
            </a:r>
            <a:r>
              <a:rPr lang="en-US" sz="2000" dirty="0"/>
              <a:t> after successful reduction: tolerating clear fluids, asymptomatic, with return precautions for recurrence</a:t>
            </a:r>
          </a:p>
          <a:p>
            <a:endParaRPr lang="en-US" sz="2000" dirty="0"/>
          </a:p>
        </p:txBody>
      </p:sp>
      <p:pic>
        <p:nvPicPr>
          <p:cNvPr id="5" name="Picture 4" descr="117 Intussusception Royalty-Free Images, Stock Photos &amp; Pictures |  Shutterstock">
            <a:extLst>
              <a:ext uri="{FF2B5EF4-FFF2-40B4-BE49-F238E27FC236}">
                <a16:creationId xmlns:a16="http://schemas.microsoft.com/office/drawing/2014/main" id="{26FB6B85-1328-20D6-8866-C51F41F003F5}"/>
              </a:ext>
            </a:extLst>
          </p:cNvPr>
          <p:cNvPicPr>
            <a:picLocks noChangeAspect="1"/>
          </p:cNvPicPr>
          <p:nvPr/>
        </p:nvPicPr>
        <p:blipFill>
          <a:blip r:embed="rId2"/>
          <a:srcRect l="22035" r="26115" b="7851"/>
          <a:stretch>
            <a:fillRect/>
          </a:stretch>
        </p:blipFill>
        <p:spPr>
          <a:xfrm>
            <a:off x="7675659" y="2093976"/>
            <a:ext cx="3723862" cy="3689604"/>
          </a:xfrm>
          <a:prstGeom prst="rect">
            <a:avLst/>
          </a:prstGeom>
        </p:spPr>
      </p:pic>
    </p:spTree>
    <p:extLst>
      <p:ext uri="{BB962C8B-B14F-4D97-AF65-F5344CB8AC3E}">
        <p14:creationId xmlns:p14="http://schemas.microsoft.com/office/powerpoint/2010/main" val="217666685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639C3025-4784-4B16-914D-CCFC3E833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AD20437-C88A-4F45-9C6D-DA32B29A4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8610598"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F73540-D718-76BC-30BA-70B90848BC9A}"/>
              </a:ext>
            </a:extLst>
          </p:cNvPr>
          <p:cNvSpPr>
            <a:spLocks noGrp="1"/>
          </p:cNvSpPr>
          <p:nvPr>
            <p:ph type="title"/>
          </p:nvPr>
        </p:nvSpPr>
        <p:spPr>
          <a:xfrm>
            <a:off x="1137034" y="609600"/>
            <a:ext cx="6112220" cy="1330839"/>
          </a:xfrm>
        </p:spPr>
        <p:txBody>
          <a:bodyPr>
            <a:normAutofit/>
          </a:bodyPr>
          <a:lstStyle/>
          <a:p>
            <a:r>
              <a:rPr lang="en-US" b="1" i="1">
                <a:solidFill>
                  <a:schemeClr val="tx1">
                    <a:lumMod val="85000"/>
                    <a:lumOff val="15000"/>
                  </a:schemeClr>
                </a:solidFill>
              </a:rPr>
              <a:t>***Pearls***</a:t>
            </a:r>
            <a:endParaRPr lang="en-US" i="1"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0E3E5403-CBB0-1A23-F25F-3BAC4B641CB0}"/>
              </a:ext>
            </a:extLst>
          </p:cNvPr>
          <p:cNvSpPr>
            <a:spLocks noGrp="1"/>
          </p:cNvSpPr>
          <p:nvPr>
            <p:ph idx="1"/>
          </p:nvPr>
        </p:nvSpPr>
        <p:spPr>
          <a:xfrm>
            <a:off x="1137033" y="2194101"/>
            <a:ext cx="5903847" cy="4054298"/>
          </a:xfrm>
        </p:spPr>
        <p:txBody>
          <a:bodyPr>
            <a:normAutofit/>
          </a:bodyPr>
          <a:lstStyle/>
          <a:p>
            <a:r>
              <a:rPr lang="en-US" sz="1900" dirty="0">
                <a:solidFill>
                  <a:schemeClr val="tx1">
                    <a:lumMod val="85000"/>
                    <a:lumOff val="15000"/>
                  </a:schemeClr>
                </a:solidFill>
              </a:rPr>
              <a:t>Intussusception in a child </a:t>
            </a:r>
            <a:r>
              <a:rPr lang="en-US" sz="1900" b="1" dirty="0">
                <a:solidFill>
                  <a:schemeClr val="tx1">
                    <a:lumMod val="85000"/>
                    <a:lumOff val="15000"/>
                  </a:schemeClr>
                </a:solidFill>
              </a:rPr>
              <a:t>&gt;5 years</a:t>
            </a:r>
            <a:r>
              <a:rPr lang="en-US" sz="1900" dirty="0">
                <a:solidFill>
                  <a:schemeClr val="tx1">
                    <a:lumMod val="85000"/>
                    <a:lumOff val="15000"/>
                  </a:schemeClr>
                </a:solidFill>
              </a:rPr>
              <a:t> → think pathologic lead point </a:t>
            </a:r>
            <a:r>
              <a:rPr lang="en-US" sz="1900" b="1" dirty="0">
                <a:solidFill>
                  <a:schemeClr val="tx1">
                    <a:lumMod val="85000"/>
                    <a:lumOff val="15000"/>
                  </a:schemeClr>
                </a:solidFill>
              </a:rPr>
              <a:t>(lymphoma, polyp, Meckel's)</a:t>
            </a:r>
          </a:p>
          <a:p>
            <a:r>
              <a:rPr lang="en-US" sz="1900" b="1" dirty="0">
                <a:solidFill>
                  <a:schemeClr val="tx1">
                    <a:lumMod val="85000"/>
                    <a:lumOff val="15000"/>
                  </a:schemeClr>
                </a:solidFill>
              </a:rPr>
              <a:t>Lethargy</a:t>
            </a:r>
            <a:r>
              <a:rPr lang="en-US" sz="1900" dirty="0">
                <a:solidFill>
                  <a:schemeClr val="tx1">
                    <a:lumMod val="85000"/>
                    <a:lumOff val="15000"/>
                  </a:schemeClr>
                </a:solidFill>
              </a:rPr>
              <a:t> in an infant with no clear etiology → consider intussusception</a:t>
            </a:r>
          </a:p>
          <a:p>
            <a:r>
              <a:rPr lang="en-US" sz="1900" b="1" dirty="0">
                <a:solidFill>
                  <a:schemeClr val="tx1">
                    <a:lumMod val="85000"/>
                    <a:lumOff val="15000"/>
                  </a:schemeClr>
                </a:solidFill>
              </a:rPr>
              <a:t>Currant jelly stool </a:t>
            </a:r>
            <a:r>
              <a:rPr lang="en-US" sz="1900" dirty="0">
                <a:solidFill>
                  <a:schemeClr val="tx1">
                    <a:lumMod val="85000"/>
                    <a:lumOff val="15000"/>
                  </a:schemeClr>
                </a:solidFill>
              </a:rPr>
              <a:t>= blood mixed with mucus from mucosal sloughing (late finding)</a:t>
            </a:r>
          </a:p>
          <a:p>
            <a:r>
              <a:rPr lang="en-US" sz="1900" dirty="0">
                <a:solidFill>
                  <a:schemeClr val="tx1">
                    <a:lumMod val="85000"/>
                    <a:lumOff val="15000"/>
                  </a:schemeClr>
                </a:solidFill>
              </a:rPr>
              <a:t>Most common location = </a:t>
            </a:r>
            <a:r>
              <a:rPr lang="en-US" sz="1900" b="1" dirty="0">
                <a:solidFill>
                  <a:schemeClr val="tx1">
                    <a:lumMod val="85000"/>
                    <a:lumOff val="15000"/>
                  </a:schemeClr>
                </a:solidFill>
              </a:rPr>
              <a:t>ileocolic</a:t>
            </a:r>
            <a:endParaRPr lang="en-US" sz="1900" dirty="0">
              <a:solidFill>
                <a:schemeClr val="tx1">
                  <a:lumMod val="85000"/>
                  <a:lumOff val="15000"/>
                </a:schemeClr>
              </a:solidFill>
            </a:endParaRPr>
          </a:p>
          <a:p>
            <a:r>
              <a:rPr lang="en-US" sz="1900" dirty="0">
                <a:solidFill>
                  <a:schemeClr val="tx1">
                    <a:lumMod val="85000"/>
                    <a:lumOff val="15000"/>
                  </a:schemeClr>
                </a:solidFill>
              </a:rPr>
              <a:t>Best initial test = </a:t>
            </a:r>
            <a:r>
              <a:rPr lang="en-US" sz="1900" b="1" dirty="0">
                <a:solidFill>
                  <a:schemeClr val="tx1">
                    <a:lumMod val="85000"/>
                    <a:lumOff val="15000"/>
                  </a:schemeClr>
                </a:solidFill>
              </a:rPr>
              <a:t>ultrasound</a:t>
            </a:r>
            <a:r>
              <a:rPr lang="en-US" sz="1900" dirty="0">
                <a:solidFill>
                  <a:schemeClr val="tx1">
                    <a:lumMod val="85000"/>
                    <a:lumOff val="15000"/>
                  </a:schemeClr>
                </a:solidFill>
              </a:rPr>
              <a:t> (target sign)</a:t>
            </a:r>
          </a:p>
          <a:p>
            <a:r>
              <a:rPr lang="en-US" sz="1900" dirty="0">
                <a:solidFill>
                  <a:schemeClr val="tx1">
                    <a:lumMod val="85000"/>
                    <a:lumOff val="15000"/>
                  </a:schemeClr>
                </a:solidFill>
              </a:rPr>
              <a:t>Best initial treatment = </a:t>
            </a:r>
            <a:r>
              <a:rPr lang="en-US" sz="1900" b="1" dirty="0">
                <a:solidFill>
                  <a:schemeClr val="tx1">
                    <a:lumMod val="85000"/>
                    <a:lumOff val="15000"/>
                  </a:schemeClr>
                </a:solidFill>
              </a:rPr>
              <a:t>air enema reduction</a:t>
            </a:r>
            <a:endParaRPr lang="en-US" sz="1900" dirty="0">
              <a:solidFill>
                <a:schemeClr val="tx1">
                  <a:lumMod val="85000"/>
                  <a:lumOff val="15000"/>
                </a:schemeClr>
              </a:solidFill>
            </a:endParaRPr>
          </a:p>
          <a:p>
            <a:r>
              <a:rPr lang="en-US" sz="1900" dirty="0">
                <a:solidFill>
                  <a:schemeClr val="tx1">
                    <a:lumMod val="85000"/>
                    <a:lumOff val="15000"/>
                  </a:schemeClr>
                </a:solidFill>
              </a:rPr>
              <a:t>Contraindication to enema reduction = </a:t>
            </a:r>
            <a:r>
              <a:rPr lang="en-US" sz="1900" b="1" dirty="0">
                <a:solidFill>
                  <a:schemeClr val="tx1">
                    <a:lumMod val="85000"/>
                    <a:lumOff val="15000"/>
                  </a:schemeClr>
                </a:solidFill>
              </a:rPr>
              <a:t>perforation, peritonitis, hemodynamic instability</a:t>
            </a:r>
            <a:endParaRPr lang="en-US" sz="1900" dirty="0">
              <a:solidFill>
                <a:schemeClr val="tx1">
                  <a:lumMod val="85000"/>
                  <a:lumOff val="15000"/>
                </a:schemeClr>
              </a:solidFill>
            </a:endParaRPr>
          </a:p>
          <a:p>
            <a:endParaRPr lang="en-US" sz="1900" dirty="0">
              <a:solidFill>
                <a:schemeClr val="tx1">
                  <a:lumMod val="85000"/>
                  <a:lumOff val="15000"/>
                </a:schemeClr>
              </a:solidFill>
            </a:endParaRPr>
          </a:p>
        </p:txBody>
      </p:sp>
      <p:pic>
        <p:nvPicPr>
          <p:cNvPr id="27" name="Picture 26" descr="Natural Pearls vs. Cultured Pearls: The Difference Explained | Jewelers Mutual">
            <a:extLst>
              <a:ext uri="{FF2B5EF4-FFF2-40B4-BE49-F238E27FC236}">
                <a16:creationId xmlns:a16="http://schemas.microsoft.com/office/drawing/2014/main" id="{7B3D4A2C-7582-8C42-B6C3-B440D0CFE074}"/>
              </a:ext>
            </a:extLst>
          </p:cNvPr>
          <p:cNvPicPr>
            <a:picLocks noChangeAspect="1"/>
          </p:cNvPicPr>
          <p:nvPr/>
        </p:nvPicPr>
        <p:blipFill>
          <a:blip r:embed="rId3"/>
          <a:srcRect l="14542" r="2" b="2"/>
          <a:stretch>
            <a:fillRect/>
          </a:stretch>
        </p:blipFill>
        <p:spPr>
          <a:xfrm>
            <a:off x="7801965" y="-91440"/>
            <a:ext cx="4390035" cy="6949440"/>
          </a:xfrm>
          <a:custGeom>
            <a:avLst/>
            <a:gdLst/>
            <a:ahLst/>
            <a:cxnLst/>
            <a:rect l="l" t="t" r="r" b="b"/>
            <a:pathLst>
              <a:path w="4390035" h="3429000">
                <a:moveTo>
                  <a:pt x="73290" y="0"/>
                </a:moveTo>
                <a:lnTo>
                  <a:pt x="4390035" y="0"/>
                </a:lnTo>
                <a:lnTo>
                  <a:pt x="4390035" y="3429000"/>
                </a:lnTo>
                <a:lnTo>
                  <a:pt x="436073" y="3429000"/>
                </a:lnTo>
                <a:lnTo>
                  <a:pt x="427332" y="3410468"/>
                </a:lnTo>
                <a:cubicBezTo>
                  <a:pt x="419323" y="3391643"/>
                  <a:pt x="413863" y="3372861"/>
                  <a:pt x="421685" y="3366814"/>
                </a:cubicBezTo>
                <a:cubicBezTo>
                  <a:pt x="417583" y="3332384"/>
                  <a:pt x="433681" y="3294011"/>
                  <a:pt x="423663" y="3247798"/>
                </a:cubicBezTo>
                <a:cubicBezTo>
                  <a:pt x="421194" y="3188032"/>
                  <a:pt x="418245" y="3205513"/>
                  <a:pt x="412524" y="3110724"/>
                </a:cubicBezTo>
                <a:cubicBezTo>
                  <a:pt x="404022" y="3069386"/>
                  <a:pt x="436006" y="3027577"/>
                  <a:pt x="419732" y="3004503"/>
                </a:cubicBezTo>
                <a:cubicBezTo>
                  <a:pt x="407578" y="2949657"/>
                  <a:pt x="388511" y="2896851"/>
                  <a:pt x="363651" y="2842588"/>
                </a:cubicBezTo>
                <a:cubicBezTo>
                  <a:pt x="332103" y="2797699"/>
                  <a:pt x="331554" y="2711800"/>
                  <a:pt x="263212" y="2651456"/>
                </a:cubicBezTo>
                <a:cubicBezTo>
                  <a:pt x="235935" y="2585326"/>
                  <a:pt x="214760" y="2535145"/>
                  <a:pt x="194330" y="2484251"/>
                </a:cubicBezTo>
                <a:cubicBezTo>
                  <a:pt x="184580" y="2468441"/>
                  <a:pt x="154039" y="2380429"/>
                  <a:pt x="140630" y="2346096"/>
                </a:cubicBezTo>
                <a:cubicBezTo>
                  <a:pt x="76681" y="2257531"/>
                  <a:pt x="91260" y="2243719"/>
                  <a:pt x="77185" y="2144811"/>
                </a:cubicBezTo>
                <a:cubicBezTo>
                  <a:pt x="66953" y="2112233"/>
                  <a:pt x="67414" y="2096078"/>
                  <a:pt x="50887" y="2061697"/>
                </a:cubicBezTo>
                <a:lnTo>
                  <a:pt x="27133" y="1969379"/>
                </a:lnTo>
                <a:lnTo>
                  <a:pt x="29988" y="1961973"/>
                </a:lnTo>
                <a:lnTo>
                  <a:pt x="31559" y="1961231"/>
                </a:lnTo>
                <a:lnTo>
                  <a:pt x="14905" y="1880268"/>
                </a:lnTo>
                <a:cubicBezTo>
                  <a:pt x="12271" y="1874644"/>
                  <a:pt x="-805" y="1860096"/>
                  <a:pt x="2188" y="1847922"/>
                </a:cubicBezTo>
                <a:lnTo>
                  <a:pt x="21879" y="1779161"/>
                </a:lnTo>
                <a:lnTo>
                  <a:pt x="27968" y="1733684"/>
                </a:lnTo>
                <a:cubicBezTo>
                  <a:pt x="25035" y="1726530"/>
                  <a:pt x="21617" y="1619937"/>
                  <a:pt x="16511" y="1614373"/>
                </a:cubicBezTo>
                <a:cubicBezTo>
                  <a:pt x="47946" y="1547691"/>
                  <a:pt x="4394" y="1556097"/>
                  <a:pt x="12613" y="1479987"/>
                </a:cubicBezTo>
                <a:cubicBezTo>
                  <a:pt x="15110" y="1387360"/>
                  <a:pt x="4986" y="1320420"/>
                  <a:pt x="4190" y="1214801"/>
                </a:cubicBezTo>
                <a:cubicBezTo>
                  <a:pt x="3611" y="1152457"/>
                  <a:pt x="-6268" y="1080052"/>
                  <a:pt x="6503" y="966549"/>
                </a:cubicBezTo>
                <a:cubicBezTo>
                  <a:pt x="10182" y="901722"/>
                  <a:pt x="25065" y="884915"/>
                  <a:pt x="20609" y="845066"/>
                </a:cubicBezTo>
                <a:cubicBezTo>
                  <a:pt x="20199" y="816540"/>
                  <a:pt x="19791" y="788014"/>
                  <a:pt x="19381" y="759488"/>
                </a:cubicBezTo>
                <a:lnTo>
                  <a:pt x="21672" y="741102"/>
                </a:lnTo>
                <a:lnTo>
                  <a:pt x="30720" y="737125"/>
                </a:lnTo>
                <a:lnTo>
                  <a:pt x="23211" y="691098"/>
                </a:lnTo>
                <a:cubicBezTo>
                  <a:pt x="25461" y="680873"/>
                  <a:pt x="43338" y="650431"/>
                  <a:pt x="42062" y="637700"/>
                </a:cubicBezTo>
                <a:cubicBezTo>
                  <a:pt x="23297" y="593852"/>
                  <a:pt x="30263" y="601340"/>
                  <a:pt x="41571" y="540174"/>
                </a:cubicBezTo>
                <a:cubicBezTo>
                  <a:pt x="35397" y="519975"/>
                  <a:pt x="35174" y="428356"/>
                  <a:pt x="46636" y="415352"/>
                </a:cubicBezTo>
                <a:cubicBezTo>
                  <a:pt x="48960" y="401821"/>
                  <a:pt x="44602" y="386587"/>
                  <a:pt x="56977" y="379461"/>
                </a:cubicBezTo>
                <a:cubicBezTo>
                  <a:pt x="71829" y="368123"/>
                  <a:pt x="47958" y="323384"/>
                  <a:pt x="65759" y="328645"/>
                </a:cubicBezTo>
                <a:cubicBezTo>
                  <a:pt x="49386" y="296830"/>
                  <a:pt x="65237" y="231983"/>
                  <a:pt x="72589" y="203608"/>
                </a:cubicBezTo>
                <a:cubicBezTo>
                  <a:pt x="75524" y="153257"/>
                  <a:pt x="77980" y="142710"/>
                  <a:pt x="78370" y="105992"/>
                </a:cubicBezTo>
                <a:cubicBezTo>
                  <a:pt x="80828" y="104127"/>
                  <a:pt x="70890" y="52128"/>
                  <a:pt x="70125" y="25135"/>
                </a:cubicBezTo>
                <a:close/>
              </a:path>
            </a:pathLst>
          </a:custGeom>
        </p:spPr>
      </p:pic>
    </p:spTree>
    <p:extLst>
      <p:ext uri="{BB962C8B-B14F-4D97-AF65-F5344CB8AC3E}">
        <p14:creationId xmlns:p14="http://schemas.microsoft.com/office/powerpoint/2010/main" val="233072341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3E7719-3751-4BDF-821D-68EC83F70407}"/>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sz="5400" b="1" i="1" dirty="0">
                <a:solidFill>
                  <a:srgbClr val="FF0000"/>
                </a:solidFill>
              </a:rPr>
              <a:t>Obstruction</a:t>
            </a:r>
          </a:p>
        </p:txBody>
      </p:sp>
      <p:sp>
        <p:nvSpPr>
          <p:cNvPr id="3" name="Text Placeholder 2">
            <a:extLst>
              <a:ext uri="{FF2B5EF4-FFF2-40B4-BE49-F238E27FC236}">
                <a16:creationId xmlns:a16="http://schemas.microsoft.com/office/drawing/2014/main" id="{EBD24468-C276-E7BF-E705-5A9B8ADAFAE1}"/>
              </a:ext>
            </a:extLst>
          </p:cNvPr>
          <p:cNvSpPr>
            <a:spLocks noGrp="1"/>
          </p:cNvSpPr>
          <p:nvPr>
            <p:ph type="body" idx="1"/>
          </p:nvPr>
        </p:nvSpPr>
        <p:spPr>
          <a:xfrm>
            <a:off x="890339" y="4636008"/>
            <a:ext cx="3734014" cy="1572768"/>
          </a:xfrm>
        </p:spPr>
        <p:txBody>
          <a:bodyPr vert="horz" lIns="91440" tIns="45720" rIns="91440" bIns="45720" rtlCol="0">
            <a:normAutofit/>
          </a:bodyPr>
          <a:lstStyle/>
          <a:p>
            <a:r>
              <a:rPr lang="en-US">
                <a:solidFill>
                  <a:schemeClr val="tx1"/>
                </a:solidFill>
              </a:rPr>
              <a:t> </a:t>
            </a:r>
            <a:r>
              <a:rPr lang="en-US" b="1">
                <a:solidFill>
                  <a:schemeClr val="tx1"/>
                </a:solidFill>
              </a:rPr>
              <a:t>Small Bowel Obstruction (SBO)</a:t>
            </a:r>
            <a:endParaRPr lang="en-US">
              <a:solidFill>
                <a:schemeClr val="tx1"/>
              </a:solidFill>
            </a:endParaRPr>
          </a:p>
        </p:txBody>
      </p:sp>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20+ Small Bowel Obstruction Stock Illustrations, Royalty-Free Vector  Graphics &amp; Clip Art - iStock">
            <a:extLst>
              <a:ext uri="{FF2B5EF4-FFF2-40B4-BE49-F238E27FC236}">
                <a16:creationId xmlns:a16="http://schemas.microsoft.com/office/drawing/2014/main" id="{5DD23FA3-C934-2D87-2467-FB72C4972A6F}"/>
              </a:ext>
            </a:extLst>
          </p:cNvPr>
          <p:cNvPicPr>
            <a:picLocks noChangeAspect="1"/>
          </p:cNvPicPr>
          <p:nvPr/>
        </p:nvPicPr>
        <p:blipFill>
          <a:blip r:embed="rId2"/>
          <a:srcRect t="30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46450534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BF6CBE-9B9B-D953-046D-0458F969B6DF}"/>
              </a:ext>
            </a:extLst>
          </p:cNvPr>
          <p:cNvSpPr>
            <a:spLocks noGrp="1"/>
          </p:cNvSpPr>
          <p:nvPr>
            <p:ph type="title"/>
          </p:nvPr>
        </p:nvSpPr>
        <p:spPr>
          <a:xfrm>
            <a:off x="572493" y="238539"/>
            <a:ext cx="11018520" cy="1434415"/>
          </a:xfrm>
        </p:spPr>
        <p:txBody>
          <a:bodyPr anchor="b">
            <a:normAutofit/>
          </a:bodyPr>
          <a:lstStyle/>
          <a:p>
            <a:r>
              <a:rPr lang="en-US" sz="5400"/>
              <a:t>Small Bowel Obstruction (SBO)</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1217408-E19F-279E-F08B-D6A2E16F0944}"/>
              </a:ext>
            </a:extLst>
          </p:cNvPr>
          <p:cNvSpPr>
            <a:spLocks noGrp="1"/>
          </p:cNvSpPr>
          <p:nvPr>
            <p:ph idx="1"/>
          </p:nvPr>
        </p:nvSpPr>
        <p:spPr>
          <a:xfrm>
            <a:off x="572493" y="2071316"/>
            <a:ext cx="6713552" cy="4119172"/>
          </a:xfrm>
        </p:spPr>
        <p:txBody>
          <a:bodyPr anchor="t">
            <a:normAutofit/>
          </a:bodyPr>
          <a:lstStyle/>
          <a:p>
            <a:r>
              <a:rPr lang="en-US" sz="1500" b="1" dirty="0"/>
              <a:t>Epidemiology</a:t>
            </a:r>
            <a:endParaRPr lang="en-US" sz="1500" dirty="0"/>
          </a:p>
          <a:p>
            <a:pPr lvl="1"/>
            <a:r>
              <a:rPr lang="en-US" sz="1500" dirty="0"/>
              <a:t>SBO accounts for approximately </a:t>
            </a:r>
            <a:r>
              <a:rPr lang="en-US" sz="1500" b="1" dirty="0"/>
              <a:t>15% of acute surgical GI admissions</a:t>
            </a:r>
            <a:r>
              <a:rPr lang="en-US" sz="1500" dirty="0"/>
              <a:t>, with ~350,000 cases annually in the United States.</a:t>
            </a:r>
          </a:p>
          <a:p>
            <a:r>
              <a:rPr lang="en-US" sz="1500" b="1" dirty="0"/>
              <a:t>Etiology </a:t>
            </a:r>
          </a:p>
          <a:p>
            <a:pPr lvl="1"/>
            <a:r>
              <a:rPr lang="en-US" sz="1500" b="1" dirty="0"/>
              <a:t>Adhesions</a:t>
            </a:r>
            <a:r>
              <a:rPr lang="en-US" sz="1500" dirty="0"/>
              <a:t> — </a:t>
            </a:r>
            <a:r>
              <a:rPr lang="en-US" sz="1500" b="1" dirty="0"/>
              <a:t>65%</a:t>
            </a:r>
            <a:r>
              <a:rPr lang="en-US" sz="1500" dirty="0"/>
              <a:t> (most common cause overall; prior abdominal surgery is the #1 risk factor) </a:t>
            </a:r>
          </a:p>
          <a:p>
            <a:pPr lvl="1"/>
            <a:r>
              <a:rPr lang="en-US" sz="1500" b="1" dirty="0"/>
              <a:t>Hernias</a:t>
            </a:r>
            <a:r>
              <a:rPr lang="en-US" sz="1500" dirty="0"/>
              <a:t> — 10% (incarcerated inguinal, ventral, or internal hernias; highest strangulation rate at ~33%) </a:t>
            </a:r>
          </a:p>
          <a:p>
            <a:pPr lvl="1"/>
            <a:r>
              <a:rPr lang="en-US" sz="1500" b="1" dirty="0"/>
              <a:t>Neoplasms</a:t>
            </a:r>
            <a:r>
              <a:rPr lang="en-US" sz="1500" dirty="0"/>
              <a:t> — 5%</a:t>
            </a:r>
          </a:p>
          <a:p>
            <a:pPr lvl="1"/>
            <a:r>
              <a:rPr lang="en-US" sz="1500" b="1" dirty="0"/>
              <a:t>Crohn's disease</a:t>
            </a:r>
            <a:r>
              <a:rPr lang="en-US" sz="1500" dirty="0"/>
              <a:t> — 5%</a:t>
            </a:r>
          </a:p>
          <a:p>
            <a:pPr lvl="1"/>
            <a:r>
              <a:rPr lang="en-US" sz="1500" dirty="0"/>
              <a:t>Other (volvulus, gallstone ileus, intussusception, strictures, foreign bodies) — 15% </a:t>
            </a:r>
          </a:p>
          <a:p>
            <a:r>
              <a:rPr lang="en-US" sz="1500" dirty="0"/>
              <a:t>A </a:t>
            </a:r>
            <a:r>
              <a:rPr lang="en-US" sz="1500" b="1" i="1" dirty="0"/>
              <a:t>special population </a:t>
            </a:r>
            <a:r>
              <a:rPr lang="en-US" sz="1500" dirty="0"/>
              <a:t>to </a:t>
            </a:r>
            <a:r>
              <a:rPr lang="en-US" sz="1500" b="1" dirty="0"/>
              <a:t>remember</a:t>
            </a:r>
            <a:r>
              <a:rPr lang="en-US" sz="1500" dirty="0"/>
              <a:t>: patients with prior </a:t>
            </a:r>
            <a:r>
              <a:rPr lang="en-US" sz="1500" b="1" dirty="0"/>
              <a:t>Roux-en-Y gastric bypass</a:t>
            </a:r>
            <a:r>
              <a:rPr lang="en-US" sz="1500" dirty="0"/>
              <a:t> are at high risk for closed-loop obstruction from internal hernias and </a:t>
            </a:r>
            <a:r>
              <a:rPr lang="en-US" sz="1500" b="1" i="1" dirty="0"/>
              <a:t>may not</a:t>
            </a:r>
            <a:r>
              <a:rPr lang="en-US" sz="1500" dirty="0"/>
              <a:t> present with classic signs.</a:t>
            </a:r>
          </a:p>
          <a:p>
            <a:endParaRPr lang="en-US" sz="1500" dirty="0"/>
          </a:p>
        </p:txBody>
      </p:sp>
      <p:pic>
        <p:nvPicPr>
          <p:cNvPr id="4" name="Picture 3" descr="20+ Small Bowel Obstruction Stock Illustrations, Royalty-Free Vector  Graphics &amp; Clip Art - iStock">
            <a:extLst>
              <a:ext uri="{FF2B5EF4-FFF2-40B4-BE49-F238E27FC236}">
                <a16:creationId xmlns:a16="http://schemas.microsoft.com/office/drawing/2014/main" id="{0FDB7999-56E3-EB11-FD2C-BE06245D11B4}"/>
              </a:ext>
            </a:extLst>
          </p:cNvPr>
          <p:cNvPicPr>
            <a:picLocks noChangeAspect="1"/>
          </p:cNvPicPr>
          <p:nvPr/>
        </p:nvPicPr>
        <p:blipFill>
          <a:blip r:embed="rId2"/>
          <a:srcRect l="2572" r="1220"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97097397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C2208F-6AD8-12D6-D2B6-4996C171983D}"/>
              </a:ext>
            </a:extLst>
          </p:cNvPr>
          <p:cNvSpPr>
            <a:spLocks noGrp="1"/>
          </p:cNvSpPr>
          <p:nvPr>
            <p:ph type="title"/>
          </p:nvPr>
        </p:nvSpPr>
        <p:spPr>
          <a:xfrm>
            <a:off x="572493" y="238539"/>
            <a:ext cx="11018520" cy="1434415"/>
          </a:xfrm>
        </p:spPr>
        <p:txBody>
          <a:bodyPr anchor="b">
            <a:normAutofit/>
          </a:bodyPr>
          <a:lstStyle/>
          <a:p>
            <a:r>
              <a:rPr lang="en-US" sz="5400" b="1"/>
              <a:t>Pathophysiology</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9CA33E4-5037-6C27-A405-8B5A46018E7C}"/>
              </a:ext>
            </a:extLst>
          </p:cNvPr>
          <p:cNvSpPr>
            <a:spLocks noGrp="1"/>
          </p:cNvSpPr>
          <p:nvPr>
            <p:ph idx="1"/>
          </p:nvPr>
        </p:nvSpPr>
        <p:spPr>
          <a:xfrm>
            <a:off x="572493" y="2071316"/>
            <a:ext cx="6713552" cy="4119172"/>
          </a:xfrm>
        </p:spPr>
        <p:txBody>
          <a:bodyPr anchor="t">
            <a:normAutofit/>
          </a:bodyPr>
          <a:lstStyle/>
          <a:p>
            <a:r>
              <a:rPr lang="en-US" sz="2200" b="1" i="1" dirty="0">
                <a:solidFill>
                  <a:srgbClr val="FF0000"/>
                </a:solidFill>
              </a:rPr>
              <a:t>Mechanical obstruction → proximal bowel dilation (primarily from swallowed air and accumulated secretions) → increased intraluminal pressure → decreased mucosal perfusion → bacterial overgrowth</a:t>
            </a:r>
            <a:r>
              <a:rPr lang="en-US" sz="2200" dirty="0"/>
              <a:t> → risk of </a:t>
            </a:r>
            <a:r>
              <a:rPr lang="en-US" sz="2200" b="1" dirty="0"/>
              <a:t>ischemia, strangulation, and perforation</a:t>
            </a:r>
            <a:r>
              <a:rPr lang="en-US" sz="2200" dirty="0"/>
              <a:t>. </a:t>
            </a:r>
          </a:p>
          <a:p>
            <a:pPr lvl="1"/>
            <a:r>
              <a:rPr lang="en-US" sz="1800" dirty="0"/>
              <a:t>Bowel ischemia increases mortality from ~3% to </a:t>
            </a:r>
            <a:r>
              <a:rPr lang="en-US" sz="1800" b="1" dirty="0"/>
              <a:t>30%</a:t>
            </a:r>
            <a:r>
              <a:rPr lang="en-US" sz="1800" dirty="0"/>
              <a:t>.</a:t>
            </a:r>
          </a:p>
        </p:txBody>
      </p:sp>
      <p:pic>
        <p:nvPicPr>
          <p:cNvPr id="4" name="Picture 3" descr="20+ Small Bowel Obstruction Stock Illustrations, Royalty-Free Vector  Graphics &amp; Clip Art - iStock">
            <a:extLst>
              <a:ext uri="{FF2B5EF4-FFF2-40B4-BE49-F238E27FC236}">
                <a16:creationId xmlns:a16="http://schemas.microsoft.com/office/drawing/2014/main" id="{7632FF91-5995-27C6-9F3A-393069FF700A}"/>
              </a:ext>
            </a:extLst>
          </p:cNvPr>
          <p:cNvPicPr>
            <a:picLocks noChangeAspect="1"/>
          </p:cNvPicPr>
          <p:nvPr/>
        </p:nvPicPr>
        <p:blipFill>
          <a:blip r:embed="rId2"/>
          <a:srcRect l="2572" r="1220"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84681822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39027-B46D-BF89-EE81-E3215010CA59}"/>
              </a:ext>
            </a:extLst>
          </p:cNvPr>
          <p:cNvSpPr>
            <a:spLocks noGrp="1"/>
          </p:cNvSpPr>
          <p:nvPr>
            <p:ph type="title"/>
          </p:nvPr>
        </p:nvSpPr>
        <p:spPr/>
        <p:txBody>
          <a:bodyPr/>
          <a:lstStyle/>
          <a:p>
            <a:r>
              <a:rPr lang="en-US"/>
              <a:t>Step by Step Breakdown</a:t>
            </a:r>
            <a:endParaRPr lang="en-US" dirty="0"/>
          </a:p>
        </p:txBody>
      </p:sp>
      <p:sp>
        <p:nvSpPr>
          <p:cNvPr id="3" name="Content Placeholder 2">
            <a:extLst>
              <a:ext uri="{FF2B5EF4-FFF2-40B4-BE49-F238E27FC236}">
                <a16:creationId xmlns:a16="http://schemas.microsoft.com/office/drawing/2014/main" id="{D777262B-77D1-DB11-D8B6-C8871409F9D7}"/>
              </a:ext>
            </a:extLst>
          </p:cNvPr>
          <p:cNvSpPr>
            <a:spLocks noGrp="1"/>
          </p:cNvSpPr>
          <p:nvPr>
            <p:ph idx="1"/>
          </p:nvPr>
        </p:nvSpPr>
        <p:spPr/>
        <p:txBody>
          <a:bodyPr>
            <a:normAutofit fontScale="70000" lnSpcReduction="20000"/>
          </a:bodyPr>
          <a:lstStyle/>
          <a:p>
            <a:pPr lvl="0"/>
            <a:r>
              <a:rPr lang="en-US" b="1" dirty="0"/>
              <a:t>The Blockage Starts</a:t>
            </a:r>
            <a:endParaRPr lang="en-US" dirty="0"/>
          </a:p>
          <a:p>
            <a:pPr lvl="1"/>
            <a:r>
              <a:rPr lang="en-US" dirty="0"/>
              <a:t>A </a:t>
            </a:r>
            <a:r>
              <a:rPr lang="en-US" b="1" dirty="0"/>
              <a:t>mechanical obstruction</a:t>
            </a:r>
            <a:r>
              <a:rPr lang="en-US" dirty="0"/>
              <a:t> physically blocks the intestine, stopping food, fluid, and gas from moving forward.</a:t>
            </a:r>
          </a:p>
          <a:p>
            <a:pPr lvl="0"/>
            <a:r>
              <a:rPr lang="en-US" b="1" dirty="0"/>
              <a:t>Fluid and Air Build Up</a:t>
            </a:r>
            <a:endParaRPr lang="en-US" dirty="0"/>
          </a:p>
          <a:p>
            <a:pPr lvl="1"/>
            <a:r>
              <a:rPr lang="en-US" dirty="0"/>
              <a:t>Because things can't pass, the intestine above the blockage (</a:t>
            </a:r>
            <a:r>
              <a:rPr lang="en-US" b="1" dirty="0"/>
              <a:t>proximal bowel</a:t>
            </a:r>
            <a:r>
              <a:rPr lang="en-US" dirty="0"/>
              <a:t>) swells up from swallowed air and digestive fluids.</a:t>
            </a:r>
          </a:p>
          <a:p>
            <a:pPr lvl="0"/>
            <a:r>
              <a:rPr lang="en-US" b="1" dirty="0"/>
              <a:t>Pressure Rises</a:t>
            </a:r>
            <a:endParaRPr lang="en-US" dirty="0"/>
          </a:p>
          <a:p>
            <a:pPr lvl="1"/>
            <a:r>
              <a:rPr lang="en-US" dirty="0"/>
              <a:t>This buildup creates </a:t>
            </a:r>
            <a:r>
              <a:rPr lang="en-US" b="1" dirty="0"/>
              <a:t>increased intraluminal pressure</a:t>
            </a:r>
            <a:r>
              <a:rPr lang="en-US" dirty="0"/>
              <a:t> (high pressure inside the gut), which squeezes the walls of the intestine.</a:t>
            </a:r>
          </a:p>
          <a:p>
            <a:pPr lvl="0"/>
            <a:r>
              <a:rPr lang="en-US" b="1" dirty="0"/>
              <a:t>Blood Flow Drops</a:t>
            </a:r>
            <a:endParaRPr lang="en-US" dirty="0"/>
          </a:p>
          <a:p>
            <a:pPr lvl="1"/>
            <a:r>
              <a:rPr lang="en-US" dirty="0"/>
              <a:t>The squeezing cuts off healthy blood flow to the intestinal lining (</a:t>
            </a:r>
            <a:r>
              <a:rPr lang="en-US" b="1" dirty="0"/>
              <a:t>decreased mucosal perfusion</a:t>
            </a:r>
            <a:r>
              <a:rPr lang="en-US" dirty="0"/>
              <a:t>).</a:t>
            </a:r>
          </a:p>
          <a:p>
            <a:pPr lvl="0"/>
            <a:r>
              <a:rPr lang="en-US" b="1" dirty="0"/>
              <a:t>Bacteria Multiply</a:t>
            </a:r>
            <a:endParaRPr lang="en-US" dirty="0"/>
          </a:p>
          <a:p>
            <a:pPr lvl="1"/>
            <a:r>
              <a:rPr lang="en-US" dirty="0"/>
              <a:t>With poor blood flow and trapped contents, bacteria rapidly multiply (</a:t>
            </a:r>
            <a:r>
              <a:rPr lang="en-US" b="1" dirty="0"/>
              <a:t>bacterial overgrowth</a:t>
            </a:r>
            <a:r>
              <a:rPr lang="en-US" dirty="0"/>
              <a:t>).</a:t>
            </a:r>
          </a:p>
          <a:p>
            <a:pPr lvl="0"/>
            <a:r>
              <a:rPr lang="en-US" b="1" dirty="0"/>
              <a:t>Severe Damage and Danger</a:t>
            </a:r>
            <a:endParaRPr lang="en-US" dirty="0"/>
          </a:p>
          <a:p>
            <a:pPr lvl="1"/>
            <a:r>
              <a:rPr lang="en-US" dirty="0"/>
              <a:t>The lack of blood and heavy pressure put the intestine at high risk of tissue death (</a:t>
            </a:r>
            <a:r>
              <a:rPr lang="en-US" b="1" dirty="0"/>
              <a:t>ischemia</a:t>
            </a:r>
            <a:r>
              <a:rPr lang="en-US" dirty="0"/>
              <a:t>), twisting/cutting off blood entirely (</a:t>
            </a:r>
            <a:r>
              <a:rPr lang="en-US" b="1" dirty="0"/>
              <a:t>strangulation</a:t>
            </a:r>
            <a:r>
              <a:rPr lang="en-US" dirty="0"/>
              <a:t>), or bursting open (</a:t>
            </a:r>
            <a:r>
              <a:rPr lang="en-US" b="1" dirty="0"/>
              <a:t>perforation</a:t>
            </a:r>
            <a:r>
              <a:rPr lang="en-US" dirty="0"/>
              <a:t>).</a:t>
            </a:r>
          </a:p>
          <a:p>
            <a:endParaRPr lang="en-US" dirty="0"/>
          </a:p>
        </p:txBody>
      </p:sp>
      <p:pic>
        <p:nvPicPr>
          <p:cNvPr id="4" name="Picture 3" descr="20+ Small Bowel Obstruction Stock Illustrations, Royalty-Free Vector  Graphics &amp; Clip Art - iStock">
            <a:extLst>
              <a:ext uri="{FF2B5EF4-FFF2-40B4-BE49-F238E27FC236}">
                <a16:creationId xmlns:a16="http://schemas.microsoft.com/office/drawing/2014/main" id="{B0A140C8-9F8B-51AD-AAA1-BF9792CA88A9}"/>
              </a:ext>
            </a:extLst>
          </p:cNvPr>
          <p:cNvPicPr>
            <a:picLocks noChangeAspect="1"/>
          </p:cNvPicPr>
          <p:nvPr/>
        </p:nvPicPr>
        <p:blipFill>
          <a:blip r:embed="rId2"/>
          <a:stretch>
            <a:fillRect/>
          </a:stretch>
        </p:blipFill>
        <p:spPr>
          <a:xfrm>
            <a:off x="9773412" y="95218"/>
            <a:ext cx="1865376" cy="1865376"/>
          </a:xfrm>
          <a:prstGeom prst="rect">
            <a:avLst/>
          </a:prstGeom>
        </p:spPr>
      </p:pic>
    </p:spTree>
    <p:extLst>
      <p:ext uri="{BB962C8B-B14F-4D97-AF65-F5344CB8AC3E}">
        <p14:creationId xmlns:p14="http://schemas.microsoft.com/office/powerpoint/2010/main" val="390754509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97C694-CC9E-D775-DDDD-7D3511068628}"/>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dirty="0"/>
              <a:t>SBO</a:t>
            </a:r>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mall Bowel Obstruction is a medical condition where the small intestine is partially or completely blocked. When an obstruction occurs, the normal flow of the intestinal contents is impeded, leading to a">
            <a:extLst>
              <a:ext uri="{FF2B5EF4-FFF2-40B4-BE49-F238E27FC236}">
                <a16:creationId xmlns:a16="http://schemas.microsoft.com/office/drawing/2014/main" id="{C113CA19-C518-ACAB-DFCF-94A31047F174}"/>
              </a:ext>
            </a:extLst>
          </p:cNvPr>
          <p:cNvPicPr>
            <a:picLocks noChangeAspect="1"/>
          </p:cNvPicPr>
          <p:nvPr/>
        </p:nvPicPr>
        <p:blipFill>
          <a:blip r:embed="rId2"/>
          <a:stretch>
            <a:fillRect/>
          </a:stretch>
        </p:blipFill>
        <p:spPr>
          <a:xfrm>
            <a:off x="1324356" y="2642616"/>
            <a:ext cx="3605784" cy="3605784"/>
          </a:xfrm>
          <a:prstGeom prst="rect">
            <a:avLst/>
          </a:prstGeom>
        </p:spPr>
      </p:pic>
      <p:pic>
        <p:nvPicPr>
          <p:cNvPr id="4" name="Content Placeholder 3" descr="Best Gastrointestinal Surgeon in Ahmedabad, India | Dr. Vishal Soni">
            <a:extLst>
              <a:ext uri="{FF2B5EF4-FFF2-40B4-BE49-F238E27FC236}">
                <a16:creationId xmlns:a16="http://schemas.microsoft.com/office/drawing/2014/main" id="{67E444C0-FF92-7F64-1FF3-7AC90703D294}"/>
              </a:ext>
            </a:extLst>
          </p:cNvPr>
          <p:cNvPicPr>
            <a:picLocks noGrp="1" noChangeAspect="1"/>
          </p:cNvPicPr>
          <p:nvPr>
            <p:ph idx="1"/>
          </p:nvPr>
        </p:nvPicPr>
        <p:blipFill>
          <a:blip r:embed="rId3"/>
          <a:stretch>
            <a:fillRect/>
          </a:stretch>
        </p:blipFill>
        <p:spPr>
          <a:xfrm>
            <a:off x="7258812" y="2642616"/>
            <a:ext cx="3605784" cy="3605784"/>
          </a:xfrm>
          <a:prstGeom prst="rect">
            <a:avLst/>
          </a:prstGeom>
        </p:spPr>
      </p:pic>
    </p:spTree>
    <p:extLst>
      <p:ext uri="{BB962C8B-B14F-4D97-AF65-F5344CB8AC3E}">
        <p14:creationId xmlns:p14="http://schemas.microsoft.com/office/powerpoint/2010/main" val="31744131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9963CE-FC22-9B07-63A5-BC4EA913EAB1}"/>
              </a:ext>
            </a:extLst>
          </p:cNvPr>
          <p:cNvSpPr>
            <a:spLocks noGrp="1"/>
          </p:cNvSpPr>
          <p:nvPr>
            <p:ph type="title"/>
          </p:nvPr>
        </p:nvSpPr>
        <p:spPr>
          <a:xfrm>
            <a:off x="640080" y="325369"/>
            <a:ext cx="4368602" cy="1956841"/>
          </a:xfrm>
        </p:spPr>
        <p:txBody>
          <a:bodyPr anchor="b">
            <a:normAutofit/>
          </a:bodyPr>
          <a:lstStyle/>
          <a:p>
            <a:r>
              <a:rPr lang="en-US" sz="4200" b="1"/>
              <a:t>Clinical Presentation — The Classic Tetrad</a:t>
            </a:r>
            <a:endParaRPr lang="en-US" sz="420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8648F5F-BE47-A67F-6A0F-D417F6E8991F}"/>
              </a:ext>
            </a:extLst>
          </p:cNvPr>
          <p:cNvSpPr>
            <a:spLocks noGrp="1"/>
          </p:cNvSpPr>
          <p:nvPr>
            <p:ph idx="1"/>
          </p:nvPr>
        </p:nvSpPr>
        <p:spPr>
          <a:xfrm>
            <a:off x="640080" y="2872899"/>
            <a:ext cx="4243589" cy="3320668"/>
          </a:xfrm>
        </p:spPr>
        <p:txBody>
          <a:bodyPr>
            <a:normAutofit/>
          </a:bodyPr>
          <a:lstStyle/>
          <a:p>
            <a:r>
              <a:rPr lang="en-US" sz="2000" b="1"/>
              <a:t>Colicky abdominal pain</a:t>
            </a:r>
            <a:r>
              <a:rPr lang="en-US" sz="2000"/>
              <a:t> (intermittent, crampy; becomes constant when peristalsis ceases)</a:t>
            </a:r>
          </a:p>
          <a:p>
            <a:r>
              <a:rPr lang="en-US" sz="2000" b="1"/>
              <a:t>Nausea and vomiting</a:t>
            </a:r>
            <a:r>
              <a:rPr lang="en-US" sz="2000"/>
              <a:t> (bilious = distal to ampulla of Vater; feculent = distal or long-standing obstruction)</a:t>
            </a:r>
          </a:p>
          <a:p>
            <a:r>
              <a:rPr lang="en-US" sz="2000" b="1"/>
              <a:t>Abdominal distension</a:t>
            </a:r>
            <a:endParaRPr lang="en-US" sz="2000"/>
          </a:p>
          <a:p>
            <a:r>
              <a:rPr lang="en-US" sz="2000" b="1"/>
              <a:t>Obstipation/constipation</a:t>
            </a:r>
            <a:endParaRPr lang="en-US" sz="2000"/>
          </a:p>
          <a:p>
            <a:endParaRPr lang="en-US" sz="2000"/>
          </a:p>
        </p:txBody>
      </p:sp>
      <p:pic>
        <p:nvPicPr>
          <p:cNvPr id="4" name="Picture 3" descr="20+ Small Bowel Obstruction Stock Illustrations, Royalty-Free Vector  Graphics &amp; Clip Art - iStock">
            <a:extLst>
              <a:ext uri="{FF2B5EF4-FFF2-40B4-BE49-F238E27FC236}">
                <a16:creationId xmlns:a16="http://schemas.microsoft.com/office/drawing/2014/main" id="{FC9E64AB-AA2F-DBBA-7952-33D450B868D5}"/>
              </a:ext>
            </a:extLst>
          </p:cNvPr>
          <p:cNvPicPr>
            <a:picLocks noChangeAspect="1"/>
          </p:cNvPicPr>
          <p:nvPr/>
        </p:nvPicPr>
        <p:blipFill>
          <a:blip r:embed="rId3"/>
          <a:srcRect t="30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15467738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AA5558-2B01-3510-9166-A4CECDB2BF42}"/>
              </a:ext>
            </a:extLst>
          </p:cNvPr>
          <p:cNvSpPr>
            <a:spLocks noGrp="1"/>
          </p:cNvSpPr>
          <p:nvPr>
            <p:ph type="title"/>
          </p:nvPr>
        </p:nvSpPr>
        <p:spPr>
          <a:xfrm>
            <a:off x="572493" y="238539"/>
            <a:ext cx="11018520" cy="1434415"/>
          </a:xfrm>
        </p:spPr>
        <p:txBody>
          <a:bodyPr anchor="b">
            <a:normAutofit/>
          </a:bodyPr>
          <a:lstStyle/>
          <a:p>
            <a:r>
              <a:rPr lang="en-US" sz="5400" b="1"/>
              <a:t>Physical exam findings</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60D1D6-A66A-A761-F1CB-70104E13B253}"/>
              </a:ext>
            </a:extLst>
          </p:cNvPr>
          <p:cNvSpPr>
            <a:spLocks noGrp="1"/>
          </p:cNvSpPr>
          <p:nvPr>
            <p:ph idx="1"/>
          </p:nvPr>
        </p:nvSpPr>
        <p:spPr>
          <a:xfrm>
            <a:off x="572493" y="2071316"/>
            <a:ext cx="6713552" cy="4119172"/>
          </a:xfrm>
        </p:spPr>
        <p:txBody>
          <a:bodyPr anchor="t">
            <a:normAutofit/>
          </a:bodyPr>
          <a:lstStyle/>
          <a:p>
            <a:r>
              <a:rPr lang="en-US" sz="2200" dirty="0"/>
              <a:t>Tympany to percussion, abdominal distension</a:t>
            </a:r>
          </a:p>
          <a:p>
            <a:r>
              <a:rPr lang="en-US" sz="2200" dirty="0"/>
              <a:t>High-pitched "tinkling" bowel sounds early → </a:t>
            </a:r>
            <a:r>
              <a:rPr lang="en-US" sz="2200" b="1" dirty="0"/>
              <a:t>absent bowel sounds late </a:t>
            </a:r>
            <a:r>
              <a:rPr lang="en-US" sz="2200" dirty="0"/>
              <a:t>(neither sensitive nor specific) </a:t>
            </a:r>
          </a:p>
          <a:p>
            <a:r>
              <a:rPr lang="en-US" sz="2200" b="1" dirty="0">
                <a:solidFill>
                  <a:srgbClr val="FF0000"/>
                </a:solidFill>
              </a:rPr>
              <a:t>Red flags for strangulation/ischemia</a:t>
            </a:r>
            <a:r>
              <a:rPr lang="en-US" sz="2200" b="1" dirty="0"/>
              <a:t>:</a:t>
            </a:r>
            <a:r>
              <a:rPr lang="en-US" sz="2200" dirty="0"/>
              <a:t> fever, tachycardia, hypotension, involuntary guarding, rebound tenderness, abdominal rigidity</a:t>
            </a:r>
          </a:p>
          <a:p>
            <a:endParaRPr lang="en-US" sz="2200" dirty="0"/>
          </a:p>
        </p:txBody>
      </p:sp>
      <p:pic>
        <p:nvPicPr>
          <p:cNvPr id="4" name="Picture 3" descr="20+ Small Bowel Obstruction Stock Illustrations, Royalty-Free Vector  Graphics &amp; Clip Art - iStock">
            <a:extLst>
              <a:ext uri="{FF2B5EF4-FFF2-40B4-BE49-F238E27FC236}">
                <a16:creationId xmlns:a16="http://schemas.microsoft.com/office/drawing/2014/main" id="{A83112C3-583C-967A-D7C0-28207852EF9C}"/>
              </a:ext>
            </a:extLst>
          </p:cNvPr>
          <p:cNvPicPr>
            <a:picLocks noChangeAspect="1"/>
          </p:cNvPicPr>
          <p:nvPr/>
        </p:nvPicPr>
        <p:blipFill>
          <a:blip r:embed="rId2"/>
          <a:srcRect l="2572" r="1220"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52862794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05A2C-7B83-F96F-A84F-E6C51FC21C36}"/>
              </a:ext>
            </a:extLst>
          </p:cNvPr>
          <p:cNvSpPr>
            <a:spLocks noGrp="1"/>
          </p:cNvSpPr>
          <p:nvPr>
            <p:ph type="title"/>
          </p:nvPr>
        </p:nvSpPr>
        <p:spPr/>
        <p:txBody>
          <a:bodyPr/>
          <a:lstStyle/>
          <a:p>
            <a:r>
              <a:rPr lang="en-US" b="1" dirty="0"/>
              <a:t>Key Distinctions to Understand</a:t>
            </a:r>
            <a:endParaRPr lang="en-US" dirty="0"/>
          </a:p>
        </p:txBody>
      </p:sp>
      <p:graphicFrame>
        <p:nvGraphicFramePr>
          <p:cNvPr id="6" name="Content Placeholder 5">
            <a:extLst>
              <a:ext uri="{FF2B5EF4-FFF2-40B4-BE49-F238E27FC236}">
                <a16:creationId xmlns:a16="http://schemas.microsoft.com/office/drawing/2014/main" id="{E2E2ABF3-B08D-202E-4E2F-03528EF3DFA4}"/>
              </a:ext>
            </a:extLst>
          </p:cNvPr>
          <p:cNvGraphicFramePr>
            <a:graphicFrameLocks noGrp="1"/>
          </p:cNvGraphicFramePr>
          <p:nvPr>
            <p:ph idx="1"/>
            <p:extLst>
              <p:ext uri="{D42A27DB-BD31-4B8C-83A1-F6EECF244321}">
                <p14:modId xmlns:p14="http://schemas.microsoft.com/office/powerpoint/2010/main" val="1164416226"/>
              </p:ext>
            </p:extLst>
          </p:nvPr>
        </p:nvGraphicFramePr>
        <p:xfrm>
          <a:off x="1950720" y="1677530"/>
          <a:ext cx="4408947" cy="4351338"/>
        </p:xfrm>
        <a:graphic>
          <a:graphicData uri="http://schemas.openxmlformats.org/drawingml/2006/table">
            <a:tbl>
              <a:tblPr/>
              <a:tblGrid>
                <a:gridCol w="1469649">
                  <a:extLst>
                    <a:ext uri="{9D8B030D-6E8A-4147-A177-3AD203B41FA5}">
                      <a16:colId xmlns:a16="http://schemas.microsoft.com/office/drawing/2014/main" val="21518620"/>
                    </a:ext>
                  </a:extLst>
                </a:gridCol>
                <a:gridCol w="1469649">
                  <a:extLst>
                    <a:ext uri="{9D8B030D-6E8A-4147-A177-3AD203B41FA5}">
                      <a16:colId xmlns:a16="http://schemas.microsoft.com/office/drawing/2014/main" val="664304092"/>
                    </a:ext>
                  </a:extLst>
                </a:gridCol>
                <a:gridCol w="1469649">
                  <a:extLst>
                    <a:ext uri="{9D8B030D-6E8A-4147-A177-3AD203B41FA5}">
                      <a16:colId xmlns:a16="http://schemas.microsoft.com/office/drawing/2014/main" val="3764538433"/>
                    </a:ext>
                  </a:extLst>
                </a:gridCol>
              </a:tblGrid>
              <a:tr h="397218">
                <a:tc>
                  <a:txBody>
                    <a:bodyPr/>
                    <a:lstStyle/>
                    <a:p>
                      <a:pPr marL="0" marR="0" indent="0" algn="l" fontAlgn="b">
                        <a:buNone/>
                      </a:pPr>
                      <a:r>
                        <a:rPr lang="en-US" sz="1100" b="1" i="0">
                          <a:effectLst/>
                          <a:latin typeface="Schibsted Grotesk"/>
                        </a:rPr>
                        <a:t>Classification</a:t>
                      </a:r>
                    </a:p>
                  </a:txBody>
                  <a:tcPr marL="54166" marR="54166" marT="36111" marB="36111" anchor="b">
                    <a:lnL w="12700" cap="flat" cmpd="sng" algn="ctr">
                      <a:solidFill>
                        <a:srgbClr val="009EC6"/>
                      </a:solidFill>
                      <a:prstDash val="solid"/>
                      <a:round/>
                      <a:headEnd type="none" w="med" len="med"/>
                      <a:tailEnd type="none" w="med" len="med"/>
                    </a:lnL>
                    <a:lnR w="12700" cap="flat" cmpd="sng" algn="ctr">
                      <a:solidFill>
                        <a:srgbClr val="E0FDC5"/>
                      </a:solidFill>
                      <a:prstDash val="solid"/>
                      <a:round/>
                      <a:headEnd type="none" w="med" len="med"/>
                      <a:tailEnd type="none" w="med" len="med"/>
                    </a:lnR>
                    <a:lnT w="12700" cap="flat" cmpd="sng" algn="ctr">
                      <a:solidFill>
                        <a:srgbClr val="009EC6"/>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tc>
                  <a:txBody>
                    <a:bodyPr/>
                    <a:lstStyle/>
                    <a:p>
                      <a:pPr marL="0" marR="0" indent="0" algn="l" fontAlgn="b">
                        <a:buNone/>
                      </a:pPr>
                      <a:r>
                        <a:rPr lang="en-US" sz="1100" b="1" i="0">
                          <a:effectLst/>
                          <a:latin typeface="Schibsted Grotesk"/>
                        </a:rPr>
                        <a:t>Definition</a:t>
                      </a:r>
                    </a:p>
                  </a:txBody>
                  <a:tcPr marL="54166" marR="54166" marT="36111" marB="36111" anchor="b">
                    <a:lnL w="12700" cap="flat" cmpd="sng" algn="ctr">
                      <a:solidFill>
                        <a:srgbClr val="E0FDC5"/>
                      </a:solidFill>
                      <a:prstDash val="solid"/>
                      <a:round/>
                      <a:headEnd type="none" w="med" len="med"/>
                      <a:tailEnd type="none" w="med" len="med"/>
                    </a:lnL>
                    <a:lnR w="12700" cap="flat" cmpd="sng" algn="ctr">
                      <a:solidFill>
                        <a:srgbClr val="50603D"/>
                      </a:solidFill>
                      <a:prstDash val="solid"/>
                      <a:round/>
                      <a:headEnd type="none" w="med" len="med"/>
                      <a:tailEnd type="none" w="med" len="med"/>
                    </a:lnR>
                    <a:lnT w="12700" cap="flat" cmpd="sng" algn="ctr">
                      <a:solidFill>
                        <a:srgbClr val="E0FDC5"/>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tc>
                  <a:txBody>
                    <a:bodyPr/>
                    <a:lstStyle/>
                    <a:p>
                      <a:pPr marL="0" marR="0" indent="0" algn="l" fontAlgn="b">
                        <a:buNone/>
                      </a:pPr>
                      <a:r>
                        <a:rPr lang="en-US" sz="1100" b="1" i="0">
                          <a:effectLst/>
                          <a:latin typeface="Schibsted Grotesk"/>
                        </a:rPr>
                        <a:t>Clinical Significance</a:t>
                      </a:r>
                    </a:p>
                  </a:txBody>
                  <a:tcPr marL="54166" marR="54166" marT="36111" marB="36111" anchor="b">
                    <a:lnL w="12700" cap="flat" cmpd="sng" algn="ctr">
                      <a:solidFill>
                        <a:srgbClr val="50603D"/>
                      </a:solidFill>
                      <a:prstDash val="solid"/>
                      <a:round/>
                      <a:headEnd type="none" w="med" len="med"/>
                      <a:tailEnd type="none" w="med" len="med"/>
                    </a:lnL>
                    <a:lnR w="12700" cap="flat" cmpd="sng" algn="ctr">
                      <a:solidFill>
                        <a:srgbClr val="30AC47"/>
                      </a:solidFill>
                      <a:prstDash val="solid"/>
                      <a:round/>
                      <a:headEnd type="none" w="med" len="med"/>
                      <a:tailEnd type="none" w="med" len="med"/>
                    </a:lnR>
                    <a:lnT w="12700" cap="flat" cmpd="sng" algn="ctr">
                      <a:solidFill>
                        <a:srgbClr val="50603D"/>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extLst>
                  <a:ext uri="{0D108BD9-81ED-4DB2-BD59-A6C34878D82A}">
                    <a16:rowId xmlns:a16="http://schemas.microsoft.com/office/drawing/2014/main" val="3603163933"/>
                  </a:ext>
                </a:extLst>
              </a:tr>
              <a:tr h="1209708">
                <a:tc>
                  <a:txBody>
                    <a:bodyPr/>
                    <a:lstStyle/>
                    <a:p>
                      <a:pPr marL="0" marR="0" indent="0" algn="l" fontAlgn="t">
                        <a:buNone/>
                      </a:pPr>
                      <a:r>
                        <a:rPr lang="en-US" sz="1100" b="1" i="0">
                          <a:effectLst/>
                          <a:latin typeface="Schibsted Grotesk"/>
                        </a:rPr>
                        <a:t>Partial vs. Complete</a:t>
                      </a:r>
                      <a:endParaRPr lang="en-US" sz="1100" b="0" i="0">
                        <a:effectLst/>
                        <a:latin typeface="Schibsted Grotesk"/>
                      </a:endParaRPr>
                    </a:p>
                  </a:txBody>
                  <a:tcPr marL="54166" marR="54166" marT="36111" marB="36111">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100" b="0" i="0">
                          <a:effectLst/>
                          <a:latin typeface="Schibsted Grotesk"/>
                        </a:rPr>
                        <a:t>Partial allows some passage of gas/fluid; complete does not</a:t>
                      </a:r>
                    </a:p>
                  </a:txBody>
                  <a:tcPr marL="54166" marR="54166" marT="36111" marB="36111">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100" b="0" i="0">
                          <a:effectLst/>
                          <a:latin typeface="Schibsted Grotesk"/>
                        </a:rPr>
                        <a:t>Complete obstruction has higher surgical rates and strangulation risk</a:t>
                      </a:r>
                    </a:p>
                  </a:txBody>
                  <a:tcPr marL="54166" marR="54166" marT="36111" marB="36111">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3598398001"/>
                  </a:ext>
                </a:extLst>
              </a:tr>
              <a:tr h="1372206">
                <a:tc>
                  <a:txBody>
                    <a:bodyPr/>
                    <a:lstStyle/>
                    <a:p>
                      <a:pPr marL="0" marR="0" indent="0" algn="l" fontAlgn="t">
                        <a:buNone/>
                      </a:pPr>
                      <a:r>
                        <a:rPr lang="en-US" sz="1100" b="1" i="0" dirty="0">
                          <a:effectLst/>
                          <a:latin typeface="Schibsted Grotesk"/>
                        </a:rPr>
                        <a:t>Simple vs. Complicated</a:t>
                      </a:r>
                      <a:endParaRPr lang="en-US" sz="1100" b="0" i="0" dirty="0">
                        <a:effectLst/>
                        <a:latin typeface="Schibsted Grotesk"/>
                      </a:endParaRPr>
                    </a:p>
                  </a:txBody>
                  <a:tcPr marL="54166" marR="54166" marT="36111" marB="36111">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100" b="0" i="0">
                          <a:effectLst/>
                          <a:latin typeface="Schibsted Grotesk"/>
                        </a:rPr>
                        <a:t>Simple = no vascular compromise; Complicated = ischemia, strangulation, or perforation</a:t>
                      </a:r>
                    </a:p>
                  </a:txBody>
                  <a:tcPr marL="54166" marR="54166" marT="36111" marB="36111">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100" b="0" i="0">
                          <a:effectLst/>
                          <a:latin typeface="Schibsted Grotesk"/>
                        </a:rPr>
                        <a:t>Complicated SBO requires urgent surgery</a:t>
                      </a:r>
                    </a:p>
                  </a:txBody>
                  <a:tcPr marL="54166" marR="54166" marT="36111" marB="36111">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906263416"/>
                  </a:ext>
                </a:extLst>
              </a:tr>
              <a:tr h="1372206">
                <a:tc>
                  <a:txBody>
                    <a:bodyPr/>
                    <a:lstStyle/>
                    <a:p>
                      <a:pPr marL="0" marR="0" indent="0" algn="l" fontAlgn="t">
                        <a:buNone/>
                      </a:pPr>
                      <a:r>
                        <a:rPr lang="en-US" sz="1100" b="1" i="0">
                          <a:effectLst/>
                          <a:latin typeface="Schibsted Grotesk"/>
                        </a:rPr>
                        <a:t>Closed-loop obstruction</a:t>
                      </a:r>
                      <a:endParaRPr lang="en-US" sz="1100" b="0" i="0">
                        <a:effectLst/>
                        <a:latin typeface="Schibsted Grotesk"/>
                      </a:endParaRPr>
                    </a:p>
                  </a:txBody>
                  <a:tcPr marL="54166" marR="54166" marT="36111" marB="36111">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100" b="0" i="0">
                          <a:effectLst/>
                          <a:latin typeface="Schibsted Grotesk"/>
                        </a:rPr>
                        <a:t>Bowel obstructed at two points, trapping a segment</a:t>
                      </a:r>
                    </a:p>
                  </a:txBody>
                  <a:tcPr marL="54166" marR="54166" marT="36111" marB="36111">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1100" b="0" i="0" dirty="0">
                          <a:effectLst/>
                          <a:latin typeface="Schibsted Grotesk"/>
                        </a:rPr>
                        <a:t>Surgical emergency — high risk of rapid ischemia; will not resolve nonoperatively</a:t>
                      </a:r>
                    </a:p>
                  </a:txBody>
                  <a:tcPr marL="54166" marR="54166" marT="36111" marB="36111">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3034708851"/>
                  </a:ext>
                </a:extLst>
              </a:tr>
            </a:tbl>
          </a:graphicData>
        </a:graphic>
      </p:graphicFrame>
    </p:spTree>
    <p:extLst>
      <p:ext uri="{BB962C8B-B14F-4D97-AF65-F5344CB8AC3E}">
        <p14:creationId xmlns:p14="http://schemas.microsoft.com/office/powerpoint/2010/main" val="14564276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AEDE31-8794-F2AF-0A16-C2C729EB345F}"/>
              </a:ext>
            </a:extLst>
          </p:cNvPr>
          <p:cNvSpPr>
            <a:spLocks noGrp="1"/>
          </p:cNvSpPr>
          <p:nvPr>
            <p:ph type="title"/>
          </p:nvPr>
        </p:nvSpPr>
        <p:spPr>
          <a:xfrm>
            <a:off x="640080" y="325369"/>
            <a:ext cx="4368602" cy="1956841"/>
          </a:xfrm>
        </p:spPr>
        <p:txBody>
          <a:bodyPr anchor="b">
            <a:normAutofit/>
          </a:bodyPr>
          <a:lstStyle/>
          <a:p>
            <a:r>
              <a:rPr lang="en-US" sz="5400" b="1"/>
              <a:t>Diagnosis</a:t>
            </a:r>
            <a:endParaRPr lang="en-US" sz="540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3D2B846-9DA6-4AA2-C99C-19217D8D2A60}"/>
              </a:ext>
            </a:extLst>
          </p:cNvPr>
          <p:cNvSpPr>
            <a:spLocks noGrp="1"/>
          </p:cNvSpPr>
          <p:nvPr>
            <p:ph idx="1"/>
          </p:nvPr>
        </p:nvSpPr>
        <p:spPr>
          <a:xfrm>
            <a:off x="640080" y="2872899"/>
            <a:ext cx="4243589" cy="3320668"/>
          </a:xfrm>
        </p:spPr>
        <p:txBody>
          <a:bodyPr>
            <a:normAutofit/>
          </a:bodyPr>
          <a:lstStyle/>
          <a:p>
            <a:r>
              <a:rPr lang="en-US" sz="2200" b="1"/>
              <a:t>Labs:</a:t>
            </a:r>
            <a:r>
              <a:rPr lang="en-US" sz="2200"/>
              <a:t> CBC (leukocytosis, bandemia), BMP (electrolyte derangements, AKI from dehydration), </a:t>
            </a:r>
            <a:r>
              <a:rPr lang="en-US" sz="2200" b="1"/>
              <a:t>lactate</a:t>
            </a:r>
            <a:r>
              <a:rPr lang="en-US" sz="2200"/>
              <a:t> (elevated suggests ischemia), lipase (to rule out pancreatitis)</a:t>
            </a:r>
          </a:p>
        </p:txBody>
      </p:sp>
      <p:pic>
        <p:nvPicPr>
          <p:cNvPr id="4" name="Picture 3" descr="20+ Small Bowel Obstruction Stock Illustrations, Royalty-Free Vector  Graphics &amp; Clip Art - iStock">
            <a:extLst>
              <a:ext uri="{FF2B5EF4-FFF2-40B4-BE49-F238E27FC236}">
                <a16:creationId xmlns:a16="http://schemas.microsoft.com/office/drawing/2014/main" id="{4BFD85B3-DB78-7414-8D56-76999DDC4A6B}"/>
              </a:ext>
            </a:extLst>
          </p:cNvPr>
          <p:cNvPicPr>
            <a:picLocks noChangeAspect="1"/>
          </p:cNvPicPr>
          <p:nvPr/>
        </p:nvPicPr>
        <p:blipFill>
          <a:blip r:embed="rId2"/>
          <a:srcRect t="30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89036472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A0BA9F-12C4-2E04-D176-33C8F7B3494A}"/>
              </a:ext>
            </a:extLst>
          </p:cNvPr>
          <p:cNvSpPr>
            <a:spLocks noGrp="1"/>
          </p:cNvSpPr>
          <p:nvPr>
            <p:ph type="title"/>
          </p:nvPr>
        </p:nvSpPr>
        <p:spPr>
          <a:xfrm>
            <a:off x="572493" y="238539"/>
            <a:ext cx="11018520" cy="1434415"/>
          </a:xfrm>
        </p:spPr>
        <p:txBody>
          <a:bodyPr anchor="b">
            <a:normAutofit/>
          </a:bodyPr>
          <a:lstStyle/>
          <a:p>
            <a:r>
              <a:rPr lang="en-US" sz="5400" b="1"/>
              <a:t>Imaging</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9B608A1-12DA-7F39-906C-32C582C485E3}"/>
              </a:ext>
            </a:extLst>
          </p:cNvPr>
          <p:cNvSpPr>
            <a:spLocks noGrp="1"/>
          </p:cNvSpPr>
          <p:nvPr>
            <p:ph idx="1"/>
          </p:nvPr>
        </p:nvSpPr>
        <p:spPr>
          <a:xfrm>
            <a:off x="572493" y="2071316"/>
            <a:ext cx="6713552" cy="4119172"/>
          </a:xfrm>
        </p:spPr>
        <p:txBody>
          <a:bodyPr anchor="t">
            <a:normAutofit/>
          </a:bodyPr>
          <a:lstStyle/>
          <a:p>
            <a:r>
              <a:rPr lang="en-US" sz="1700" b="1"/>
              <a:t>Abdominal X-ray (KUB):</a:t>
            </a:r>
            <a:r>
              <a:rPr lang="en-US" sz="1700"/>
              <a:t> May show dilated loops of small bowel with air-fluid levels on upright film, but </a:t>
            </a:r>
            <a:r>
              <a:rPr lang="en-US" sz="1700" b="1"/>
              <a:t>cannot exclude SBO</a:t>
            </a:r>
            <a:r>
              <a:rPr lang="en-US" sz="1700"/>
              <a:t> — sensitivity is limited </a:t>
            </a:r>
          </a:p>
          <a:p>
            <a:r>
              <a:rPr lang="en-US" sz="1700" b="1"/>
              <a:t>CT abdomen/pelvis with IV contrast</a:t>
            </a:r>
            <a:r>
              <a:rPr lang="en-US" sz="1700"/>
              <a:t> is the </a:t>
            </a:r>
            <a:r>
              <a:rPr lang="en-US" sz="1700" b="1"/>
              <a:t>gold standard</a:t>
            </a:r>
            <a:r>
              <a:rPr lang="en-US" sz="1700"/>
              <a:t> — highly sensitive and specific for detecting the site, cause, and severity of obstruction. Key CT findings include:</a:t>
            </a:r>
          </a:p>
          <a:p>
            <a:pPr lvl="1"/>
            <a:r>
              <a:rPr lang="en-US" sz="1700"/>
              <a:t>Dilated proximal bowel (&gt;3 cm) with decompressed distal bowel</a:t>
            </a:r>
          </a:p>
          <a:p>
            <a:pPr lvl="1"/>
            <a:r>
              <a:rPr lang="en-US" sz="1700" b="1"/>
              <a:t>Transition point</a:t>
            </a:r>
            <a:r>
              <a:rPr lang="en-US" sz="1700"/>
              <a:t> (where dilated meets collapsed bowel)</a:t>
            </a:r>
          </a:p>
          <a:p>
            <a:pPr lvl="1"/>
            <a:r>
              <a:rPr lang="en-US" sz="1700" b="1"/>
              <a:t>Signs of ischemia</a:t>
            </a:r>
            <a:r>
              <a:rPr lang="en-US" sz="1700"/>
              <a:t>: decreased/absent bowel wall enhancement, wall thickening, mesenteric edema, ascites, </a:t>
            </a:r>
            <a:r>
              <a:rPr lang="en-US" sz="1700" b="1"/>
              <a:t>pneumatosis intestinalis (gas or air in wall of small or large intestine)</a:t>
            </a:r>
            <a:r>
              <a:rPr lang="en-US" sz="1700"/>
              <a:t>, portal venous gas </a:t>
            </a:r>
          </a:p>
          <a:p>
            <a:pPr lvl="1"/>
            <a:r>
              <a:rPr lang="en-US" sz="1700" b="1"/>
              <a:t>Small bowel feces sign</a:t>
            </a:r>
            <a:r>
              <a:rPr lang="en-US" sz="1700"/>
              <a:t> — particulate matter in dilated small bowel; its absence may predict need for surgery</a:t>
            </a:r>
          </a:p>
          <a:p>
            <a:endParaRPr lang="en-US" sz="1700"/>
          </a:p>
        </p:txBody>
      </p:sp>
      <p:pic>
        <p:nvPicPr>
          <p:cNvPr id="4" name="Picture 3" descr="20+ Small Bowel Obstruction Stock Illustrations, Royalty-Free Vector  Graphics &amp; Clip Art - iStock">
            <a:extLst>
              <a:ext uri="{FF2B5EF4-FFF2-40B4-BE49-F238E27FC236}">
                <a16:creationId xmlns:a16="http://schemas.microsoft.com/office/drawing/2014/main" id="{A02887A8-547B-971E-8436-3C86A240A86D}"/>
              </a:ext>
            </a:extLst>
          </p:cNvPr>
          <p:cNvPicPr>
            <a:picLocks noChangeAspect="1"/>
          </p:cNvPicPr>
          <p:nvPr/>
        </p:nvPicPr>
        <p:blipFill>
          <a:blip r:embed="rId2"/>
          <a:srcRect l="2572" r="1220"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418661265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51F6560-D61C-400F-B71A-3FDEBF451B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F938B951-7EFC-40A2-B198-E73D39DFB3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8" name="Rectangle 17">
              <a:extLst>
                <a:ext uri="{FF2B5EF4-FFF2-40B4-BE49-F238E27FC236}">
                  <a16:creationId xmlns:a16="http://schemas.microsoft.com/office/drawing/2014/main" id="{92E4506E-6A0E-49A0-BC31-8CADBFF3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EED4D51-65BF-4AEE-B596-7CB61A70B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5BDAA44-B0DF-DB7B-258E-86C264554129}"/>
              </a:ext>
            </a:extLst>
          </p:cNvPr>
          <p:cNvSpPr>
            <a:spLocks noGrp="1"/>
          </p:cNvSpPr>
          <p:nvPr>
            <p:ph type="title"/>
          </p:nvPr>
        </p:nvSpPr>
        <p:spPr>
          <a:xfrm>
            <a:off x="550863" y="366639"/>
            <a:ext cx="11090274" cy="675441"/>
          </a:xfrm>
        </p:spPr>
        <p:txBody>
          <a:bodyPr vert="horz" wrap="square" lIns="91440" tIns="45720" rIns="91440" bIns="45720" rtlCol="0" anchor="t">
            <a:normAutofit/>
          </a:bodyPr>
          <a:lstStyle/>
          <a:p>
            <a:r>
              <a:rPr lang="en-US" sz="4200"/>
              <a:t>Small Bowel Feces Sign</a:t>
            </a:r>
          </a:p>
        </p:txBody>
      </p:sp>
      <p:pic>
        <p:nvPicPr>
          <p:cNvPr id="5" name="Picture 4" descr="Small bowel faeces sign. Axial (a) and coronal (b) reformatted CT... |  Download Scientific Diagram">
            <a:extLst>
              <a:ext uri="{FF2B5EF4-FFF2-40B4-BE49-F238E27FC236}">
                <a16:creationId xmlns:a16="http://schemas.microsoft.com/office/drawing/2014/main" id="{7FF6639A-DB5E-FFE8-0909-835AD4F7F8E0}"/>
              </a:ext>
            </a:extLst>
          </p:cNvPr>
          <p:cNvPicPr>
            <a:picLocks noChangeAspect="1"/>
          </p:cNvPicPr>
          <p:nvPr/>
        </p:nvPicPr>
        <p:blipFill>
          <a:blip r:embed="rId2"/>
          <a:srcRect l="6275" r="15328" b="6523"/>
          <a:stretch>
            <a:fillRect/>
          </a:stretch>
        </p:blipFill>
        <p:spPr>
          <a:xfrm>
            <a:off x="4901883" y="2255520"/>
            <a:ext cx="6208078" cy="3901440"/>
          </a:xfrm>
          <a:prstGeom prst="rect">
            <a:avLst/>
          </a:prstGeom>
          <a:effectLst>
            <a:outerShdw blurRad="508000" dist="101600" dir="5400000" algn="tl" rotWithShape="0">
              <a:prstClr val="black">
                <a:alpha val="10000"/>
              </a:prstClr>
            </a:outerShdw>
          </a:effectLst>
        </p:spPr>
      </p:pic>
      <p:pic>
        <p:nvPicPr>
          <p:cNvPr id="8" name="Content Placeholder 7" descr="🚨 REPORT IT OR REGRET IT: Episode 143 🚨 ​Missing a Small Bowel  Obstruction on call is one thing. Missing a CLOSED-LOOP is a surgical  catastrophe. ​In today's Masterclass, we are breaking">
            <a:extLst>
              <a:ext uri="{FF2B5EF4-FFF2-40B4-BE49-F238E27FC236}">
                <a16:creationId xmlns:a16="http://schemas.microsoft.com/office/drawing/2014/main" id="{D0DE1F93-794E-699C-AAED-3B66BA29AE59}"/>
              </a:ext>
            </a:extLst>
          </p:cNvPr>
          <p:cNvPicPr>
            <a:picLocks noGrp="1" noChangeAspect="1"/>
          </p:cNvPicPr>
          <p:nvPr>
            <p:ph idx="1"/>
          </p:nvPr>
        </p:nvPicPr>
        <p:blipFill>
          <a:blip r:embed="rId3"/>
          <a:stretch>
            <a:fillRect/>
          </a:stretch>
        </p:blipFill>
        <p:spPr>
          <a:xfrm>
            <a:off x="550863" y="1983361"/>
            <a:ext cx="3359747" cy="4173599"/>
          </a:xfrm>
          <a:prstGeom prst="rect">
            <a:avLst/>
          </a:prstGeom>
          <a:effectLst>
            <a:outerShdw blurRad="508000" dist="101600" dir="5400000" algn="tl" rotWithShape="0">
              <a:prstClr val="black">
                <a:alpha val="10000"/>
              </a:prstClr>
            </a:outerShdw>
          </a:effectLst>
        </p:spPr>
      </p:pic>
    </p:spTree>
    <p:extLst>
      <p:ext uri="{BB962C8B-B14F-4D97-AF65-F5344CB8AC3E}">
        <p14:creationId xmlns:p14="http://schemas.microsoft.com/office/powerpoint/2010/main" val="354602922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FE838-E3C7-B557-059B-84DF9315DFB1}"/>
              </a:ext>
            </a:extLst>
          </p:cNvPr>
          <p:cNvSpPr>
            <a:spLocks noGrp="1"/>
          </p:cNvSpPr>
          <p:nvPr>
            <p:ph type="title"/>
          </p:nvPr>
        </p:nvSpPr>
        <p:spPr/>
        <p:txBody>
          <a:bodyPr/>
          <a:lstStyle/>
          <a:p>
            <a:r>
              <a:rPr lang="en-US" dirty="0"/>
              <a:t>Gaseous distention of small bowel loops with no gas in colon or rectum</a:t>
            </a:r>
          </a:p>
        </p:txBody>
      </p:sp>
      <p:pic>
        <p:nvPicPr>
          <p:cNvPr id="4" name="Content Placeholder 3">
            <a:extLst>
              <a:ext uri="{FF2B5EF4-FFF2-40B4-BE49-F238E27FC236}">
                <a16:creationId xmlns:a16="http://schemas.microsoft.com/office/drawing/2014/main" id="{7C1A2AB6-116F-DE1C-9362-AE7252F63DE8}"/>
              </a:ext>
            </a:extLst>
          </p:cNvPr>
          <p:cNvPicPr>
            <a:picLocks noGrp="1" noChangeAspect="1"/>
          </p:cNvPicPr>
          <p:nvPr>
            <p:ph idx="1"/>
          </p:nvPr>
        </p:nvPicPr>
        <p:blipFill>
          <a:blip r:embed="rId3"/>
          <a:stretch>
            <a:fillRect/>
          </a:stretch>
        </p:blipFill>
        <p:spPr>
          <a:xfrm>
            <a:off x="838201" y="1825625"/>
            <a:ext cx="7044956" cy="4351338"/>
          </a:xfrm>
          <a:prstGeom prst="rect">
            <a:avLst/>
          </a:prstGeom>
        </p:spPr>
      </p:pic>
    </p:spTree>
    <p:extLst>
      <p:ext uri="{BB962C8B-B14F-4D97-AF65-F5344CB8AC3E}">
        <p14:creationId xmlns:p14="http://schemas.microsoft.com/office/powerpoint/2010/main" val="223167730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38ECBF-5497-AA03-F185-65865721EC29}"/>
              </a:ext>
            </a:extLst>
          </p:cNvPr>
          <p:cNvSpPr>
            <a:spLocks noGrp="1"/>
          </p:cNvSpPr>
          <p:nvPr>
            <p:ph type="title"/>
          </p:nvPr>
        </p:nvSpPr>
        <p:spPr>
          <a:xfrm>
            <a:off x="572493" y="238539"/>
            <a:ext cx="11018520" cy="1434415"/>
          </a:xfrm>
        </p:spPr>
        <p:txBody>
          <a:bodyPr anchor="b">
            <a:normAutofit/>
          </a:bodyPr>
          <a:lstStyle/>
          <a:p>
            <a:r>
              <a:rPr lang="en-US" sz="5400" b="1"/>
              <a:t>Management</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9CB45AD-95E8-0F53-0438-1BC54BFD6F2F}"/>
              </a:ext>
            </a:extLst>
          </p:cNvPr>
          <p:cNvSpPr>
            <a:spLocks noGrp="1"/>
          </p:cNvSpPr>
          <p:nvPr>
            <p:ph idx="1"/>
          </p:nvPr>
        </p:nvSpPr>
        <p:spPr>
          <a:xfrm>
            <a:off x="572493" y="2071316"/>
            <a:ext cx="6713552" cy="4119172"/>
          </a:xfrm>
        </p:spPr>
        <p:txBody>
          <a:bodyPr anchor="t">
            <a:normAutofit/>
          </a:bodyPr>
          <a:lstStyle/>
          <a:p>
            <a:r>
              <a:rPr lang="en-US" sz="1700" b="1" dirty="0"/>
              <a:t>Nonoperative (successful in ~65–80% of cases, especially </a:t>
            </a:r>
            <a:r>
              <a:rPr lang="en-US" sz="1700" b="1" i="1" u="sng" dirty="0"/>
              <a:t>partial SBO</a:t>
            </a:r>
            <a:r>
              <a:rPr lang="en-US" sz="1700" b="1" dirty="0"/>
              <a:t>):</a:t>
            </a:r>
            <a:r>
              <a:rPr lang="en-US" sz="1700" dirty="0"/>
              <a:t> </a:t>
            </a:r>
          </a:p>
          <a:p>
            <a:pPr lvl="1"/>
            <a:r>
              <a:rPr lang="en-US" sz="1700" b="1" dirty="0"/>
              <a:t>NPO-Nothing by Mouth</a:t>
            </a:r>
            <a:r>
              <a:rPr lang="en-US" sz="1700" dirty="0"/>
              <a:t> (bowel rest)</a:t>
            </a:r>
          </a:p>
          <a:p>
            <a:pPr lvl="1"/>
            <a:r>
              <a:rPr lang="en-US" sz="1700" b="1" dirty="0"/>
              <a:t>IV fluid resuscitation</a:t>
            </a:r>
            <a:r>
              <a:rPr lang="en-US" sz="1700" dirty="0"/>
              <a:t> and electrolyte correction</a:t>
            </a:r>
          </a:p>
          <a:p>
            <a:pPr lvl="1"/>
            <a:r>
              <a:rPr lang="en-US" sz="1700" b="1" dirty="0"/>
              <a:t>Nasogastric tube (NGT) decompression</a:t>
            </a:r>
            <a:r>
              <a:rPr lang="en-US" sz="1700" dirty="0"/>
              <a:t> — relieves distension and vomiting</a:t>
            </a:r>
          </a:p>
          <a:p>
            <a:pPr lvl="1"/>
            <a:r>
              <a:rPr lang="en-US" sz="1700" b="1" dirty="0"/>
              <a:t>Surgery to be consulted</a:t>
            </a:r>
          </a:p>
          <a:p>
            <a:pPr lvl="1"/>
            <a:r>
              <a:rPr lang="en-US" sz="1700" b="1" dirty="0" err="1"/>
              <a:t>Gastrografin</a:t>
            </a:r>
            <a:r>
              <a:rPr lang="en-US" sz="1700" b="1" dirty="0"/>
              <a:t> (water-soluble contrast):</a:t>
            </a:r>
            <a:r>
              <a:rPr lang="en-US" sz="1700" dirty="0"/>
              <a:t> Both diagnostic and therapeutic; if contrast reaches the colon on follow-up X-ray (typically at 8–24 hours), nonoperative management is likely to succeed</a:t>
            </a:r>
          </a:p>
          <a:p>
            <a:pPr lvl="1"/>
            <a:r>
              <a:rPr lang="en-US" sz="1700" dirty="0"/>
              <a:t>Serial abdominal exams and labs to monitor for deterioration</a:t>
            </a:r>
          </a:p>
          <a:p>
            <a:pPr lvl="1"/>
            <a:r>
              <a:rPr lang="en-US" sz="1700" dirty="0"/>
              <a:t>Most patients improve within </a:t>
            </a:r>
            <a:r>
              <a:rPr lang="en-US" sz="1700" b="1" dirty="0"/>
              <a:t>2–5 days</a:t>
            </a:r>
            <a:r>
              <a:rPr lang="en-US" sz="1700" dirty="0"/>
              <a:t>; failure to improve by 3–5 days suggests need for surgery</a:t>
            </a:r>
          </a:p>
          <a:p>
            <a:pPr lvl="1"/>
            <a:endParaRPr lang="en-US" sz="1700" dirty="0"/>
          </a:p>
          <a:p>
            <a:endParaRPr lang="en-US" sz="1700" dirty="0"/>
          </a:p>
        </p:txBody>
      </p:sp>
      <p:pic>
        <p:nvPicPr>
          <p:cNvPr id="4" name="Picture 3" descr="20+ Small Bowel Obstruction Stock Illustrations, Royalty-Free Vector  Graphics &amp; Clip Art - iStock">
            <a:extLst>
              <a:ext uri="{FF2B5EF4-FFF2-40B4-BE49-F238E27FC236}">
                <a16:creationId xmlns:a16="http://schemas.microsoft.com/office/drawing/2014/main" id="{91C29BDC-5615-B75E-86CA-DEC464534793}"/>
              </a:ext>
            </a:extLst>
          </p:cNvPr>
          <p:cNvPicPr>
            <a:picLocks noChangeAspect="1"/>
          </p:cNvPicPr>
          <p:nvPr/>
        </p:nvPicPr>
        <p:blipFill>
          <a:blip r:embed="rId2"/>
          <a:srcRect l="2572" r="1220"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39307596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9E3E83-8DB4-9A76-B5B2-644FBB0CDB80}"/>
              </a:ext>
            </a:extLst>
          </p:cNvPr>
          <p:cNvSpPr>
            <a:spLocks noGrp="1"/>
          </p:cNvSpPr>
          <p:nvPr>
            <p:ph type="title"/>
          </p:nvPr>
        </p:nvSpPr>
        <p:spPr>
          <a:xfrm>
            <a:off x="572493" y="238539"/>
            <a:ext cx="11018520" cy="1434415"/>
          </a:xfrm>
        </p:spPr>
        <p:txBody>
          <a:bodyPr anchor="b">
            <a:normAutofit/>
          </a:bodyPr>
          <a:lstStyle/>
          <a:p>
            <a:r>
              <a:rPr lang="en-US" sz="5400" b="1"/>
              <a:t>Indications for Surgery</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2385EA2-88F3-B0BC-B111-811E6653512F}"/>
              </a:ext>
            </a:extLst>
          </p:cNvPr>
          <p:cNvSpPr>
            <a:spLocks noGrp="1"/>
          </p:cNvSpPr>
          <p:nvPr>
            <p:ph idx="1"/>
          </p:nvPr>
        </p:nvSpPr>
        <p:spPr>
          <a:xfrm>
            <a:off x="572493" y="2071316"/>
            <a:ext cx="6713552" cy="4119172"/>
          </a:xfrm>
        </p:spPr>
        <p:txBody>
          <a:bodyPr anchor="t">
            <a:normAutofit/>
          </a:bodyPr>
          <a:lstStyle/>
          <a:p>
            <a:r>
              <a:rPr lang="en-US" sz="2200" b="1"/>
              <a:t>Peritonitis</a:t>
            </a:r>
            <a:r>
              <a:rPr lang="en-US" sz="2200"/>
              <a:t> or signs of bowel strangulation/ischemia</a:t>
            </a:r>
          </a:p>
          <a:p>
            <a:r>
              <a:rPr lang="en-US" sz="2200" b="1"/>
              <a:t>Closed-loop obstruction</a:t>
            </a:r>
            <a:endParaRPr lang="en-US" sz="2200"/>
          </a:p>
          <a:p>
            <a:r>
              <a:rPr lang="en-US" sz="2200" b="1"/>
              <a:t>Irreducible hernia</a:t>
            </a:r>
            <a:endParaRPr lang="en-US" sz="2200"/>
          </a:p>
          <a:p>
            <a:r>
              <a:rPr lang="en-US" sz="2200" b="1"/>
              <a:t>Complete obstruction</a:t>
            </a:r>
            <a:r>
              <a:rPr lang="en-US" sz="2200"/>
              <a:t> that fails to resolve</a:t>
            </a:r>
          </a:p>
          <a:p>
            <a:r>
              <a:rPr lang="en-US" sz="2200" b="1"/>
              <a:t>Failure of nonoperative management</a:t>
            </a:r>
            <a:r>
              <a:rPr lang="en-US" sz="2200"/>
              <a:t> (persistent pain, no return of bowel function, high NGT output &gt;500 mL after 72 hours)</a:t>
            </a:r>
          </a:p>
        </p:txBody>
      </p:sp>
      <p:pic>
        <p:nvPicPr>
          <p:cNvPr id="4" name="Picture 3" descr="20+ Small Bowel Obstruction Stock Illustrations, Royalty-Free Vector  Graphics &amp; Clip Art - iStock">
            <a:extLst>
              <a:ext uri="{FF2B5EF4-FFF2-40B4-BE49-F238E27FC236}">
                <a16:creationId xmlns:a16="http://schemas.microsoft.com/office/drawing/2014/main" id="{CA20D299-9269-6609-3DD5-A88336B354B7}"/>
              </a:ext>
            </a:extLst>
          </p:cNvPr>
          <p:cNvPicPr>
            <a:picLocks noChangeAspect="1"/>
          </p:cNvPicPr>
          <p:nvPr/>
        </p:nvPicPr>
        <p:blipFill>
          <a:blip r:embed="rId2"/>
          <a:srcRect l="2572" r="1220"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04806909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0A2BC0-1C06-4B3C-295C-6C9E05DDA036}"/>
              </a:ext>
            </a:extLst>
          </p:cNvPr>
          <p:cNvSpPr>
            <a:spLocks noGrp="1"/>
          </p:cNvSpPr>
          <p:nvPr>
            <p:ph type="title"/>
          </p:nvPr>
        </p:nvSpPr>
        <p:spPr>
          <a:xfrm>
            <a:off x="572493" y="238539"/>
            <a:ext cx="11018520" cy="1434415"/>
          </a:xfrm>
        </p:spPr>
        <p:txBody>
          <a:bodyPr anchor="b">
            <a:normAutofit/>
          </a:bodyPr>
          <a:lstStyle/>
          <a:p>
            <a:r>
              <a:rPr lang="en-US" sz="5400" b="1"/>
              <a:t>Differential Diagnosis</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236CFA2-4B56-9C64-E631-2E43104D94BF}"/>
              </a:ext>
            </a:extLst>
          </p:cNvPr>
          <p:cNvSpPr>
            <a:spLocks noGrp="1"/>
          </p:cNvSpPr>
          <p:nvPr>
            <p:ph idx="1"/>
          </p:nvPr>
        </p:nvSpPr>
        <p:spPr>
          <a:xfrm>
            <a:off x="572493" y="2071316"/>
            <a:ext cx="6713552" cy="4119172"/>
          </a:xfrm>
        </p:spPr>
        <p:txBody>
          <a:bodyPr anchor="t">
            <a:normAutofit/>
          </a:bodyPr>
          <a:lstStyle/>
          <a:p>
            <a:pPr lvl="1"/>
            <a:r>
              <a:rPr lang="en-US" sz="2200"/>
              <a:t>Paralytic (adynamic) ileus (post-op, medications, electrolyte abnormalities)</a:t>
            </a:r>
          </a:p>
          <a:p>
            <a:pPr lvl="1"/>
            <a:r>
              <a:rPr lang="en-US" sz="2200"/>
              <a:t>Large bowel obstruction</a:t>
            </a:r>
          </a:p>
          <a:p>
            <a:pPr lvl="1"/>
            <a:r>
              <a:rPr lang="en-US" sz="2200"/>
              <a:t>Colonic pseudo-obstruction (Ogilvie syndrome)</a:t>
            </a:r>
          </a:p>
          <a:p>
            <a:pPr lvl="1"/>
            <a:r>
              <a:rPr lang="en-US" sz="2200"/>
              <a:t>Mesenteric ischemia</a:t>
            </a:r>
          </a:p>
          <a:p>
            <a:pPr lvl="1"/>
            <a:r>
              <a:rPr lang="en-US" sz="2200"/>
              <a:t>Narcotic bowel </a:t>
            </a:r>
          </a:p>
          <a:p>
            <a:r>
              <a:rPr lang="en-US" sz="2200"/>
              <a:t>The key differentiator: SBO is a </a:t>
            </a:r>
            <a:r>
              <a:rPr lang="en-US" sz="2200" b="1"/>
              <a:t>mechanical</a:t>
            </a:r>
            <a:r>
              <a:rPr lang="en-US" sz="2200"/>
              <a:t> obstruction with a </a:t>
            </a:r>
            <a:r>
              <a:rPr lang="en-US" sz="2200" b="1" i="1"/>
              <a:t>transition point</a:t>
            </a:r>
            <a:r>
              <a:rPr lang="en-US" sz="2200"/>
              <a:t>, whereas ileus involves diffusely dilated bowel without a transition point.</a:t>
            </a:r>
          </a:p>
          <a:p>
            <a:endParaRPr lang="en-US" sz="2200"/>
          </a:p>
        </p:txBody>
      </p:sp>
      <p:pic>
        <p:nvPicPr>
          <p:cNvPr id="4" name="Picture 3" descr="20+ Small Bowel Obstruction Stock Illustrations, Royalty-Free Vector  Graphics &amp; Clip Art - iStock">
            <a:extLst>
              <a:ext uri="{FF2B5EF4-FFF2-40B4-BE49-F238E27FC236}">
                <a16:creationId xmlns:a16="http://schemas.microsoft.com/office/drawing/2014/main" id="{4DB52C1E-BD00-AA81-8459-FF7BF60DCEB8}"/>
              </a:ext>
            </a:extLst>
          </p:cNvPr>
          <p:cNvPicPr>
            <a:picLocks noChangeAspect="1"/>
          </p:cNvPicPr>
          <p:nvPr/>
        </p:nvPicPr>
        <p:blipFill>
          <a:blip r:embed="rId3"/>
          <a:srcRect l="2572" r="1220"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60827071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3323C6-B405-E72A-47C8-75F57ED164D6}"/>
              </a:ext>
            </a:extLst>
          </p:cNvPr>
          <p:cNvSpPr>
            <a:spLocks noGrp="1"/>
          </p:cNvSpPr>
          <p:nvPr>
            <p:ph type="title"/>
          </p:nvPr>
        </p:nvSpPr>
        <p:spPr>
          <a:xfrm>
            <a:off x="572493" y="238539"/>
            <a:ext cx="11018520" cy="1434415"/>
          </a:xfrm>
        </p:spPr>
        <p:txBody>
          <a:bodyPr anchor="b">
            <a:normAutofit/>
          </a:bodyPr>
          <a:lstStyle/>
          <a:p>
            <a:r>
              <a:rPr lang="en-US" sz="5400" b="1"/>
              <a:t>Mortality</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AD1F34B-1A65-2ECE-14E1-05A87409366C}"/>
              </a:ext>
            </a:extLst>
          </p:cNvPr>
          <p:cNvSpPr>
            <a:spLocks noGrp="1"/>
          </p:cNvSpPr>
          <p:nvPr>
            <p:ph idx="1"/>
          </p:nvPr>
        </p:nvSpPr>
        <p:spPr>
          <a:xfrm>
            <a:off x="572493" y="2071316"/>
            <a:ext cx="6713552" cy="4119172"/>
          </a:xfrm>
        </p:spPr>
        <p:txBody>
          <a:bodyPr anchor="t">
            <a:normAutofit/>
          </a:bodyPr>
          <a:lstStyle/>
          <a:p>
            <a:r>
              <a:rPr lang="en-US" sz="2200"/>
              <a:t>Uncomplicated SBO: ~</a:t>
            </a:r>
            <a:r>
              <a:rPr lang="en-US" sz="2200" b="1"/>
              <a:t>3–10%</a:t>
            </a:r>
            <a:endParaRPr lang="en-US" sz="2200"/>
          </a:p>
          <a:p>
            <a:r>
              <a:rPr lang="en-US" sz="2200"/>
              <a:t>SBO with bowel necrosis/perforation: up to </a:t>
            </a:r>
            <a:r>
              <a:rPr lang="en-US" sz="2200" b="1"/>
              <a:t>30%</a:t>
            </a:r>
            <a:r>
              <a:rPr lang="en-US" sz="2200"/>
              <a:t> </a:t>
            </a:r>
          </a:p>
          <a:p>
            <a:r>
              <a:rPr lang="en-US" sz="2200"/>
              <a:t>Delay in treatment &gt;24 hours is independently associated with increased death and complications</a:t>
            </a:r>
          </a:p>
          <a:p>
            <a:endParaRPr lang="en-US" sz="2200"/>
          </a:p>
        </p:txBody>
      </p:sp>
      <p:pic>
        <p:nvPicPr>
          <p:cNvPr id="4" name="Picture 3" descr="20+ Small Bowel Obstruction Stock Illustrations, Royalty-Free Vector  Graphics &amp; Clip Art - iStock">
            <a:extLst>
              <a:ext uri="{FF2B5EF4-FFF2-40B4-BE49-F238E27FC236}">
                <a16:creationId xmlns:a16="http://schemas.microsoft.com/office/drawing/2014/main" id="{DC327B9F-8066-BE9B-8407-2CAB6128EFFB}"/>
              </a:ext>
            </a:extLst>
          </p:cNvPr>
          <p:cNvPicPr>
            <a:picLocks noChangeAspect="1"/>
          </p:cNvPicPr>
          <p:nvPr/>
        </p:nvPicPr>
        <p:blipFill>
          <a:blip r:embed="rId2"/>
          <a:srcRect l="2572" r="1220" b="-3"/>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267335097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A7B5BF-6CF5-DE97-29C5-778632D61A06}"/>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b="1" i="1" kern="1200" dirty="0">
                <a:solidFill>
                  <a:srgbClr val="FF0000"/>
                </a:solidFill>
                <a:latin typeface="+mj-lt"/>
                <a:ea typeface="+mj-ea"/>
                <a:cs typeface="+mj-cs"/>
              </a:rPr>
              <a:t>Polyps</a:t>
            </a:r>
            <a:endParaRPr lang="en-US" sz="6600" i="1" kern="1200" dirty="0">
              <a:solidFill>
                <a:srgbClr val="FF0000"/>
              </a:solidFill>
              <a:latin typeface="+mj-lt"/>
              <a:ea typeface="+mj-ea"/>
              <a:cs typeface="+mj-cs"/>
            </a:endParaRPr>
          </a:p>
        </p:txBody>
      </p:sp>
      <p:sp>
        <p:nvSpPr>
          <p:cNvPr id="3" name="Text Placeholder 2">
            <a:extLst>
              <a:ext uri="{FF2B5EF4-FFF2-40B4-BE49-F238E27FC236}">
                <a16:creationId xmlns:a16="http://schemas.microsoft.com/office/drawing/2014/main" id="{8CAFF775-E715-B9DD-27A0-C52C4EDE72B0}"/>
              </a:ext>
            </a:extLst>
          </p:cNvPr>
          <p:cNvSpPr>
            <a:spLocks noGrp="1"/>
          </p:cNvSpPr>
          <p:nvPr>
            <p:ph type="body" idx="1"/>
          </p:nvPr>
        </p:nvSpPr>
        <p:spPr>
          <a:xfrm>
            <a:off x="638882" y="4631161"/>
            <a:ext cx="3571810" cy="1559327"/>
          </a:xfrm>
        </p:spPr>
        <p:txBody>
          <a:bodyPr vert="horz" lIns="91440" tIns="45720" rIns="91440" bIns="45720" rtlCol="0">
            <a:normAutofit/>
          </a:bodyPr>
          <a:lstStyle/>
          <a:p>
            <a:endParaRPr lang="en-US" sz="2400" kern="1200">
              <a:solidFill>
                <a:schemeClr val="tx1"/>
              </a:solidFill>
              <a:latin typeface="+mn-lt"/>
              <a:ea typeface="+mn-ea"/>
              <a:cs typeface="+mn-cs"/>
            </a:endParaRP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Is a Polyp a Tumor? Cancer Risk, Symptoms &amp; Treatment">
            <a:extLst>
              <a:ext uri="{FF2B5EF4-FFF2-40B4-BE49-F238E27FC236}">
                <a16:creationId xmlns:a16="http://schemas.microsoft.com/office/drawing/2014/main" id="{5AA16741-678E-7777-6433-EDC1E514F461}"/>
              </a:ext>
            </a:extLst>
          </p:cNvPr>
          <p:cNvPicPr>
            <a:picLocks noChangeAspect="1"/>
          </p:cNvPicPr>
          <p:nvPr/>
        </p:nvPicPr>
        <p:blipFill>
          <a:blip r:embed="rId2"/>
          <a:stretch>
            <a:fillRect/>
          </a:stretch>
        </p:blipFill>
        <p:spPr>
          <a:xfrm>
            <a:off x="4654296" y="962315"/>
            <a:ext cx="7214616" cy="4905938"/>
          </a:xfrm>
          <a:prstGeom prst="rect">
            <a:avLst/>
          </a:prstGeom>
        </p:spPr>
      </p:pic>
    </p:spTree>
    <p:extLst>
      <p:ext uri="{BB962C8B-B14F-4D97-AF65-F5344CB8AC3E}">
        <p14:creationId xmlns:p14="http://schemas.microsoft.com/office/powerpoint/2010/main" val="70756163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AE0A15-6F5C-384D-C2F9-CA5414F21232}"/>
              </a:ext>
            </a:extLst>
          </p:cNvPr>
          <p:cNvSpPr>
            <a:spLocks noGrp="1"/>
          </p:cNvSpPr>
          <p:nvPr>
            <p:ph type="title"/>
          </p:nvPr>
        </p:nvSpPr>
        <p:spPr>
          <a:xfrm>
            <a:off x="572493" y="238539"/>
            <a:ext cx="11018520" cy="1434415"/>
          </a:xfrm>
        </p:spPr>
        <p:txBody>
          <a:bodyPr anchor="b">
            <a:normAutofit/>
          </a:bodyPr>
          <a:lstStyle/>
          <a:p>
            <a:r>
              <a:rPr lang="en-US" sz="5400" b="1"/>
              <a:t>Overview</a:t>
            </a:r>
            <a:endParaRPr lang="en-US" sz="5400"/>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DA1841E-2A3C-6679-F7B2-CF32379B0389}"/>
              </a:ext>
            </a:extLst>
          </p:cNvPr>
          <p:cNvSpPr>
            <a:spLocks noGrp="1"/>
          </p:cNvSpPr>
          <p:nvPr>
            <p:ph idx="1"/>
          </p:nvPr>
        </p:nvSpPr>
        <p:spPr>
          <a:xfrm>
            <a:off x="572493" y="2071316"/>
            <a:ext cx="6713552" cy="4119172"/>
          </a:xfrm>
        </p:spPr>
        <p:txBody>
          <a:bodyPr anchor="t">
            <a:normAutofit/>
          </a:bodyPr>
          <a:lstStyle/>
          <a:p>
            <a:r>
              <a:rPr lang="en-US" sz="2200"/>
              <a:t>Despite the small bowel comprising </a:t>
            </a:r>
            <a:r>
              <a:rPr lang="en-US" sz="2200" b="1"/>
              <a:t>90% of the GI mucosal surface area</a:t>
            </a:r>
            <a:r>
              <a:rPr lang="en-US" sz="2200"/>
              <a:t>, it accounts for only ~3% of GI tract tumors. </a:t>
            </a:r>
          </a:p>
          <a:p>
            <a:r>
              <a:rPr lang="en-US" sz="2200"/>
              <a:t> Small bowel polyps are most clinically significant in the context of </a:t>
            </a:r>
            <a:r>
              <a:rPr lang="en-US" sz="2200" b="1"/>
              <a:t>hereditary polyposis syndromes</a:t>
            </a:r>
            <a:r>
              <a:rPr lang="en-US" sz="2200"/>
              <a:t>, </a:t>
            </a:r>
          </a:p>
          <a:p>
            <a:r>
              <a:rPr lang="en-US" sz="2200"/>
              <a:t>Sporadic benign lesions (lipomas, leiomyomas, </a:t>
            </a:r>
            <a:r>
              <a:rPr lang="en-US" sz="2200">
                <a:hlinkClick r:id="rId2"/>
              </a:rPr>
              <a:t>neurofibromas</a:t>
            </a:r>
            <a:r>
              <a:rPr lang="en-US" sz="2200"/>
              <a:t>, adenomas) also occur but are far less commonly tested. </a:t>
            </a:r>
          </a:p>
        </p:txBody>
      </p:sp>
      <p:pic>
        <p:nvPicPr>
          <p:cNvPr id="4" name="Picture 3" descr="Is a Polyp a Tumor? Cancer Risk, Symptoms &amp; Treatment">
            <a:extLst>
              <a:ext uri="{FF2B5EF4-FFF2-40B4-BE49-F238E27FC236}">
                <a16:creationId xmlns:a16="http://schemas.microsoft.com/office/drawing/2014/main" id="{ABF39888-4A88-0A47-C30F-821C28E6B4E8}"/>
              </a:ext>
            </a:extLst>
          </p:cNvPr>
          <p:cNvPicPr>
            <a:picLocks noChangeAspect="1"/>
          </p:cNvPicPr>
          <p:nvPr/>
        </p:nvPicPr>
        <p:blipFill>
          <a:blip r:embed="rId3"/>
          <a:srcRect l="14979" r="19602"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94814539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25831-0CE9-A44C-E6FE-85C1ACF9393B}"/>
              </a:ext>
            </a:extLst>
          </p:cNvPr>
          <p:cNvSpPr>
            <a:spLocks noGrp="1"/>
          </p:cNvSpPr>
          <p:nvPr>
            <p:ph type="title"/>
          </p:nvPr>
        </p:nvSpPr>
        <p:spPr/>
        <p:txBody>
          <a:bodyPr/>
          <a:lstStyle/>
          <a:p>
            <a:r>
              <a:rPr lang="en-US" b="1" dirty="0"/>
              <a:t>Key Polyposis Syndromes Involving the Small Bowel</a:t>
            </a:r>
            <a:endParaRPr lang="en-US" dirty="0"/>
          </a:p>
        </p:txBody>
      </p:sp>
      <p:graphicFrame>
        <p:nvGraphicFramePr>
          <p:cNvPr id="4" name="Content Placeholder 3">
            <a:extLst>
              <a:ext uri="{FF2B5EF4-FFF2-40B4-BE49-F238E27FC236}">
                <a16:creationId xmlns:a16="http://schemas.microsoft.com/office/drawing/2014/main" id="{19B13178-BE9D-195C-5A6C-ECC30BBD8127}"/>
              </a:ext>
            </a:extLst>
          </p:cNvPr>
          <p:cNvGraphicFramePr>
            <a:graphicFrameLocks noGrp="1"/>
          </p:cNvGraphicFramePr>
          <p:nvPr>
            <p:ph idx="1"/>
            <p:extLst>
              <p:ext uri="{D42A27DB-BD31-4B8C-83A1-F6EECF244321}">
                <p14:modId xmlns:p14="http://schemas.microsoft.com/office/powerpoint/2010/main" val="183584806"/>
              </p:ext>
            </p:extLst>
          </p:nvPr>
        </p:nvGraphicFramePr>
        <p:xfrm>
          <a:off x="2037806" y="1784654"/>
          <a:ext cx="4046155" cy="4351337"/>
        </p:xfrm>
        <a:graphic>
          <a:graphicData uri="http://schemas.openxmlformats.org/drawingml/2006/table">
            <a:tbl>
              <a:tblPr/>
              <a:tblGrid>
                <a:gridCol w="809231">
                  <a:extLst>
                    <a:ext uri="{9D8B030D-6E8A-4147-A177-3AD203B41FA5}">
                      <a16:colId xmlns:a16="http://schemas.microsoft.com/office/drawing/2014/main" val="4223743441"/>
                    </a:ext>
                  </a:extLst>
                </a:gridCol>
                <a:gridCol w="809231">
                  <a:extLst>
                    <a:ext uri="{9D8B030D-6E8A-4147-A177-3AD203B41FA5}">
                      <a16:colId xmlns:a16="http://schemas.microsoft.com/office/drawing/2014/main" val="2255822175"/>
                    </a:ext>
                  </a:extLst>
                </a:gridCol>
                <a:gridCol w="809231">
                  <a:extLst>
                    <a:ext uri="{9D8B030D-6E8A-4147-A177-3AD203B41FA5}">
                      <a16:colId xmlns:a16="http://schemas.microsoft.com/office/drawing/2014/main" val="457139747"/>
                    </a:ext>
                  </a:extLst>
                </a:gridCol>
                <a:gridCol w="809231">
                  <a:extLst>
                    <a:ext uri="{9D8B030D-6E8A-4147-A177-3AD203B41FA5}">
                      <a16:colId xmlns:a16="http://schemas.microsoft.com/office/drawing/2014/main" val="2050530463"/>
                    </a:ext>
                  </a:extLst>
                </a:gridCol>
                <a:gridCol w="809231">
                  <a:extLst>
                    <a:ext uri="{9D8B030D-6E8A-4147-A177-3AD203B41FA5}">
                      <a16:colId xmlns:a16="http://schemas.microsoft.com/office/drawing/2014/main" val="2549609257"/>
                    </a:ext>
                  </a:extLst>
                </a:gridCol>
              </a:tblGrid>
              <a:tr h="332163">
                <a:tc>
                  <a:txBody>
                    <a:bodyPr/>
                    <a:lstStyle/>
                    <a:p>
                      <a:pPr marL="0" marR="0" indent="0" algn="l" fontAlgn="b">
                        <a:buNone/>
                      </a:pPr>
                      <a:r>
                        <a:rPr lang="en-US" sz="500" b="1" i="0">
                          <a:effectLst/>
                          <a:latin typeface="Schibsted Grotesk"/>
                        </a:rPr>
                        <a:t>Syndrome</a:t>
                      </a:r>
                    </a:p>
                  </a:txBody>
                  <a:tcPr marL="24912" marR="24912" marT="16608" marB="16608" anchor="b">
                    <a:lnL w="12700" cap="flat" cmpd="sng" algn="ctr">
                      <a:solidFill>
                        <a:srgbClr val="203C3A"/>
                      </a:solidFill>
                      <a:prstDash val="solid"/>
                      <a:round/>
                      <a:headEnd type="none" w="med" len="med"/>
                      <a:tailEnd type="none" w="med" len="med"/>
                    </a:lnL>
                    <a:lnR w="12700" cap="flat" cmpd="sng" algn="ctr">
                      <a:solidFill>
                        <a:srgbClr val="303B3A"/>
                      </a:solidFill>
                      <a:prstDash val="solid"/>
                      <a:round/>
                      <a:headEnd type="none" w="med" len="med"/>
                      <a:tailEnd type="none" w="med" len="med"/>
                    </a:lnR>
                    <a:lnT w="12700" cap="flat" cmpd="sng" algn="ctr">
                      <a:solidFill>
                        <a:srgbClr val="203C3A"/>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tc>
                  <a:txBody>
                    <a:bodyPr/>
                    <a:lstStyle/>
                    <a:p>
                      <a:pPr marL="0" marR="0" indent="0" algn="l" fontAlgn="b">
                        <a:buNone/>
                      </a:pPr>
                      <a:r>
                        <a:rPr lang="en-US" sz="500" b="1" i="0">
                          <a:effectLst/>
                          <a:latin typeface="Schibsted Grotesk"/>
                        </a:rPr>
                        <a:t>Gene (Inheritance)</a:t>
                      </a:r>
                    </a:p>
                  </a:txBody>
                  <a:tcPr marL="24912" marR="24912" marT="16608" marB="16608" anchor="b">
                    <a:lnL w="12700" cap="flat" cmpd="sng" algn="ctr">
                      <a:solidFill>
                        <a:srgbClr val="303B3A"/>
                      </a:solidFill>
                      <a:prstDash val="solid"/>
                      <a:round/>
                      <a:headEnd type="none" w="med" len="med"/>
                      <a:tailEnd type="none" w="med" len="med"/>
                    </a:lnL>
                    <a:lnR w="12700" cap="flat" cmpd="sng" algn="ctr">
                      <a:solidFill>
                        <a:srgbClr val="A0403A"/>
                      </a:solidFill>
                      <a:prstDash val="solid"/>
                      <a:round/>
                      <a:headEnd type="none" w="med" len="med"/>
                      <a:tailEnd type="none" w="med" len="med"/>
                    </a:lnR>
                    <a:lnT w="12700" cap="flat" cmpd="sng" algn="ctr">
                      <a:solidFill>
                        <a:srgbClr val="303B3A"/>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tc>
                  <a:txBody>
                    <a:bodyPr/>
                    <a:lstStyle/>
                    <a:p>
                      <a:pPr marL="0" marR="0" indent="0" algn="l" fontAlgn="b">
                        <a:buNone/>
                      </a:pPr>
                      <a:r>
                        <a:rPr lang="en-US" sz="500" b="1" i="0">
                          <a:effectLst/>
                          <a:latin typeface="Schibsted Grotesk"/>
                        </a:rPr>
                        <a:t>Polyp Type</a:t>
                      </a:r>
                    </a:p>
                  </a:txBody>
                  <a:tcPr marL="24912" marR="24912" marT="16608" marB="16608" anchor="b">
                    <a:lnL w="12700" cap="flat" cmpd="sng" algn="ctr">
                      <a:solidFill>
                        <a:srgbClr val="A0403A"/>
                      </a:solidFill>
                      <a:prstDash val="solid"/>
                      <a:round/>
                      <a:headEnd type="none" w="med" len="med"/>
                      <a:tailEnd type="none" w="med" len="med"/>
                    </a:lnL>
                    <a:lnR w="12700" cap="flat" cmpd="sng" algn="ctr">
                      <a:solidFill>
                        <a:srgbClr val="30443A"/>
                      </a:solidFill>
                      <a:prstDash val="solid"/>
                      <a:round/>
                      <a:headEnd type="none" w="med" len="med"/>
                      <a:tailEnd type="none" w="med" len="med"/>
                    </a:lnR>
                    <a:lnT w="12700" cap="flat" cmpd="sng" algn="ctr">
                      <a:solidFill>
                        <a:srgbClr val="A0403A"/>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tc>
                  <a:txBody>
                    <a:bodyPr/>
                    <a:lstStyle/>
                    <a:p>
                      <a:pPr marL="0" marR="0" indent="0" algn="l" fontAlgn="b">
                        <a:buNone/>
                      </a:pPr>
                      <a:r>
                        <a:rPr lang="en-US" sz="500" b="1" i="0">
                          <a:effectLst/>
                          <a:latin typeface="Schibsted Grotesk"/>
                        </a:rPr>
                        <a:t>Key Clinical Features</a:t>
                      </a:r>
                    </a:p>
                  </a:txBody>
                  <a:tcPr marL="24912" marR="24912" marT="16608" marB="16608" anchor="b">
                    <a:lnL w="12700" cap="flat" cmpd="sng" algn="ctr">
                      <a:solidFill>
                        <a:srgbClr val="30443A"/>
                      </a:solidFill>
                      <a:prstDash val="solid"/>
                      <a:round/>
                      <a:headEnd type="none" w="med" len="med"/>
                      <a:tailEnd type="none" w="med" len="med"/>
                    </a:lnL>
                    <a:lnR w="12700" cap="flat" cmpd="sng" algn="ctr">
                      <a:solidFill>
                        <a:srgbClr val="70433A"/>
                      </a:solidFill>
                      <a:prstDash val="solid"/>
                      <a:round/>
                      <a:headEnd type="none" w="med" len="med"/>
                      <a:tailEnd type="none" w="med" len="med"/>
                    </a:lnR>
                    <a:lnT w="12700" cap="flat" cmpd="sng" algn="ctr">
                      <a:solidFill>
                        <a:srgbClr val="30443A"/>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tc>
                  <a:txBody>
                    <a:bodyPr/>
                    <a:lstStyle/>
                    <a:p>
                      <a:pPr marL="0" marR="0" indent="0" algn="l" fontAlgn="b">
                        <a:buNone/>
                      </a:pPr>
                      <a:r>
                        <a:rPr lang="en-US" sz="500" b="1" i="0">
                          <a:effectLst/>
                          <a:latin typeface="Schibsted Grotesk"/>
                        </a:rPr>
                        <a:t>Cancer Risk</a:t>
                      </a:r>
                    </a:p>
                  </a:txBody>
                  <a:tcPr marL="24912" marR="24912" marT="16608" marB="16608" anchor="b">
                    <a:lnL w="12700" cap="flat" cmpd="sng" algn="ctr">
                      <a:solidFill>
                        <a:srgbClr val="70433A"/>
                      </a:solidFill>
                      <a:prstDash val="solid"/>
                      <a:round/>
                      <a:headEnd type="none" w="med" len="med"/>
                      <a:tailEnd type="none" w="med" len="med"/>
                    </a:lnL>
                    <a:lnR w="12700" cap="flat" cmpd="sng" algn="ctr">
                      <a:solidFill>
                        <a:srgbClr val="504B3A"/>
                      </a:solidFill>
                      <a:prstDash val="solid"/>
                      <a:round/>
                      <a:headEnd type="none" w="med" len="med"/>
                      <a:tailEnd type="none" w="med" len="med"/>
                    </a:lnR>
                    <a:lnT w="12700" cap="flat" cmpd="sng" algn="ctr">
                      <a:solidFill>
                        <a:srgbClr val="70433A"/>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5F5F5"/>
                    </a:solidFill>
                  </a:tcPr>
                </a:tc>
                <a:extLst>
                  <a:ext uri="{0D108BD9-81ED-4DB2-BD59-A6C34878D82A}">
                    <a16:rowId xmlns:a16="http://schemas.microsoft.com/office/drawing/2014/main" val="3381132705"/>
                  </a:ext>
                </a:extLst>
              </a:tr>
              <a:tr h="1079530">
                <a:tc>
                  <a:txBody>
                    <a:bodyPr/>
                    <a:lstStyle/>
                    <a:p>
                      <a:pPr marL="0" marR="0" indent="0" algn="l" fontAlgn="t">
                        <a:buNone/>
                      </a:pPr>
                      <a:r>
                        <a:rPr lang="en-US" sz="500" b="1" i="0">
                          <a:effectLst/>
                          <a:latin typeface="Schibsted Grotesk"/>
                        </a:rPr>
                        <a:t>Peutz-Jeghers (PJS)</a:t>
                      </a:r>
                      <a:endParaRPr lang="en-US" sz="500" b="0" i="0">
                        <a:effectLst/>
                        <a:latin typeface="Schibsted Grotesk"/>
                      </a:endParaRP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1">
                          <a:effectLst/>
                          <a:latin typeface="Schibsted Grotesk"/>
                        </a:rPr>
                        <a:t>STK11</a:t>
                      </a:r>
                      <a:r>
                        <a:rPr lang="en-US" sz="500" b="0" i="0">
                          <a:effectLst/>
                          <a:latin typeface="Schibsted Grotesk"/>
                        </a:rPr>
                        <a:t> (AD)</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a:effectLst/>
                          <a:latin typeface="Schibsted Grotesk"/>
                        </a:rPr>
                        <a:t>Hamartomatous (arborizing smooth muscle bands)</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a:effectLst/>
                          <a:latin typeface="Schibsted Grotesk"/>
                        </a:rPr>
                        <a:t>Mucocutaneous pigmentation (lips, buccal mucosa); small bowel intussusception</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a:effectLst/>
                          <a:latin typeface="Schibsted Grotesk"/>
                        </a:rPr>
                        <a:t>93% lifetime any cancer; small bowel 13%, CRC 39%, breast 54%, pancreas 11–36%</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1653615479"/>
                  </a:ext>
                </a:extLst>
              </a:tr>
              <a:tr h="1229004">
                <a:tc>
                  <a:txBody>
                    <a:bodyPr/>
                    <a:lstStyle/>
                    <a:p>
                      <a:pPr marL="0" marR="0" indent="0" algn="l" fontAlgn="t">
                        <a:buNone/>
                      </a:pPr>
                      <a:r>
                        <a:rPr lang="en-US" sz="500" b="1" i="0">
                          <a:effectLst/>
                          <a:latin typeface="Schibsted Grotesk"/>
                        </a:rPr>
                        <a:t>Familial Adenomatous Polyposis (FAP)</a:t>
                      </a:r>
                      <a:endParaRPr lang="en-US" sz="500" b="0" i="0">
                        <a:effectLst/>
                        <a:latin typeface="Schibsted Grotesk"/>
                      </a:endParaRP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1" dirty="0">
                          <a:effectLst/>
                          <a:latin typeface="Schibsted Grotesk"/>
                        </a:rPr>
                        <a:t>APC</a:t>
                      </a:r>
                      <a:r>
                        <a:rPr lang="en-US" sz="500" b="0" i="0" dirty="0">
                          <a:effectLst/>
                          <a:latin typeface="Schibsted Grotesk"/>
                        </a:rPr>
                        <a:t> (AD)</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a:effectLst/>
                          <a:latin typeface="Schibsted Grotesk"/>
                        </a:rPr>
                        <a:t>Adenomatous</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a:effectLst/>
                          <a:latin typeface="Schibsted Grotesk"/>
                        </a:rPr>
                        <a:t>&gt;100 colonic adenomas; duodenal adenomas common; desmoid tumors, CHRPE, osteomas</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a:effectLst/>
                          <a:latin typeface="Schibsted Grotesk"/>
                        </a:rPr>
                        <a:t>CRC ~100% untreated; duodenal cancer &lt;1–10%</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2752546038"/>
                  </a:ext>
                </a:extLst>
              </a:tr>
              <a:tr h="855320">
                <a:tc>
                  <a:txBody>
                    <a:bodyPr/>
                    <a:lstStyle/>
                    <a:p>
                      <a:pPr marL="0" marR="0" indent="0" algn="l" fontAlgn="t">
                        <a:buNone/>
                      </a:pPr>
                      <a:r>
                        <a:rPr lang="en-US" sz="500" b="1" i="0">
                          <a:effectLst/>
                          <a:latin typeface="Schibsted Grotesk"/>
                        </a:rPr>
                        <a:t>Juvenile Polyposis (JPS)</a:t>
                      </a:r>
                      <a:endParaRPr lang="en-US" sz="500" b="0" i="0">
                        <a:effectLst/>
                        <a:latin typeface="Schibsted Grotesk"/>
                      </a:endParaRP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1">
                          <a:effectLst/>
                          <a:latin typeface="Schibsted Grotesk"/>
                        </a:rPr>
                        <a:t>SMAD4</a:t>
                      </a:r>
                      <a:r>
                        <a:rPr lang="en-US" sz="500" b="0" i="0">
                          <a:effectLst/>
                          <a:latin typeface="Schibsted Grotesk"/>
                        </a:rPr>
                        <a:t> or </a:t>
                      </a:r>
                      <a:r>
                        <a:rPr lang="en-US" sz="500" b="0" i="1">
                          <a:effectLst/>
                          <a:latin typeface="Schibsted Grotesk"/>
                        </a:rPr>
                        <a:t>BMPR1A</a:t>
                      </a:r>
                      <a:r>
                        <a:rPr lang="en-US" sz="500" b="0" i="0">
                          <a:effectLst/>
                          <a:latin typeface="Schibsted Grotesk"/>
                        </a:rPr>
                        <a:t> (AD)</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a:effectLst/>
                          <a:latin typeface="Schibsted Grotesk"/>
                        </a:rPr>
                        <a:t>Juvenile (inflammatory)</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a:effectLst/>
                          <a:latin typeface="Schibsted Grotesk"/>
                        </a:rPr>
                        <a:t>GI bleeding, anemia in childhood; </a:t>
                      </a:r>
                      <a:r>
                        <a:rPr lang="en-US" sz="500" b="0" i="1">
                          <a:effectLst/>
                          <a:latin typeface="Schibsted Grotesk"/>
                        </a:rPr>
                        <a:t>SMAD4</a:t>
                      </a:r>
                      <a:r>
                        <a:rPr lang="en-US" sz="500" b="0" i="0">
                          <a:effectLst/>
                          <a:latin typeface="Schibsted Grotesk"/>
                        </a:rPr>
                        <a:t> carriers → HHT overlap</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a:effectLst/>
                          <a:latin typeface="Schibsted Grotesk"/>
                        </a:rPr>
                        <a:t>CRC up to 39–68%; gastric cancer (esp. </a:t>
                      </a:r>
                      <a:r>
                        <a:rPr lang="en-US" sz="500" b="0" i="1">
                          <a:effectLst/>
                          <a:latin typeface="Schibsted Grotesk"/>
                        </a:rPr>
                        <a:t>SMAD4</a:t>
                      </a:r>
                      <a:r>
                        <a:rPr lang="en-US" sz="500" b="0" i="0">
                          <a:effectLst/>
                          <a:latin typeface="Schibsted Grotesk"/>
                        </a:rPr>
                        <a:t>)</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1270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1750592730"/>
                  </a:ext>
                </a:extLst>
              </a:tr>
              <a:tr h="855320">
                <a:tc>
                  <a:txBody>
                    <a:bodyPr/>
                    <a:lstStyle/>
                    <a:p>
                      <a:pPr marL="0" marR="0" indent="0" algn="l" fontAlgn="t">
                        <a:buNone/>
                      </a:pPr>
                      <a:r>
                        <a:rPr lang="en-US" sz="500" b="1" i="0" dirty="0">
                          <a:effectLst/>
                          <a:latin typeface="Schibsted Grotesk"/>
                        </a:rPr>
                        <a:t>Cowden / PTEN Hamartoma Tumor Syndrome</a:t>
                      </a:r>
                      <a:endParaRPr lang="en-US" sz="500" b="0" i="0" dirty="0">
                        <a:effectLst/>
                        <a:latin typeface="Schibsted Grotesk"/>
                      </a:endParaRP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1">
                          <a:effectLst/>
                          <a:latin typeface="Schibsted Grotesk"/>
                        </a:rPr>
                        <a:t>PTEN</a:t>
                      </a:r>
                      <a:r>
                        <a:rPr lang="en-US" sz="500" b="0" i="0">
                          <a:effectLst/>
                          <a:latin typeface="Schibsted Grotesk"/>
                        </a:rPr>
                        <a:t> (AD)</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a:effectLst/>
                          <a:latin typeface="Schibsted Grotesk"/>
                        </a:rPr>
                        <a:t>Hamartomas, ganglioneuromas, mixed</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a:effectLst/>
                          <a:latin typeface="Schibsted Grotesk"/>
                        </a:rPr>
                        <a:t>Macrocephaly, trichilemmomas, oral papillomas, Lhermitte-Duclos disease</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tc>
                  <a:txBody>
                    <a:bodyPr/>
                    <a:lstStyle/>
                    <a:p>
                      <a:pPr marL="0" marR="0" indent="0" algn="l" fontAlgn="t">
                        <a:buNone/>
                      </a:pPr>
                      <a:r>
                        <a:rPr lang="en-US" sz="500" b="0" i="0" dirty="0">
                          <a:effectLst/>
                          <a:latin typeface="Schibsted Grotesk"/>
                        </a:rPr>
                        <a:t>Breast, thyroid, endometrial, renal, CRC</a:t>
                      </a:r>
                    </a:p>
                  </a:txBody>
                  <a:tcPr marL="24912" marR="24912" marT="16608" marB="16608">
                    <a:lnL w="12700" cap="flat" cmpd="sng" algn="ctr">
                      <a:solidFill>
                        <a:srgbClr val="E2DDD7"/>
                      </a:solidFill>
                      <a:prstDash val="solid"/>
                      <a:round/>
                      <a:headEnd type="none" w="med" len="med"/>
                      <a:tailEnd type="none" w="med" len="med"/>
                    </a:lnL>
                    <a:lnR w="12700" cap="flat" cmpd="sng" algn="ctr">
                      <a:solidFill>
                        <a:srgbClr val="E2DDD7"/>
                      </a:solidFill>
                      <a:prstDash val="solid"/>
                      <a:round/>
                      <a:headEnd type="none" w="med" len="med"/>
                      <a:tailEnd type="none" w="med" len="med"/>
                    </a:lnR>
                    <a:lnT w="12700" cap="flat" cmpd="sng" algn="ctr">
                      <a:solidFill>
                        <a:srgbClr val="E2DDD7"/>
                      </a:solidFill>
                      <a:prstDash val="solid"/>
                      <a:round/>
                      <a:headEnd type="none" w="med" len="med"/>
                      <a:tailEnd type="none" w="med" len="med"/>
                    </a:lnT>
                    <a:lnB w="7620" cap="flat" cmpd="sng" algn="ctr">
                      <a:solidFill>
                        <a:srgbClr val="E2DDD7"/>
                      </a:solidFill>
                      <a:prstDash val="solid"/>
                      <a:round/>
                      <a:headEnd type="none" w="med" len="med"/>
                      <a:tailEnd type="none" w="med" len="med"/>
                    </a:lnB>
                    <a:solidFill>
                      <a:srgbClr val="FFFFFF"/>
                    </a:solidFill>
                  </a:tcPr>
                </a:tc>
                <a:extLst>
                  <a:ext uri="{0D108BD9-81ED-4DB2-BD59-A6C34878D82A}">
                    <a16:rowId xmlns:a16="http://schemas.microsoft.com/office/drawing/2014/main" val="1348942782"/>
                  </a:ext>
                </a:extLst>
              </a:tr>
            </a:tbl>
          </a:graphicData>
        </a:graphic>
      </p:graphicFrame>
    </p:spTree>
    <p:extLst>
      <p:ext uri="{BB962C8B-B14F-4D97-AF65-F5344CB8AC3E}">
        <p14:creationId xmlns:p14="http://schemas.microsoft.com/office/powerpoint/2010/main" val="419853594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BA41B-43EE-13F9-6977-F7E7E15A1365}"/>
              </a:ext>
            </a:extLst>
          </p:cNvPr>
          <p:cNvSpPr>
            <a:spLocks noGrp="1"/>
          </p:cNvSpPr>
          <p:nvPr>
            <p:ph type="title"/>
          </p:nvPr>
        </p:nvSpPr>
        <p:spPr/>
        <p:txBody>
          <a:bodyPr/>
          <a:lstStyle/>
          <a:p>
            <a:r>
              <a:rPr lang="en-US">
                <a:hlinkClick r:id="rId3"/>
              </a:rPr>
              <a:t>Peutz-Jeghers Syndrome</a:t>
            </a:r>
            <a:r>
              <a:rPr lang="en-US"/>
              <a:t> </a:t>
            </a:r>
            <a:endParaRPr lang="en-US" dirty="0"/>
          </a:p>
        </p:txBody>
      </p:sp>
      <p:sp>
        <p:nvSpPr>
          <p:cNvPr id="3" name="Content Placeholder 2">
            <a:extLst>
              <a:ext uri="{FF2B5EF4-FFF2-40B4-BE49-F238E27FC236}">
                <a16:creationId xmlns:a16="http://schemas.microsoft.com/office/drawing/2014/main" id="{ACE2B764-1DFF-23FD-A5AB-CFD2F1DFB924}"/>
              </a:ext>
            </a:extLst>
          </p:cNvPr>
          <p:cNvSpPr>
            <a:spLocks noGrp="1"/>
          </p:cNvSpPr>
          <p:nvPr>
            <p:ph idx="1"/>
          </p:nvPr>
        </p:nvSpPr>
        <p:spPr/>
        <p:txBody>
          <a:bodyPr>
            <a:normAutofit fontScale="62500" lnSpcReduction="20000"/>
          </a:bodyPr>
          <a:lstStyle/>
          <a:p>
            <a:r>
              <a:rPr lang="en-US"/>
              <a:t>PJS is the prototype for small bowel polyposis. </a:t>
            </a:r>
          </a:p>
          <a:p>
            <a:pPr lvl="1"/>
            <a:r>
              <a:rPr lang="en-US"/>
              <a:t>autosomal dominant disorder caused by a mutation in the </a:t>
            </a:r>
            <a:r>
              <a:rPr lang="en-US" b="1"/>
              <a:t>STK11</a:t>
            </a:r>
            <a:r>
              <a:rPr lang="en-US"/>
              <a:t> gene</a:t>
            </a:r>
          </a:p>
          <a:p>
            <a:r>
              <a:rPr lang="en-US"/>
              <a:t>Key points:</a:t>
            </a:r>
          </a:p>
          <a:p>
            <a:r>
              <a:rPr lang="en-US" b="1"/>
              <a:t>Mucocutaneous pigmentation</a:t>
            </a:r>
            <a:r>
              <a:rPr lang="en-US"/>
              <a:t> (dark blue/brown macules on lips, buccal mucosa, perioral area, hands, feet) is present in </a:t>
            </a:r>
            <a:r>
              <a:rPr lang="en-US" b="1"/>
              <a:t>&gt;95%</a:t>
            </a:r>
            <a:r>
              <a:rPr lang="en-US"/>
              <a:t> of patients and often appears in infancy before GI symptoms. </a:t>
            </a:r>
          </a:p>
          <a:p>
            <a:r>
              <a:rPr lang="en-US" b="1"/>
              <a:t>Small bowel polyps</a:t>
            </a:r>
            <a:r>
              <a:rPr lang="en-US"/>
              <a:t> are present in </a:t>
            </a:r>
            <a:r>
              <a:rPr lang="en-US" b="1"/>
              <a:t>75% of cases</a:t>
            </a:r>
            <a:r>
              <a:rPr lang="en-US"/>
              <a:t>, most commonly in the </a:t>
            </a:r>
            <a:r>
              <a:rPr lang="en-US" b="1"/>
              <a:t>jejunum &gt; ileum &gt; duodenum</a:t>
            </a:r>
            <a:r>
              <a:rPr lang="en-US"/>
              <a:t>. Histologically, PJ polyps show a characteristic </a:t>
            </a:r>
            <a:r>
              <a:rPr lang="en-US" b="1"/>
              <a:t>arborizing pattern of muscularis mucosae</a:t>
            </a:r>
            <a:r>
              <a:rPr lang="en-US"/>
              <a:t> running through the lamina propria, covered by hyperplastic glandular mucosa.</a:t>
            </a:r>
          </a:p>
          <a:p>
            <a:r>
              <a:rPr lang="en-US"/>
              <a:t>The most feared complication is </a:t>
            </a:r>
            <a:r>
              <a:rPr lang="en-US" b="1"/>
              <a:t>intussusception</a:t>
            </a:r>
            <a:r>
              <a:rPr lang="en-US"/>
              <a:t> — by age 20, approximately half of PJS patients will present with small bowel obstruction from intussusception. </a:t>
            </a:r>
            <a:r>
              <a:rPr lang="en-US" b="1" i="1"/>
              <a:t>Polyps &gt;15 mm </a:t>
            </a:r>
            <a:r>
              <a:rPr lang="en-US"/>
              <a:t>should be treated to prevent this. </a:t>
            </a:r>
          </a:p>
          <a:p>
            <a:r>
              <a:rPr lang="en-US" b="1"/>
              <a:t>Cancer risk is extraordinary</a:t>
            </a:r>
            <a:r>
              <a:rPr lang="en-US"/>
              <a:t>: the absolute risk of developing any cancer between ages 15 and 64 is estimated at </a:t>
            </a:r>
            <a:r>
              <a:rPr lang="en-US" b="1"/>
              <a:t>93%</a:t>
            </a:r>
            <a:r>
              <a:rPr lang="en-US"/>
              <a:t>, with a relative risk of 15.2 for any cancer. The small intestine has the highest relative risk (RR 520) of any organ</a:t>
            </a:r>
          </a:p>
          <a:p>
            <a:r>
              <a:rPr lang="en-US"/>
              <a:t>Surveillance begins at </a:t>
            </a:r>
            <a:r>
              <a:rPr lang="en-US" b="1"/>
              <a:t>age 8</a:t>
            </a:r>
            <a:r>
              <a:rPr lang="en-US"/>
              <a:t> with EGD, colonoscopy, and small bowel imaging (capsule endoscopy or MR enterography), repeated every 2–3 years.</a:t>
            </a:r>
          </a:p>
          <a:p>
            <a:endParaRPr lang="en-US" dirty="0"/>
          </a:p>
        </p:txBody>
      </p:sp>
      <p:pic>
        <p:nvPicPr>
          <p:cNvPr id="4" name="Picture 3">
            <a:extLst>
              <a:ext uri="{FF2B5EF4-FFF2-40B4-BE49-F238E27FC236}">
                <a16:creationId xmlns:a16="http://schemas.microsoft.com/office/drawing/2014/main" id="{75A2FB7A-9508-CF0F-1ABC-C6B9868AE525}"/>
              </a:ext>
            </a:extLst>
          </p:cNvPr>
          <p:cNvPicPr>
            <a:picLocks noChangeAspect="1"/>
          </p:cNvPicPr>
          <p:nvPr/>
        </p:nvPicPr>
        <p:blipFill>
          <a:blip r:embed="rId4"/>
          <a:stretch>
            <a:fillRect/>
          </a:stretch>
        </p:blipFill>
        <p:spPr>
          <a:xfrm>
            <a:off x="9456420" y="1"/>
            <a:ext cx="2457450" cy="2430780"/>
          </a:xfrm>
          <a:prstGeom prst="rect">
            <a:avLst/>
          </a:prstGeom>
        </p:spPr>
      </p:pic>
    </p:spTree>
    <p:extLst>
      <p:ext uri="{BB962C8B-B14F-4D97-AF65-F5344CB8AC3E}">
        <p14:creationId xmlns:p14="http://schemas.microsoft.com/office/powerpoint/2010/main" val="392217577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14A860-7913-4833-2881-46E19D8A2C49}"/>
              </a:ext>
            </a:extLst>
          </p:cNvPr>
          <p:cNvSpPr>
            <a:spLocks noGrp="1"/>
          </p:cNvSpPr>
          <p:nvPr>
            <p:ph type="title"/>
          </p:nvPr>
        </p:nvSpPr>
        <p:spPr>
          <a:xfrm>
            <a:off x="572493" y="238539"/>
            <a:ext cx="11018520" cy="1434415"/>
          </a:xfrm>
        </p:spPr>
        <p:txBody>
          <a:bodyPr anchor="b">
            <a:normAutofit/>
          </a:bodyPr>
          <a:lstStyle/>
          <a:p>
            <a:r>
              <a:rPr lang="en-US" sz="4600" b="1"/>
              <a:t>Familial Adenomatous Polyposis (FAP) and the Small Bowel</a:t>
            </a:r>
            <a:endParaRPr lang="en-US" sz="46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0AD74D2-FA2A-7560-D7C0-726DCD0FE93A}"/>
              </a:ext>
            </a:extLst>
          </p:cNvPr>
          <p:cNvSpPr>
            <a:spLocks noGrp="1"/>
          </p:cNvSpPr>
          <p:nvPr>
            <p:ph idx="1"/>
          </p:nvPr>
        </p:nvSpPr>
        <p:spPr>
          <a:xfrm>
            <a:off x="572493" y="2071316"/>
            <a:ext cx="6713552" cy="4119172"/>
          </a:xfrm>
        </p:spPr>
        <p:txBody>
          <a:bodyPr anchor="t">
            <a:normAutofit/>
          </a:bodyPr>
          <a:lstStyle/>
          <a:p>
            <a:r>
              <a:rPr lang="en-US" sz="2200" b="1" dirty="0"/>
              <a:t>Duodenal adenomas</a:t>
            </a:r>
            <a:r>
              <a:rPr lang="en-US" sz="2200" dirty="0"/>
              <a:t> occur in the majority of FAP patients and represent the leading cause of cancer death after prophylactic colectomy. </a:t>
            </a:r>
          </a:p>
          <a:p>
            <a:pPr lvl="1"/>
            <a:r>
              <a:rPr lang="en-US" sz="2200" dirty="0"/>
              <a:t>Jejunal and ileal polyps in FAP also carry malignant potential via the </a:t>
            </a:r>
            <a:r>
              <a:rPr lang="en-US" sz="2200" b="1" dirty="0"/>
              <a:t>adenoma-carcinoma</a:t>
            </a:r>
            <a:r>
              <a:rPr lang="en-US" sz="2200" dirty="0"/>
              <a:t> sequence</a:t>
            </a:r>
          </a:p>
          <a:p>
            <a:pPr lvl="1"/>
            <a:r>
              <a:rPr lang="en-US" sz="2200" dirty="0"/>
              <a:t>Require periodic surveillance and endoscopic resection. </a:t>
            </a:r>
          </a:p>
        </p:txBody>
      </p:sp>
      <p:pic>
        <p:nvPicPr>
          <p:cNvPr id="4" name="Picture 3" descr="Is a Polyp a Tumor? Cancer Risk, Symptoms &amp; Treatment">
            <a:extLst>
              <a:ext uri="{FF2B5EF4-FFF2-40B4-BE49-F238E27FC236}">
                <a16:creationId xmlns:a16="http://schemas.microsoft.com/office/drawing/2014/main" id="{46B73A7B-5E89-FE92-C199-8C24F2E7821C}"/>
              </a:ext>
            </a:extLst>
          </p:cNvPr>
          <p:cNvPicPr>
            <a:picLocks noChangeAspect="1"/>
          </p:cNvPicPr>
          <p:nvPr/>
        </p:nvPicPr>
        <p:blipFill>
          <a:blip r:embed="rId2"/>
          <a:srcRect l="14979" r="19602"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68229236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3F7F-7372-C7ED-3B82-3F78E9F47857}"/>
              </a:ext>
            </a:extLst>
          </p:cNvPr>
          <p:cNvSpPr>
            <a:spLocks noGrp="1"/>
          </p:cNvSpPr>
          <p:nvPr>
            <p:ph type="title"/>
          </p:nvPr>
        </p:nvSpPr>
        <p:spPr/>
        <p:txBody>
          <a:bodyPr/>
          <a:lstStyle/>
          <a:p>
            <a:r>
              <a:rPr lang="en-US" u="sng" dirty="0"/>
              <a:t>Polyposis syndromes</a:t>
            </a:r>
            <a:endParaRPr lang="en-US" dirty="0"/>
          </a:p>
        </p:txBody>
      </p:sp>
      <p:pic>
        <p:nvPicPr>
          <p:cNvPr id="4" name="Content Placeholder 3">
            <a:extLst>
              <a:ext uri="{FF2B5EF4-FFF2-40B4-BE49-F238E27FC236}">
                <a16:creationId xmlns:a16="http://schemas.microsoft.com/office/drawing/2014/main" id="{C87D9C8D-579C-C62F-9743-DA6BC464F053}"/>
              </a:ext>
            </a:extLst>
          </p:cNvPr>
          <p:cNvPicPr>
            <a:picLocks noGrp="1" noChangeAspect="1"/>
          </p:cNvPicPr>
          <p:nvPr>
            <p:ph idx="1"/>
          </p:nvPr>
        </p:nvPicPr>
        <p:blipFill>
          <a:blip r:embed="rId3"/>
          <a:stretch>
            <a:fillRect/>
          </a:stretch>
        </p:blipFill>
        <p:spPr>
          <a:xfrm>
            <a:off x="2964180" y="2115344"/>
            <a:ext cx="6263640" cy="3771900"/>
          </a:xfrm>
          <a:prstGeom prst="rect">
            <a:avLst/>
          </a:prstGeom>
        </p:spPr>
      </p:pic>
    </p:spTree>
    <p:extLst>
      <p:ext uri="{BB962C8B-B14F-4D97-AF65-F5344CB8AC3E}">
        <p14:creationId xmlns:p14="http://schemas.microsoft.com/office/powerpoint/2010/main" val="232564172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DFA10A-D642-70CF-A1B8-6DAA345B2C62}"/>
              </a:ext>
            </a:extLst>
          </p:cNvPr>
          <p:cNvSpPr>
            <a:spLocks noGrp="1"/>
          </p:cNvSpPr>
          <p:nvPr>
            <p:ph type="title"/>
          </p:nvPr>
        </p:nvSpPr>
        <p:spPr>
          <a:xfrm>
            <a:off x="572493" y="238539"/>
            <a:ext cx="11018520" cy="1434415"/>
          </a:xfrm>
        </p:spPr>
        <p:txBody>
          <a:bodyPr anchor="b">
            <a:normAutofit/>
          </a:bodyPr>
          <a:lstStyle/>
          <a:p>
            <a:r>
              <a:rPr lang="en-US" sz="4600" b="1"/>
              <a:t>Clinical Presentation of Small Bowel Polyps (All Causes)</a:t>
            </a:r>
            <a:endParaRPr lang="en-US" sz="46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E481491-413C-2AB3-6151-BC6AC8E177D5}"/>
              </a:ext>
            </a:extLst>
          </p:cNvPr>
          <p:cNvSpPr>
            <a:spLocks noGrp="1"/>
          </p:cNvSpPr>
          <p:nvPr>
            <p:ph idx="1"/>
          </p:nvPr>
        </p:nvSpPr>
        <p:spPr>
          <a:xfrm>
            <a:off x="572493" y="2071316"/>
            <a:ext cx="6713552" cy="4119172"/>
          </a:xfrm>
        </p:spPr>
        <p:txBody>
          <a:bodyPr anchor="t">
            <a:normAutofit/>
          </a:bodyPr>
          <a:lstStyle/>
          <a:p>
            <a:r>
              <a:rPr lang="en-US" sz="2200" b="1"/>
              <a:t>GI bleeding</a:t>
            </a:r>
            <a:r>
              <a:rPr lang="en-US" sz="2200"/>
              <a:t> (occult or overt) with iron deficiency anemia — most common presentation </a:t>
            </a:r>
          </a:p>
          <a:p>
            <a:r>
              <a:rPr lang="en-US" sz="2200" b="1"/>
              <a:t>Abdominal pain</a:t>
            </a:r>
            <a:r>
              <a:rPr lang="en-US" sz="2200"/>
              <a:t> and distention</a:t>
            </a:r>
          </a:p>
          <a:p>
            <a:r>
              <a:rPr lang="en-US" sz="2200" b="1"/>
              <a:t>Intussusception</a:t>
            </a:r>
            <a:r>
              <a:rPr lang="en-US" sz="2200"/>
              <a:t> and bowel obstruction (especially PJS)</a:t>
            </a:r>
          </a:p>
          <a:p>
            <a:r>
              <a:rPr lang="en-US" sz="2200"/>
              <a:t>Many small bowel polyps are </a:t>
            </a:r>
            <a:r>
              <a:rPr lang="en-US" sz="2200" b="1"/>
              <a:t>asymptomatic</a:t>
            </a:r>
            <a:r>
              <a:rPr lang="en-US" sz="2200"/>
              <a:t> and discovered incidentally or during surveillance</a:t>
            </a:r>
          </a:p>
          <a:p>
            <a:endParaRPr lang="en-US" sz="2200"/>
          </a:p>
        </p:txBody>
      </p:sp>
      <p:pic>
        <p:nvPicPr>
          <p:cNvPr id="4" name="Picture 3" descr="Is a Polyp a Tumor? Cancer Risk, Symptoms &amp; Treatment">
            <a:extLst>
              <a:ext uri="{FF2B5EF4-FFF2-40B4-BE49-F238E27FC236}">
                <a16:creationId xmlns:a16="http://schemas.microsoft.com/office/drawing/2014/main" id="{D13A98A6-2E6B-8D54-3140-A19E4DC8BB4E}"/>
              </a:ext>
            </a:extLst>
          </p:cNvPr>
          <p:cNvPicPr>
            <a:picLocks noChangeAspect="1"/>
          </p:cNvPicPr>
          <p:nvPr/>
        </p:nvPicPr>
        <p:blipFill>
          <a:blip r:embed="rId2"/>
          <a:srcRect l="14979" r="19602"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01338847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F69176-6AC6-9333-39D3-7F94827FDD3C}"/>
              </a:ext>
            </a:extLst>
          </p:cNvPr>
          <p:cNvSpPr>
            <a:spLocks noGrp="1"/>
          </p:cNvSpPr>
          <p:nvPr>
            <p:ph type="title"/>
          </p:nvPr>
        </p:nvSpPr>
        <p:spPr>
          <a:xfrm>
            <a:off x="572493" y="238539"/>
            <a:ext cx="11018520" cy="1434415"/>
          </a:xfrm>
        </p:spPr>
        <p:txBody>
          <a:bodyPr anchor="b">
            <a:normAutofit/>
          </a:bodyPr>
          <a:lstStyle/>
          <a:p>
            <a:r>
              <a:rPr lang="en-US" sz="5400" b="1"/>
              <a:t>Diagnosis and Management</a:t>
            </a:r>
            <a:endParaRPr lang="en-US" sz="540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A8669BC-54BE-6850-E22D-89C1A3F6C5E4}"/>
              </a:ext>
            </a:extLst>
          </p:cNvPr>
          <p:cNvSpPr>
            <a:spLocks noGrp="1"/>
          </p:cNvSpPr>
          <p:nvPr>
            <p:ph idx="1"/>
          </p:nvPr>
        </p:nvSpPr>
        <p:spPr>
          <a:xfrm>
            <a:off x="572493" y="2071316"/>
            <a:ext cx="6713552" cy="4119172"/>
          </a:xfrm>
        </p:spPr>
        <p:txBody>
          <a:bodyPr anchor="t">
            <a:normAutofit/>
          </a:bodyPr>
          <a:lstStyle/>
          <a:p>
            <a:r>
              <a:rPr lang="en-US" sz="1700" b="1"/>
              <a:t>Capsule endoscopy </a:t>
            </a:r>
            <a:r>
              <a:rPr lang="en-US" sz="1700"/>
              <a:t>is the primary noninvasive modality for small bowel visualization </a:t>
            </a:r>
          </a:p>
          <a:p>
            <a:r>
              <a:rPr lang="en-US" sz="1700" b="1"/>
              <a:t>MR enterography</a:t>
            </a:r>
            <a:r>
              <a:rPr lang="en-US" sz="1700"/>
              <a:t> is complementary, with similar diagnostic yield for lesions ≥15 mm </a:t>
            </a:r>
          </a:p>
          <a:p>
            <a:r>
              <a:rPr lang="en-US" sz="1700" b="1"/>
              <a:t>Double-balloon enteroscopy (DBE)</a:t>
            </a:r>
            <a:r>
              <a:rPr lang="en-US" sz="1700"/>
              <a:t> allows both diagnosis and therapeutic polypectomy throughout the entire small bowel, and has largely replaced surgical resection as first-line management </a:t>
            </a:r>
          </a:p>
          <a:p>
            <a:r>
              <a:rPr lang="en-US" sz="1700"/>
              <a:t>Small bowel polyps </a:t>
            </a:r>
            <a:r>
              <a:rPr lang="en-US" sz="1700" b="1"/>
              <a:t>≥10 mm</a:t>
            </a:r>
            <a:r>
              <a:rPr lang="en-US" sz="1700"/>
              <a:t> in PJS should be removed to prevent intussusception </a:t>
            </a:r>
          </a:p>
          <a:p>
            <a:r>
              <a:rPr lang="en-US" sz="1700"/>
              <a:t>In FAP,</a:t>
            </a:r>
            <a:r>
              <a:rPr lang="en-US" sz="1700" b="1"/>
              <a:t> </a:t>
            </a:r>
            <a:r>
              <a:rPr lang="en-US" sz="1700"/>
              <a:t>the recommendation is for resection of every adenoma </a:t>
            </a:r>
            <a:r>
              <a:rPr lang="en-US" sz="1700" b="1"/>
              <a:t>&gt;1 cm</a:t>
            </a:r>
            <a:endParaRPr lang="en-US" sz="1700"/>
          </a:p>
          <a:p>
            <a:r>
              <a:rPr lang="en-US" sz="1700"/>
              <a:t>When surgery is required (e.g., intussusception), a </a:t>
            </a:r>
            <a:r>
              <a:rPr lang="en-US" sz="1700" b="1"/>
              <a:t>"clean sweep"</a:t>
            </a:r>
            <a:r>
              <a:rPr lang="en-US" sz="1700"/>
              <a:t> approach with intraoperative enteroscopy to remove all polyps decreases the need for repeat surgery</a:t>
            </a:r>
          </a:p>
          <a:p>
            <a:endParaRPr lang="en-US" sz="1700"/>
          </a:p>
        </p:txBody>
      </p:sp>
      <p:pic>
        <p:nvPicPr>
          <p:cNvPr id="4" name="Picture 3" descr="Is a Polyp a Tumor? Cancer Risk, Symptoms &amp; Treatment">
            <a:extLst>
              <a:ext uri="{FF2B5EF4-FFF2-40B4-BE49-F238E27FC236}">
                <a16:creationId xmlns:a16="http://schemas.microsoft.com/office/drawing/2014/main" id="{EFA91333-3520-D4BB-68FF-C0ECE895151E}"/>
              </a:ext>
            </a:extLst>
          </p:cNvPr>
          <p:cNvPicPr>
            <a:picLocks noChangeAspect="1"/>
          </p:cNvPicPr>
          <p:nvPr/>
        </p:nvPicPr>
        <p:blipFill>
          <a:blip r:embed="rId3"/>
          <a:srcRect l="14979" r="19602"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19169021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581B33-DC94-7FD6-796F-2EB99BCF6DBA}"/>
              </a:ext>
            </a:extLst>
          </p:cNvPr>
          <p:cNvSpPr>
            <a:spLocks noGrp="1"/>
          </p:cNvSpPr>
          <p:nvPr>
            <p:ph type="title"/>
          </p:nvPr>
        </p:nvSpPr>
        <p:spPr>
          <a:xfrm>
            <a:off x="572493" y="238539"/>
            <a:ext cx="11018520" cy="1434415"/>
          </a:xfrm>
        </p:spPr>
        <p:txBody>
          <a:bodyPr anchor="b">
            <a:normAutofit/>
          </a:bodyPr>
          <a:lstStyle/>
          <a:p>
            <a:r>
              <a:rPr lang="en-US" sz="5400" b="1" i="1" dirty="0"/>
              <a:t>***Pearls***</a:t>
            </a:r>
            <a:endParaRPr lang="en-US" sz="5400" i="1" dirty="0"/>
          </a:p>
        </p:txBody>
      </p:sp>
      <p:sp>
        <p:nvSpPr>
          <p:cNvPr id="3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51E515-AB67-388A-F957-F11435A9D5AC}"/>
              </a:ext>
            </a:extLst>
          </p:cNvPr>
          <p:cNvSpPr>
            <a:spLocks noGrp="1"/>
          </p:cNvSpPr>
          <p:nvPr>
            <p:ph idx="1"/>
          </p:nvPr>
        </p:nvSpPr>
        <p:spPr>
          <a:xfrm>
            <a:off x="572493" y="2071316"/>
            <a:ext cx="6713552" cy="4119172"/>
          </a:xfrm>
        </p:spPr>
        <p:txBody>
          <a:bodyPr anchor="t">
            <a:normAutofit/>
          </a:bodyPr>
          <a:lstStyle/>
          <a:p>
            <a:r>
              <a:rPr lang="en-US" sz="2200" dirty="0"/>
              <a:t>Dark macules crossing the vermillion border of the lip + small bowel intussusception in a young patient = </a:t>
            </a:r>
            <a:r>
              <a:rPr lang="en-US" sz="2200" b="1" dirty="0" err="1"/>
              <a:t>Peutz-Jeghers</a:t>
            </a:r>
            <a:r>
              <a:rPr lang="en-US" sz="2200" b="1" dirty="0"/>
              <a:t> syndrome</a:t>
            </a:r>
            <a:r>
              <a:rPr lang="en-US" sz="2200" dirty="0"/>
              <a:t> (</a:t>
            </a:r>
            <a:r>
              <a:rPr lang="en-US" sz="2200" i="1" dirty="0"/>
              <a:t>STK11-gene)</a:t>
            </a:r>
            <a:endParaRPr lang="en-US" sz="2200" dirty="0"/>
          </a:p>
          <a:p>
            <a:r>
              <a:rPr lang="en-US" sz="2200" dirty="0" err="1"/>
              <a:t>Hamartomatous</a:t>
            </a:r>
            <a:r>
              <a:rPr lang="en-US" sz="2200" dirty="0"/>
              <a:t> polyp with arborizing smooth muscle = </a:t>
            </a:r>
            <a:r>
              <a:rPr lang="en-US" sz="2200" b="1" dirty="0"/>
              <a:t>PJ polyp</a:t>
            </a:r>
            <a:endParaRPr lang="en-US" sz="2200" dirty="0"/>
          </a:p>
          <a:p>
            <a:r>
              <a:rPr lang="en-US" sz="2200" i="1" dirty="0"/>
              <a:t>SMAD4</a:t>
            </a:r>
            <a:r>
              <a:rPr lang="en-US" sz="2200" dirty="0"/>
              <a:t> mutation + juvenile polyps + epistaxis/telangiectasias = </a:t>
            </a:r>
            <a:r>
              <a:rPr lang="en-US" sz="2200" b="1" dirty="0"/>
              <a:t>JPS-HHT overlap</a:t>
            </a:r>
            <a:r>
              <a:rPr lang="en-US" sz="2200" dirty="0"/>
              <a:t> </a:t>
            </a:r>
          </a:p>
          <a:p>
            <a:r>
              <a:rPr lang="en-US" sz="2200" b="1" i="1" dirty="0"/>
              <a:t>Duodenal adenomas </a:t>
            </a:r>
            <a:r>
              <a:rPr lang="en-US" sz="2200" dirty="0"/>
              <a:t>in a patient with known FAP = leading cause of cancer death post-colectomy</a:t>
            </a:r>
          </a:p>
          <a:p>
            <a:endParaRPr lang="en-US" sz="2200" dirty="0"/>
          </a:p>
        </p:txBody>
      </p:sp>
      <p:pic>
        <p:nvPicPr>
          <p:cNvPr id="5" name="Picture 4" descr="Natural Pearls vs. Cultured Pearls: The Difference Explained | Jewelers Mutual">
            <a:extLst>
              <a:ext uri="{FF2B5EF4-FFF2-40B4-BE49-F238E27FC236}">
                <a16:creationId xmlns:a16="http://schemas.microsoft.com/office/drawing/2014/main" id="{7187266B-55B2-0B1E-21E0-C2ABA0D424AD}"/>
              </a:ext>
            </a:extLst>
          </p:cNvPr>
          <p:cNvPicPr>
            <a:picLocks noChangeAspect="1"/>
          </p:cNvPicPr>
          <p:nvPr/>
        </p:nvPicPr>
        <p:blipFill>
          <a:blip r:embed="rId3"/>
          <a:srcRect l="29648" r="6136" b="2"/>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146188806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996BF-2BDD-6FBA-C45B-768B3C959AF9}"/>
              </a:ext>
            </a:extLst>
          </p:cNvPr>
          <p:cNvSpPr>
            <a:spLocks noGrp="1"/>
          </p:cNvSpPr>
          <p:nvPr>
            <p:ph type="title"/>
          </p:nvPr>
        </p:nvSpPr>
        <p:spPr/>
        <p:txBody>
          <a:bodyPr/>
          <a:lstStyle/>
          <a:p>
            <a:r>
              <a:rPr lang="en-US" b="1" i="1" dirty="0">
                <a:solidFill>
                  <a:srgbClr val="FF0000"/>
                </a:solidFill>
              </a:rPr>
              <a:t>Closing Time</a:t>
            </a:r>
          </a:p>
        </p:txBody>
      </p:sp>
      <p:sp>
        <p:nvSpPr>
          <p:cNvPr id="3" name="Text Placeholder 2">
            <a:extLst>
              <a:ext uri="{FF2B5EF4-FFF2-40B4-BE49-F238E27FC236}">
                <a16:creationId xmlns:a16="http://schemas.microsoft.com/office/drawing/2014/main" id="{506A3D03-DA35-7634-E192-E41B55BD366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5143357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486D3-8A84-8C38-54BA-1F1EE0A3F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8547A-193E-29C9-8DAC-3A26EAC017B9}"/>
              </a:ext>
            </a:extLst>
          </p:cNvPr>
          <p:cNvSpPr>
            <a:spLocks noGrp="1"/>
          </p:cNvSpPr>
          <p:nvPr>
            <p:ph type="title"/>
          </p:nvPr>
        </p:nvSpPr>
        <p:spPr>
          <a:xfrm>
            <a:off x="640080" y="325369"/>
            <a:ext cx="4368602" cy="1956841"/>
          </a:xfrm>
        </p:spPr>
        <p:txBody>
          <a:bodyPr anchor="b">
            <a:normAutofit/>
          </a:bodyPr>
          <a:lstStyle/>
          <a:p>
            <a:r>
              <a:rPr lang="en-US" sz="5400" b="1"/>
              <a:t>Mystery Case</a:t>
            </a:r>
            <a:endParaRPr lang="en-US" sz="5400"/>
          </a:p>
        </p:txBody>
      </p:sp>
      <p:sp>
        <p:nvSpPr>
          <p:cNvPr id="3" name="Content Placeholder 2">
            <a:extLst>
              <a:ext uri="{FF2B5EF4-FFF2-40B4-BE49-F238E27FC236}">
                <a16:creationId xmlns:a16="http://schemas.microsoft.com/office/drawing/2014/main" id="{6D99398A-3E75-8037-BC6D-3FE95B1C4546}"/>
              </a:ext>
            </a:extLst>
          </p:cNvPr>
          <p:cNvSpPr>
            <a:spLocks noGrp="1"/>
          </p:cNvSpPr>
          <p:nvPr>
            <p:ph idx="1"/>
          </p:nvPr>
        </p:nvSpPr>
        <p:spPr>
          <a:xfrm>
            <a:off x="640080" y="2872899"/>
            <a:ext cx="4243589" cy="3320668"/>
          </a:xfrm>
        </p:spPr>
        <p:txBody>
          <a:bodyPr>
            <a:normAutofit lnSpcReduction="10000"/>
          </a:bodyPr>
          <a:lstStyle/>
          <a:p>
            <a:r>
              <a:rPr lang="en-US" sz="2000" dirty="0"/>
              <a:t>Ms. Riding Hood, symptoms included having </a:t>
            </a:r>
            <a:r>
              <a:rPr lang="en-US" sz="2000" b="1" dirty="0"/>
              <a:t>burning epigastric </a:t>
            </a:r>
            <a:r>
              <a:rPr lang="en-US" sz="2000" b="1" dirty="0" err="1"/>
              <a:t>abd</a:t>
            </a:r>
            <a:r>
              <a:rPr lang="en-US" sz="2000" b="1" dirty="0"/>
              <a:t> pain, nausea, vomiting, bloating, early </a:t>
            </a:r>
            <a:r>
              <a:rPr lang="en-US" sz="2000" b="1" dirty="0" err="1"/>
              <a:t>satiety</a:t>
            </a:r>
            <a:r>
              <a:rPr lang="en-US" sz="2000" dirty="0" err="1"/>
              <a:t>,</a:t>
            </a:r>
            <a:r>
              <a:rPr lang="en-US" sz="2000" b="1" i="1" u="sng" dirty="0" err="1"/>
              <a:t>coffee</a:t>
            </a:r>
            <a:r>
              <a:rPr lang="en-US" sz="2000" b="1" i="1" u="sng" dirty="0"/>
              <a:t> ground emesis, black tarry stools 6 days ago. Now her pain has radiated to her RLQ and her temp is now 102.3 F and she is still very nauseous and is vomiting.</a:t>
            </a:r>
          </a:p>
          <a:p>
            <a:r>
              <a:rPr lang="en-US" sz="2000" dirty="0"/>
              <a:t>Who can tell me all of her diagnosis?</a:t>
            </a:r>
          </a:p>
          <a:p>
            <a:pPr marL="0" indent="0">
              <a:buNone/>
            </a:pPr>
            <a:endParaRPr lang="en-US" sz="2000" dirty="0"/>
          </a:p>
        </p:txBody>
      </p:sp>
      <p:pic>
        <p:nvPicPr>
          <p:cNvPr id="5" name="Picture 4" descr="780+ Adult Little Red Riding Hood Costume Stock Photos, Pictures &amp;  Royalty-Free Images - iStock">
            <a:extLst>
              <a:ext uri="{FF2B5EF4-FFF2-40B4-BE49-F238E27FC236}">
                <a16:creationId xmlns:a16="http://schemas.microsoft.com/office/drawing/2014/main" id="{D2345839-746B-7A2F-3C27-BF271C25D70B}"/>
              </a:ext>
            </a:extLst>
          </p:cNvPr>
          <p:cNvPicPr>
            <a:picLocks noChangeAspect="1"/>
          </p:cNvPicPr>
          <p:nvPr/>
        </p:nvPicPr>
        <p:blipFill>
          <a:blip r:embed="rId3"/>
          <a:srcRect l="18121" r="14926"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23203880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CBA0F-E437-74D5-F922-BE0794CAA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ECBAC-0BE8-251C-7866-586497D0D82A}"/>
              </a:ext>
            </a:extLst>
          </p:cNvPr>
          <p:cNvSpPr>
            <a:spLocks noGrp="1"/>
          </p:cNvSpPr>
          <p:nvPr>
            <p:ph type="title"/>
          </p:nvPr>
        </p:nvSpPr>
        <p:spPr>
          <a:xfrm>
            <a:off x="640080" y="325369"/>
            <a:ext cx="4368602" cy="1956841"/>
          </a:xfrm>
        </p:spPr>
        <p:txBody>
          <a:bodyPr anchor="b">
            <a:normAutofit/>
          </a:bodyPr>
          <a:lstStyle/>
          <a:p>
            <a:r>
              <a:rPr lang="en-US" sz="5400" b="1"/>
              <a:t>Mystery Case</a:t>
            </a:r>
            <a:endParaRPr lang="en-US" sz="5400"/>
          </a:p>
        </p:txBody>
      </p:sp>
      <p:sp>
        <p:nvSpPr>
          <p:cNvPr id="3" name="Content Placeholder 2">
            <a:extLst>
              <a:ext uri="{FF2B5EF4-FFF2-40B4-BE49-F238E27FC236}">
                <a16:creationId xmlns:a16="http://schemas.microsoft.com/office/drawing/2014/main" id="{CC5DDC41-F8B8-DAF4-8977-E0971271DD23}"/>
              </a:ext>
            </a:extLst>
          </p:cNvPr>
          <p:cNvSpPr>
            <a:spLocks noGrp="1"/>
          </p:cNvSpPr>
          <p:nvPr>
            <p:ph idx="1"/>
          </p:nvPr>
        </p:nvSpPr>
        <p:spPr>
          <a:xfrm>
            <a:off x="640080" y="2872899"/>
            <a:ext cx="4243589" cy="3320668"/>
          </a:xfrm>
        </p:spPr>
        <p:txBody>
          <a:bodyPr>
            <a:normAutofit/>
          </a:bodyPr>
          <a:lstStyle/>
          <a:p>
            <a:pPr marL="0" indent="0">
              <a:buNone/>
            </a:pPr>
            <a:r>
              <a:rPr lang="en-US" sz="2000" dirty="0"/>
              <a:t>Assessment:</a:t>
            </a:r>
          </a:p>
          <a:p>
            <a:pPr marL="0" indent="0">
              <a:buNone/>
            </a:pPr>
            <a:r>
              <a:rPr lang="en-US" sz="2000" dirty="0"/>
              <a:t>1)Gastritis</a:t>
            </a:r>
          </a:p>
          <a:p>
            <a:pPr marL="0" indent="0">
              <a:buNone/>
            </a:pPr>
            <a:r>
              <a:rPr lang="en-US" sz="2000" dirty="0"/>
              <a:t>2)GI Bleed (UGIB)</a:t>
            </a:r>
          </a:p>
          <a:p>
            <a:pPr marL="0" indent="0">
              <a:buNone/>
            </a:pPr>
            <a:r>
              <a:rPr lang="en-US" sz="2000" dirty="0"/>
              <a:t>3) Appendicitis</a:t>
            </a:r>
          </a:p>
        </p:txBody>
      </p:sp>
      <p:pic>
        <p:nvPicPr>
          <p:cNvPr id="5" name="Picture 4" descr="780+ Adult Little Red Riding Hood Costume Stock Photos, Pictures &amp;  Royalty-Free Images - iStock">
            <a:extLst>
              <a:ext uri="{FF2B5EF4-FFF2-40B4-BE49-F238E27FC236}">
                <a16:creationId xmlns:a16="http://schemas.microsoft.com/office/drawing/2014/main" id="{EB37A099-EF27-15C7-AD1A-D831D1F4865E}"/>
              </a:ext>
            </a:extLst>
          </p:cNvPr>
          <p:cNvPicPr>
            <a:picLocks noChangeAspect="1"/>
          </p:cNvPicPr>
          <p:nvPr/>
        </p:nvPicPr>
        <p:blipFill>
          <a:blip r:embed="rId3"/>
          <a:srcRect l="18121" r="14926"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76083652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04405-8BA6-FA4E-DA57-D6E50CC6A6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A386F8-2AA0-3CB5-4384-75885CFE4EFC}"/>
              </a:ext>
            </a:extLst>
          </p:cNvPr>
          <p:cNvSpPr>
            <a:spLocks noGrp="1"/>
          </p:cNvSpPr>
          <p:nvPr>
            <p:ph type="title"/>
          </p:nvPr>
        </p:nvSpPr>
        <p:spPr>
          <a:xfrm>
            <a:off x="640080" y="325369"/>
            <a:ext cx="4368602" cy="1956841"/>
          </a:xfrm>
        </p:spPr>
        <p:txBody>
          <a:bodyPr anchor="b">
            <a:normAutofit/>
          </a:bodyPr>
          <a:lstStyle/>
          <a:p>
            <a:r>
              <a:rPr lang="en-US" sz="5400" b="1" dirty="0"/>
              <a:t>Mystery Case</a:t>
            </a:r>
            <a:endParaRPr lang="en-US" sz="5400" dirty="0"/>
          </a:p>
        </p:txBody>
      </p:sp>
      <p:sp>
        <p:nvSpPr>
          <p:cNvPr id="3" name="Content Placeholder 2">
            <a:extLst>
              <a:ext uri="{FF2B5EF4-FFF2-40B4-BE49-F238E27FC236}">
                <a16:creationId xmlns:a16="http://schemas.microsoft.com/office/drawing/2014/main" id="{4C00E806-CC86-B337-F641-A0DCADAD5ED3}"/>
              </a:ext>
            </a:extLst>
          </p:cNvPr>
          <p:cNvSpPr>
            <a:spLocks noGrp="1"/>
          </p:cNvSpPr>
          <p:nvPr>
            <p:ph idx="1"/>
          </p:nvPr>
        </p:nvSpPr>
        <p:spPr>
          <a:xfrm>
            <a:off x="640080" y="2354580"/>
            <a:ext cx="4243589" cy="4048511"/>
          </a:xfrm>
        </p:spPr>
        <p:txBody>
          <a:bodyPr>
            <a:normAutofit fontScale="32500" lnSpcReduction="20000"/>
          </a:bodyPr>
          <a:lstStyle/>
          <a:p>
            <a:r>
              <a:rPr lang="en-US" b="1" dirty="0"/>
              <a:t>Treatment Plans</a:t>
            </a:r>
          </a:p>
          <a:p>
            <a:pPr lvl="0"/>
            <a:r>
              <a:rPr lang="en-US" b="1" dirty="0"/>
              <a:t>1. Gastritis</a:t>
            </a:r>
            <a:endParaRPr lang="en-US" dirty="0"/>
          </a:p>
          <a:p>
            <a:pPr lvl="1"/>
            <a:r>
              <a:rPr lang="en-US" b="1" dirty="0"/>
              <a:t>Remove Triggers:</a:t>
            </a:r>
            <a:r>
              <a:rPr lang="en-US" dirty="0"/>
              <a:t> Discontinue offending agents like NSAIDs, alcohol, and spicy foods.</a:t>
            </a:r>
          </a:p>
          <a:p>
            <a:pPr lvl="1"/>
            <a:r>
              <a:rPr lang="en-US" b="1" dirty="0"/>
              <a:t>Acid Suppression:</a:t>
            </a:r>
            <a:r>
              <a:rPr lang="en-US" dirty="0"/>
              <a:t> Initiate a Proton Pump Inhibitor (PPI) (e.g., omeprazole) or an H2 blocker (e.g., famotidine) to promote mucosal healing.</a:t>
            </a:r>
          </a:p>
          <a:p>
            <a:pPr lvl="1"/>
            <a:r>
              <a:rPr lang="en-US" b="1" dirty="0"/>
              <a:t>Infection Control:</a:t>
            </a:r>
            <a:r>
              <a:rPr lang="en-US" dirty="0"/>
              <a:t> Test and treat for </a:t>
            </a:r>
            <a:r>
              <a:rPr lang="en-US" i="1" dirty="0"/>
              <a:t>H. pylori</a:t>
            </a:r>
            <a:r>
              <a:rPr lang="en-US" dirty="0"/>
              <a:t> if positive (using a multi-drug regimen of antibiotics and a PPI).</a:t>
            </a:r>
          </a:p>
          <a:p>
            <a:pPr lvl="0"/>
            <a:r>
              <a:rPr lang="en-US" b="1" dirty="0"/>
              <a:t>2. Upper Gastrointestinal Bleed (UGIB)</a:t>
            </a:r>
            <a:endParaRPr lang="en-US" dirty="0"/>
          </a:p>
          <a:p>
            <a:pPr lvl="1"/>
            <a:r>
              <a:rPr lang="en-US" b="1" dirty="0"/>
              <a:t>Resuscitation:</a:t>
            </a:r>
            <a:r>
              <a:rPr lang="en-US" dirty="0"/>
              <a:t> Stabilize the patient with large-bore IV access, aggressive fluid resuscitation, and blood transfusions if hemodynamically unstable.</a:t>
            </a:r>
          </a:p>
          <a:p>
            <a:pPr lvl="1"/>
            <a:r>
              <a:rPr lang="en-US" b="1" dirty="0"/>
              <a:t>Medical Therapy:</a:t>
            </a:r>
            <a:r>
              <a:rPr lang="en-US" dirty="0"/>
              <a:t> Start a high-dose IV Proton Pump Inhibitor (PPI) infusion.</a:t>
            </a:r>
          </a:p>
          <a:p>
            <a:pPr lvl="1"/>
            <a:r>
              <a:rPr lang="en-US" b="1" dirty="0"/>
              <a:t>Intervention:</a:t>
            </a:r>
            <a:r>
              <a:rPr lang="en-US" dirty="0"/>
              <a:t> Perform an urgent </a:t>
            </a:r>
            <a:r>
              <a:rPr lang="en-US" b="1" dirty="0"/>
              <a:t>esophagogastroduodenoscopy (EGD)</a:t>
            </a:r>
            <a:r>
              <a:rPr lang="en-US" dirty="0"/>
              <a:t> within 24 hours to locate and treat the bleeding source (via banding, cautery, or clipping).</a:t>
            </a:r>
          </a:p>
          <a:p>
            <a:pPr lvl="0"/>
            <a:r>
              <a:rPr lang="en-US" b="1" dirty="0"/>
              <a:t>3. Appendicitis</a:t>
            </a:r>
            <a:endParaRPr lang="en-US" dirty="0"/>
          </a:p>
          <a:p>
            <a:pPr lvl="1"/>
            <a:r>
              <a:rPr lang="en-US" b="1" dirty="0"/>
              <a:t>Surgical Intervention:</a:t>
            </a:r>
            <a:r>
              <a:rPr lang="en-US" dirty="0"/>
              <a:t> Perform an urgent </a:t>
            </a:r>
            <a:r>
              <a:rPr lang="en-US" b="1" dirty="0"/>
              <a:t>appendectomy</a:t>
            </a:r>
            <a:r>
              <a:rPr lang="en-US" dirty="0"/>
              <a:t> (laparoscopic is preferred), which is the definitive treatment.</a:t>
            </a:r>
          </a:p>
          <a:p>
            <a:pPr lvl="1"/>
            <a:r>
              <a:rPr lang="en-US" b="1" dirty="0"/>
              <a:t>Preoperative Care:</a:t>
            </a:r>
            <a:r>
              <a:rPr lang="en-US" dirty="0"/>
              <a:t> Administer IV broad-spectrum antibiotics and IV fluid resuscitation.</a:t>
            </a:r>
          </a:p>
          <a:p>
            <a:pPr lvl="1"/>
            <a:r>
              <a:rPr lang="en-US" b="1" dirty="0"/>
              <a:t>Non-Surgical Alternative:</a:t>
            </a:r>
            <a:r>
              <a:rPr lang="en-US" dirty="0"/>
              <a:t> In select uncomplicated cases without an appendicolith, targeted IV antibiotics may be used, though appendectomy remains the gold standard to prevent recurrence.</a:t>
            </a:r>
          </a:p>
          <a:p>
            <a:pPr marL="0" indent="0">
              <a:buNone/>
            </a:pPr>
            <a:endParaRPr lang="en-US" sz="2000" dirty="0"/>
          </a:p>
        </p:txBody>
      </p:sp>
      <p:pic>
        <p:nvPicPr>
          <p:cNvPr id="5" name="Picture 4" descr="780+ Adult Little Red Riding Hood Costume Stock Photos, Pictures &amp;  Royalty-Free Images - iStock">
            <a:extLst>
              <a:ext uri="{FF2B5EF4-FFF2-40B4-BE49-F238E27FC236}">
                <a16:creationId xmlns:a16="http://schemas.microsoft.com/office/drawing/2014/main" id="{5FC392ED-9BF2-F254-7197-3170FF1BF98B}"/>
              </a:ext>
            </a:extLst>
          </p:cNvPr>
          <p:cNvPicPr>
            <a:picLocks noChangeAspect="1"/>
          </p:cNvPicPr>
          <p:nvPr/>
        </p:nvPicPr>
        <p:blipFill>
          <a:blip r:embed="rId3"/>
          <a:srcRect l="18121" r="14926"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50241895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5B9A6E-BB6C-8F4E-6F4D-5FDA2C9F6A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906017-83BB-EEF7-7F21-7883FABF140A}"/>
              </a:ext>
            </a:extLst>
          </p:cNvPr>
          <p:cNvSpPr>
            <a:spLocks noGrp="1"/>
          </p:cNvSpPr>
          <p:nvPr>
            <p:ph type="title"/>
          </p:nvPr>
        </p:nvSpPr>
        <p:spPr>
          <a:xfrm>
            <a:off x="838200" y="365125"/>
            <a:ext cx="10515600" cy="1325563"/>
          </a:xfrm>
        </p:spPr>
        <p:txBody>
          <a:bodyPr>
            <a:normAutofit/>
          </a:bodyPr>
          <a:lstStyle/>
          <a:p>
            <a:r>
              <a:rPr lang="en-US" sz="5400"/>
              <a:t>PANCE Question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EE73554-3274-8355-5AAA-DA2F3FA6F4FA}"/>
              </a:ext>
            </a:extLst>
          </p:cNvPr>
          <p:cNvSpPr>
            <a:spLocks noGrp="1"/>
          </p:cNvSpPr>
          <p:nvPr>
            <p:ph idx="1"/>
          </p:nvPr>
        </p:nvSpPr>
        <p:spPr>
          <a:xfrm>
            <a:off x="838200" y="1929384"/>
            <a:ext cx="10515600" cy="4251960"/>
          </a:xfrm>
        </p:spPr>
        <p:txBody>
          <a:bodyPr>
            <a:normAutofit/>
          </a:bodyPr>
          <a:lstStyle/>
          <a:p>
            <a:r>
              <a:rPr lang="en-US" sz="2200"/>
              <a:t>A 28-year-old female presents to the emergency department complaining of right lower quadrant abdominal pain that has been present for the past 5 days. She has experienced anorexia, nausea, and subjective fevers.</a:t>
            </a:r>
          </a:p>
          <a:p>
            <a:r>
              <a:rPr lang="en-US" sz="2200"/>
              <a:t>On PE, her temperature is 38.6°C (101.5°F), heart rate is 108 bpm, and blood pressure is 112/74 mmHg. Abdominal examination reveals a tender palpable, firm mass in the right lower quadrant with localized guarding.</a:t>
            </a:r>
          </a:p>
          <a:p>
            <a:r>
              <a:rPr lang="en-US" sz="2200"/>
              <a:t>A CT scan of the abdomen and pelvis with IV contrast demonstrates a </a:t>
            </a:r>
            <a:r>
              <a:rPr lang="en-US" sz="2200" u="sng"/>
              <a:t>ruptured appendix </a:t>
            </a:r>
            <a:r>
              <a:rPr lang="en-US" sz="2200"/>
              <a:t>with a well-circumscribed, 5.0 cm periappendiceal abscess.</a:t>
            </a:r>
          </a:p>
          <a:p>
            <a:endParaRPr lang="en-US" sz="2200"/>
          </a:p>
        </p:txBody>
      </p:sp>
    </p:spTree>
    <p:extLst>
      <p:ext uri="{BB962C8B-B14F-4D97-AF65-F5344CB8AC3E}">
        <p14:creationId xmlns:p14="http://schemas.microsoft.com/office/powerpoint/2010/main" val="421703729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A7F859-AC44-A6E7-4629-5561F95B0EE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2FBCEB-AC5E-680B-99A0-2545B8555FC9}"/>
              </a:ext>
            </a:extLst>
          </p:cNvPr>
          <p:cNvSpPr>
            <a:spLocks noGrp="1"/>
          </p:cNvSpPr>
          <p:nvPr>
            <p:ph type="title"/>
          </p:nvPr>
        </p:nvSpPr>
        <p:spPr>
          <a:xfrm>
            <a:off x="838200" y="365125"/>
            <a:ext cx="10515600" cy="1325563"/>
          </a:xfrm>
        </p:spPr>
        <p:txBody>
          <a:bodyPr>
            <a:normAutofit/>
          </a:bodyPr>
          <a:lstStyle/>
          <a:p>
            <a:r>
              <a:rPr lang="en-US" sz="4200"/>
              <a:t>Which of the following is the most appropriate </a:t>
            </a:r>
            <a:r>
              <a:rPr lang="en-US" sz="4200" b="1"/>
              <a:t>initial</a:t>
            </a:r>
            <a:r>
              <a:rPr lang="en-US" sz="4200"/>
              <a:t> management for this patient?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3CE34B4-DB82-C160-202B-7A4E8320B378}"/>
              </a:ext>
            </a:extLst>
          </p:cNvPr>
          <p:cNvSpPr>
            <a:spLocks noGrp="1"/>
          </p:cNvSpPr>
          <p:nvPr>
            <p:ph idx="1"/>
          </p:nvPr>
        </p:nvSpPr>
        <p:spPr>
          <a:xfrm>
            <a:off x="838200" y="1929384"/>
            <a:ext cx="10515600" cy="4251960"/>
          </a:xfrm>
        </p:spPr>
        <p:txBody>
          <a:bodyPr>
            <a:normAutofit/>
          </a:bodyPr>
          <a:lstStyle/>
          <a:p>
            <a:r>
              <a:rPr lang="en-US" sz="2200"/>
              <a:t>A) Immediate open appendectomy</a:t>
            </a:r>
          </a:p>
          <a:p>
            <a:pPr marL="0" indent="0">
              <a:buNone/>
            </a:pPr>
            <a:endParaRPr lang="en-US" sz="2200"/>
          </a:p>
          <a:p>
            <a:r>
              <a:rPr lang="en-US" sz="2200"/>
              <a:t>B) Immediate laparoscopic appendectomy</a:t>
            </a:r>
          </a:p>
          <a:p>
            <a:pPr marL="0" indent="0">
              <a:buNone/>
            </a:pPr>
            <a:endParaRPr lang="en-US" sz="2200"/>
          </a:p>
          <a:p>
            <a:r>
              <a:rPr lang="en-US" sz="2200"/>
              <a:t>C) Intravenous antibiotics and CT-guided percutaneous drainage</a:t>
            </a:r>
          </a:p>
          <a:p>
            <a:pPr marL="0" indent="0">
              <a:buNone/>
            </a:pPr>
            <a:endParaRPr lang="en-US" sz="2200"/>
          </a:p>
          <a:p>
            <a:r>
              <a:rPr lang="en-US" sz="2200"/>
              <a:t>D) Diagnostic laparoscopy with extensive peritoneal lavage</a:t>
            </a:r>
          </a:p>
          <a:p>
            <a:pPr marL="0" indent="0">
              <a:buNone/>
            </a:pPr>
            <a:endParaRPr lang="en-US" sz="2200"/>
          </a:p>
          <a:p>
            <a:r>
              <a:rPr lang="en-US" sz="2200"/>
              <a:t>E) Discharge home with a 14-day course of oral antibiotics</a:t>
            </a:r>
          </a:p>
          <a:p>
            <a:endParaRPr lang="en-US" sz="2200"/>
          </a:p>
        </p:txBody>
      </p:sp>
    </p:spTree>
    <p:extLst>
      <p:ext uri="{BB962C8B-B14F-4D97-AF65-F5344CB8AC3E}">
        <p14:creationId xmlns:p14="http://schemas.microsoft.com/office/powerpoint/2010/main" val="38135416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FB5923-7B88-0339-221F-2AD892FE153E}"/>
              </a:ext>
            </a:extLst>
          </p:cNvPr>
          <p:cNvSpPr>
            <a:spLocks noGrp="1"/>
          </p:cNvSpPr>
          <p:nvPr>
            <p:ph type="title"/>
          </p:nvPr>
        </p:nvSpPr>
        <p:spPr>
          <a:xfrm>
            <a:off x="838200" y="365125"/>
            <a:ext cx="10515600" cy="1325563"/>
          </a:xfrm>
        </p:spPr>
        <p:txBody>
          <a:bodyPr>
            <a:normAutofit/>
          </a:bodyPr>
          <a:lstStyle/>
          <a:p>
            <a:r>
              <a:rPr lang="en-US" sz="5000"/>
              <a:t>PANCE Answer Reveal and Explanation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861598C-A119-619E-DD74-CFD4115F4B8B}"/>
              </a:ext>
            </a:extLst>
          </p:cNvPr>
          <p:cNvSpPr>
            <a:spLocks noGrp="1"/>
          </p:cNvSpPr>
          <p:nvPr>
            <p:ph idx="1"/>
          </p:nvPr>
        </p:nvSpPr>
        <p:spPr>
          <a:xfrm>
            <a:off x="838200" y="1929384"/>
            <a:ext cx="10515600" cy="4251960"/>
          </a:xfrm>
        </p:spPr>
        <p:txBody>
          <a:bodyPr>
            <a:normAutofit/>
          </a:bodyPr>
          <a:lstStyle/>
          <a:p>
            <a:r>
              <a:rPr lang="en-US" sz="2000" b="1"/>
              <a:t>Correct Answer:</a:t>
            </a:r>
            <a:r>
              <a:rPr lang="en-US" sz="2000"/>
              <a:t> </a:t>
            </a:r>
            <a:r>
              <a:rPr lang="en-US" sz="2000" b="1"/>
              <a:t>C) Intravenous antibiotics and CT-guided percutaneous drainage</a:t>
            </a:r>
            <a:endParaRPr lang="en-US" sz="2000"/>
          </a:p>
          <a:p>
            <a:r>
              <a:rPr lang="en-US" sz="2000" b="1"/>
              <a:t>Rationale</a:t>
            </a:r>
          </a:p>
          <a:p>
            <a:r>
              <a:rPr lang="en-US" sz="2000" b="1"/>
              <a:t>The Clinical Scenario:</a:t>
            </a:r>
            <a:r>
              <a:rPr lang="en-US" sz="2000"/>
              <a:t> The patient is presenting with a late/delayed presentation of acute appendicitis (symptoms for 5 days) complicated by perforation and a large, contained periappendiceal abscess.</a:t>
            </a:r>
          </a:p>
          <a:p>
            <a:r>
              <a:rPr lang="en-US" sz="2000" b="1"/>
              <a:t>Why C is correct:</a:t>
            </a:r>
            <a:r>
              <a:rPr lang="en-US" sz="2000"/>
              <a:t> For a ruptured appendix complicated by a well-contained abscess that is accessible and larger than 3-4 cm, the standard of care is </a:t>
            </a:r>
            <a:r>
              <a:rPr lang="en-US" sz="2000" b="1"/>
              <a:t>non-operative initial management</a:t>
            </a:r>
            <a:r>
              <a:rPr lang="en-US" sz="2000"/>
              <a:t>. This consists of bowel rest, broad-spectrum intravenous antibiotics, and </a:t>
            </a:r>
            <a:r>
              <a:rPr lang="en-US" sz="2000" b="1"/>
              <a:t>percutaneous image-guided (usually CT or ultrasound) drainage</a:t>
            </a:r>
            <a:r>
              <a:rPr lang="en-US" sz="2000"/>
              <a:t>. Immediate surgery in the setting of </a:t>
            </a:r>
            <a:r>
              <a:rPr lang="en-US" sz="2000" b="1" i="1"/>
              <a:t>significant inflammation and abscess formation</a:t>
            </a:r>
            <a:r>
              <a:rPr lang="en-US" sz="2000"/>
              <a:t> carries </a:t>
            </a:r>
            <a:r>
              <a:rPr lang="en-US" sz="2000" b="1" i="1"/>
              <a:t>a high risk of complications</a:t>
            </a:r>
            <a:r>
              <a:rPr lang="en-US" sz="2000"/>
              <a:t>, including bowel injury, extensive adhesion formation, and the potential need for an ileocecectomy or right hemicolectomy. Once the inflammation subsides (usually 6 to 8 weeks later), an </a:t>
            </a:r>
            <a:r>
              <a:rPr lang="en-US" sz="2000" b="1"/>
              <a:t>interval appendectomy</a:t>
            </a:r>
            <a:r>
              <a:rPr lang="en-US" sz="2000"/>
              <a:t> may be performed to prevent recurrence.</a:t>
            </a:r>
          </a:p>
          <a:p>
            <a:endParaRPr lang="en-US" sz="2000"/>
          </a:p>
        </p:txBody>
      </p:sp>
    </p:spTree>
    <p:extLst>
      <p:ext uri="{BB962C8B-B14F-4D97-AF65-F5344CB8AC3E}">
        <p14:creationId xmlns:p14="http://schemas.microsoft.com/office/powerpoint/2010/main" val="412668454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6DEB2C-7F37-4C81-6789-293D2EBE8B5C}"/>
              </a:ext>
            </a:extLst>
          </p:cNvPr>
          <p:cNvSpPr>
            <a:spLocks noGrp="1"/>
          </p:cNvSpPr>
          <p:nvPr>
            <p:ph type="title"/>
          </p:nvPr>
        </p:nvSpPr>
        <p:spPr>
          <a:xfrm>
            <a:off x="838200" y="365125"/>
            <a:ext cx="10515600" cy="1325563"/>
          </a:xfrm>
        </p:spPr>
        <p:txBody>
          <a:bodyPr>
            <a:normAutofit/>
          </a:bodyPr>
          <a:lstStyle/>
          <a:p>
            <a:r>
              <a:rPr lang="en-US" sz="5400"/>
              <a:t>Why the other options are incorrect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3FEABD-0BB6-9721-04DB-8694351A9132}"/>
              </a:ext>
            </a:extLst>
          </p:cNvPr>
          <p:cNvSpPr>
            <a:spLocks noGrp="1"/>
          </p:cNvSpPr>
          <p:nvPr>
            <p:ph idx="1"/>
          </p:nvPr>
        </p:nvSpPr>
        <p:spPr>
          <a:xfrm>
            <a:off x="838200" y="1929384"/>
            <a:ext cx="10515600" cy="4251960"/>
          </a:xfrm>
        </p:spPr>
        <p:txBody>
          <a:bodyPr>
            <a:normAutofit/>
          </a:bodyPr>
          <a:lstStyle/>
          <a:p>
            <a:r>
              <a:rPr lang="en-US" sz="2200" b="1"/>
              <a:t>A &amp; B (Immediate appendectomy):</a:t>
            </a:r>
            <a:r>
              <a:rPr lang="en-US" sz="2200"/>
              <a:t> While immediate surgical resection (usually laparoscopic) is the </a:t>
            </a:r>
            <a:r>
              <a:rPr lang="en-US" sz="2200" b="1" i="1"/>
              <a:t>gold standard for uncomplicated acute appendicitis </a:t>
            </a:r>
            <a:r>
              <a:rPr lang="en-US" sz="2200"/>
              <a:t>or generalized peritonitis secondary to a ruptured appendix, it is contraindicated as the initial step for a stable patient with a delayed presentation and a large, discrete, drainable abscess.</a:t>
            </a:r>
          </a:p>
          <a:p>
            <a:r>
              <a:rPr lang="en-US" sz="2200" b="1"/>
              <a:t>D (Diagnostic laparoscopy with lavage):</a:t>
            </a:r>
            <a:r>
              <a:rPr lang="en-US" sz="2200"/>
              <a:t> This is an unnecessary and overly invasive initial step given the clear CT diagnosis of a localized abscess that can be managed percutaneously.</a:t>
            </a:r>
          </a:p>
          <a:p>
            <a:r>
              <a:rPr lang="en-US" sz="2200" b="1"/>
              <a:t>E (Discharge on oral antibiotics):</a:t>
            </a:r>
            <a:r>
              <a:rPr lang="en-US" sz="2200"/>
              <a:t> While oral antibiotics might be used down the line or for highly selected, uncomplicated, mild cases in certain non-operative protocols, a patient with a 5.0 cm intra-abdominal abscess and systemic signs of infection (tachycardia, fever) requires admission, IV antibiotics, and drainage.</a:t>
            </a:r>
          </a:p>
          <a:p>
            <a:endParaRPr lang="en-US" sz="2200"/>
          </a:p>
        </p:txBody>
      </p:sp>
    </p:spTree>
    <p:extLst>
      <p:ext uri="{BB962C8B-B14F-4D97-AF65-F5344CB8AC3E}">
        <p14:creationId xmlns:p14="http://schemas.microsoft.com/office/powerpoint/2010/main" val="85862375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5895C-2215-D04D-EC5A-FE561DDCA9FC}"/>
              </a:ext>
            </a:extLst>
          </p:cNvPr>
          <p:cNvSpPr>
            <a:spLocks noGrp="1"/>
          </p:cNvSpPr>
          <p:nvPr>
            <p:ph type="title"/>
          </p:nvPr>
        </p:nvSpPr>
        <p:spPr>
          <a:xfrm>
            <a:off x="572493" y="238539"/>
            <a:ext cx="11018520" cy="1434415"/>
          </a:xfrm>
        </p:spPr>
        <p:txBody>
          <a:bodyPr anchor="b">
            <a:normAutofit/>
          </a:bodyPr>
          <a:lstStyle/>
          <a:p>
            <a:r>
              <a:rPr lang="en-US" sz="5400" b="1" dirty="0"/>
              <a:t>Landing the Plane</a:t>
            </a:r>
          </a:p>
        </p:txBody>
      </p:sp>
      <p:sp>
        <p:nvSpPr>
          <p:cNvPr id="3" name="Content Placeholder 2">
            <a:extLst>
              <a:ext uri="{FF2B5EF4-FFF2-40B4-BE49-F238E27FC236}">
                <a16:creationId xmlns:a16="http://schemas.microsoft.com/office/drawing/2014/main" id="{83330FCB-844D-E865-7243-3D280AD45302}"/>
              </a:ext>
            </a:extLst>
          </p:cNvPr>
          <p:cNvSpPr>
            <a:spLocks noGrp="1"/>
          </p:cNvSpPr>
          <p:nvPr>
            <p:ph idx="1"/>
          </p:nvPr>
        </p:nvSpPr>
        <p:spPr>
          <a:xfrm>
            <a:off x="572493" y="2071316"/>
            <a:ext cx="6713552" cy="4119172"/>
          </a:xfrm>
        </p:spPr>
        <p:txBody>
          <a:bodyPr anchor="t">
            <a:normAutofit fontScale="85000" lnSpcReduction="20000"/>
          </a:bodyPr>
          <a:lstStyle/>
          <a:p>
            <a:r>
              <a:rPr lang="en-US" sz="2300" b="1" u="sng" dirty="0"/>
              <a:t>Key Points </a:t>
            </a:r>
          </a:p>
          <a:p>
            <a:pPr lvl="1"/>
            <a:r>
              <a:rPr lang="en-US" dirty="0"/>
              <a:t>Review the lecture materials corresponding to each disease entity </a:t>
            </a:r>
          </a:p>
          <a:p>
            <a:pPr lvl="1"/>
            <a:r>
              <a:rPr lang="en-US" dirty="0"/>
              <a:t>To optimize your study efficiency and deepen your understanding, review your prior GI Mechanisms of Disease lectures for a targeted review of relevant anatomy and physiology as needed.</a:t>
            </a:r>
          </a:p>
          <a:p>
            <a:pPr lvl="1"/>
            <a:r>
              <a:rPr lang="en-US" dirty="0"/>
              <a:t>Be sure to know the Pearls of today’s lecture for they are PANCE specific.</a:t>
            </a:r>
          </a:p>
          <a:p>
            <a:pPr lvl="1"/>
            <a:r>
              <a:rPr lang="en-US" dirty="0"/>
              <a:t>Use this slide to study.  The core content is the same as the student version posted but this slide has some minor updates and has the questions you may want to review!</a:t>
            </a:r>
          </a:p>
          <a:p>
            <a:r>
              <a:rPr lang="en-US" sz="2600" b="1" u="sng" dirty="0"/>
              <a:t>Looking Ahead</a:t>
            </a:r>
          </a:p>
          <a:p>
            <a:pPr lvl="1"/>
            <a:r>
              <a:rPr lang="en-US" sz="2600" dirty="0"/>
              <a:t>Module N/Week 13: </a:t>
            </a:r>
            <a:r>
              <a:rPr lang="en-US" dirty="0"/>
              <a:t>GI Disorders</a:t>
            </a:r>
            <a:endParaRPr lang="en-US" sz="2600" dirty="0"/>
          </a:p>
          <a:p>
            <a:pPr lvl="1"/>
            <a:endParaRPr lang="en-US" sz="1200" dirty="0"/>
          </a:p>
        </p:txBody>
      </p:sp>
      <p:pic>
        <p:nvPicPr>
          <p:cNvPr id="3078" name="Picture 6" descr="Airplane Landing Stock Illustrations ...">
            <a:extLst>
              <a:ext uri="{FF2B5EF4-FFF2-40B4-BE49-F238E27FC236}">
                <a16:creationId xmlns:a16="http://schemas.microsoft.com/office/drawing/2014/main" id="{7A8B91A2-EE73-E80C-543E-5B413AF7E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831" r="20209" b="-1"/>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256670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D45EE4-C4F0-4F72-B1C6-39F596D13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C459BAD-4279-4A9D-B0C5-662C5F5ED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3203463" y="-2060461"/>
            <a:ext cx="5649003" cy="10651671"/>
          </a:xfrm>
          <a:custGeom>
            <a:avLst/>
            <a:gdLst>
              <a:gd name="csX0" fmla="*/ 0 w 5649003"/>
              <a:gd name="csY0" fmla="*/ 5325836 h 10651671"/>
              <a:gd name="csX1" fmla="*/ 2824502 w 5649003"/>
              <a:gd name="csY1" fmla="*/ 0 h 10651671"/>
              <a:gd name="csX2" fmla="*/ 5649004 w 5649003"/>
              <a:gd name="csY2" fmla="*/ 5325836 h 10651671"/>
              <a:gd name="csX3" fmla="*/ 2824502 w 5649003"/>
              <a:gd name="csY3" fmla="*/ 10651672 h 10651671"/>
              <a:gd name="csX4" fmla="*/ 0 w 5649003"/>
              <a:gd name="csY4" fmla="*/ 5325836 h 10651671"/>
            </a:gdLst>
            <a:ahLst/>
            <a:cxnLst>
              <a:cxn ang="0">
                <a:pos x="csX0" y="csY0"/>
              </a:cxn>
              <a:cxn ang="0">
                <a:pos x="csX1" y="csY1"/>
              </a:cxn>
              <a:cxn ang="0">
                <a:pos x="csX2" y="csY2"/>
              </a:cxn>
              <a:cxn ang="0">
                <a:pos x="csX3" y="csY3"/>
              </a:cxn>
              <a:cxn ang="0">
                <a:pos x="csX4" y="csY4"/>
              </a:cxn>
            </a:cxnLst>
            <a:rect l="l" t="t" r="r" b="b"/>
            <a:pathLst>
              <a:path w="5649003" h="10651671" fill="none" extrusionOk="0">
                <a:moveTo>
                  <a:pt x="0" y="5325836"/>
                </a:moveTo>
                <a:cubicBezTo>
                  <a:pt x="186946" y="2320485"/>
                  <a:pt x="1438121" y="-52385"/>
                  <a:pt x="2824502" y="0"/>
                </a:cubicBezTo>
                <a:cubicBezTo>
                  <a:pt x="4703838" y="-43168"/>
                  <a:pt x="5583840" y="2369660"/>
                  <a:pt x="5649004" y="5325836"/>
                </a:cubicBezTo>
                <a:cubicBezTo>
                  <a:pt x="5518761" y="8289338"/>
                  <a:pt x="4285196" y="10894014"/>
                  <a:pt x="2824502" y="10651672"/>
                </a:cubicBezTo>
                <a:cubicBezTo>
                  <a:pt x="1536945" y="11016699"/>
                  <a:pt x="142947" y="8418643"/>
                  <a:pt x="0" y="5325836"/>
                </a:cubicBezTo>
                <a:close/>
              </a:path>
              <a:path w="5649003" h="10651671" stroke="0" extrusionOk="0">
                <a:moveTo>
                  <a:pt x="0" y="5325836"/>
                </a:moveTo>
                <a:cubicBezTo>
                  <a:pt x="-54350" y="2332108"/>
                  <a:pt x="1351726" y="167869"/>
                  <a:pt x="2824502" y="0"/>
                </a:cubicBezTo>
                <a:cubicBezTo>
                  <a:pt x="4182679" y="-143942"/>
                  <a:pt x="5672665" y="2549517"/>
                  <a:pt x="5649004" y="5325836"/>
                </a:cubicBezTo>
                <a:cubicBezTo>
                  <a:pt x="5518596" y="8280244"/>
                  <a:pt x="4081190" y="10622204"/>
                  <a:pt x="2824502" y="10651672"/>
                </a:cubicBezTo>
                <a:cubicBezTo>
                  <a:pt x="1216708" y="10537144"/>
                  <a:pt x="-100850" y="8264979"/>
                  <a:pt x="0" y="5325836"/>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3743190">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6D1A6C-2B4B-FAFC-295B-FCCAF9195076}"/>
              </a:ext>
            </a:extLst>
          </p:cNvPr>
          <p:cNvSpPr>
            <a:spLocks noGrp="1"/>
          </p:cNvSpPr>
          <p:nvPr>
            <p:ph type="title"/>
          </p:nvPr>
        </p:nvSpPr>
        <p:spPr>
          <a:xfrm>
            <a:off x="2066544" y="1911096"/>
            <a:ext cx="8055864" cy="2076651"/>
          </a:xfrm>
        </p:spPr>
        <p:txBody>
          <a:bodyPr vert="horz" lIns="91440" tIns="45720" rIns="91440" bIns="45720" rtlCol="0" anchor="b">
            <a:normAutofit/>
          </a:bodyPr>
          <a:lstStyle/>
          <a:p>
            <a:pPr algn="ctr"/>
            <a:r>
              <a:rPr lang="en-US" sz="6600" kern="1200">
                <a:solidFill>
                  <a:srgbClr val="FFFFFF"/>
                </a:solidFill>
                <a:latin typeface="+mj-lt"/>
                <a:ea typeface="+mj-ea"/>
                <a:cs typeface="+mj-cs"/>
              </a:rPr>
              <a:t>GI Homework Questions</a:t>
            </a:r>
          </a:p>
        </p:txBody>
      </p:sp>
      <p:sp>
        <p:nvSpPr>
          <p:cNvPr id="3" name="Text Placeholder 2">
            <a:extLst>
              <a:ext uri="{FF2B5EF4-FFF2-40B4-BE49-F238E27FC236}">
                <a16:creationId xmlns:a16="http://schemas.microsoft.com/office/drawing/2014/main" id="{24DE4B19-D924-6024-2D27-330B68E97273}"/>
              </a:ext>
            </a:extLst>
          </p:cNvPr>
          <p:cNvSpPr>
            <a:spLocks noGrp="1"/>
          </p:cNvSpPr>
          <p:nvPr>
            <p:ph type="body" idx="1"/>
          </p:nvPr>
        </p:nvSpPr>
        <p:spPr>
          <a:xfrm>
            <a:off x="3227832" y="4353507"/>
            <a:ext cx="5733288" cy="932688"/>
          </a:xfrm>
        </p:spPr>
        <p:txBody>
          <a:bodyPr vert="horz" lIns="91440" tIns="45720" rIns="91440" bIns="45720" rtlCol="0">
            <a:normAutofit/>
          </a:bodyPr>
          <a:lstStyle/>
          <a:p>
            <a:pPr algn="ctr"/>
            <a:r>
              <a:rPr lang="en-US" kern="1200">
                <a:solidFill>
                  <a:srgbClr val="FFFFFF"/>
                </a:solidFill>
                <a:latin typeface="+mn-lt"/>
                <a:ea typeface="+mn-ea"/>
                <a:cs typeface="+mn-cs"/>
              </a:rPr>
              <a:t>BONUS!!!</a:t>
            </a:r>
          </a:p>
        </p:txBody>
      </p:sp>
      <p:sp>
        <p:nvSpPr>
          <p:cNvPr id="12" name="sketch line">
            <a:extLst>
              <a:ext uri="{FF2B5EF4-FFF2-40B4-BE49-F238E27FC236}">
                <a16:creationId xmlns:a16="http://schemas.microsoft.com/office/drawing/2014/main" id="{0953BC39-9D68-40BE-BF3C-5C4EB782A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348955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0E7BB-4C37-C485-27D3-022C9F46BBCD}"/>
              </a:ext>
            </a:extLst>
          </p:cNvPr>
          <p:cNvSpPr>
            <a:spLocks noGrp="1"/>
          </p:cNvSpPr>
          <p:nvPr>
            <p:ph type="title"/>
          </p:nvPr>
        </p:nvSpPr>
        <p:spPr/>
        <p:txBody>
          <a:bodyPr/>
          <a:lstStyle/>
          <a:p>
            <a:r>
              <a:rPr lang="en-US" b="1" i="1" u="sng" dirty="0"/>
              <a:t>Homework GI Question #1</a:t>
            </a:r>
          </a:p>
        </p:txBody>
      </p:sp>
      <p:sp>
        <p:nvSpPr>
          <p:cNvPr id="3" name="Content Placeholder 2">
            <a:extLst>
              <a:ext uri="{FF2B5EF4-FFF2-40B4-BE49-F238E27FC236}">
                <a16:creationId xmlns:a16="http://schemas.microsoft.com/office/drawing/2014/main" id="{BC7AC943-7843-2011-6119-4563EF6C251D}"/>
              </a:ext>
            </a:extLst>
          </p:cNvPr>
          <p:cNvSpPr>
            <a:spLocks noGrp="1"/>
          </p:cNvSpPr>
          <p:nvPr>
            <p:ph idx="1"/>
          </p:nvPr>
        </p:nvSpPr>
        <p:spPr/>
        <p:txBody>
          <a:bodyPr>
            <a:normAutofit lnSpcReduction="10000"/>
          </a:bodyPr>
          <a:lstStyle/>
          <a:p>
            <a:r>
              <a:rPr lang="en-US" dirty="0"/>
              <a:t>A 45-year-old man presents to the emergency department complaining of sharp, burning epigastric pain that wakes him up at night. He reports that the pain is temporarily relieved by eating food or taking over-the-counter antacids, but worsens 2 to 3 hours after a meal. Over the past 24 hours, he has experienced two episodes of dark, tarry stools. He admits to taking high-dose ibuprofen daily for chronic lower back pain. An esophagogastroduodenoscopy (EGD) reveals a 1.5 cm ulcer on the anterior wall of the duodenal bulb.</a:t>
            </a:r>
          </a:p>
          <a:p>
            <a:r>
              <a:rPr lang="en-US" dirty="0"/>
              <a:t>What is the </a:t>
            </a:r>
            <a:r>
              <a:rPr lang="en-US" b="1" dirty="0"/>
              <a:t>most appropriate </a:t>
            </a:r>
            <a:r>
              <a:rPr lang="en-US" dirty="0"/>
              <a:t>next step in the management of this patient's underlying condition and why?</a:t>
            </a:r>
          </a:p>
        </p:txBody>
      </p:sp>
    </p:spTree>
    <p:extLst>
      <p:ext uri="{BB962C8B-B14F-4D97-AF65-F5344CB8AC3E}">
        <p14:creationId xmlns:p14="http://schemas.microsoft.com/office/powerpoint/2010/main" val="426044917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CD04B-CEEB-7B58-62CC-1702AF9DB36C}"/>
              </a:ext>
            </a:extLst>
          </p:cNvPr>
          <p:cNvSpPr>
            <a:spLocks noGrp="1"/>
          </p:cNvSpPr>
          <p:nvPr>
            <p:ph type="title"/>
          </p:nvPr>
        </p:nvSpPr>
        <p:spPr/>
        <p:txBody>
          <a:bodyPr/>
          <a:lstStyle/>
          <a:p>
            <a:r>
              <a:rPr lang="en-US" b="1" i="1" u="sng" dirty="0"/>
              <a:t>Homework GI Question #2</a:t>
            </a:r>
          </a:p>
        </p:txBody>
      </p:sp>
      <p:sp>
        <p:nvSpPr>
          <p:cNvPr id="3" name="Content Placeholder 2">
            <a:extLst>
              <a:ext uri="{FF2B5EF4-FFF2-40B4-BE49-F238E27FC236}">
                <a16:creationId xmlns:a16="http://schemas.microsoft.com/office/drawing/2014/main" id="{8060B03B-6E91-33CF-4760-2F19EB0E3CA5}"/>
              </a:ext>
            </a:extLst>
          </p:cNvPr>
          <p:cNvSpPr>
            <a:spLocks noGrp="1"/>
          </p:cNvSpPr>
          <p:nvPr>
            <p:ph idx="1"/>
          </p:nvPr>
        </p:nvSpPr>
        <p:spPr/>
        <p:txBody>
          <a:bodyPr>
            <a:normAutofit lnSpcReduction="10000"/>
          </a:bodyPr>
          <a:lstStyle/>
          <a:p>
            <a:r>
              <a:rPr lang="en-US" dirty="0"/>
              <a:t>A 58-year-old male presents to the gastroenterology clinic complaining of persistent, burning epigastric pain that wakes him up at night, along with intermittent nausea and dark, tarry stools over the past week. Upper endoscopy (EGD) reveals a 1.5 cm sharply demarcated ulcer in the duodenal bulb. Rapid urease testing performed on mucosal biopsies is positive for </a:t>
            </a:r>
            <a:r>
              <a:rPr lang="en-US" i="1" dirty="0"/>
              <a:t>Helicobacter pylori</a:t>
            </a:r>
            <a:r>
              <a:rPr lang="en-US" dirty="0"/>
              <a:t>.</a:t>
            </a:r>
          </a:p>
          <a:p>
            <a:r>
              <a:rPr lang="en-US" dirty="0"/>
              <a:t>The patient reports a severe, documented anaphylactic allergy to </a:t>
            </a:r>
            <a:r>
              <a:rPr lang="en-US" b="1" dirty="0"/>
              <a:t>penicillin</a:t>
            </a:r>
            <a:r>
              <a:rPr lang="en-US" dirty="0"/>
              <a:t> (hives and shortness of breath).</a:t>
            </a:r>
          </a:p>
          <a:p>
            <a:r>
              <a:rPr lang="en-US" dirty="0"/>
              <a:t>What is the </a:t>
            </a:r>
            <a:r>
              <a:rPr lang="en-US" b="1" dirty="0"/>
              <a:t>most appropriate </a:t>
            </a:r>
            <a:r>
              <a:rPr lang="en-US" dirty="0"/>
              <a:t>initial eradication regimen for this patient and why?</a:t>
            </a:r>
          </a:p>
          <a:p>
            <a:endParaRPr lang="en-US" dirty="0"/>
          </a:p>
        </p:txBody>
      </p:sp>
    </p:spTree>
    <p:extLst>
      <p:ext uri="{BB962C8B-B14F-4D97-AF65-F5344CB8AC3E}">
        <p14:creationId xmlns:p14="http://schemas.microsoft.com/office/powerpoint/2010/main" val="5934755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A3A2-23D4-F595-E40C-8DF8D8C09F58}"/>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6DD0DE89-89F7-8BCD-D015-EECFD479CE01}"/>
              </a:ext>
            </a:extLst>
          </p:cNvPr>
          <p:cNvSpPr>
            <a:spLocks noGrp="1"/>
          </p:cNvSpPr>
          <p:nvPr>
            <p:ph idx="1"/>
          </p:nvPr>
        </p:nvSpPr>
        <p:spPr/>
        <p:txBody>
          <a:bodyPr/>
          <a:lstStyle/>
          <a:p>
            <a:r>
              <a:rPr lang="en-US" dirty="0"/>
              <a:t>1.</a:t>
            </a:r>
            <a:r>
              <a:rPr lang="en-US" u="sng" dirty="0">
                <a:hlinkClick r:id="rId2"/>
              </a:rPr>
              <a:t>Global, Regional, and National Burden of Gastritis and Duodenitis From 1990 to 2021 With Projections to 2050: A Systematic Analysis of the Global Burden of Disease Study 2021.</a:t>
            </a:r>
            <a:endParaRPr lang="en-US" dirty="0"/>
          </a:p>
          <a:p>
            <a:r>
              <a:rPr lang="en-US" dirty="0"/>
              <a:t>International Journal of Medical Sciences. 2025. Wang L, Jiang W, Li H.</a:t>
            </a:r>
          </a:p>
          <a:p>
            <a:r>
              <a:rPr lang="en-US" dirty="0"/>
              <a:t>2.</a:t>
            </a:r>
            <a:r>
              <a:rPr lang="en-US" dirty="0">
                <a:hlinkClick r:id="rId3"/>
              </a:rPr>
              <a:t>Global Incidence and Prevalence of Gastritis and Duodenitis From 1990 to 2019: A Systematic Analysis for the Global Burden of Disease Study 2019.</a:t>
            </a:r>
            <a:endParaRPr lang="en-US" dirty="0"/>
          </a:p>
          <a:p>
            <a:r>
              <a:rPr lang="en-US" dirty="0"/>
              <a:t>Journal of Gastroenterology and Hepatology. 2024. Xu Y, Chen F, Wen H.</a:t>
            </a:r>
          </a:p>
          <a:p>
            <a:endParaRPr lang="en-US" dirty="0"/>
          </a:p>
        </p:txBody>
      </p:sp>
    </p:spTree>
    <p:extLst>
      <p:ext uri="{BB962C8B-B14F-4D97-AF65-F5344CB8AC3E}">
        <p14:creationId xmlns:p14="http://schemas.microsoft.com/office/powerpoint/2010/main" val="1533067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13124</TotalTime>
  <Words>11195</Words>
  <Application>Microsoft Office PowerPoint</Application>
  <PresentationFormat>Widescreen</PresentationFormat>
  <Paragraphs>1059</Paragraphs>
  <Slides>173</Slides>
  <Notes>93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173</vt:i4>
      </vt:variant>
    </vt:vector>
  </HeadingPairs>
  <TitlesOfParts>
    <vt:vector size="183" baseType="lpstr">
      <vt:lpstr>Meiryo</vt:lpstr>
      <vt:lpstr>Aptos</vt:lpstr>
      <vt:lpstr>Aptos Display</vt:lpstr>
      <vt:lpstr>Arial</vt:lpstr>
      <vt:lpstr>Avenir Next LT Pro</vt:lpstr>
      <vt:lpstr>Calibri</vt:lpstr>
      <vt:lpstr>Cambria</vt:lpstr>
      <vt:lpstr>Schibsted Grotesk</vt:lpstr>
      <vt:lpstr>Wingdings</vt:lpstr>
      <vt:lpstr>Office Theme</vt:lpstr>
      <vt:lpstr>The Gastrointestinal System</vt:lpstr>
      <vt:lpstr>Instructional Learning Objectives-Module N</vt:lpstr>
      <vt:lpstr>PANCE Question</vt:lpstr>
      <vt:lpstr>PANCE Question</vt:lpstr>
      <vt:lpstr>Which of the following is the most appropriate initial management for this patient?</vt:lpstr>
      <vt:lpstr>Mechanisms Review</vt:lpstr>
      <vt:lpstr>Review of the Stomach/Duodenum and Small Intestine Anatomy</vt:lpstr>
      <vt:lpstr>Lining of the Stomach</vt:lpstr>
      <vt:lpstr>PowerPoint Presentation</vt:lpstr>
      <vt:lpstr>PowerPoint Presentation</vt:lpstr>
      <vt:lpstr>PowerPoint Presentation</vt:lpstr>
      <vt:lpstr>Special Cells in the Gastric Mucosa</vt:lpstr>
      <vt:lpstr>Special Cells in the Gastric Mucosa</vt:lpstr>
      <vt:lpstr>Mystery Case</vt:lpstr>
      <vt:lpstr>Mystery Case</vt:lpstr>
      <vt:lpstr>Diseases of the Stomach and Duodenum</vt:lpstr>
      <vt:lpstr>Gastritis</vt:lpstr>
      <vt:lpstr>PowerPoint Presentation</vt:lpstr>
      <vt:lpstr>Gastritis</vt:lpstr>
      <vt:lpstr>Gastritis</vt:lpstr>
      <vt:lpstr>Epidemiology</vt:lpstr>
      <vt:lpstr>Etiology </vt:lpstr>
      <vt:lpstr>Gastritis</vt:lpstr>
      <vt:lpstr>PowerPoint Presentation</vt:lpstr>
      <vt:lpstr>PowerPoint Presentation</vt:lpstr>
      <vt:lpstr>Acute Gastritis Pathophysiology</vt:lpstr>
      <vt:lpstr>Clinical Presentation </vt:lpstr>
      <vt:lpstr>Diagnosis </vt:lpstr>
      <vt:lpstr>The Correa Cascade</vt:lpstr>
      <vt:lpstr>The Correa Cascade Staging</vt:lpstr>
      <vt:lpstr>Complications</vt:lpstr>
      <vt:lpstr>H. pylori eradication — Per the ACG guideline, for treatment-naive patients with unknown susceptibility</vt:lpstr>
      <vt:lpstr>Treatments</vt:lpstr>
      <vt:lpstr>Treatments continued</vt:lpstr>
      <vt:lpstr>Dyspepsia Workup — When to Scope </vt:lpstr>
      <vt:lpstr>Gastroparesis</vt:lpstr>
      <vt:lpstr>Gastroparesis</vt:lpstr>
      <vt:lpstr>Pathophysiology</vt:lpstr>
      <vt:lpstr>Pathophysiological cascade from hyperglycemia to gastroparesis in diabetic patients</vt:lpstr>
      <vt:lpstr>PowerPoint Presentation</vt:lpstr>
      <vt:lpstr>Clinical Presentation </vt:lpstr>
      <vt:lpstr>Diagnosis</vt:lpstr>
      <vt:lpstr>Treatment</vt:lpstr>
      <vt:lpstr>Treatment</vt:lpstr>
      <vt:lpstr>Treatment</vt:lpstr>
      <vt:lpstr>***Pearls </vt:lpstr>
      <vt:lpstr>Peptic Ulcer Disease</vt:lpstr>
      <vt:lpstr>PUD</vt:lpstr>
      <vt:lpstr>PUD</vt:lpstr>
      <vt:lpstr>PUD</vt:lpstr>
      <vt:lpstr>The Gastric Mucosal Barrier and the Pathogenesis of Peptic Ulcer Disease</vt:lpstr>
      <vt:lpstr>Key mechanisms</vt:lpstr>
      <vt:lpstr>Clinical Presentation</vt:lpstr>
      <vt:lpstr>Complications</vt:lpstr>
      <vt:lpstr>Diagnosis</vt:lpstr>
      <vt:lpstr>Alarm features requiring EGD </vt:lpstr>
      <vt:lpstr>Diagnosis</vt:lpstr>
      <vt:lpstr>Treatment</vt:lpstr>
      <vt:lpstr>Treatments</vt:lpstr>
      <vt:lpstr>Risk Factors and Treatments for N-SAID related ulcers</vt:lpstr>
      <vt:lpstr>Management of Upper GI Bleeding from PUD</vt:lpstr>
      <vt:lpstr>GBS Score Chart</vt:lpstr>
      <vt:lpstr>***Pearls***</vt:lpstr>
      <vt:lpstr>Pyloric Stenosis</vt:lpstr>
      <vt:lpstr> Pyloric Stenosis</vt:lpstr>
      <vt:lpstr>Pathophysiology</vt:lpstr>
      <vt:lpstr>PowerPoint Presentation</vt:lpstr>
      <vt:lpstr>Classic Presentation</vt:lpstr>
      <vt:lpstr>Metabolic Derangement — A Board Favorite</vt:lpstr>
      <vt:lpstr>Diagnosis</vt:lpstr>
      <vt:lpstr>Target Sign</vt:lpstr>
      <vt:lpstr>PowerPoint Presentation</vt:lpstr>
      <vt:lpstr>Management</vt:lpstr>
      <vt:lpstr>Definitive treatment: Ramstedt pyloromyotomy</vt:lpstr>
      <vt:lpstr>***Pearls***</vt:lpstr>
      <vt:lpstr>Mystery Case (Continued)</vt:lpstr>
      <vt:lpstr>Mystery Case</vt:lpstr>
      <vt:lpstr>Gastrointestinal Bleeding</vt:lpstr>
      <vt:lpstr>Gastrointestinal Bleeding</vt:lpstr>
      <vt:lpstr>Clinical Presentations</vt:lpstr>
      <vt:lpstr>Common Etiologies</vt:lpstr>
      <vt:lpstr>Causes of Acute Lower Gastrointestinal Bleeding in Adults</vt:lpstr>
      <vt:lpstr>Initial Assessment and Resuscitation</vt:lpstr>
      <vt:lpstr>Risk Stratification Scores</vt:lpstr>
      <vt:lpstr>Management of UGIB</vt:lpstr>
      <vt:lpstr>Key management principles</vt:lpstr>
      <vt:lpstr>Management of LGIB</vt:lpstr>
      <vt:lpstr>Initial evaluation of patients presenting with acute lower gastrointestinal bleeding (Using the Oakland score)</vt:lpstr>
      <vt:lpstr>****Pearls</vt:lpstr>
      <vt:lpstr>Mystery Case (Continued)</vt:lpstr>
      <vt:lpstr>Mystery Case</vt:lpstr>
      <vt:lpstr>Diseases of the Small Intestine</vt:lpstr>
      <vt:lpstr>Appendicitis</vt:lpstr>
      <vt:lpstr>Appendicitis</vt:lpstr>
      <vt:lpstr>Pathophysiology</vt:lpstr>
      <vt:lpstr>Pathophysiology of Acute Appendicitis</vt:lpstr>
      <vt:lpstr>Clinical Presentation</vt:lpstr>
      <vt:lpstr>Key Physical Exam Signs</vt:lpstr>
      <vt:lpstr>McBurney’s Sign</vt:lpstr>
      <vt:lpstr>Laboratory Evaluation</vt:lpstr>
      <vt:lpstr>Scoring Systems</vt:lpstr>
      <vt:lpstr>Scoring Systems</vt:lpstr>
      <vt:lpstr>Diagnostic Imaging</vt:lpstr>
      <vt:lpstr>Diagnosis and Treatment of Acute Appendicitis: The 2025 Edition of the World Society of Emergency Surgery (WSES) Jerusalem Guidelines</vt:lpstr>
      <vt:lpstr>Classification and Complications</vt:lpstr>
      <vt:lpstr>Management</vt:lpstr>
      <vt:lpstr>Management continued</vt:lpstr>
      <vt:lpstr>Special Populations</vt:lpstr>
      <vt:lpstr>***Pearls***</vt:lpstr>
      <vt:lpstr>Celiac Disease</vt:lpstr>
      <vt:lpstr>Epidemiology and Genetics</vt:lpstr>
      <vt:lpstr>Pathophysiology</vt:lpstr>
      <vt:lpstr>Interaction of Gluten with Environmental, Immune, and Genetic Factors in Celiac Disease</vt:lpstr>
      <vt:lpstr>Step by Step Breakdown</vt:lpstr>
      <vt:lpstr>Clinical Presentation and (“the why”)</vt:lpstr>
      <vt:lpstr>Dermatitis herpetiformis</vt:lpstr>
      <vt:lpstr>Diagnosis</vt:lpstr>
      <vt:lpstr>Diagnosis of Celiac Disease</vt:lpstr>
      <vt:lpstr>Associated Conditions and Who to Screen</vt:lpstr>
      <vt:lpstr>Management</vt:lpstr>
      <vt:lpstr>Baseline and follow-up workup</vt:lpstr>
      <vt:lpstr>Complications</vt:lpstr>
      <vt:lpstr>***Pearls***</vt:lpstr>
      <vt:lpstr>Intussusception </vt:lpstr>
      <vt:lpstr> Intussusception</vt:lpstr>
      <vt:lpstr>Abdominal Imaging of the Intussusception</vt:lpstr>
      <vt:lpstr>Epidemiology &amp; Risk Factors</vt:lpstr>
      <vt:lpstr>Epidemiology &amp; Risk Factors</vt:lpstr>
      <vt:lpstr>Pathophysiology</vt:lpstr>
      <vt:lpstr>Clinical Presentation</vt:lpstr>
      <vt:lpstr>Diagnosis</vt:lpstr>
      <vt:lpstr>Diagnosis</vt:lpstr>
      <vt:lpstr>Management</vt:lpstr>
      <vt:lpstr>Management continued</vt:lpstr>
      <vt:lpstr>***Pearls***</vt:lpstr>
      <vt:lpstr>Obstruction</vt:lpstr>
      <vt:lpstr>Small Bowel Obstruction (SBO)</vt:lpstr>
      <vt:lpstr>Pathophysiology</vt:lpstr>
      <vt:lpstr>Step by Step Breakdown</vt:lpstr>
      <vt:lpstr>SBO</vt:lpstr>
      <vt:lpstr>Clinical Presentation — The Classic Tetrad</vt:lpstr>
      <vt:lpstr>Physical exam findings</vt:lpstr>
      <vt:lpstr>Key Distinctions to Understand</vt:lpstr>
      <vt:lpstr>Diagnosis</vt:lpstr>
      <vt:lpstr>Imaging</vt:lpstr>
      <vt:lpstr>Small Bowel Feces Sign</vt:lpstr>
      <vt:lpstr>Gaseous distention of small bowel loops with no gas in colon or rectum</vt:lpstr>
      <vt:lpstr>Management</vt:lpstr>
      <vt:lpstr>Indications for Surgery</vt:lpstr>
      <vt:lpstr>Differential Diagnosis</vt:lpstr>
      <vt:lpstr>Mortality</vt:lpstr>
      <vt:lpstr>Polyps</vt:lpstr>
      <vt:lpstr>Overview</vt:lpstr>
      <vt:lpstr>Key Polyposis Syndromes Involving the Small Bowel</vt:lpstr>
      <vt:lpstr>Peutz-Jeghers Syndrome </vt:lpstr>
      <vt:lpstr>Familial Adenomatous Polyposis (FAP) and the Small Bowel</vt:lpstr>
      <vt:lpstr>Polyposis syndromes</vt:lpstr>
      <vt:lpstr>Clinical Presentation of Small Bowel Polyps (All Causes)</vt:lpstr>
      <vt:lpstr>Diagnosis and Management</vt:lpstr>
      <vt:lpstr>***Pearls***</vt:lpstr>
      <vt:lpstr>Closing Time</vt:lpstr>
      <vt:lpstr>Mystery Case</vt:lpstr>
      <vt:lpstr>Mystery Case</vt:lpstr>
      <vt:lpstr>Mystery Case</vt:lpstr>
      <vt:lpstr>PANCE Question</vt:lpstr>
      <vt:lpstr>Which of the following is the most appropriate initial management for this patient?</vt:lpstr>
      <vt:lpstr>PANCE Answer Reveal and Explanation</vt:lpstr>
      <vt:lpstr>Why the other options are incorrect</vt:lpstr>
      <vt:lpstr>Landing the Plane</vt:lpstr>
      <vt:lpstr>GI Homework Questions</vt:lpstr>
      <vt:lpstr>Homework GI Question #1</vt:lpstr>
      <vt:lpstr>Homework GI Question #2</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Barriffe, Melanie</dc:creator>
  <cp:lastModifiedBy>Barriffe, Melanie</cp:lastModifiedBy>
  <cp:revision>68</cp:revision>
  <dcterms:created xsi:type="dcterms:W3CDTF">2026-07-19T02:26:25Z</dcterms:created>
  <dcterms:modified xsi:type="dcterms:W3CDTF">2026-07-28T20:41:11Z</dcterms:modified>
</cp:coreProperties>
</file>