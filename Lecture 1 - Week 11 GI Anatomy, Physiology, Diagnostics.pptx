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311" r:id="rId11"/>
    <p:sldId id="312"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313" r:id="rId26"/>
    <p:sldId id="278" r:id="rId27"/>
    <p:sldId id="279" r:id="rId28"/>
    <p:sldId id="280" r:id="rId29"/>
    <p:sldId id="314" r:id="rId30"/>
    <p:sldId id="318" r:id="rId31"/>
    <p:sldId id="319" r:id="rId32"/>
    <p:sldId id="282" r:id="rId33"/>
    <p:sldId id="283" r:id="rId34"/>
    <p:sldId id="284" r:id="rId35"/>
    <p:sldId id="285" r:id="rId36"/>
    <p:sldId id="286" r:id="rId37"/>
    <p:sldId id="287" r:id="rId38"/>
    <p:sldId id="288" r:id="rId39"/>
    <p:sldId id="289" r:id="rId40"/>
    <p:sldId id="290" r:id="rId41"/>
    <p:sldId id="291" r:id="rId42"/>
    <p:sldId id="292" r:id="rId43"/>
    <p:sldId id="322" r:id="rId44"/>
    <p:sldId id="320" r:id="rId45"/>
    <p:sldId id="294" r:id="rId46"/>
    <p:sldId id="295" r:id="rId47"/>
    <p:sldId id="296" r:id="rId48"/>
    <p:sldId id="297" r:id="rId49"/>
    <p:sldId id="298" r:id="rId50"/>
    <p:sldId id="299" r:id="rId51"/>
    <p:sldId id="300" r:id="rId52"/>
    <p:sldId id="301" r:id="rId53"/>
    <p:sldId id="302" r:id="rId54"/>
    <p:sldId id="315" r:id="rId55"/>
    <p:sldId id="303" r:id="rId56"/>
    <p:sldId id="316" r:id="rId57"/>
    <p:sldId id="304" r:id="rId58"/>
    <p:sldId id="317" r:id="rId59"/>
    <p:sldId id="305" r:id="rId60"/>
    <p:sldId id="306" r:id="rId61"/>
    <p:sldId id="307" r:id="rId62"/>
    <p:sldId id="308" r:id="rId63"/>
    <p:sldId id="309" r:id="rId64"/>
    <p:sldId id="310" r:id="rId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75CAC2-09D2-492C-B378-07115063C46D}" v="13" dt="2026-07-17T19:21:02.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441" autoAdjust="0"/>
  </p:normalViewPr>
  <p:slideViewPr>
    <p:cSldViewPr snapToGrid="0" snapToObjects="1">
      <p:cViewPr varScale="1">
        <p:scale>
          <a:sx n="98" d="100"/>
          <a:sy n="98" d="100"/>
        </p:scale>
        <p:origin x="10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mett, Angela" userId="6e0b6b47-7079-4721-8992-a22febc529a0" providerId="ADAL" clId="{443A4540-0724-4E26-B4D3-2D3B836B4475}"/>
    <pc:docChg chg="addSld modSld sldOrd">
      <pc:chgData name="Hammett, Angela" userId="6e0b6b47-7079-4721-8992-a22febc529a0" providerId="ADAL" clId="{443A4540-0724-4E26-B4D3-2D3B836B4475}" dt="2026-07-17T19:21:02.536" v="9"/>
      <pc:docMkLst>
        <pc:docMk/>
      </pc:docMkLst>
      <pc:sldChg chg="modSp">
        <pc:chgData name="Hammett, Angela" userId="6e0b6b47-7079-4721-8992-a22febc529a0" providerId="ADAL" clId="{443A4540-0724-4E26-B4D3-2D3B836B4475}" dt="2026-07-17T19:21:02.536" v="9"/>
        <pc:sldMkLst>
          <pc:docMk/>
          <pc:sldMk cId="0" sldId="295"/>
        </pc:sldMkLst>
        <pc:spChg chg="mod">
          <ac:chgData name="Hammett, Angela" userId="6e0b6b47-7079-4721-8992-a22febc529a0" providerId="ADAL" clId="{443A4540-0724-4E26-B4D3-2D3B836B4475}" dt="2026-07-17T19:21:02.536" v="9"/>
          <ac:spMkLst>
            <pc:docMk/>
            <pc:sldMk cId="0" sldId="295"/>
            <ac:spMk id="7" creationId="{00000000-0000-0000-0000-000000000000}"/>
          </ac:spMkLst>
        </pc:spChg>
      </pc:sldChg>
      <pc:sldChg chg="modSp">
        <pc:chgData name="Hammett, Angela" userId="6e0b6b47-7079-4721-8992-a22febc529a0" providerId="ADAL" clId="{443A4540-0724-4E26-B4D3-2D3B836B4475}" dt="2026-07-17T17:44:27.180" v="1"/>
        <pc:sldMkLst>
          <pc:docMk/>
          <pc:sldMk cId="5270716" sldId="318"/>
        </pc:sldMkLst>
        <pc:spChg chg="mod">
          <ac:chgData name="Hammett, Angela" userId="6e0b6b47-7079-4721-8992-a22febc529a0" providerId="ADAL" clId="{443A4540-0724-4E26-B4D3-2D3B836B4475}" dt="2026-07-17T17:44:27.180" v="1"/>
          <ac:spMkLst>
            <pc:docMk/>
            <pc:sldMk cId="5270716" sldId="318"/>
            <ac:spMk id="5" creationId="{A0264702-AFBD-E147-AE6A-35896B29FC0B}"/>
          </ac:spMkLst>
        </pc:spChg>
      </pc:sldChg>
      <pc:sldChg chg="modSp">
        <pc:chgData name="Hammett, Angela" userId="6e0b6b47-7079-4721-8992-a22febc529a0" providerId="ADAL" clId="{443A4540-0724-4E26-B4D3-2D3B836B4475}" dt="2026-07-17T17:48:46.760" v="2"/>
        <pc:sldMkLst>
          <pc:docMk/>
          <pc:sldMk cId="1052753711" sldId="319"/>
        </pc:sldMkLst>
        <pc:spChg chg="mod">
          <ac:chgData name="Hammett, Angela" userId="6e0b6b47-7079-4721-8992-a22febc529a0" providerId="ADAL" clId="{443A4540-0724-4E26-B4D3-2D3B836B4475}" dt="2026-07-17T17:48:46.760" v="2"/>
          <ac:spMkLst>
            <pc:docMk/>
            <pc:sldMk cId="1052753711" sldId="319"/>
            <ac:spMk id="5" creationId="{BDFA6825-D3B9-FCB0-297F-D6E2B3D722F2}"/>
          </ac:spMkLst>
        </pc:spChg>
      </pc:sldChg>
      <pc:sldChg chg="ord">
        <pc:chgData name="Hammett, Angela" userId="6e0b6b47-7079-4721-8992-a22febc529a0" providerId="ADAL" clId="{443A4540-0724-4E26-B4D3-2D3B836B4475}" dt="2026-07-17T18:19:04.742" v="4"/>
        <pc:sldMkLst>
          <pc:docMk/>
          <pc:sldMk cId="2532375823" sldId="320"/>
        </pc:sldMkLst>
      </pc:sldChg>
      <pc:sldChg chg="add setBg">
        <pc:chgData name="Hammett, Angela" userId="6e0b6b47-7079-4721-8992-a22febc529a0" providerId="ADAL" clId="{443A4540-0724-4E26-B4D3-2D3B836B4475}" dt="2026-07-17T18:14:38.683" v="3"/>
        <pc:sldMkLst>
          <pc:docMk/>
          <pc:sldMk cId="0" sldId="32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1950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8" Type="http://schemas.openxmlformats.org/officeDocument/2006/relationships/hyperlink" Target="https://www.med.unc.edu/medclerk/wp-content/uploads/sites/877/2018/10/AXReasy1.pdf" TargetMode="External"/><Relationship Id="rId3" Type="http://schemas.openxmlformats.org/officeDocument/2006/relationships/hyperlink" Target="https://radiopaedia.org/cases/normal-abdominal-x-ray-1" TargetMode="External"/><Relationship Id="rId7" Type="http://schemas.openxmlformats.org/officeDocument/2006/relationships/hyperlink" Target="https://ufhealth.org/conditions-and-treatments/abdominal-x-ray" TargetMode="External"/><Relationship Id="rId2" Type="http://schemas.openxmlformats.org/officeDocument/2006/relationships/slide" Target="../slides/slide54.xml"/><Relationship Id="rId1" Type="http://schemas.openxmlformats.org/officeDocument/2006/relationships/notesMaster" Target="../notesMasters/notesMaster1.xml"/><Relationship Id="rId6" Type="http://schemas.openxmlformats.org/officeDocument/2006/relationships/hyperlink" Target="https://radiopaedia.org/articles/abdominal-x-ray-review-bowel" TargetMode="External"/><Relationship Id="rId5" Type="http://schemas.openxmlformats.org/officeDocument/2006/relationships/hyperlink" Target="https://www.youtube.com/watch?v=_o5WFhvf9y4&amp;t=333" TargetMode="External"/><Relationship Id="rId10" Type="http://schemas.openxmlformats.org/officeDocument/2006/relationships/hyperlink" Target="https://www.youtube.com/watch?v=7Y3JVR8pcdQ" TargetMode="External"/><Relationship Id="rId4" Type="http://schemas.openxmlformats.org/officeDocument/2006/relationships/hyperlink" Target="https://www.med.unc.edu/medclerk/wp-content/uploads/sites/877/2018/10/AXReasy2.pdf" TargetMode="External"/><Relationship Id="rId9" Type="http://schemas.openxmlformats.org/officeDocument/2006/relationships/hyperlink" Target="https://www.radiologymasterclass.co.uk/gallery/abdo/abdominal_xray/normal" TargetMode="Externa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73DC5-B467-447E-238B-61C18DEC2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077DD-FE0E-2742-6E9A-4077EF01F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53EF1-012F-2598-BB83-1972002700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DC5206-9822-1977-767E-DF9843DC8EE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48052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6E2AD-5697-7E1C-2277-045CE6CAF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69AE2-61B0-73CC-B56D-90FE2C0487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A9A82-26D5-6A5D-6920-72326980AEC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human esophageal epithelium is nonkeratinized stratified squamous and comprises many cell layers. Stromal papillae divide the epithelium into regions overlying papillae and interpapillary regions. Secretions made by submucosal glands are carried by ducts, lined by cuboidal cells (shown in green), and released into the esophageal lumen. Fibroblasts and muscle are located deep to the epithelium.</a:t>
            </a:r>
            <a:endParaRPr lang="en-US" dirty="0"/>
          </a:p>
        </p:txBody>
      </p:sp>
      <p:sp>
        <p:nvSpPr>
          <p:cNvPr id="4" name="Slide Number Placeholder 3">
            <a:extLst>
              <a:ext uri="{FF2B5EF4-FFF2-40B4-BE49-F238E27FC236}">
                <a16:creationId xmlns:a16="http://schemas.microsoft.com/office/drawing/2014/main" id="{D2C5EF2D-7FA8-84F2-92C4-3D80A45F2DE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92071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3ECD-2124-6091-9E02-3A2D2D67B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9AC4A-FECE-F5BF-C9C0-5E74505EB2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75DD5-11D7-E6DA-08B7-51EE8E9A52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78A8F3-28E7-8729-64AA-351BB14C6231}"/>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642641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3CC7-2449-C3DD-48BD-23C062589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F09B3-287B-BE66-E92E-89B9D84585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62973A-BAF7-50F4-897D-A2E5DC031C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0FEA95-AB4E-71AF-0F79-D008AB4C05F4}"/>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8410667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2DD94-39A5-3BEE-24DE-9624CC4D1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EFC01-6966-572B-C84B-A8ED6A96F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B1AEF6-0E6C-BE1D-688A-6961A06810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08D4F-5A8C-54B3-2E09-860C69CCF85E}"/>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5227561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8153-3440-410F-F241-4D23B7878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AB86F-2595-2A64-4185-7AB13764F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2DCA5-33F3-52D4-7C5A-F5D5676447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E3EA61-B273-09E6-D16A-9B79129B60FB}"/>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1532706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Each </a:t>
            </a:r>
            <a:r>
              <a:rPr lang="en-US" sz="1200" b="1" i="0" kern="1200" dirty="0">
                <a:solidFill>
                  <a:schemeClr val="tx1"/>
                </a:solidFill>
                <a:effectLst/>
                <a:latin typeface="+mn-lt"/>
                <a:ea typeface="+mn-ea"/>
                <a:cs typeface="+mn-cs"/>
              </a:rPr>
              <a:t>liver lobule</a:t>
            </a:r>
            <a:r>
              <a:rPr lang="en-US" sz="1200" b="0" i="0" kern="1200" dirty="0">
                <a:solidFill>
                  <a:schemeClr val="tx1"/>
                </a:solidFill>
                <a:effectLst/>
                <a:latin typeface="+mn-lt"/>
                <a:ea typeface="+mn-ea"/>
                <a:cs typeface="+mn-cs"/>
              </a:rPr>
              <a:t> consists of </a:t>
            </a:r>
            <a:r>
              <a:rPr lang="en-US" sz="1200" b="1" i="0" kern="1200" dirty="0">
                <a:solidFill>
                  <a:schemeClr val="tx1"/>
                </a:solidFill>
                <a:effectLst/>
                <a:latin typeface="+mn-lt"/>
                <a:ea typeface="+mn-ea"/>
                <a:cs typeface="+mn-cs"/>
              </a:rPr>
              <a:t>plates of hepatocytes</a:t>
            </a:r>
            <a:r>
              <a:rPr lang="en-US" sz="1200" b="0" i="0" kern="1200" dirty="0">
                <a:solidFill>
                  <a:schemeClr val="tx1"/>
                </a:solidFill>
                <a:effectLst/>
                <a:latin typeface="+mn-lt"/>
                <a:ea typeface="+mn-ea"/>
                <a:cs typeface="+mn-cs"/>
              </a:rPr>
              <a:t> arranged around a </a:t>
            </a:r>
            <a:r>
              <a:rPr lang="en-US" sz="1200" b="1" i="0" kern="1200" dirty="0">
                <a:solidFill>
                  <a:schemeClr val="tx1"/>
                </a:solidFill>
                <a:effectLst/>
                <a:latin typeface="+mn-lt"/>
                <a:ea typeface="+mn-ea"/>
                <a:cs typeface="+mn-cs"/>
              </a:rPr>
              <a:t>central vein</a:t>
            </a:r>
            <a:r>
              <a:rPr lang="en-US" sz="1200" b="0" i="0" kern="1200" dirty="0">
                <a:solidFill>
                  <a:schemeClr val="tx1"/>
                </a:solidFill>
                <a:effectLst/>
                <a:latin typeface="+mn-lt"/>
                <a:ea typeface="+mn-ea"/>
                <a:cs typeface="+mn-cs"/>
              </a:rPr>
              <a:t>, forming the liver’s basic structural unit. Between these plates lie </a:t>
            </a:r>
            <a:r>
              <a:rPr lang="en-US" sz="1200" b="1" i="0" kern="1200" dirty="0">
                <a:solidFill>
                  <a:schemeClr val="tx1"/>
                </a:solidFill>
                <a:effectLst/>
                <a:latin typeface="+mn-lt"/>
                <a:ea typeface="+mn-ea"/>
                <a:cs typeface="+mn-cs"/>
              </a:rPr>
              <a:t>sinusoids</a:t>
            </a:r>
            <a:r>
              <a:rPr lang="en-US" sz="1200" b="0" i="0" kern="1200" dirty="0">
                <a:solidFill>
                  <a:schemeClr val="tx1"/>
                </a:solidFill>
                <a:effectLst/>
                <a:latin typeface="+mn-lt"/>
                <a:ea typeface="+mn-ea"/>
                <a:cs typeface="+mn-cs"/>
              </a:rPr>
              <a:t>, channels that allow blood from the </a:t>
            </a:r>
            <a:r>
              <a:rPr lang="en-US" sz="1200" b="1" i="0" kern="1200" dirty="0">
                <a:solidFill>
                  <a:schemeClr val="tx1"/>
                </a:solidFill>
                <a:effectLst/>
                <a:latin typeface="+mn-lt"/>
                <a:ea typeface="+mn-ea"/>
                <a:cs typeface="+mn-cs"/>
              </a:rPr>
              <a:t>portal vein</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hepatic artery</a:t>
            </a:r>
            <a:r>
              <a:rPr lang="en-US" sz="1200" b="0" i="0" kern="1200" dirty="0">
                <a:solidFill>
                  <a:schemeClr val="tx1"/>
                </a:solidFill>
                <a:effectLst/>
                <a:latin typeface="+mn-lt"/>
                <a:ea typeface="+mn-ea"/>
                <a:cs typeface="+mn-cs"/>
              </a:rPr>
              <a:t> to mix and flow toward the </a:t>
            </a:r>
            <a:r>
              <a:rPr lang="en-US" sz="1200" b="1" i="0" kern="1200" dirty="0">
                <a:solidFill>
                  <a:schemeClr val="tx1"/>
                </a:solidFill>
                <a:effectLst/>
                <a:latin typeface="+mn-lt"/>
                <a:ea typeface="+mn-ea"/>
                <a:cs typeface="+mn-cs"/>
              </a:rPr>
              <a:t>central vein</a:t>
            </a:r>
            <a:r>
              <a:rPr lang="en-US" sz="1200" b="0" i="0" kern="1200" dirty="0">
                <a:solidFill>
                  <a:schemeClr val="tx1"/>
                </a:solidFill>
                <a:effectLst/>
                <a:latin typeface="+mn-lt"/>
                <a:ea typeface="+mn-ea"/>
                <a:cs typeface="+mn-cs"/>
              </a:rPr>
              <a:t>. At the corners of each lobule lies a </a:t>
            </a:r>
            <a:r>
              <a:rPr lang="en-US" sz="1200" b="1" i="0" kern="1200" dirty="0">
                <a:solidFill>
                  <a:schemeClr val="tx1"/>
                </a:solidFill>
                <a:effectLst/>
                <a:latin typeface="+mn-lt"/>
                <a:ea typeface="+mn-ea"/>
                <a:cs typeface="+mn-cs"/>
              </a:rPr>
              <a:t>portal triad</a:t>
            </a:r>
            <a:r>
              <a:rPr lang="en-US" sz="1200" b="0" i="0" kern="1200" dirty="0">
                <a:solidFill>
                  <a:schemeClr val="tx1"/>
                </a:solidFill>
                <a:effectLst/>
                <a:latin typeface="+mn-lt"/>
                <a:ea typeface="+mn-ea"/>
                <a:cs typeface="+mn-cs"/>
              </a:rPr>
              <a:t>, made up of a </a:t>
            </a:r>
            <a:r>
              <a:rPr lang="en-US" sz="1200" b="1" i="0" kern="1200" dirty="0">
                <a:solidFill>
                  <a:schemeClr val="tx1"/>
                </a:solidFill>
                <a:effectLst/>
                <a:latin typeface="+mn-lt"/>
                <a:ea typeface="+mn-ea"/>
                <a:cs typeface="+mn-cs"/>
              </a:rPr>
              <a:t>branch of the hepatic artery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branch of the portal vein</a:t>
            </a:r>
            <a:r>
              <a:rPr lang="en-US" sz="1200" b="0" i="0" kern="1200" dirty="0">
                <a:solidFill>
                  <a:schemeClr val="tx1"/>
                </a:solidFill>
                <a:effectLst/>
                <a:latin typeface="+mn-lt"/>
                <a:ea typeface="+mn-ea"/>
                <a:cs typeface="+mn-cs"/>
              </a:rPr>
              <a:t>, and a </a:t>
            </a:r>
            <a:r>
              <a:rPr lang="en-US" sz="1200" b="1" i="0" kern="1200" dirty="0">
                <a:solidFill>
                  <a:schemeClr val="tx1"/>
                </a:solidFill>
                <a:effectLst/>
                <a:latin typeface="+mn-lt"/>
                <a:ea typeface="+mn-ea"/>
                <a:cs typeface="+mn-cs"/>
              </a:rPr>
              <a:t>bile duct</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intricate network supports </a:t>
            </a:r>
            <a:r>
              <a:rPr lang="en-US" sz="1200" b="1" i="0" kern="1200" dirty="0">
                <a:solidFill>
                  <a:schemeClr val="tx1"/>
                </a:solidFill>
                <a:effectLst/>
                <a:latin typeface="+mn-lt"/>
                <a:ea typeface="+mn-ea"/>
                <a:cs typeface="+mn-cs"/>
              </a:rPr>
              <a:t>bidirectional flow</a:t>
            </a:r>
            <a:r>
              <a:rPr lang="en-US" sz="1200" b="0" i="0" kern="1200" dirty="0">
                <a:solidFill>
                  <a:schemeClr val="tx1"/>
                </a:solidFill>
                <a:effectLst/>
                <a:latin typeface="+mn-lt"/>
                <a:ea typeface="+mn-ea"/>
                <a:cs typeface="+mn-cs"/>
              </a:rPr>
              <a:t>: while blood moves inward toward the central vein, </a:t>
            </a:r>
            <a:r>
              <a:rPr lang="en-US" sz="1200" b="1" i="0" kern="1200" dirty="0">
                <a:solidFill>
                  <a:schemeClr val="tx1"/>
                </a:solidFill>
                <a:effectLst/>
                <a:latin typeface="+mn-lt"/>
                <a:ea typeface="+mn-ea"/>
                <a:cs typeface="+mn-cs"/>
              </a:rPr>
              <a:t>bile</a:t>
            </a:r>
            <a:r>
              <a:rPr lang="en-US" sz="1200" b="0" i="0" kern="1200" dirty="0">
                <a:solidFill>
                  <a:schemeClr val="tx1"/>
                </a:solidFill>
                <a:effectLst/>
                <a:latin typeface="+mn-lt"/>
                <a:ea typeface="+mn-ea"/>
                <a:cs typeface="+mn-cs"/>
              </a:rPr>
              <a:t> moves outward toward the bile ducts. This opposite movement ensures simultaneous </a:t>
            </a:r>
            <a:r>
              <a:rPr lang="en-US" sz="1200" b="1" i="0" kern="1200" dirty="0">
                <a:solidFill>
                  <a:schemeClr val="tx1"/>
                </a:solidFill>
                <a:effectLst/>
                <a:latin typeface="+mn-lt"/>
                <a:ea typeface="+mn-ea"/>
                <a:cs typeface="+mn-cs"/>
              </a:rPr>
              <a:t>filtration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detoxification</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bile secretion</a:t>
            </a:r>
            <a:r>
              <a:rPr lang="en-US" sz="1200" b="0" i="0" kern="1200" dirty="0">
                <a:solidFill>
                  <a:schemeClr val="tx1"/>
                </a:solidFill>
                <a:effectLst/>
                <a:latin typeface="+mn-lt"/>
                <a:ea typeface="+mn-ea"/>
                <a:cs typeface="+mn-cs"/>
              </a:rPr>
              <a:t>, all within the same microenvironment.</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DD1B5-7E21-32B4-D6A8-737B6F05D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164A7-E5AE-036D-B778-A7D6392F8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19326-624A-6BB5-608D-F5768982AD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721D6-B30F-F3FD-26DD-8888E08D8BF7}"/>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8041961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Gut-Brain Axis &amp; Enteric Nervous System (ENS)</a:t>
            </a:r>
            <a:endParaRPr lang="en-US" sz="1200" b="0"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~95% of the body's serotonin</a:t>
            </a:r>
            <a:r>
              <a:rPr lang="en-US" sz="1200" b="0" i="0" kern="1200" dirty="0">
                <a:solidFill>
                  <a:schemeClr val="tx1"/>
                </a:solidFill>
                <a:effectLst/>
                <a:latin typeface="+mn-lt"/>
                <a:ea typeface="+mn-ea"/>
                <a:cs typeface="+mn-cs"/>
              </a:rPr>
              <a:t> is produced in the gut (enterochromaffin cells), but does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cross the blood-brain barrier — central and peripheral serotonin pools are functionally separate [8-9]</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Clinical relevance: gut-brain axis dysfunction is implicated in IBS, functional dyspepsia, Parkinson disease (early ENS α-synuclein pathology), and mood disorders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3C84-6E81-2599-4D91-A80E6B0B70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A699A-0FD5-82FF-6C49-27C1FBB22E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4711B-4D3A-F019-3CE5-AE97E5FC8DAB}"/>
              </a:ext>
            </a:extLst>
          </p:cNvPr>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A comprehensive evaluation of a normal abdominal radiograph includes the following specific features:</a:t>
            </a:r>
          </a:p>
          <a:p>
            <a:r>
              <a:rPr lang="en-US" sz="1200" b="1" u="none" strike="noStrike" kern="1200" dirty="0">
                <a:solidFill>
                  <a:schemeClr val="tx1"/>
                </a:solidFill>
                <a:effectLst/>
                <a:latin typeface="+mn-lt"/>
                <a:ea typeface="+mn-ea"/>
                <a:cs typeface="+mn-cs"/>
              </a:rPr>
              <a:t>Bowel Gas Patterns &amp; </a:t>
            </a:r>
            <a:r>
              <a:rPr lang="en-US" sz="1200" b="1" u="none" strike="noStrike" kern="1200" dirty="0" err="1">
                <a:solidFill>
                  <a:schemeClr val="tx1"/>
                </a:solidFill>
                <a:effectLst/>
                <a:latin typeface="+mn-lt"/>
                <a:ea typeface="+mn-ea"/>
                <a:cs typeface="+mn-cs"/>
              </a:rPr>
              <a:t>Distribution:Small</a:t>
            </a:r>
            <a:r>
              <a:rPr lang="en-US" sz="1200" b="1" u="none" strike="noStrike" kern="1200" dirty="0">
                <a:solidFill>
                  <a:schemeClr val="tx1"/>
                </a:solidFill>
                <a:effectLst/>
                <a:latin typeface="+mn-lt"/>
                <a:ea typeface="+mn-ea"/>
                <a:cs typeface="+mn-cs"/>
              </a:rPr>
              <a:t> Bowel:</a:t>
            </a:r>
            <a:r>
              <a:rPr lang="en-US" sz="1200" b="0" u="none" strike="noStrike" kern="1200" dirty="0">
                <a:solidFill>
                  <a:schemeClr val="tx1"/>
                </a:solidFill>
                <a:effectLst/>
                <a:latin typeface="+mn-lt"/>
                <a:ea typeface="+mn-ea"/>
                <a:cs typeface="+mn-cs"/>
              </a:rPr>
              <a:t> Typically located centrally. The folds (valvulae </a:t>
            </a:r>
            <a:r>
              <a:rPr lang="en-US" sz="1200" b="0" u="none" strike="noStrike" kern="1200" dirty="0" err="1">
                <a:solidFill>
                  <a:schemeClr val="tx1"/>
                </a:solidFill>
                <a:effectLst/>
                <a:latin typeface="+mn-lt"/>
                <a:ea typeface="+mn-ea"/>
                <a:cs typeface="+mn-cs"/>
              </a:rPr>
              <a:t>conniventes</a:t>
            </a:r>
            <a:r>
              <a:rPr lang="en-US" sz="1200" b="0" u="none" strike="noStrike" kern="1200" dirty="0">
                <a:solidFill>
                  <a:schemeClr val="tx1"/>
                </a:solidFill>
                <a:effectLst/>
                <a:latin typeface="+mn-lt"/>
                <a:ea typeface="+mn-ea"/>
                <a:cs typeface="+mn-cs"/>
              </a:rPr>
              <a:t>) run all the way across the diameter of the lumen. Gas is generally minimal.</a:t>
            </a:r>
          </a:p>
          <a:p>
            <a:r>
              <a:rPr lang="en-US" sz="1200" b="1" u="none" strike="noStrike" kern="1200" dirty="0">
                <a:solidFill>
                  <a:schemeClr val="tx1"/>
                </a:solidFill>
                <a:effectLst/>
                <a:latin typeface="+mn-lt"/>
                <a:ea typeface="+mn-ea"/>
                <a:cs typeface="+mn-cs"/>
              </a:rPr>
              <a:t>Large Bowel:</a:t>
            </a:r>
            <a:r>
              <a:rPr lang="en-US" sz="1200" b="0" u="none" strike="noStrike" kern="1200" dirty="0">
                <a:solidFill>
                  <a:schemeClr val="tx1"/>
                </a:solidFill>
                <a:effectLst/>
                <a:latin typeface="+mn-lt"/>
                <a:ea typeface="+mn-ea"/>
                <a:cs typeface="+mn-cs"/>
              </a:rPr>
              <a:t> Located peripherally. The folds (haustra) are thicker but only run partially across the bowel, and it normally contains a mixture of gas and fecal material. [</a:t>
            </a:r>
            <a:r>
              <a:rPr lang="en-US" sz="1200" b="0" u="none" strike="noStrike" kern="1200" dirty="0">
                <a:solidFill>
                  <a:schemeClr val="tx1"/>
                </a:solidFill>
                <a:effectLst/>
                <a:latin typeface="+mn-lt"/>
                <a:ea typeface="+mn-ea"/>
                <a:cs typeface="+mn-cs"/>
                <a:hlinkClick r:id="rId3"/>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4"/>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3</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6"/>
              </a:rPr>
              <a:t>4</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Solid Organs:</a:t>
            </a:r>
            <a:r>
              <a:rPr lang="en-US" sz="1200" b="0" u="none" strike="noStrike" kern="1200" dirty="0">
                <a:solidFill>
                  <a:schemeClr val="tx1"/>
                </a:solidFill>
                <a:effectLst/>
                <a:latin typeface="+mn-lt"/>
                <a:ea typeface="+mn-ea"/>
                <a:cs typeface="+mn-cs"/>
              </a:rPr>
              <a:t> The kidneys should be visible as smooth, bean-shaped, soft-tissue shadows. The liver and spleen outlines may be subtly distinguished. [</a:t>
            </a:r>
            <a:r>
              <a:rPr lang="en-US" sz="1200" b="0" u="none" strike="noStrike" kern="1200" dirty="0">
                <a:solidFill>
                  <a:schemeClr val="tx1"/>
                </a:solidFill>
                <a:effectLst/>
                <a:latin typeface="+mn-lt"/>
                <a:ea typeface="+mn-ea"/>
                <a:cs typeface="+mn-cs"/>
                <a:hlinkClick r:id="rId7"/>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8"/>
              </a:rPr>
              <a:t>3</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Soft Tissue &amp; Muscle Margins:</a:t>
            </a:r>
            <a:r>
              <a:rPr lang="en-US" sz="1200" b="0" u="none" strike="noStrike" kern="1200" dirty="0">
                <a:solidFill>
                  <a:schemeClr val="tx1"/>
                </a:solidFill>
                <a:effectLst/>
                <a:latin typeface="+mn-lt"/>
                <a:ea typeface="+mn-ea"/>
                <a:cs typeface="+mn-cs"/>
              </a:rPr>
              <a:t> The sharp, triangular outlines of the psoas muscles on either side of the lumbar spine should be crisp and uninterrupted (loss of this margin can indicate retroperitoneal issues). [</a:t>
            </a:r>
            <a:r>
              <a:rPr lang="en-US" sz="1200" b="0" u="none" strike="noStrike" kern="1200" dirty="0">
                <a:solidFill>
                  <a:schemeClr val="tx1"/>
                </a:solidFill>
                <a:effectLst/>
                <a:latin typeface="+mn-lt"/>
                <a:ea typeface="+mn-ea"/>
                <a:cs typeface="+mn-cs"/>
                <a:hlinkClick r:id="rId9"/>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Bone Structures:</a:t>
            </a:r>
            <a:r>
              <a:rPr lang="en-US" sz="1200" b="0" u="none" strike="noStrike" kern="1200" dirty="0">
                <a:solidFill>
                  <a:schemeClr val="tx1"/>
                </a:solidFill>
                <a:effectLst/>
                <a:latin typeface="+mn-lt"/>
                <a:ea typeface="+mn-ea"/>
                <a:cs typeface="+mn-cs"/>
              </a:rPr>
              <a:t> The lower ribs, lumbar vertebrae, sacrum, pelvis, and femoral heads should be clearly visible without fractures or suspicious lesions. [</a:t>
            </a:r>
            <a:r>
              <a:rPr lang="en-US" sz="1200" b="0" u="none" strike="noStrike" kern="1200" dirty="0">
                <a:solidFill>
                  <a:schemeClr val="tx1"/>
                </a:solidFill>
                <a:effectLst/>
                <a:latin typeface="+mn-lt"/>
                <a:ea typeface="+mn-ea"/>
                <a:cs typeface="+mn-cs"/>
                <a:hlinkClick r:id="rId10"/>
              </a:rPr>
              <a:t>1</a:t>
            </a:r>
            <a:r>
              <a:rPr lang="en-US" sz="1200" b="0" u="none" strike="noStrike" kern="1200" dirty="0">
                <a:solidFill>
                  <a:schemeClr val="tx1"/>
                </a:solidFill>
                <a:effectLst/>
                <a:latin typeface="+mn-lt"/>
                <a:ea typeface="+mn-ea"/>
                <a:cs typeface="+mn-cs"/>
              </a:rPr>
              <a:t>, </a:t>
            </a:r>
            <a:r>
              <a:rPr lang="en-US" sz="1200" b="0" u="none" strike="noStrike" kern="1200" dirty="0">
                <a:solidFill>
                  <a:schemeClr val="tx1"/>
                </a:solidFill>
                <a:effectLst/>
                <a:latin typeface="+mn-lt"/>
                <a:ea typeface="+mn-ea"/>
                <a:cs typeface="+mn-cs"/>
                <a:hlinkClick r:id="rId5"/>
              </a:rPr>
              <a:t>2</a:t>
            </a:r>
            <a:r>
              <a:rPr lang="en-US" sz="1200" b="0" u="none" strike="noStrike" kern="1200" dirty="0">
                <a:solidFill>
                  <a:schemeClr val="tx1"/>
                </a:solidFill>
                <a:effectLst/>
                <a:latin typeface="+mn-lt"/>
                <a:ea typeface="+mn-ea"/>
                <a:cs typeface="+mn-cs"/>
              </a:rPr>
              <a:t>]</a:t>
            </a:r>
          </a:p>
          <a:p>
            <a:r>
              <a:rPr lang="en-US" sz="1200" b="1" u="none" strike="noStrike" kern="1200" dirty="0">
                <a:solidFill>
                  <a:schemeClr val="tx1"/>
                </a:solidFill>
                <a:effectLst/>
                <a:latin typeface="+mn-lt"/>
                <a:ea typeface="+mn-ea"/>
                <a:cs typeface="+mn-cs"/>
              </a:rPr>
              <a:t>No Pathological Calcifications:</a:t>
            </a:r>
            <a:r>
              <a:rPr lang="en-US" sz="1200" b="0" u="none" strike="noStrike" kern="1200" dirty="0">
                <a:solidFill>
                  <a:schemeClr val="tx1"/>
                </a:solidFill>
                <a:effectLst/>
                <a:latin typeface="+mn-lt"/>
                <a:ea typeface="+mn-ea"/>
                <a:cs typeface="+mn-cs"/>
              </a:rPr>
              <a:t> The X-ray should be free of abnormal calcifications (like kidney or gallstones), and show no signs of extraluminal (free) air</a:t>
            </a:r>
          </a:p>
          <a:p>
            <a:endParaRPr lang="en-US" dirty="0"/>
          </a:p>
        </p:txBody>
      </p:sp>
      <p:sp>
        <p:nvSpPr>
          <p:cNvPr id="4" name="Slide Number Placeholder 3">
            <a:extLst>
              <a:ext uri="{FF2B5EF4-FFF2-40B4-BE49-F238E27FC236}">
                <a16:creationId xmlns:a16="http://schemas.microsoft.com/office/drawing/2014/main" id="{2360E715-0EB2-3C51-FED3-0567DE3DBBA9}"/>
              </a:ext>
            </a:extLst>
          </p:cNvPr>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155339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174A4-4BB7-311A-26E0-6ECD09FB6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96736-39F9-4952-D228-511822C86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8D1D8-4389-AFF8-25DB-2A9020502D1B}"/>
              </a:ext>
            </a:extLst>
          </p:cNvPr>
          <p:cNvSpPr>
            <a:spLocks noGrp="1"/>
          </p:cNvSpPr>
          <p:nvPr>
            <p:ph type="body" idx="1"/>
          </p:nvPr>
        </p:nvSpPr>
        <p:spPr/>
        <p:txBody>
          <a:bodyPr/>
          <a:lstStyle/>
          <a:p>
            <a:r>
              <a:rPr lang="en-US" dirty="0"/>
              <a:t>CT liver</a:t>
            </a:r>
          </a:p>
        </p:txBody>
      </p:sp>
      <p:sp>
        <p:nvSpPr>
          <p:cNvPr id="4" name="Slide Number Placeholder 3">
            <a:extLst>
              <a:ext uri="{FF2B5EF4-FFF2-40B4-BE49-F238E27FC236}">
                <a16:creationId xmlns:a16="http://schemas.microsoft.com/office/drawing/2014/main" id="{0AF393DB-21F3-BD91-3DAF-0693A82EBE3A}"/>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7007140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HIDA = hepatobiliary iminodiacetic acid</a:t>
            </a:r>
          </a:p>
          <a:p>
            <a:endParaRPr lang="en-US" dirty="0"/>
          </a:p>
          <a:p>
            <a:r>
              <a:rPr lang="en-US" dirty="0" err="1"/>
              <a:t>cholecystogram</a:t>
            </a:r>
            <a:r>
              <a:rPr lang="en-US" dirty="0"/>
              <a:t> (or oral </a:t>
            </a:r>
            <a:r>
              <a:rPr lang="en-US" dirty="0" err="1"/>
              <a:t>cholecystogram</a:t>
            </a:r>
            <a:r>
              <a:rPr lang="en-US" dirty="0"/>
              <a:t>) is an X-ray exam used to evaluate the gallbladder. Patients swallow an iodine-based contrast tablet the night before, which the liver excretes into the bile, making the gallbladder visible on an X-ray. It is mostly used to diagnose gallstones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344F7-273E-66B7-A50D-0C1E7B997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5A1A4-F245-11CB-4A4C-0E3F4A7C7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A7B73-B4E9-4E34-8E96-3785248FF9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0ED64B-A742-B4E1-11FC-A5495432163C}"/>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979481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CT</a:t>
            </a:r>
            <a:r>
              <a:rPr lang="en-US" dirty="0"/>
              <a:t>: "dual-phase" or "multiphase" CT with intravenous contrast is almost always used to highlight blood vessels and pinpoint tumors</a:t>
            </a:r>
          </a:p>
          <a:p>
            <a:r>
              <a:rPr lang="en-US" b="1" dirty="0"/>
              <a:t>MRCP</a:t>
            </a:r>
            <a:r>
              <a:rPr lang="en-US" dirty="0"/>
              <a:t>: when CT results are unclear or when better visualization of the bile and pancreatic ducts is needed</a:t>
            </a:r>
          </a:p>
          <a:p>
            <a:r>
              <a:rPr lang="en-US" b="1" dirty="0"/>
              <a:t>EUS</a:t>
            </a:r>
            <a:r>
              <a:rPr lang="en-US" dirty="0"/>
              <a:t>: highest resolution for smaller lesions. A doctor passes a specialized endoscope down the throat to the stomach to get detailed, close-up ultrasound images of the pancreas. It also allows the doctor to perform a fine-needle biopsy if a mass is found</a:t>
            </a:r>
          </a:p>
          <a:p>
            <a:r>
              <a:rPr lang="en-US" b="1" dirty="0"/>
              <a:t>Abdominal US</a:t>
            </a:r>
            <a:r>
              <a:rPr lang="en-US" dirty="0"/>
              <a:t>: Often the first non-invasive test ordered for symptoms like jaundice to rule out gallstones. However, its effectiveness is often limited by overlying bowel gas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48.jpeg"/></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jpeg"/></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A16"/>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5A1F1F"/>
          </a:solidFill>
          <a:ln/>
        </p:spPr>
        <p:txBody>
          <a:bodyPr/>
          <a:lstStyle/>
          <a:p>
            <a:endParaRPr lang="en-US"/>
          </a:p>
        </p:txBody>
      </p:sp>
      <p:sp>
        <p:nvSpPr>
          <p:cNvPr id="3" name="Shape 1"/>
          <p:cNvSpPr/>
          <p:nvPr/>
        </p:nvSpPr>
        <p:spPr>
          <a:xfrm>
            <a:off x="10058400" y="4206240"/>
            <a:ext cx="3840480" cy="3840480"/>
          </a:xfrm>
          <a:prstGeom prst="ellipse">
            <a:avLst/>
          </a:prstGeom>
          <a:solidFill>
            <a:srgbClr val="34251F"/>
          </a:solidFill>
          <a:ln/>
        </p:spPr>
        <p:txBody>
          <a:bodyPr/>
          <a:lstStyle/>
          <a:p>
            <a:endParaRPr lang="en-US"/>
          </a:p>
        </p:txBody>
      </p:sp>
      <p:sp>
        <p:nvSpPr>
          <p:cNvPr id="5" name="Text 3"/>
          <p:cNvSpPr/>
          <p:nvPr/>
        </p:nvSpPr>
        <p:spPr>
          <a:xfrm>
            <a:off x="731520" y="1920240"/>
            <a:ext cx="10058400" cy="13716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The Gastrointestinal System</a:t>
            </a:r>
            <a:endParaRPr lang="en-US" sz="4200" dirty="0"/>
          </a:p>
        </p:txBody>
      </p:sp>
      <p:sp>
        <p:nvSpPr>
          <p:cNvPr id="6" name="Text 4"/>
          <p:cNvSpPr/>
          <p:nvPr/>
        </p:nvSpPr>
        <p:spPr>
          <a:xfrm>
            <a:off x="731520" y="3200400"/>
            <a:ext cx="9601200" cy="914400"/>
          </a:xfrm>
          <a:prstGeom prst="rect">
            <a:avLst/>
          </a:prstGeom>
          <a:noFill/>
          <a:ln/>
        </p:spPr>
        <p:txBody>
          <a:bodyPr wrap="square" rtlCol="0" anchor="ctr"/>
          <a:lstStyle/>
          <a:p>
            <a:pPr marL="0" indent="0">
              <a:buNone/>
            </a:pPr>
            <a:r>
              <a:rPr lang="en-US" sz="2100" i="1" dirty="0">
                <a:solidFill>
                  <a:srgbClr val="F3EAE0"/>
                </a:solidFill>
                <a:latin typeface="Calibri" pitchFamily="34" charset="0"/>
                <a:ea typeface="Calibri" pitchFamily="34" charset="-122"/>
                <a:cs typeface="Calibri" pitchFamily="34" charset="-120"/>
              </a:rPr>
              <a:t>Gross &amp; Microscopic Anatomy, Core Physiology, and an Introduction to GI Diagnostics</a:t>
            </a:r>
            <a:endParaRPr lang="en-US" sz="2100" dirty="0"/>
          </a:p>
        </p:txBody>
      </p:sp>
      <p:sp>
        <p:nvSpPr>
          <p:cNvPr id="7" name="Shape 5"/>
          <p:cNvSpPr/>
          <p:nvPr/>
        </p:nvSpPr>
        <p:spPr>
          <a:xfrm>
            <a:off x="731520" y="4343400"/>
            <a:ext cx="1280160" cy="45720"/>
          </a:xfrm>
          <a:prstGeom prst="rect">
            <a:avLst/>
          </a:prstGeom>
          <a:solidFill>
            <a:srgbClr val="C9A66B"/>
          </a:solidFill>
          <a:ln/>
        </p:spPr>
        <p:txBody>
          <a:bodyPr/>
          <a:lstStyle/>
          <a:p>
            <a:endParaRPr lang="en-US"/>
          </a:p>
        </p:txBody>
      </p:sp>
      <p:sp>
        <p:nvSpPr>
          <p:cNvPr id="8" name="Text 6"/>
          <p:cNvSpPr/>
          <p:nvPr/>
        </p:nvSpPr>
        <p:spPr>
          <a:xfrm>
            <a:off x="731520" y="4526280"/>
            <a:ext cx="9144000" cy="1874520"/>
          </a:xfrm>
          <a:prstGeom prst="rect">
            <a:avLst/>
          </a:prstGeom>
          <a:noFill/>
          <a:ln/>
        </p:spPr>
        <p:txBody>
          <a:bodyPr wrap="square" rtlCol="0" anchor="ctr"/>
          <a:lstStyle/>
          <a:p>
            <a:pPr marL="0" indent="0">
              <a:buNone/>
            </a:pPr>
            <a:r>
              <a:rPr lang="en-US" sz="1600" dirty="0">
                <a:solidFill>
                  <a:srgbClr val="C9B8AC"/>
                </a:solidFill>
                <a:latin typeface="Calibri" pitchFamily="34" charset="0"/>
                <a:ea typeface="Calibri" pitchFamily="34" charset="-122"/>
                <a:cs typeface="Calibri" pitchFamily="34" charset="-120"/>
              </a:rPr>
              <a:t>PAS-523 Clinical Medicine II</a:t>
            </a:r>
          </a:p>
          <a:p>
            <a:pPr marL="0" indent="0">
              <a:buNone/>
            </a:pPr>
            <a:r>
              <a:rPr lang="en-US" sz="1600" dirty="0">
                <a:solidFill>
                  <a:srgbClr val="C9B8AC"/>
                </a:solidFill>
                <a:latin typeface="Calibri" pitchFamily="34" charset="0"/>
                <a:ea typeface="Calibri" pitchFamily="34" charset="-122"/>
                <a:cs typeface="Calibri" pitchFamily="34" charset="-120"/>
              </a:rPr>
              <a:t>Summer 2026</a:t>
            </a:r>
          </a:p>
          <a:p>
            <a:pPr marL="0" indent="0">
              <a:buNone/>
            </a:pPr>
            <a:r>
              <a:rPr lang="en-US" sz="1600" dirty="0">
                <a:solidFill>
                  <a:srgbClr val="C9B8AC"/>
                </a:solidFill>
                <a:latin typeface="Calibri" pitchFamily="34" charset="0"/>
                <a:ea typeface="Calibri" pitchFamily="34" charset="-122"/>
                <a:cs typeface="Calibri" pitchFamily="34" charset="-120"/>
              </a:rPr>
              <a:t>Lectured by Erik Hollers, PA-C</a:t>
            </a:r>
          </a:p>
          <a:p>
            <a:pPr marL="0" indent="0">
              <a:buNone/>
            </a:pPr>
            <a:r>
              <a:rPr lang="en-US" sz="1600" dirty="0">
                <a:solidFill>
                  <a:srgbClr val="C9B8AC"/>
                </a:solidFill>
                <a:latin typeface="Calibri" pitchFamily="34" charset="0"/>
                <a:ea typeface="Calibri" pitchFamily="34" charset="-122"/>
                <a:cs typeface="Calibri" pitchFamily="34" charset="-120"/>
              </a:rPr>
              <a:t>Assembled by Angela Hammett, PA-C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Learning Objectives</a:t>
            </a:r>
            <a:endParaRPr lang="en-US" sz="3200" dirty="0"/>
          </a:p>
        </p:txBody>
      </p:sp>
      <p:sp>
        <p:nvSpPr>
          <p:cNvPr id="3" name="Shape 1"/>
          <p:cNvSpPr/>
          <p:nvPr/>
        </p:nvSpPr>
        <p:spPr>
          <a:xfrm>
            <a:off x="548640" y="1170432"/>
            <a:ext cx="11064240" cy="10973"/>
          </a:xfrm>
          <a:prstGeom prst="rect">
            <a:avLst/>
          </a:prstGeom>
          <a:solidFill>
            <a:srgbClr val="E3D6C6"/>
          </a:solidFill>
          <a:ln/>
        </p:spPr>
        <p:txBody>
          <a:bodyPr/>
          <a:lstStyle/>
          <a:p>
            <a:endParaRPr lang="en-US"/>
          </a:p>
        </p:txBody>
      </p:sp>
      <p:sp>
        <p:nvSpPr>
          <p:cNvPr id="4" name="Shape 2"/>
          <p:cNvSpPr/>
          <p:nvPr/>
        </p:nvSpPr>
        <p:spPr>
          <a:xfrm>
            <a:off x="640080" y="1490472"/>
            <a:ext cx="594360" cy="594360"/>
          </a:xfrm>
          <a:prstGeom prst="ellipse">
            <a:avLst/>
          </a:prstGeom>
          <a:solidFill>
            <a:srgbClr val="7A2E2E"/>
          </a:solidFill>
          <a:ln/>
        </p:spPr>
        <p:txBody>
          <a:bodyPr/>
          <a:lstStyle/>
          <a:p>
            <a:endParaRPr lang="en-US"/>
          </a:p>
        </p:txBody>
      </p:sp>
      <p:sp>
        <p:nvSpPr>
          <p:cNvPr id="5" name="Text 3"/>
          <p:cNvSpPr/>
          <p:nvPr/>
        </p:nvSpPr>
        <p:spPr>
          <a:xfrm>
            <a:off x="640080" y="1490472"/>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508760" y="1444752"/>
            <a:ext cx="9966960" cy="86868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Describe the gross anatomy of the GI tract and its accessory organs.</a:t>
            </a:r>
            <a:endParaRPr lang="en-US" sz="2100" dirty="0"/>
          </a:p>
        </p:txBody>
      </p:sp>
      <p:sp>
        <p:nvSpPr>
          <p:cNvPr id="7" name="Shape 5"/>
          <p:cNvSpPr/>
          <p:nvPr/>
        </p:nvSpPr>
        <p:spPr>
          <a:xfrm>
            <a:off x="640080" y="2542032"/>
            <a:ext cx="594360" cy="594360"/>
          </a:xfrm>
          <a:prstGeom prst="ellipse">
            <a:avLst/>
          </a:prstGeom>
          <a:solidFill>
            <a:srgbClr val="3E5C43"/>
          </a:solidFill>
          <a:ln/>
        </p:spPr>
        <p:txBody>
          <a:bodyPr/>
          <a:lstStyle/>
          <a:p>
            <a:endParaRPr lang="en-US"/>
          </a:p>
        </p:txBody>
      </p:sp>
      <p:sp>
        <p:nvSpPr>
          <p:cNvPr id="8" name="Text 6"/>
          <p:cNvSpPr/>
          <p:nvPr/>
        </p:nvSpPr>
        <p:spPr>
          <a:xfrm>
            <a:off x="640080" y="2542032"/>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1508760" y="2496312"/>
            <a:ext cx="9966960" cy="86868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Identify the wall microanatomy and specialized cell types of the esophagus, stomach, small intestine, and colon.</a:t>
            </a:r>
            <a:endParaRPr lang="en-US" sz="2100" dirty="0"/>
          </a:p>
        </p:txBody>
      </p:sp>
      <p:sp>
        <p:nvSpPr>
          <p:cNvPr id="10" name="Shape 8"/>
          <p:cNvSpPr/>
          <p:nvPr/>
        </p:nvSpPr>
        <p:spPr>
          <a:xfrm>
            <a:off x="640080" y="3593592"/>
            <a:ext cx="594360" cy="594360"/>
          </a:xfrm>
          <a:prstGeom prst="ellipse">
            <a:avLst/>
          </a:prstGeom>
          <a:solidFill>
            <a:srgbClr val="C9A66B"/>
          </a:solidFill>
          <a:ln/>
        </p:spPr>
        <p:txBody>
          <a:bodyPr/>
          <a:lstStyle/>
          <a:p>
            <a:endParaRPr lang="en-US"/>
          </a:p>
        </p:txBody>
      </p:sp>
      <p:sp>
        <p:nvSpPr>
          <p:cNvPr id="11" name="Text 9"/>
          <p:cNvSpPr/>
          <p:nvPr/>
        </p:nvSpPr>
        <p:spPr>
          <a:xfrm>
            <a:off x="640080" y="3593592"/>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1508760" y="3547872"/>
            <a:ext cx="9966960" cy="86868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Summarize neural &amp; hormonal control of GI secretion, motility, digestion, and absorption.</a:t>
            </a:r>
            <a:endParaRPr lang="en-US" sz="2100" dirty="0"/>
          </a:p>
        </p:txBody>
      </p:sp>
      <p:sp>
        <p:nvSpPr>
          <p:cNvPr id="13" name="Shape 11"/>
          <p:cNvSpPr/>
          <p:nvPr/>
        </p:nvSpPr>
        <p:spPr>
          <a:xfrm>
            <a:off x="640080" y="4645152"/>
            <a:ext cx="594360" cy="594360"/>
          </a:xfrm>
          <a:prstGeom prst="ellipse">
            <a:avLst/>
          </a:prstGeom>
          <a:solidFill>
            <a:srgbClr val="5A6B8C"/>
          </a:solidFill>
          <a:ln/>
        </p:spPr>
        <p:txBody>
          <a:bodyPr/>
          <a:lstStyle/>
          <a:p>
            <a:endParaRPr lang="en-US"/>
          </a:p>
        </p:txBody>
      </p:sp>
      <p:sp>
        <p:nvSpPr>
          <p:cNvPr id="14" name="Text 12"/>
          <p:cNvSpPr/>
          <p:nvPr/>
        </p:nvSpPr>
        <p:spPr>
          <a:xfrm>
            <a:off x="640080" y="4645152"/>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1508760" y="4599432"/>
            <a:ext cx="9966960" cy="86868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Recognize major imaging &amp; endoscopic studies used to evaluate GI complaints.</a:t>
            </a:r>
            <a:endParaRPr lang="en-US" sz="2100" dirty="0"/>
          </a:p>
        </p:txBody>
      </p:sp>
      <p:sp>
        <p:nvSpPr>
          <p:cNvPr id="16" name="Text 1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7" name="Text 1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 / 46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OVERVIEW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The GI Tract at a Glance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7" name="Text 4"/>
          <p:cNvSpPr/>
          <p:nvPr/>
        </p:nvSpPr>
        <p:spPr>
          <a:xfrm>
            <a:off x="548640" y="20848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One continuous tube: mouth → esophagus → stomach → small intestine → colon → rectum</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Sphincters keep flow moving one direction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Luminal pH shifts by region — gastric acid to intestinal neutral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Core jobs: ingest, digest, absorb, eliminate</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 / 46</a:t>
            </a:r>
            <a:endParaRPr lang="en-US" sz="1000" dirty="0"/>
          </a:p>
        </p:txBody>
      </p:sp>
      <p:pic>
        <p:nvPicPr>
          <p:cNvPr id="13" name="Picture 12">
            <a:extLst>
              <a:ext uri="{FF2B5EF4-FFF2-40B4-BE49-F238E27FC236}">
                <a16:creationId xmlns:a16="http://schemas.microsoft.com/office/drawing/2014/main" id="{83285B90-3C44-BC17-E452-1360415A2CE0}"/>
              </a:ext>
            </a:extLst>
          </p:cNvPr>
          <p:cNvPicPr>
            <a:picLocks noChangeAspect="1"/>
          </p:cNvPicPr>
          <p:nvPr/>
        </p:nvPicPr>
        <p:blipFill>
          <a:blip r:embed="rId3"/>
          <a:stretch>
            <a:fillRect/>
          </a:stretch>
        </p:blipFill>
        <p:spPr>
          <a:xfrm>
            <a:off x="7363711" y="300990"/>
            <a:ext cx="3333750" cy="6191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OVERVIEW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Accessory (Solid) Organs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7" name="Text 4"/>
          <p:cNvSpPr/>
          <p:nvPr/>
        </p:nvSpPr>
        <p:spPr>
          <a:xfrm>
            <a:off x="337052" y="245059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Salivary glands — start carbohydrate/fat digestion</a:t>
            </a:r>
            <a:endParaRPr lang="en-US" sz="2100" dirty="0"/>
          </a:p>
          <a:p>
            <a:pPr marL="254000" indent="-254000">
              <a:lnSpc>
                <a:spcPct val="105000"/>
              </a:lnSpc>
              <a:spcAft>
                <a:spcPts val="1600"/>
              </a:spcAft>
              <a:buSzPct val="100000"/>
              <a:buChar char="▪"/>
            </a:pPr>
            <a:r>
              <a:rPr lang="en-US" sz="2100" b="1" dirty="0">
                <a:solidFill>
                  <a:srgbClr val="2B211D"/>
                </a:solidFill>
                <a:latin typeface="Calibri" pitchFamily="34" charset="0"/>
                <a:ea typeface="Calibri" pitchFamily="34" charset="-122"/>
                <a:cs typeface="Calibri" pitchFamily="34" charset="-120"/>
              </a:rPr>
              <a:t>Liver</a:t>
            </a:r>
            <a:r>
              <a:rPr lang="en-US" sz="2100" dirty="0">
                <a:solidFill>
                  <a:srgbClr val="2B211D"/>
                </a:solidFill>
                <a:latin typeface="Calibri" pitchFamily="34" charset="0"/>
                <a:ea typeface="Calibri" pitchFamily="34" charset="-122"/>
                <a:cs typeface="Calibri" pitchFamily="34" charset="-120"/>
              </a:rPr>
              <a:t> — metabolism, detox, bile production</a:t>
            </a:r>
            <a:endParaRPr lang="en-US" sz="2100" dirty="0"/>
          </a:p>
          <a:p>
            <a:pPr marL="254000" indent="-254000">
              <a:lnSpc>
                <a:spcPct val="105000"/>
              </a:lnSpc>
              <a:spcAft>
                <a:spcPts val="1600"/>
              </a:spcAft>
              <a:buSzPct val="100000"/>
              <a:buChar char="▪"/>
            </a:pPr>
            <a:r>
              <a:rPr lang="en-US" sz="2100" b="1" dirty="0">
                <a:solidFill>
                  <a:srgbClr val="2B211D"/>
                </a:solidFill>
                <a:latin typeface="Calibri" pitchFamily="34" charset="0"/>
                <a:ea typeface="Calibri" pitchFamily="34" charset="-122"/>
                <a:cs typeface="Calibri" pitchFamily="34" charset="-120"/>
              </a:rPr>
              <a:t>Gallbladder</a:t>
            </a:r>
            <a:r>
              <a:rPr lang="en-US" sz="2100" dirty="0">
                <a:solidFill>
                  <a:srgbClr val="2B211D"/>
                </a:solidFill>
                <a:latin typeface="Calibri" pitchFamily="34" charset="0"/>
                <a:ea typeface="Calibri" pitchFamily="34" charset="-122"/>
                <a:cs typeface="Calibri" pitchFamily="34" charset="-120"/>
              </a:rPr>
              <a:t> — stores &amp; concentrates bile</a:t>
            </a:r>
            <a:endParaRPr lang="en-US" sz="2100" dirty="0"/>
          </a:p>
          <a:p>
            <a:pPr marL="254000" indent="-254000">
              <a:lnSpc>
                <a:spcPct val="105000"/>
              </a:lnSpc>
              <a:spcAft>
                <a:spcPts val="1600"/>
              </a:spcAft>
              <a:buSzPct val="100000"/>
              <a:buChar char="▪"/>
            </a:pPr>
            <a:r>
              <a:rPr lang="en-US" sz="2100" b="1" dirty="0">
                <a:solidFill>
                  <a:srgbClr val="2B211D"/>
                </a:solidFill>
                <a:latin typeface="Calibri" pitchFamily="34" charset="0"/>
                <a:ea typeface="Calibri" pitchFamily="34" charset="-122"/>
                <a:cs typeface="Calibri" pitchFamily="34" charset="-120"/>
              </a:rPr>
              <a:t>Pancreas</a:t>
            </a:r>
            <a:r>
              <a:rPr lang="en-US" sz="2100" dirty="0">
                <a:solidFill>
                  <a:srgbClr val="2B211D"/>
                </a:solidFill>
                <a:latin typeface="Calibri" pitchFamily="34" charset="0"/>
                <a:ea typeface="Calibri" pitchFamily="34" charset="-122"/>
                <a:cs typeface="Calibri" pitchFamily="34" charset="-120"/>
              </a:rPr>
              <a:t> — digestive enzymes + insulin/glucagon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 / 46</a:t>
            </a:r>
            <a:endParaRPr lang="en-US" sz="1000" dirty="0"/>
          </a:p>
        </p:txBody>
      </p:sp>
      <p:pic>
        <p:nvPicPr>
          <p:cNvPr id="11" name="Picture 10">
            <a:extLst>
              <a:ext uri="{FF2B5EF4-FFF2-40B4-BE49-F238E27FC236}">
                <a16:creationId xmlns:a16="http://schemas.microsoft.com/office/drawing/2014/main" id="{FD415209-19D3-E0A9-22F5-7B910D4DF5C7}"/>
              </a:ext>
            </a:extLst>
          </p:cNvPr>
          <p:cNvPicPr>
            <a:picLocks noChangeAspect="1"/>
          </p:cNvPicPr>
          <p:nvPr/>
        </p:nvPicPr>
        <p:blipFill>
          <a:blip r:embed="rId3"/>
          <a:stretch>
            <a:fillRect/>
          </a:stretch>
        </p:blipFill>
        <p:spPr>
          <a:xfrm>
            <a:off x="5842528" y="24470"/>
            <a:ext cx="5633192" cy="679153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REGIONAL ANATOMY</a:t>
            </a:r>
            <a:endParaRPr lang="en-US" sz="2000" dirty="0"/>
          </a:p>
        </p:txBody>
      </p:sp>
      <p:sp>
        <p:nvSpPr>
          <p:cNvPr id="3" name="Text 1"/>
          <p:cNvSpPr/>
          <p:nvPr/>
        </p:nvSpPr>
        <p:spPr>
          <a:xfrm>
            <a:off x="457200" y="83312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Peritoneum &amp; Abdominal Cavity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666523" y="492369"/>
            <a:ext cx="5502032" cy="6246837"/>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peritoneum_sagittal.png"/>
          <p:cNvPicPr>
            <a:picLocks noChangeAspect="1"/>
          </p:cNvPicPr>
          <p:nvPr/>
        </p:nvPicPr>
        <p:blipFill>
          <a:blip r:embed="rId3"/>
          <a:stretch>
            <a:fillRect/>
          </a:stretch>
        </p:blipFill>
        <p:spPr>
          <a:xfrm>
            <a:off x="6734751" y="547077"/>
            <a:ext cx="5383061" cy="606473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Parietal peritoneum lines the wall; visceral peritoneum covers organs</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Greater sac vs. lesser sac (omental bursa)</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Mesentery suspends the small intestine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Omenta drape from the stomach (greater = “abdominal policeman”)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5 / 46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REGIONAL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Intraperitoneal vs. Retroperitoneal</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987022" y="1664208"/>
            <a:ext cx="4243877"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peritoneum_intraperitoneal.png"/>
          <p:cNvPicPr>
            <a:picLocks noChangeAspect="1"/>
          </p:cNvPicPr>
          <p:nvPr/>
        </p:nvPicPr>
        <p:blipFill>
          <a:blip r:embed="rId3"/>
          <a:stretch>
            <a:fillRect/>
          </a:stretch>
        </p:blipFill>
        <p:spPr>
          <a:xfrm>
            <a:off x="1041886" y="1719072"/>
            <a:ext cx="4134149"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Intraperitoneal: stomach, liver, spleen, jejunum/ileum, transverse &amp; sigmoid colon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Retroperitoneal (“SAD PUCKER”): duodenum, ascending/descending colon, pancreas, kidneys</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Distinction matters for surgical mobility &amp; imaging planes</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6 / 46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Oral Cavity &amp; Salivary Glands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3026496" y="4306034"/>
            <a:ext cx="3605587" cy="2454553"/>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tooth_anatomy.jpeg"/>
          <p:cNvPicPr>
            <a:picLocks noChangeAspect="1"/>
          </p:cNvPicPr>
          <p:nvPr/>
        </p:nvPicPr>
        <p:blipFill>
          <a:blip r:embed="rId3"/>
          <a:stretch>
            <a:fillRect/>
          </a:stretch>
        </p:blipFill>
        <p:spPr>
          <a:xfrm>
            <a:off x="3125522" y="4382358"/>
            <a:ext cx="3395081" cy="2301906"/>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Teeth &amp; tongue — mastication, bolus formation (CN V)</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3 paired salivary glands: parotid, submandibular, sublingual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Saliva: amylase + lipase begin digestion; mucus &amp; IgA protect</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7 / 46</a:t>
            </a:r>
            <a:endParaRPr lang="en-US" sz="1000" dirty="0"/>
          </a:p>
        </p:txBody>
      </p:sp>
      <p:pic>
        <p:nvPicPr>
          <p:cNvPr id="11" name="Picture 10">
            <a:extLst>
              <a:ext uri="{FF2B5EF4-FFF2-40B4-BE49-F238E27FC236}">
                <a16:creationId xmlns:a16="http://schemas.microsoft.com/office/drawing/2014/main" id="{F2937C0B-1938-2475-4A25-00F66D001686}"/>
              </a:ext>
            </a:extLst>
          </p:cNvPr>
          <p:cNvPicPr>
            <a:picLocks noChangeAspect="1"/>
          </p:cNvPicPr>
          <p:nvPr/>
        </p:nvPicPr>
        <p:blipFill>
          <a:blip r:embed="rId4"/>
          <a:stretch>
            <a:fillRect/>
          </a:stretch>
        </p:blipFill>
        <p:spPr>
          <a:xfrm>
            <a:off x="6700480" y="828549"/>
            <a:ext cx="5200901" cy="52009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PHYSIOLOGY (REVIEW)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Deglutition (Swallowing)</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95031" y="1664208"/>
            <a:ext cx="4827858"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deglutition_2.png"/>
          <p:cNvPicPr>
            <a:picLocks noChangeAspect="1"/>
          </p:cNvPicPr>
          <p:nvPr/>
        </p:nvPicPr>
        <p:blipFill>
          <a:blip r:embed="rId3"/>
          <a:stretch>
            <a:fillRect/>
          </a:stretch>
        </p:blipFill>
        <p:spPr>
          <a:xfrm>
            <a:off x="749895" y="1719072"/>
            <a:ext cx="4718130"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1. Oral phase — voluntary; tongue forms &amp; pushes bolus</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2. Pharyngeal phase — involuntary; epiglottis protects airway</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3. Esophageal phase — involuntary peristalsis to stomach</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8 / 46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Esophagus: Gross Anatomy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486943" y="1664208"/>
            <a:ext cx="3186099"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esophagus_hiatus.jpeg"/>
          <p:cNvPicPr>
            <a:picLocks noChangeAspect="1"/>
          </p:cNvPicPr>
          <p:nvPr/>
        </p:nvPicPr>
        <p:blipFill>
          <a:blip r:embed="rId3"/>
          <a:stretch>
            <a:fillRect/>
          </a:stretch>
        </p:blipFill>
        <p:spPr>
          <a:xfrm>
            <a:off x="7541807" y="1719072"/>
            <a:ext cx="3076371" cy="440740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~20–25 cm muscular tube, cervical → thoracic → abdominal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Passes through diaphragm at the esophageal hiatus (T10)</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Joins the stomach at T11</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peristalsis transports the bolus — no digestion or absorption here</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9 / 46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06E319-00D2-F3BC-4A01-0DB5D04582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6199842-1CCB-2A32-0D55-173B08B2050C}"/>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GROSS ANATOMY</a:t>
            </a:r>
            <a:endParaRPr lang="en-US" sz="2000" dirty="0"/>
          </a:p>
        </p:txBody>
      </p:sp>
      <p:sp>
        <p:nvSpPr>
          <p:cNvPr id="3" name="Text 1">
            <a:extLst>
              <a:ext uri="{FF2B5EF4-FFF2-40B4-BE49-F238E27FC236}">
                <a16:creationId xmlns:a16="http://schemas.microsoft.com/office/drawing/2014/main" id="{D37B9519-ECCF-7D6A-2BDC-88A10D4738BE}"/>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Esophagus: Layers and Innervation</a:t>
            </a:r>
            <a:endParaRPr lang="en-US" sz="3200" dirty="0"/>
          </a:p>
        </p:txBody>
      </p:sp>
      <p:sp>
        <p:nvSpPr>
          <p:cNvPr id="4" name="Shape 2">
            <a:extLst>
              <a:ext uri="{FF2B5EF4-FFF2-40B4-BE49-F238E27FC236}">
                <a16:creationId xmlns:a16="http://schemas.microsoft.com/office/drawing/2014/main" id="{40D00630-BAE8-2064-3269-756349BF016A}"/>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Shape 3">
            <a:extLst>
              <a:ext uri="{FF2B5EF4-FFF2-40B4-BE49-F238E27FC236}">
                <a16:creationId xmlns:a16="http://schemas.microsoft.com/office/drawing/2014/main" id="{53CD808D-95B4-9D5C-6BD2-10B5CB2EF41F}"/>
              </a:ext>
            </a:extLst>
          </p:cNvPr>
          <p:cNvSpPr/>
          <p:nvPr/>
        </p:nvSpPr>
        <p:spPr>
          <a:xfrm>
            <a:off x="5465689" y="1536192"/>
            <a:ext cx="6632917" cy="5274257"/>
          </a:xfrm>
          <a:prstGeom prst="rect">
            <a:avLst/>
          </a:prstGeom>
          <a:solidFill>
            <a:srgbClr val="FFFFFF"/>
          </a:solidFill>
          <a:ln w="19050">
            <a:solidFill>
              <a:srgbClr val="C9A66B"/>
            </a:solidFill>
            <a:prstDash val="solid"/>
          </a:ln>
        </p:spPr>
        <p:txBody>
          <a:bodyPr/>
          <a:lstStyle/>
          <a:p>
            <a:endParaRPr lang="en-US"/>
          </a:p>
        </p:txBody>
      </p:sp>
      <p:sp>
        <p:nvSpPr>
          <p:cNvPr id="7" name="Text 4">
            <a:extLst>
              <a:ext uri="{FF2B5EF4-FFF2-40B4-BE49-F238E27FC236}">
                <a16:creationId xmlns:a16="http://schemas.microsoft.com/office/drawing/2014/main" id="{387B67D5-457E-75C5-383E-1E06E2D74250}"/>
              </a:ext>
            </a:extLst>
          </p:cNvPr>
          <p:cNvSpPr/>
          <p:nvPr/>
        </p:nvSpPr>
        <p:spPr>
          <a:xfrm>
            <a:off x="548640" y="2000738"/>
            <a:ext cx="4539175" cy="4820686"/>
          </a:xfrm>
          <a:prstGeom prst="rect">
            <a:avLst/>
          </a:prstGeom>
          <a:noFill/>
          <a:ln/>
        </p:spPr>
        <p:txBody>
          <a:bodyPr wrap="square" rtlCol="0" anchor="t"/>
          <a:lstStyle/>
          <a:p>
            <a:pPr marL="254000"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rPr>
              <a:t>Innervation by </a:t>
            </a:r>
            <a:r>
              <a:rPr lang="en-US" sz="2100" dirty="0" err="1">
                <a:solidFill>
                  <a:srgbClr val="2B211D"/>
                </a:solidFill>
                <a:latin typeface="Calibri" pitchFamily="34" charset="0"/>
                <a:ea typeface="Calibri" pitchFamily="34" charset="-122"/>
                <a:cs typeface="Calibri" pitchFamily="34" charset="-120"/>
              </a:rPr>
              <a:t>vagus</a:t>
            </a:r>
            <a:r>
              <a:rPr lang="en-US" sz="2100" dirty="0">
                <a:solidFill>
                  <a:srgbClr val="2B211D"/>
                </a:solidFill>
                <a:latin typeface="Calibri" pitchFamily="34" charset="0"/>
                <a:ea typeface="Calibri" pitchFamily="34" charset="-122"/>
                <a:cs typeface="Calibri" pitchFamily="34" charset="-120"/>
              </a:rPr>
              <a:t> nerve</a:t>
            </a:r>
          </a:p>
          <a:p>
            <a:pPr marL="711200" lvl="1"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esophageal plexus</a:t>
            </a:r>
          </a:p>
          <a:p>
            <a:pPr marL="1168400" lvl="2"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Auerbach plexus</a:t>
            </a:r>
          </a:p>
          <a:p>
            <a:pPr marL="1625600" lvl="3"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Meissner plexus</a:t>
            </a:r>
          </a:p>
          <a:p>
            <a:pPr marL="254000" indent="-254000">
              <a:lnSpc>
                <a:spcPct val="105000"/>
              </a:lnSpc>
              <a:buSzPct val="100000"/>
              <a:buChar char="▪"/>
            </a:pPr>
            <a:endParaRPr lang="en-US" sz="2100" dirty="0">
              <a:solidFill>
                <a:srgbClr val="2B211D"/>
              </a:solidFill>
              <a:latin typeface="Calibri" pitchFamily="34" charset="0"/>
              <a:ea typeface="Calibri" pitchFamily="34" charset="-122"/>
              <a:cs typeface="Calibri" pitchFamily="34" charset="-120"/>
              <a:sym typeface="Wingdings" panose="05000000000000000000" pitchFamily="2" charset="2"/>
            </a:endParaRPr>
          </a:p>
          <a:p>
            <a:pPr marL="254000"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Layers:</a:t>
            </a:r>
          </a:p>
          <a:p>
            <a:pPr marL="711200" lvl="1"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Adventitia (outermost)</a:t>
            </a:r>
          </a:p>
          <a:p>
            <a:pPr marL="1168400" lvl="2"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Longitudinal muscle layer</a:t>
            </a:r>
          </a:p>
          <a:p>
            <a:pPr marL="1625600" lvl="3"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Circular muscle layer</a:t>
            </a:r>
          </a:p>
          <a:p>
            <a:pPr marL="2082800" lvl="4"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Submucosa</a:t>
            </a:r>
          </a:p>
          <a:p>
            <a:pPr marL="2540000" lvl="5"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Mucosa (innermost)</a:t>
            </a:r>
            <a:endParaRPr lang="en-US" sz="2100" dirty="0"/>
          </a:p>
        </p:txBody>
      </p:sp>
      <p:sp>
        <p:nvSpPr>
          <p:cNvPr id="8" name="Text 5">
            <a:extLst>
              <a:ext uri="{FF2B5EF4-FFF2-40B4-BE49-F238E27FC236}">
                <a16:creationId xmlns:a16="http://schemas.microsoft.com/office/drawing/2014/main" id="{C4960B43-EB79-67C1-2963-BCC51BD35BBE}"/>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a:extLst>
              <a:ext uri="{FF2B5EF4-FFF2-40B4-BE49-F238E27FC236}">
                <a16:creationId xmlns:a16="http://schemas.microsoft.com/office/drawing/2014/main" id="{B1EBE651-BA1E-4D99-A41D-297F0594F86F}"/>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9 / 46</a:t>
            </a:r>
            <a:endParaRPr lang="en-US" sz="1000" dirty="0"/>
          </a:p>
        </p:txBody>
      </p:sp>
      <p:pic>
        <p:nvPicPr>
          <p:cNvPr id="11" name="Picture 10">
            <a:extLst>
              <a:ext uri="{FF2B5EF4-FFF2-40B4-BE49-F238E27FC236}">
                <a16:creationId xmlns:a16="http://schemas.microsoft.com/office/drawing/2014/main" id="{72C37E1C-3986-0084-02C5-2ED986EA805E}"/>
              </a:ext>
            </a:extLst>
          </p:cNvPr>
          <p:cNvPicPr>
            <a:picLocks noChangeAspect="1"/>
          </p:cNvPicPr>
          <p:nvPr/>
        </p:nvPicPr>
        <p:blipFill>
          <a:blip r:embed="rId3"/>
          <a:stretch>
            <a:fillRect/>
          </a:stretch>
        </p:blipFill>
        <p:spPr>
          <a:xfrm>
            <a:off x="5585656" y="1645917"/>
            <a:ext cx="6392984" cy="5004975"/>
          </a:xfrm>
          <a:prstGeom prst="rect">
            <a:avLst/>
          </a:prstGeom>
        </p:spPr>
      </p:pic>
    </p:spTree>
    <p:extLst>
      <p:ext uri="{BB962C8B-B14F-4D97-AF65-F5344CB8AC3E}">
        <p14:creationId xmlns:p14="http://schemas.microsoft.com/office/powerpoint/2010/main" val="413139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AB64979-35A1-7386-2D79-39C5BB0D9D9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4C06716-D546-EB65-36E6-AB8D4BA181FE}"/>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Microanatomy</a:t>
            </a:r>
            <a:endParaRPr lang="en-US" sz="2000" dirty="0"/>
          </a:p>
        </p:txBody>
      </p:sp>
      <p:sp>
        <p:nvSpPr>
          <p:cNvPr id="3" name="Text 1">
            <a:extLst>
              <a:ext uri="{FF2B5EF4-FFF2-40B4-BE49-F238E27FC236}">
                <a16:creationId xmlns:a16="http://schemas.microsoft.com/office/drawing/2014/main" id="{1CDE3026-C331-87F3-FE30-CCD076A365AB}"/>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Esophagus: Microanatomy</a:t>
            </a:r>
            <a:endParaRPr lang="en-US" sz="3200" dirty="0"/>
          </a:p>
        </p:txBody>
      </p:sp>
      <p:sp>
        <p:nvSpPr>
          <p:cNvPr id="4" name="Shape 2">
            <a:extLst>
              <a:ext uri="{FF2B5EF4-FFF2-40B4-BE49-F238E27FC236}">
                <a16:creationId xmlns:a16="http://schemas.microsoft.com/office/drawing/2014/main" id="{7D2D28C6-68C0-BC47-6809-27E4CF4DD9B5}"/>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Shape 3">
            <a:extLst>
              <a:ext uri="{FF2B5EF4-FFF2-40B4-BE49-F238E27FC236}">
                <a16:creationId xmlns:a16="http://schemas.microsoft.com/office/drawing/2014/main" id="{F75B524E-BA12-2626-9CF2-0105CB46274B}"/>
              </a:ext>
            </a:extLst>
          </p:cNvPr>
          <p:cNvSpPr/>
          <p:nvPr/>
        </p:nvSpPr>
        <p:spPr>
          <a:xfrm>
            <a:off x="4632569" y="3094075"/>
            <a:ext cx="5383301" cy="3697876"/>
          </a:xfrm>
          <a:prstGeom prst="rect">
            <a:avLst/>
          </a:prstGeom>
          <a:solidFill>
            <a:srgbClr val="FFFFFF"/>
          </a:solidFill>
          <a:ln w="19050">
            <a:solidFill>
              <a:srgbClr val="C9A66B"/>
            </a:solidFill>
            <a:prstDash val="solid"/>
          </a:ln>
        </p:spPr>
        <p:txBody>
          <a:bodyPr/>
          <a:lstStyle/>
          <a:p>
            <a:endParaRPr lang="en-US"/>
          </a:p>
        </p:txBody>
      </p:sp>
      <p:sp>
        <p:nvSpPr>
          <p:cNvPr id="7" name="Text 4">
            <a:extLst>
              <a:ext uri="{FF2B5EF4-FFF2-40B4-BE49-F238E27FC236}">
                <a16:creationId xmlns:a16="http://schemas.microsoft.com/office/drawing/2014/main" id="{BFAE60BC-B47B-6BF6-D082-054868D1ACFE}"/>
              </a:ext>
            </a:extLst>
          </p:cNvPr>
          <p:cNvSpPr/>
          <p:nvPr/>
        </p:nvSpPr>
        <p:spPr>
          <a:xfrm>
            <a:off x="228391" y="2037314"/>
            <a:ext cx="4276587" cy="4820686"/>
          </a:xfrm>
          <a:prstGeom prst="rect">
            <a:avLst/>
          </a:prstGeom>
          <a:noFill/>
          <a:ln/>
        </p:spPr>
        <p:txBody>
          <a:bodyPr wrap="square" rtlCol="0" anchor="t"/>
          <a:lstStyle/>
          <a:p>
            <a:pPr marL="254000"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Esophageal epithelium = nonkeratinized stratified squamous cells, many layers</a:t>
            </a:r>
          </a:p>
          <a:p>
            <a:pPr marL="254000" indent="-254000">
              <a:lnSpc>
                <a:spcPct val="105000"/>
              </a:lnSpc>
              <a:buSzPct val="100000"/>
              <a:buChar char="▪"/>
            </a:pPr>
            <a:endParaRPr lang="en-US" sz="2100" dirty="0">
              <a:solidFill>
                <a:srgbClr val="2B211D"/>
              </a:solidFill>
              <a:latin typeface="Calibri" pitchFamily="34" charset="0"/>
              <a:ea typeface="Calibri" pitchFamily="34" charset="-122"/>
              <a:cs typeface="Calibri" pitchFamily="34" charset="-120"/>
              <a:sym typeface="Wingdings" panose="05000000000000000000" pitchFamily="2" charset="2"/>
            </a:endParaRPr>
          </a:p>
          <a:p>
            <a:pPr marL="254000"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Stromal papillae divide up the epithelium into regions</a:t>
            </a:r>
          </a:p>
          <a:p>
            <a:pPr marL="254000" indent="-254000">
              <a:lnSpc>
                <a:spcPct val="105000"/>
              </a:lnSpc>
              <a:buSzPct val="100000"/>
              <a:buChar char="▪"/>
            </a:pPr>
            <a:endParaRPr lang="en-US" sz="2100" dirty="0">
              <a:solidFill>
                <a:srgbClr val="2B211D"/>
              </a:solidFill>
              <a:latin typeface="Calibri" pitchFamily="34" charset="0"/>
              <a:ea typeface="Calibri" pitchFamily="34" charset="-122"/>
              <a:cs typeface="Calibri" pitchFamily="34" charset="-120"/>
              <a:sym typeface="Wingdings" panose="05000000000000000000" pitchFamily="2" charset="2"/>
            </a:endParaRPr>
          </a:p>
          <a:p>
            <a:pPr marL="254000"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Submucosal glands secrete mucus, released into esophageal lumen</a:t>
            </a:r>
          </a:p>
          <a:p>
            <a:pPr marL="254000" indent="-254000">
              <a:lnSpc>
                <a:spcPct val="105000"/>
              </a:lnSpc>
              <a:buSzPct val="100000"/>
              <a:buChar char="▪"/>
            </a:pPr>
            <a:endParaRPr lang="en-US" sz="2100" dirty="0">
              <a:solidFill>
                <a:srgbClr val="2B211D"/>
              </a:solidFill>
              <a:latin typeface="Calibri" pitchFamily="34" charset="0"/>
              <a:ea typeface="Calibri" pitchFamily="34" charset="-122"/>
              <a:cs typeface="Calibri" pitchFamily="34" charset="-120"/>
              <a:sym typeface="Wingdings" panose="05000000000000000000" pitchFamily="2" charset="2"/>
            </a:endParaRPr>
          </a:p>
          <a:p>
            <a:pPr marL="254000"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Fibroblasts and muscle cells are deeper</a:t>
            </a:r>
            <a:endParaRPr lang="en-US" sz="2100" dirty="0"/>
          </a:p>
        </p:txBody>
      </p:sp>
      <p:sp>
        <p:nvSpPr>
          <p:cNvPr id="8" name="Text 5">
            <a:extLst>
              <a:ext uri="{FF2B5EF4-FFF2-40B4-BE49-F238E27FC236}">
                <a16:creationId xmlns:a16="http://schemas.microsoft.com/office/drawing/2014/main" id="{FE3F909E-DC16-2EB4-6A35-813BEA533499}"/>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a:extLst>
              <a:ext uri="{FF2B5EF4-FFF2-40B4-BE49-F238E27FC236}">
                <a16:creationId xmlns:a16="http://schemas.microsoft.com/office/drawing/2014/main" id="{0DF19FFE-4B60-786C-0D35-54D2E2F65015}"/>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9 / 46</a:t>
            </a:r>
            <a:endParaRPr lang="en-US" sz="1000" dirty="0"/>
          </a:p>
        </p:txBody>
      </p:sp>
      <p:pic>
        <p:nvPicPr>
          <p:cNvPr id="10" name="Picture 9">
            <a:extLst>
              <a:ext uri="{FF2B5EF4-FFF2-40B4-BE49-F238E27FC236}">
                <a16:creationId xmlns:a16="http://schemas.microsoft.com/office/drawing/2014/main" id="{C9C70984-F595-3D87-6217-ABF905E4DF88}"/>
              </a:ext>
            </a:extLst>
          </p:cNvPr>
          <p:cNvPicPr>
            <a:picLocks noChangeAspect="1"/>
          </p:cNvPicPr>
          <p:nvPr/>
        </p:nvPicPr>
        <p:blipFill>
          <a:blip r:embed="rId3"/>
          <a:stretch>
            <a:fillRect/>
          </a:stretch>
        </p:blipFill>
        <p:spPr>
          <a:xfrm>
            <a:off x="4728687" y="3221062"/>
            <a:ext cx="5159592" cy="3482725"/>
          </a:xfrm>
          <a:prstGeom prst="rect">
            <a:avLst/>
          </a:prstGeom>
        </p:spPr>
      </p:pic>
      <p:pic>
        <p:nvPicPr>
          <p:cNvPr id="13" name="Picture 12">
            <a:extLst>
              <a:ext uri="{FF2B5EF4-FFF2-40B4-BE49-F238E27FC236}">
                <a16:creationId xmlns:a16="http://schemas.microsoft.com/office/drawing/2014/main" id="{C35D137D-4F1F-EEC7-60EF-A1D552255D22}"/>
              </a:ext>
            </a:extLst>
          </p:cNvPr>
          <p:cNvPicPr>
            <a:picLocks noChangeAspect="1"/>
          </p:cNvPicPr>
          <p:nvPr/>
        </p:nvPicPr>
        <p:blipFill>
          <a:blip r:embed="rId4"/>
          <a:srcRect l="50000" r="1" b="2583"/>
          <a:stretch>
            <a:fillRect/>
          </a:stretch>
        </p:blipFill>
        <p:spPr>
          <a:xfrm>
            <a:off x="7899991" y="154213"/>
            <a:ext cx="4198615" cy="3619615"/>
          </a:xfrm>
          <a:prstGeom prst="rect">
            <a:avLst/>
          </a:prstGeom>
        </p:spPr>
      </p:pic>
    </p:spTree>
    <p:extLst>
      <p:ext uri="{BB962C8B-B14F-4D97-AF65-F5344CB8AC3E}">
        <p14:creationId xmlns:p14="http://schemas.microsoft.com/office/powerpoint/2010/main" val="764463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Esophageal Sphincters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493775" y="1695941"/>
            <a:ext cx="6164933" cy="5125483"/>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esophagus_GEjunction_LES.jpeg"/>
          <p:cNvPicPr>
            <a:picLocks noChangeAspect="1"/>
          </p:cNvPicPr>
          <p:nvPr/>
        </p:nvPicPr>
        <p:blipFill>
          <a:blip r:embed="rId3"/>
          <a:stretch>
            <a:fillRect/>
          </a:stretch>
        </p:blipFill>
        <p:spPr>
          <a:xfrm>
            <a:off x="548639" y="1750805"/>
            <a:ext cx="5914683" cy="5017546"/>
          </a:xfrm>
          <a:prstGeom prst="rect">
            <a:avLst/>
          </a:prstGeom>
        </p:spPr>
      </p:pic>
      <p:sp>
        <p:nvSpPr>
          <p:cNvPr id="7" name="Text 4"/>
          <p:cNvSpPr/>
          <p:nvPr/>
        </p:nvSpPr>
        <p:spPr>
          <a:xfrm>
            <a:off x="6760308" y="1856232"/>
            <a:ext cx="4532532"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UES (cricopharyngeus) — prevents air entry</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LES — physiologic, not anatomic, sphincter</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No true muscular ring at the GE junction — tone comes from the crural diaphragm and angle of His</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10 / 46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UPPER GI — MICROANATOMY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Esophagus: The Z Line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64808" y="1705297"/>
            <a:ext cx="5230368" cy="4434958"/>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esophagus_zline_endoscopy.jpeg"/>
          <p:cNvPicPr>
            <a:picLocks noChangeAspect="1"/>
          </p:cNvPicPr>
          <p:nvPr/>
        </p:nvPicPr>
        <p:blipFill>
          <a:blip r:embed="rId3"/>
          <a:stretch>
            <a:fillRect/>
          </a:stretch>
        </p:blipFill>
        <p:spPr>
          <a:xfrm>
            <a:off x="6519672" y="1760161"/>
            <a:ext cx="5120640" cy="4325230"/>
          </a:xfrm>
          <a:prstGeom prst="rect">
            <a:avLst/>
          </a:prstGeom>
        </p:spPr>
      </p:pic>
      <p:sp>
        <p:nvSpPr>
          <p:cNvPr id="7" name="Text 4"/>
          <p:cNvSpPr/>
          <p:nvPr/>
        </p:nvSpPr>
        <p:spPr>
          <a:xfrm>
            <a:off x="95694" y="1856232"/>
            <a:ext cx="3508744" cy="4407408"/>
          </a:xfrm>
          <a:prstGeom prst="rect">
            <a:avLst/>
          </a:prstGeom>
          <a:noFill/>
          <a:ln/>
        </p:spPr>
        <p:txBody>
          <a:bodyPr wrap="square" rtlCol="0" anchor="t"/>
          <a:lstStyle/>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Squamocolumnar junction — esophageal vs. gastric mucosa</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Esophagus: nonkeratinized stratified squamous epithelium</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Stomach: simple columnar epithelium begins here</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Key endoscopic landmark for Barrett's surveillance</a:t>
            </a:r>
            <a:endParaRPr lang="en-US" sz="20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11 / 46</a:t>
            </a:r>
            <a:endParaRPr lang="en-US" sz="1000" dirty="0"/>
          </a:p>
        </p:txBody>
      </p:sp>
      <p:pic>
        <p:nvPicPr>
          <p:cNvPr id="11" name="Picture 10">
            <a:extLst>
              <a:ext uri="{FF2B5EF4-FFF2-40B4-BE49-F238E27FC236}">
                <a16:creationId xmlns:a16="http://schemas.microsoft.com/office/drawing/2014/main" id="{52D59227-CD86-0281-F08D-73BBB47D5685}"/>
              </a:ext>
            </a:extLst>
          </p:cNvPr>
          <p:cNvPicPr>
            <a:picLocks noChangeAspect="1"/>
          </p:cNvPicPr>
          <p:nvPr/>
        </p:nvPicPr>
        <p:blipFill>
          <a:blip r:embed="rId4"/>
          <a:stretch>
            <a:fillRect/>
          </a:stretch>
        </p:blipFill>
        <p:spPr>
          <a:xfrm>
            <a:off x="3451420" y="2798253"/>
            <a:ext cx="2958524" cy="27876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Stomach: Regions &amp; Curvatures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78551" y="1664208"/>
            <a:ext cx="4660818"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stomach_parts_curvatures.jpeg"/>
          <p:cNvPicPr>
            <a:picLocks noChangeAspect="1"/>
          </p:cNvPicPr>
          <p:nvPr/>
        </p:nvPicPr>
        <p:blipFill>
          <a:blip r:embed="rId3"/>
          <a:stretch>
            <a:fillRect/>
          </a:stretch>
        </p:blipFill>
        <p:spPr>
          <a:xfrm>
            <a:off x="833415" y="1719072"/>
            <a:ext cx="4551090"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Cardia → fundus → body → pyloric antrum → pyloric canal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Lesser curvature (right) &amp; greater curvature (left)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fundus stores swallowed air/food, body mixes &amp; digests, antrum grinds and meters emptying</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12 / 46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Stomach: Internal Surface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041354" y="1664208"/>
            <a:ext cx="4077277"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stomach_internal_rugae.png"/>
          <p:cNvPicPr>
            <a:picLocks noChangeAspect="1"/>
          </p:cNvPicPr>
          <p:nvPr/>
        </p:nvPicPr>
        <p:blipFill>
          <a:blip r:embed="rId3"/>
          <a:stretch>
            <a:fillRect/>
          </a:stretch>
        </p:blipFill>
        <p:spPr>
          <a:xfrm>
            <a:off x="7096218" y="1719072"/>
            <a:ext cx="3967549" cy="440740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Rugae — mucosal/submucosal folds</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Flatten out as the stomach distends with food</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Gastric pits open along the entire surface</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13 / 46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MICROANATOMY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Gastric Mucosa: Specialized Cells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213361" y="2505097"/>
            <a:ext cx="6534344" cy="3758543"/>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gastric_mucosa_cells.jpeg"/>
          <p:cNvPicPr>
            <a:picLocks noChangeAspect="1"/>
          </p:cNvPicPr>
          <p:nvPr/>
        </p:nvPicPr>
        <p:blipFill>
          <a:blip r:embed="rId3"/>
          <a:stretch>
            <a:fillRect/>
          </a:stretch>
        </p:blipFill>
        <p:spPr>
          <a:xfrm>
            <a:off x="336902" y="2666286"/>
            <a:ext cx="6328877" cy="3368753"/>
          </a:xfrm>
          <a:prstGeom prst="rect">
            <a:avLst/>
          </a:prstGeom>
        </p:spPr>
      </p:pic>
      <p:sp>
        <p:nvSpPr>
          <p:cNvPr id="7" name="Text 4"/>
          <p:cNvSpPr/>
          <p:nvPr/>
        </p:nvSpPr>
        <p:spPr>
          <a:xfrm>
            <a:off x="7028120" y="1856232"/>
            <a:ext cx="4950519"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Mucous cells — protective mucus &amp; bicarbonate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Parietal cells — HCl + intrinsic factor</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Chief cells — pepsinogen → pepsin: begins protein digestion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 cells (antrum) — gastrin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14 / 46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MICROANATOMY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Gastric Pits in Detail</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5550195" y="2718069"/>
            <a:ext cx="6432379" cy="3836350"/>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gastric_pit_detail.png"/>
          <p:cNvPicPr>
            <a:picLocks noChangeAspect="1"/>
          </p:cNvPicPr>
          <p:nvPr/>
        </p:nvPicPr>
        <p:blipFill>
          <a:blip r:embed="rId3"/>
          <a:stretch>
            <a:fillRect/>
          </a:stretch>
        </p:blipFill>
        <p:spPr>
          <a:xfrm>
            <a:off x="5661020" y="2932039"/>
            <a:ext cx="6272903" cy="3469229"/>
          </a:xfrm>
          <a:prstGeom prst="rect">
            <a:avLst/>
          </a:prstGeom>
        </p:spPr>
      </p:pic>
      <p:sp>
        <p:nvSpPr>
          <p:cNvPr id="7" name="Text 4"/>
          <p:cNvSpPr/>
          <p:nvPr/>
        </p:nvSpPr>
        <p:spPr>
          <a:xfrm>
            <a:off x="548640" y="1856232"/>
            <a:ext cx="4682579"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Surface epithelium invaginates to form gastric pits/glands</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Each gland empties acid, enzymes &amp; mucus into the pit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Rich capillary network supports high secretory demand</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15 / 46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PHYSIOLOGY (REVIEW)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Gastric Secretion &amp; Motility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40080" y="2040386"/>
            <a:ext cx="5394960" cy="457200"/>
          </a:xfrm>
          <a:prstGeom prst="rect">
            <a:avLst/>
          </a:prstGeom>
          <a:noFill/>
          <a:ln/>
        </p:spPr>
        <p:txBody>
          <a:bodyPr wrap="square" rtlCol="0" anchor="ctr"/>
          <a:lstStyle/>
          <a:p>
            <a:pPr marL="0" indent="0">
              <a:buNone/>
            </a:pPr>
            <a:r>
              <a:rPr lang="en-US" sz="2200" b="1" dirty="0">
                <a:solidFill>
                  <a:srgbClr val="2B211D"/>
                </a:solidFill>
                <a:latin typeface="Cambria" pitchFamily="34" charset="0"/>
                <a:ea typeface="Cambria" pitchFamily="34" charset="-122"/>
                <a:cs typeface="Cambria" pitchFamily="34" charset="-120"/>
              </a:rPr>
              <a:t>Secretion (3 phases)</a:t>
            </a:r>
            <a:endParaRPr lang="en-US" sz="2200" dirty="0"/>
          </a:p>
        </p:txBody>
      </p:sp>
      <p:sp>
        <p:nvSpPr>
          <p:cNvPr id="6" name="Text 4"/>
          <p:cNvSpPr/>
          <p:nvPr/>
        </p:nvSpPr>
        <p:spPr>
          <a:xfrm>
            <a:off x="640080" y="2796362"/>
            <a:ext cx="5394960" cy="3448989"/>
          </a:xfrm>
          <a:prstGeom prst="rect">
            <a:avLst/>
          </a:prstGeom>
          <a:noFill/>
          <a:ln/>
        </p:spPr>
        <p:txBody>
          <a:bodyPr wrap="square" rtlCol="0" anchor="t"/>
          <a:lstStyle/>
          <a:p>
            <a:pPr marL="254000" indent="-254000">
              <a:lnSpc>
                <a:spcPct val="105000"/>
              </a:lnSpc>
              <a:spcAft>
                <a:spcPts val="1400"/>
              </a:spcAft>
              <a:buSzPct val="100000"/>
              <a:buChar char="▪"/>
            </a:pPr>
            <a:r>
              <a:rPr lang="en-US" sz="2000" dirty="0">
                <a:solidFill>
                  <a:srgbClr val="2B211D"/>
                </a:solidFill>
                <a:latin typeface="Calibri" pitchFamily="34" charset="0"/>
                <a:ea typeface="Calibri" pitchFamily="34" charset="-122"/>
                <a:cs typeface="Calibri" pitchFamily="34" charset="-120"/>
              </a:rPr>
              <a:t>Cephalic — sight/smell/taste, vagal</a:t>
            </a:r>
            <a:endParaRPr lang="en-US" sz="2000" dirty="0"/>
          </a:p>
          <a:p>
            <a:pPr marL="254000" indent="-254000">
              <a:lnSpc>
                <a:spcPct val="105000"/>
              </a:lnSpc>
              <a:spcAft>
                <a:spcPts val="1400"/>
              </a:spcAft>
              <a:buSzPct val="100000"/>
              <a:buChar char="▪"/>
            </a:pPr>
            <a:r>
              <a:rPr lang="en-US" sz="2000" dirty="0">
                <a:solidFill>
                  <a:srgbClr val="2B211D"/>
                </a:solidFill>
                <a:latin typeface="Calibri" pitchFamily="34" charset="0"/>
                <a:ea typeface="Calibri" pitchFamily="34" charset="-122"/>
                <a:cs typeface="Calibri" pitchFamily="34" charset="-120"/>
              </a:rPr>
              <a:t>Gastric — distension, gastrin release</a:t>
            </a:r>
            <a:endParaRPr lang="en-US" sz="2000" dirty="0"/>
          </a:p>
          <a:p>
            <a:pPr marL="254000" indent="-254000">
              <a:lnSpc>
                <a:spcPct val="105000"/>
              </a:lnSpc>
              <a:spcAft>
                <a:spcPts val="1400"/>
              </a:spcAft>
              <a:buSzPct val="100000"/>
              <a:buChar char="▪"/>
            </a:pPr>
            <a:r>
              <a:rPr lang="en-US" sz="2000" dirty="0">
                <a:solidFill>
                  <a:srgbClr val="2B211D"/>
                </a:solidFill>
                <a:latin typeface="Calibri" pitchFamily="34" charset="0"/>
                <a:ea typeface="Calibri" pitchFamily="34" charset="-122"/>
                <a:cs typeface="Calibri" pitchFamily="34" charset="-120"/>
              </a:rPr>
              <a:t>Intestinal — feedback inhibition</a:t>
            </a:r>
            <a:endParaRPr lang="en-US" sz="2000" dirty="0"/>
          </a:p>
        </p:txBody>
      </p:sp>
      <p:sp>
        <p:nvSpPr>
          <p:cNvPr id="7" name="Text 5"/>
          <p:cNvSpPr/>
          <p:nvPr/>
        </p:nvSpPr>
        <p:spPr>
          <a:xfrm>
            <a:off x="6309360" y="2052722"/>
            <a:ext cx="5303520" cy="457200"/>
          </a:xfrm>
          <a:prstGeom prst="rect">
            <a:avLst/>
          </a:prstGeom>
          <a:noFill/>
          <a:ln/>
        </p:spPr>
        <p:txBody>
          <a:bodyPr wrap="square" rtlCol="0" anchor="ctr"/>
          <a:lstStyle/>
          <a:p>
            <a:pPr marL="0" indent="0">
              <a:buNone/>
            </a:pPr>
            <a:r>
              <a:rPr lang="en-US" sz="2200" b="1" dirty="0">
                <a:solidFill>
                  <a:srgbClr val="2B211D"/>
                </a:solidFill>
                <a:latin typeface="Cambria" pitchFamily="34" charset="0"/>
                <a:ea typeface="Cambria" pitchFamily="34" charset="-122"/>
                <a:cs typeface="Cambria" pitchFamily="34" charset="-120"/>
              </a:rPr>
              <a:t>Motility</a:t>
            </a:r>
            <a:endParaRPr lang="en-US" sz="2200" dirty="0"/>
          </a:p>
        </p:txBody>
      </p:sp>
      <p:sp>
        <p:nvSpPr>
          <p:cNvPr id="8" name="Text 6"/>
          <p:cNvSpPr/>
          <p:nvPr/>
        </p:nvSpPr>
        <p:spPr>
          <a:xfrm>
            <a:off x="6309360" y="2796362"/>
            <a:ext cx="5303520" cy="3448990"/>
          </a:xfrm>
          <a:prstGeom prst="rect">
            <a:avLst/>
          </a:prstGeom>
          <a:noFill/>
          <a:ln/>
        </p:spPr>
        <p:txBody>
          <a:bodyPr wrap="square" rtlCol="0" anchor="t"/>
          <a:lstStyle/>
          <a:p>
            <a:pPr marL="254000" indent="-254000">
              <a:lnSpc>
                <a:spcPct val="105000"/>
              </a:lnSpc>
              <a:spcAft>
                <a:spcPts val="1400"/>
              </a:spcAft>
              <a:buSzPct val="100000"/>
              <a:buChar char="▪"/>
            </a:pPr>
            <a:r>
              <a:rPr lang="en-US" sz="2000" dirty="0">
                <a:solidFill>
                  <a:srgbClr val="2B211D"/>
                </a:solidFill>
                <a:latin typeface="Calibri" pitchFamily="34" charset="0"/>
                <a:ea typeface="Calibri" pitchFamily="34" charset="-122"/>
                <a:cs typeface="Calibri" pitchFamily="34" charset="-120"/>
              </a:rPr>
              <a:t>Receptive relaxation of the fundus</a:t>
            </a:r>
            <a:endParaRPr lang="en-US" sz="2000" dirty="0"/>
          </a:p>
          <a:p>
            <a:pPr marL="254000" indent="-254000">
              <a:lnSpc>
                <a:spcPct val="105000"/>
              </a:lnSpc>
              <a:spcAft>
                <a:spcPts val="1400"/>
              </a:spcAft>
              <a:buSzPct val="100000"/>
              <a:buChar char="▪"/>
            </a:pPr>
            <a:r>
              <a:rPr lang="en-US" sz="2000" dirty="0">
                <a:solidFill>
                  <a:srgbClr val="2B211D"/>
                </a:solidFill>
                <a:latin typeface="Calibri" pitchFamily="34" charset="0"/>
                <a:ea typeface="Calibri" pitchFamily="34" charset="-122"/>
                <a:cs typeface="Calibri" pitchFamily="34" charset="-120"/>
              </a:rPr>
              <a:t>Mixing waves → chyme</a:t>
            </a:r>
            <a:endParaRPr lang="en-US" sz="2000" dirty="0"/>
          </a:p>
          <a:p>
            <a:pPr marL="254000" indent="-254000">
              <a:lnSpc>
                <a:spcPct val="105000"/>
              </a:lnSpc>
              <a:spcAft>
                <a:spcPts val="1400"/>
              </a:spcAft>
              <a:buSzPct val="100000"/>
              <a:buChar char="▪"/>
            </a:pPr>
            <a:r>
              <a:rPr lang="en-US" sz="2000" dirty="0">
                <a:solidFill>
                  <a:srgbClr val="2B211D"/>
                </a:solidFill>
                <a:latin typeface="Calibri" pitchFamily="34" charset="0"/>
                <a:ea typeface="Calibri" pitchFamily="34" charset="-122"/>
                <a:cs typeface="Calibri" pitchFamily="34" charset="-120"/>
              </a:rPr>
              <a:t>Migrating motor complex between meals</a:t>
            </a:r>
            <a:endParaRPr lang="en-US" sz="2000" dirty="0"/>
          </a:p>
        </p:txBody>
      </p:sp>
      <p:sp>
        <p:nvSpPr>
          <p:cNvPr id="9" name="Text 7"/>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0" name="Text 8"/>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16 / 46</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Stomach: Blood Supply &amp; Innervation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pic>
        <p:nvPicPr>
          <p:cNvPr id="6" name="Image 0" descr="/home/claude/gi_deck/assets/stomach_arterial_supply.jpeg"/>
          <p:cNvPicPr>
            <a:picLocks noChangeAspect="1"/>
          </p:cNvPicPr>
          <p:nvPr/>
        </p:nvPicPr>
        <p:blipFill>
          <a:blip r:embed="rId3"/>
          <a:srcRect l="6909" t="3452" r="9044" b="11700"/>
          <a:stretch>
            <a:fillRect/>
          </a:stretch>
        </p:blipFill>
        <p:spPr>
          <a:xfrm>
            <a:off x="8378456" y="223283"/>
            <a:ext cx="3240102" cy="2796196"/>
          </a:xfrm>
          <a:prstGeom prst="rect">
            <a:avLst/>
          </a:prstGeom>
        </p:spPr>
      </p:pic>
      <p:sp>
        <p:nvSpPr>
          <p:cNvPr id="7" name="Text 4"/>
          <p:cNvSpPr/>
          <p:nvPr/>
        </p:nvSpPr>
        <p:spPr>
          <a:xfrm>
            <a:off x="548640" y="1885452"/>
            <a:ext cx="5394960" cy="4972548"/>
          </a:xfrm>
          <a:prstGeom prst="rect">
            <a:avLst/>
          </a:prstGeom>
          <a:noFill/>
          <a:ln/>
        </p:spPr>
        <p:txBody>
          <a:bodyPr wrap="square" rtlCol="0" anchor="t"/>
          <a:lstStyle/>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Celiac trunk → left &amp; right gastric, gastroepiploic arteries</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Rich anastomoses along both curvatures</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Venous drainage parallels arteries into the portal system</a:t>
            </a:r>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Autonomic nervous system</a:t>
            </a:r>
          </a:p>
          <a:p>
            <a:pPr marL="711200" lvl="1" indent="-254000">
              <a:lnSpc>
                <a:spcPct val="105000"/>
              </a:lnSpc>
              <a:buSzPct val="100000"/>
              <a:buChar char="▪"/>
            </a:pPr>
            <a:r>
              <a:rPr lang="en-US" sz="2000" dirty="0">
                <a:solidFill>
                  <a:srgbClr val="2B211D"/>
                </a:solidFill>
                <a:latin typeface="Calibri" pitchFamily="34" charset="0"/>
                <a:ea typeface="Calibri" pitchFamily="34" charset="-122"/>
                <a:cs typeface="Calibri" pitchFamily="34" charset="-120"/>
              </a:rPr>
              <a:t>Parasympathetic via </a:t>
            </a:r>
            <a:r>
              <a:rPr lang="en-US" sz="2000" dirty="0" err="1">
                <a:solidFill>
                  <a:srgbClr val="2B211D"/>
                </a:solidFill>
                <a:latin typeface="Calibri" pitchFamily="34" charset="0"/>
                <a:ea typeface="Calibri" pitchFamily="34" charset="-122"/>
                <a:cs typeface="Calibri" pitchFamily="34" charset="-120"/>
              </a:rPr>
              <a:t>vagus</a:t>
            </a:r>
            <a:r>
              <a:rPr lang="en-US" sz="2000" dirty="0">
                <a:solidFill>
                  <a:srgbClr val="2B211D"/>
                </a:solidFill>
                <a:latin typeface="Calibri" pitchFamily="34" charset="0"/>
                <a:ea typeface="Calibri" pitchFamily="34" charset="-122"/>
                <a:cs typeface="Calibri" pitchFamily="34" charset="-120"/>
              </a:rPr>
              <a:t> n.</a:t>
            </a:r>
          </a:p>
          <a:p>
            <a:pPr marL="1168400" lvl="2" indent="-254000">
              <a:lnSpc>
                <a:spcPct val="105000"/>
              </a:lnSpc>
              <a:buSzPct val="100000"/>
              <a:buChar char="▪"/>
            </a:pPr>
            <a:r>
              <a:rPr lang="en-US" sz="2000" dirty="0">
                <a:solidFill>
                  <a:srgbClr val="2B211D"/>
                </a:solidFill>
                <a:latin typeface="Calibri" pitchFamily="34" charset="0"/>
                <a:ea typeface="Calibri" pitchFamily="34" charset="-122"/>
                <a:cs typeface="Calibri" pitchFamily="34" charset="-120"/>
              </a:rPr>
              <a:t>Digestion</a:t>
            </a:r>
          </a:p>
          <a:p>
            <a:pPr marL="711200" lvl="1" indent="-254000">
              <a:lnSpc>
                <a:spcPct val="105000"/>
              </a:lnSpc>
              <a:buSzPct val="100000"/>
              <a:buChar char="▪"/>
            </a:pPr>
            <a:r>
              <a:rPr lang="en-US" sz="2000" dirty="0">
                <a:solidFill>
                  <a:srgbClr val="2B211D"/>
                </a:solidFill>
                <a:latin typeface="Calibri" pitchFamily="34" charset="0"/>
                <a:ea typeface="Calibri" pitchFamily="34" charset="-122"/>
                <a:cs typeface="Calibri" pitchFamily="34" charset="-120"/>
              </a:rPr>
              <a:t>Sympathetic via celiac plexus</a:t>
            </a:r>
          </a:p>
          <a:p>
            <a:pPr marL="1168400" lvl="2" indent="-254000">
              <a:lnSpc>
                <a:spcPct val="105000"/>
              </a:lnSpc>
              <a:buSzPct val="100000"/>
              <a:buChar char="▪"/>
            </a:pPr>
            <a:r>
              <a:rPr lang="en-US" sz="2000" dirty="0">
                <a:solidFill>
                  <a:srgbClr val="2B211D"/>
                </a:solidFill>
                <a:latin typeface="Calibri" pitchFamily="34" charset="0"/>
                <a:ea typeface="Calibri" pitchFamily="34" charset="-122"/>
                <a:cs typeface="Calibri" pitchFamily="34" charset="-120"/>
              </a:rPr>
              <a:t>Inhibition</a:t>
            </a:r>
          </a:p>
          <a:p>
            <a:pPr marL="254000" indent="-254000">
              <a:lnSpc>
                <a:spcPct val="105000"/>
              </a:lnSpc>
              <a:spcAft>
                <a:spcPts val="1600"/>
              </a:spcAft>
              <a:buSzPct val="100000"/>
              <a:buChar char="▪"/>
            </a:pP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17 / 46</a:t>
            </a:r>
            <a:endParaRPr lang="en-US" sz="1000" dirty="0"/>
          </a:p>
        </p:txBody>
      </p:sp>
      <p:pic>
        <p:nvPicPr>
          <p:cNvPr id="11" name="Picture 10">
            <a:extLst>
              <a:ext uri="{FF2B5EF4-FFF2-40B4-BE49-F238E27FC236}">
                <a16:creationId xmlns:a16="http://schemas.microsoft.com/office/drawing/2014/main" id="{7559C0D8-E7A4-BC8E-F99D-E494A1936339}"/>
              </a:ext>
            </a:extLst>
          </p:cNvPr>
          <p:cNvPicPr>
            <a:picLocks noChangeAspect="1"/>
          </p:cNvPicPr>
          <p:nvPr/>
        </p:nvPicPr>
        <p:blipFill>
          <a:blip r:embed="rId4"/>
          <a:srcRect t="5794" b="12503"/>
          <a:stretch>
            <a:fillRect/>
          </a:stretch>
        </p:blipFill>
        <p:spPr>
          <a:xfrm>
            <a:off x="7203669" y="3056055"/>
            <a:ext cx="4988331" cy="38019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Small Intestine: Three Segments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347669" y="1664208"/>
            <a:ext cx="3464647"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small_intestine_overview.jpeg"/>
          <p:cNvPicPr>
            <a:picLocks noChangeAspect="1"/>
          </p:cNvPicPr>
          <p:nvPr/>
        </p:nvPicPr>
        <p:blipFill>
          <a:blip r:embed="rId3"/>
          <a:stretch>
            <a:fillRect/>
          </a:stretch>
        </p:blipFill>
        <p:spPr>
          <a:xfrm>
            <a:off x="7402533" y="1719072"/>
            <a:ext cx="3354919" cy="440740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Duodenum — ~10–15 in, C-shaped, mostly retroperitoneal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Jejunum — ~8–9 ft, proximal 2/5</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Ileum — ~10–11 ft, distal 3/5, ends at ileocecal valve</a:t>
            </a:r>
            <a:endParaRPr lang="en-US" sz="2100" dirty="0"/>
          </a:p>
          <a:p>
            <a:pPr marL="254000" indent="-254000">
              <a:lnSpc>
                <a:spcPct val="105000"/>
              </a:lnSpc>
              <a:spcAft>
                <a:spcPts val="1600"/>
              </a:spcAft>
              <a:buSzPct val="100000"/>
              <a:buChar char="▪"/>
            </a:pPr>
            <a:endParaRPr lang="en-US" sz="2100" dirty="0">
              <a:solidFill>
                <a:srgbClr val="2B211D"/>
              </a:solidFill>
              <a:latin typeface="Calibri" pitchFamily="34" charset="0"/>
              <a:ea typeface="Calibri" pitchFamily="34" charset="-122"/>
              <a:cs typeface="Calibri" pitchFamily="34" charset="-120"/>
            </a:endParaRPr>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site of most chemical digestion and nearly all nutrient absorption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18 / 46</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Duodenum: Four Parts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555757" y="1664208"/>
            <a:ext cx="5106406"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duodenum_parts.jpeg"/>
          <p:cNvPicPr>
            <a:picLocks noChangeAspect="1"/>
          </p:cNvPicPr>
          <p:nvPr/>
        </p:nvPicPr>
        <p:blipFill>
          <a:blip r:embed="rId3"/>
          <a:stretch>
            <a:fillRect/>
          </a:stretch>
        </p:blipFill>
        <p:spPr>
          <a:xfrm>
            <a:off x="610621" y="1719072"/>
            <a:ext cx="4996678"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Superior → descending → horizontal → ascending</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Head of pancreas sits in the C-loop</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Major papilla — bile + main pancreatic duct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neutralizes acidic chyme and mixes it with bile &amp; pancreatic enzymes</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19 / 46</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Duodenum: Interior Surface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706170" y="1664208"/>
            <a:ext cx="4747643"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duodenum_interior_folds.jpeg"/>
          <p:cNvPicPr>
            <a:picLocks noChangeAspect="1"/>
          </p:cNvPicPr>
          <p:nvPr/>
        </p:nvPicPr>
        <p:blipFill>
          <a:blip r:embed="rId3"/>
          <a:stretch>
            <a:fillRect/>
          </a:stretch>
        </p:blipFill>
        <p:spPr>
          <a:xfrm>
            <a:off x="6761034" y="1719072"/>
            <a:ext cx="4637915" cy="440740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Duodenal cap (bulb) — smooth proximal segment</a:t>
            </a:r>
            <a:endParaRPr lang="en-US" sz="2100" dirty="0"/>
          </a:p>
          <a:p>
            <a:pPr marL="711200" lvl="1" indent="-254000">
              <a:lnSpc>
                <a:spcPct val="105000"/>
              </a:lnSpc>
              <a:spcAft>
                <a:spcPts val="1600"/>
              </a:spcAft>
              <a:buSzPct val="100000"/>
              <a:buFontTx/>
              <a:buChar char="▪"/>
            </a:pPr>
            <a:r>
              <a:rPr lang="en-US" sz="2100" dirty="0">
                <a:solidFill>
                  <a:srgbClr val="2B211D"/>
                </a:solidFill>
                <a:latin typeface="Calibri" pitchFamily="34" charset="0"/>
                <a:ea typeface="Calibri" pitchFamily="34" charset="-122"/>
                <a:cs typeface="Calibri" pitchFamily="34" charset="-120"/>
              </a:rPr>
              <a:t>Brunner's glands neutralize acidic chyme</a:t>
            </a:r>
            <a:endParaRPr lang="en-US" sz="2100" dirty="0"/>
          </a:p>
          <a:p>
            <a:pPr marL="711200" lvl="1"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Circular folds (plicae circulares) begin here</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20 / 46</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Jejunum vs. Ileum</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993192" y="1664208"/>
            <a:ext cx="4231536"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jejunum_ileum_compare1.jpeg"/>
          <p:cNvPicPr>
            <a:picLocks noChangeAspect="1"/>
          </p:cNvPicPr>
          <p:nvPr/>
        </p:nvPicPr>
        <p:blipFill>
          <a:blip r:embed="rId3"/>
          <a:stretch>
            <a:fillRect/>
          </a:stretch>
        </p:blipFill>
        <p:spPr>
          <a:xfrm>
            <a:off x="1048056" y="1719072"/>
            <a:ext cx="4121808"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Jejunum — thicker wall, taller plicae circulares; bulk of nutrient absorption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Ileum — thinner wall, Peyer's patches; immune surveillance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Vascular arcades: fewer/longer (jejunum) vs. more/shorter (ileum)</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21 / 46</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MICROANATOMY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Small Intestine: Wall Microanatomy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pic>
        <p:nvPicPr>
          <p:cNvPr id="6" name="Image 0" descr="/home/claude/gi_deck/assets/small_intestine_wall_anatomy.jpeg"/>
          <p:cNvPicPr>
            <a:picLocks noChangeAspect="1"/>
          </p:cNvPicPr>
          <p:nvPr/>
        </p:nvPicPr>
        <p:blipFill>
          <a:blip r:embed="rId3"/>
          <a:srcRect r="1077"/>
          <a:stretch>
            <a:fillRect/>
          </a:stretch>
        </p:blipFill>
        <p:spPr>
          <a:xfrm>
            <a:off x="4225503" y="2283216"/>
            <a:ext cx="7753137" cy="3751824"/>
          </a:xfrm>
          <a:prstGeom prst="rect">
            <a:avLst/>
          </a:prstGeom>
        </p:spPr>
      </p:pic>
      <p:sp>
        <p:nvSpPr>
          <p:cNvPr id="7" name="Text 4"/>
          <p:cNvSpPr/>
          <p:nvPr/>
        </p:nvSpPr>
        <p:spPr>
          <a:xfrm>
            <a:off x="272194" y="2078644"/>
            <a:ext cx="4002095"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Plicae circulares → villi → microvilli amplify surface area</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Enterocytes — brush-border digestion &amp; absorption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Goblet cells (mucus) &amp; Paneth cells (defense) in the crypts</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22 / 46</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F682DC-BFE5-E0A2-2BE8-F8F8F6C9AD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E78F0B-7739-2C1B-20A9-03825F6346E1}"/>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MICROANATOMY</a:t>
            </a:r>
            <a:endParaRPr lang="en-US" sz="2000" dirty="0"/>
          </a:p>
        </p:txBody>
      </p:sp>
      <p:sp>
        <p:nvSpPr>
          <p:cNvPr id="3" name="Text 1">
            <a:extLst>
              <a:ext uri="{FF2B5EF4-FFF2-40B4-BE49-F238E27FC236}">
                <a16:creationId xmlns:a16="http://schemas.microsoft.com/office/drawing/2014/main" id="{1C8349B4-BD0D-B999-BE47-8A707CB3E639}"/>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Small Intestine: Wall Microanatomy</a:t>
            </a:r>
            <a:endParaRPr lang="en-US" sz="3200" dirty="0"/>
          </a:p>
        </p:txBody>
      </p:sp>
      <p:sp>
        <p:nvSpPr>
          <p:cNvPr id="4" name="Shape 2">
            <a:extLst>
              <a:ext uri="{FF2B5EF4-FFF2-40B4-BE49-F238E27FC236}">
                <a16:creationId xmlns:a16="http://schemas.microsoft.com/office/drawing/2014/main" id="{6ED469F8-844D-9A6C-5CDC-D0CE293D1F7E}"/>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8" name="Text 5">
            <a:extLst>
              <a:ext uri="{FF2B5EF4-FFF2-40B4-BE49-F238E27FC236}">
                <a16:creationId xmlns:a16="http://schemas.microsoft.com/office/drawing/2014/main" id="{8D7699E8-9D2E-0A01-A19A-16F2890397BD}"/>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a:extLst>
              <a:ext uri="{FF2B5EF4-FFF2-40B4-BE49-F238E27FC236}">
                <a16:creationId xmlns:a16="http://schemas.microsoft.com/office/drawing/2014/main" id="{AE87E4AD-3A8C-42E6-9F6A-24805C6B7DBF}"/>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22 / 46</a:t>
            </a:r>
            <a:endParaRPr lang="en-US" sz="1000" dirty="0"/>
          </a:p>
        </p:txBody>
      </p:sp>
      <p:pic>
        <p:nvPicPr>
          <p:cNvPr id="11" name="Picture 10">
            <a:extLst>
              <a:ext uri="{FF2B5EF4-FFF2-40B4-BE49-F238E27FC236}">
                <a16:creationId xmlns:a16="http://schemas.microsoft.com/office/drawing/2014/main" id="{3DD2EFAB-C9B1-ED6A-6039-4AFD40A0A539}"/>
              </a:ext>
            </a:extLst>
          </p:cNvPr>
          <p:cNvPicPr>
            <a:picLocks noChangeAspect="1"/>
          </p:cNvPicPr>
          <p:nvPr/>
        </p:nvPicPr>
        <p:blipFill>
          <a:blip r:embed="rId3"/>
          <a:stretch>
            <a:fillRect/>
          </a:stretch>
        </p:blipFill>
        <p:spPr>
          <a:xfrm>
            <a:off x="0" y="860245"/>
            <a:ext cx="12192000" cy="5137509"/>
          </a:xfrm>
          <a:prstGeom prst="rect">
            <a:avLst/>
          </a:prstGeom>
        </p:spPr>
      </p:pic>
    </p:spTree>
    <p:extLst>
      <p:ext uri="{BB962C8B-B14F-4D97-AF65-F5344CB8AC3E}">
        <p14:creationId xmlns:p14="http://schemas.microsoft.com/office/powerpoint/2010/main" val="32872343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MIDGUT/HINDGUT — PHYSIOLOGY (REVIEW)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Absorption by Region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1046081" y="1664208"/>
            <a:ext cx="4125758"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si_absorption_by_region.png"/>
          <p:cNvPicPr>
            <a:picLocks noChangeAspect="1"/>
          </p:cNvPicPr>
          <p:nvPr/>
        </p:nvPicPr>
        <p:blipFill>
          <a:blip r:embed="rId3"/>
          <a:stretch>
            <a:fillRect/>
          </a:stretch>
        </p:blipFill>
        <p:spPr>
          <a:xfrm>
            <a:off x="1100945" y="1719072"/>
            <a:ext cx="4016030"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Duodenum/jejunum — sugars, amino acids, fats, iron, calcium</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Ileum — bile salts &amp; vitamin B12 (needs intrinsic factor)</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Water &amp; electrolytes absorbed along the entire length</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23 / 46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HINDGUT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Large Intestine: Gross Anatomy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217650" y="1664208"/>
            <a:ext cx="3724684"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large_intestine_overview.jpeg"/>
          <p:cNvPicPr>
            <a:picLocks noChangeAspect="1"/>
          </p:cNvPicPr>
          <p:nvPr/>
        </p:nvPicPr>
        <p:blipFill>
          <a:blip r:embed="rId3"/>
          <a:stretch>
            <a:fillRect/>
          </a:stretch>
        </p:blipFill>
        <p:spPr>
          <a:xfrm>
            <a:off x="7272514" y="1719072"/>
            <a:ext cx="3614956" cy="440740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Cecum → ascending → transverse → descending → sigmoid → rectum</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Teniae coli, haustra &amp; epiploic appendages are unique to the colon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reabsorbs water/electrolytes and forms &amp; stores feces along this path</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24 / 46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HINDGUT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Cecum &amp; Vermiform Appendix</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493776" y="1735378"/>
            <a:ext cx="5230368" cy="4374795"/>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cecum_detail.jpeg"/>
          <p:cNvPicPr>
            <a:picLocks noChangeAspect="1"/>
          </p:cNvPicPr>
          <p:nvPr/>
        </p:nvPicPr>
        <p:blipFill>
          <a:blip r:embed="rId3"/>
          <a:stretch>
            <a:fillRect/>
          </a:stretch>
        </p:blipFill>
        <p:spPr>
          <a:xfrm>
            <a:off x="548640" y="1790242"/>
            <a:ext cx="5120640" cy="4265067"/>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Cecum receives the terminal ileum at the ileocecal valve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Appendix base is a fairly constant landmark (McBurney's point)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Appendix contains abundant lymphoid tissue</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25 / 46</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CF9F50-22FB-C8EF-C2F5-D645056628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AE5A928-22B3-5DB1-AEFE-02530B7A3FAE}"/>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HINDGUT — MICROANATOMY</a:t>
            </a:r>
            <a:endParaRPr lang="en-US" sz="2000" dirty="0"/>
          </a:p>
        </p:txBody>
      </p:sp>
      <p:sp>
        <p:nvSpPr>
          <p:cNvPr id="3" name="Text 1">
            <a:extLst>
              <a:ext uri="{FF2B5EF4-FFF2-40B4-BE49-F238E27FC236}">
                <a16:creationId xmlns:a16="http://schemas.microsoft.com/office/drawing/2014/main" id="{1410DC44-B5E5-73FB-50BF-4C39D367F24A}"/>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Colon: Microanatomy</a:t>
            </a:r>
            <a:endParaRPr lang="en-US" sz="3200" dirty="0"/>
          </a:p>
        </p:txBody>
      </p:sp>
      <p:sp>
        <p:nvSpPr>
          <p:cNvPr id="4" name="Shape 2">
            <a:extLst>
              <a:ext uri="{FF2B5EF4-FFF2-40B4-BE49-F238E27FC236}">
                <a16:creationId xmlns:a16="http://schemas.microsoft.com/office/drawing/2014/main" id="{65266294-45B6-7C29-6FD9-F0226833864B}"/>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Text 3">
            <a:extLst>
              <a:ext uri="{FF2B5EF4-FFF2-40B4-BE49-F238E27FC236}">
                <a16:creationId xmlns:a16="http://schemas.microsoft.com/office/drawing/2014/main" id="{43494FA5-8E05-EFF7-B027-7C4EFF19FBF8}"/>
              </a:ext>
            </a:extLst>
          </p:cNvPr>
          <p:cNvSpPr/>
          <p:nvPr/>
        </p:nvSpPr>
        <p:spPr>
          <a:xfrm>
            <a:off x="640080" y="1856232"/>
            <a:ext cx="3740534" cy="4572000"/>
          </a:xfrm>
          <a:prstGeom prst="rect">
            <a:avLst/>
          </a:prstGeom>
          <a:noFill/>
          <a:ln/>
        </p:spPr>
        <p:txBody>
          <a:bodyPr wrap="square" rtlCol="0" anchor="t"/>
          <a:lstStyle/>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No villi — flat mucosa with straight crypts, abundant goblet cells</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Colonocytes absorb water, electrolytes &amp; short-chain fatty acids</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Microbiota ferment fiber → SCFAs; synthesize vitamin K</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Haustral churning + mass movements drive defecation reflex</a:t>
            </a:r>
            <a:endParaRPr lang="en-US" sz="2200" dirty="0"/>
          </a:p>
        </p:txBody>
      </p:sp>
      <p:sp>
        <p:nvSpPr>
          <p:cNvPr id="6" name="Text 4">
            <a:extLst>
              <a:ext uri="{FF2B5EF4-FFF2-40B4-BE49-F238E27FC236}">
                <a16:creationId xmlns:a16="http://schemas.microsoft.com/office/drawing/2014/main" id="{490BA31D-B76C-39E3-6BC5-C893B4422214}"/>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a:extLst>
              <a:ext uri="{FF2B5EF4-FFF2-40B4-BE49-F238E27FC236}">
                <a16:creationId xmlns:a16="http://schemas.microsoft.com/office/drawing/2014/main" id="{B799B3D3-3578-6870-5D11-84EF79001589}"/>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26 / 46</a:t>
            </a:r>
            <a:endParaRPr lang="en-US" sz="1000" dirty="0"/>
          </a:p>
        </p:txBody>
      </p:sp>
      <p:pic>
        <p:nvPicPr>
          <p:cNvPr id="9" name="Picture 8">
            <a:extLst>
              <a:ext uri="{FF2B5EF4-FFF2-40B4-BE49-F238E27FC236}">
                <a16:creationId xmlns:a16="http://schemas.microsoft.com/office/drawing/2014/main" id="{69357EC5-40DF-8B16-6FA8-7F727C814BA7}"/>
              </a:ext>
            </a:extLst>
          </p:cNvPr>
          <p:cNvPicPr>
            <a:picLocks noChangeAspect="1"/>
          </p:cNvPicPr>
          <p:nvPr/>
        </p:nvPicPr>
        <p:blipFill>
          <a:blip r:embed="rId3"/>
          <a:stretch>
            <a:fillRect/>
          </a:stretch>
        </p:blipFill>
        <p:spPr>
          <a:xfrm>
            <a:off x="4894292" y="303978"/>
            <a:ext cx="7084348" cy="6243126"/>
          </a:xfrm>
          <a:prstGeom prst="rect">
            <a:avLst/>
          </a:prstGeom>
        </p:spPr>
      </p:pic>
    </p:spTree>
    <p:extLst>
      <p:ext uri="{BB962C8B-B14F-4D97-AF65-F5344CB8AC3E}">
        <p14:creationId xmlns:p14="http://schemas.microsoft.com/office/powerpoint/2010/main" val="2596655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87D94D7-AE26-63BF-5122-F09053FD1F2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20C06D-06BE-C4A5-FF0C-A17F4092CCA6}"/>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HINDGUT — ANATOMY</a:t>
            </a:r>
            <a:endParaRPr lang="en-US" sz="2000" dirty="0"/>
          </a:p>
        </p:txBody>
      </p:sp>
      <p:sp>
        <p:nvSpPr>
          <p:cNvPr id="3" name="Text 1">
            <a:extLst>
              <a:ext uri="{FF2B5EF4-FFF2-40B4-BE49-F238E27FC236}">
                <a16:creationId xmlns:a16="http://schemas.microsoft.com/office/drawing/2014/main" id="{A823703F-B63C-FB98-0262-29F1B7D2BD34}"/>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Rectum</a:t>
            </a:r>
            <a:endParaRPr lang="en-US" sz="3200" dirty="0"/>
          </a:p>
        </p:txBody>
      </p:sp>
      <p:sp>
        <p:nvSpPr>
          <p:cNvPr id="4" name="Shape 2">
            <a:extLst>
              <a:ext uri="{FF2B5EF4-FFF2-40B4-BE49-F238E27FC236}">
                <a16:creationId xmlns:a16="http://schemas.microsoft.com/office/drawing/2014/main" id="{97EE14EB-66DF-1A24-E3CB-AA4A783698DA}"/>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Text 3">
            <a:extLst>
              <a:ext uri="{FF2B5EF4-FFF2-40B4-BE49-F238E27FC236}">
                <a16:creationId xmlns:a16="http://schemas.microsoft.com/office/drawing/2014/main" id="{A0264702-AFBD-E147-AE6A-35896B29FC0B}"/>
              </a:ext>
            </a:extLst>
          </p:cNvPr>
          <p:cNvSpPr/>
          <p:nvPr/>
        </p:nvSpPr>
        <p:spPr>
          <a:xfrm>
            <a:off x="640080" y="1856232"/>
            <a:ext cx="4835688" cy="4572000"/>
          </a:xfrm>
          <a:prstGeom prst="rect">
            <a:avLst/>
          </a:prstGeom>
          <a:noFill/>
          <a:ln/>
        </p:spPr>
        <p:txBody>
          <a:bodyPr wrap="square" rtlCol="0" anchor="t"/>
          <a:lstStyle/>
          <a:p>
            <a:pPr marL="254000" indent="-254000">
              <a:buSzPct val="100000"/>
              <a:buChar char="▪"/>
            </a:pPr>
            <a:r>
              <a:rPr lang="en-US" sz="2000" dirty="0"/>
              <a:t>12 to 15 cm muscular tube connecting the sigmoid colon to the anal canal</a:t>
            </a:r>
          </a:p>
          <a:p>
            <a:pPr marL="254000" indent="-254000">
              <a:buSzPct val="100000"/>
              <a:buChar char="▪"/>
            </a:pPr>
            <a:endParaRPr lang="en-US" sz="2000" dirty="0"/>
          </a:p>
          <a:p>
            <a:pPr marL="254000" indent="-254000">
              <a:buSzPct val="100000"/>
              <a:buChar char="▪"/>
            </a:pPr>
            <a:r>
              <a:rPr lang="en-US" sz="2000" dirty="0"/>
              <a:t>Primary function: </a:t>
            </a:r>
          </a:p>
          <a:p>
            <a:pPr marL="711200" lvl="1" indent="-254000">
              <a:buSzPct val="100000"/>
              <a:buChar char="▪"/>
            </a:pPr>
            <a:r>
              <a:rPr lang="en-US" sz="2000" dirty="0"/>
              <a:t>Temporary storage site for feces</a:t>
            </a:r>
          </a:p>
          <a:p>
            <a:pPr marL="711200" lvl="1" indent="-254000">
              <a:buSzPct val="100000"/>
              <a:buChar char="▪"/>
            </a:pPr>
            <a:r>
              <a:rPr lang="en-US" sz="2000" dirty="0"/>
              <a:t>When filled, its walls stretch, triggering nerve signals to the brain that create the urge to defecate</a:t>
            </a:r>
          </a:p>
          <a:p>
            <a:pPr marL="711200" lvl="1" indent="-254000">
              <a:buSzPct val="100000"/>
              <a:buChar char="▪"/>
            </a:pPr>
            <a:endParaRPr lang="en-US" sz="2000" dirty="0"/>
          </a:p>
          <a:p>
            <a:pPr marL="254000" indent="-254000">
              <a:buSzPct val="100000"/>
              <a:buChar char="▪"/>
            </a:pPr>
            <a:r>
              <a:rPr lang="en-US" sz="2000" dirty="0"/>
              <a:t>Internal &amp; external sphincters</a:t>
            </a:r>
          </a:p>
        </p:txBody>
      </p:sp>
      <p:sp>
        <p:nvSpPr>
          <p:cNvPr id="6" name="Text 4">
            <a:extLst>
              <a:ext uri="{FF2B5EF4-FFF2-40B4-BE49-F238E27FC236}">
                <a16:creationId xmlns:a16="http://schemas.microsoft.com/office/drawing/2014/main" id="{9A83FE45-415E-50DB-0790-343E9B829EAC}"/>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a:extLst>
              <a:ext uri="{FF2B5EF4-FFF2-40B4-BE49-F238E27FC236}">
                <a16:creationId xmlns:a16="http://schemas.microsoft.com/office/drawing/2014/main" id="{CA38D26D-D85B-F410-300F-8337F4F5B8E0}"/>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26 / 46</a:t>
            </a:r>
            <a:endParaRPr lang="en-US" sz="1000" dirty="0"/>
          </a:p>
        </p:txBody>
      </p:sp>
      <p:pic>
        <p:nvPicPr>
          <p:cNvPr id="10" name="Picture 9">
            <a:extLst>
              <a:ext uri="{FF2B5EF4-FFF2-40B4-BE49-F238E27FC236}">
                <a16:creationId xmlns:a16="http://schemas.microsoft.com/office/drawing/2014/main" id="{16705657-0006-3CA8-A0D4-692AA9DDE034}"/>
              </a:ext>
            </a:extLst>
          </p:cNvPr>
          <p:cNvPicPr>
            <a:picLocks noChangeAspect="1"/>
          </p:cNvPicPr>
          <p:nvPr/>
        </p:nvPicPr>
        <p:blipFill>
          <a:blip r:embed="rId3"/>
          <a:stretch>
            <a:fillRect/>
          </a:stretch>
        </p:blipFill>
        <p:spPr>
          <a:xfrm>
            <a:off x="6096000" y="574499"/>
            <a:ext cx="5609406" cy="5912254"/>
          </a:xfrm>
          <a:prstGeom prst="rect">
            <a:avLst/>
          </a:prstGeom>
        </p:spPr>
      </p:pic>
    </p:spTree>
    <p:extLst>
      <p:ext uri="{BB962C8B-B14F-4D97-AF65-F5344CB8AC3E}">
        <p14:creationId xmlns:p14="http://schemas.microsoft.com/office/powerpoint/2010/main" val="5270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240F97A-8316-66B5-65F8-233C4E06FB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9935A9-AEFD-661D-B158-86C2686B4E20}"/>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HINDGUT — ANATOMY</a:t>
            </a:r>
            <a:endParaRPr lang="en-US" sz="2000" dirty="0"/>
          </a:p>
        </p:txBody>
      </p:sp>
      <p:sp>
        <p:nvSpPr>
          <p:cNvPr id="3" name="Text 1">
            <a:extLst>
              <a:ext uri="{FF2B5EF4-FFF2-40B4-BE49-F238E27FC236}">
                <a16:creationId xmlns:a16="http://schemas.microsoft.com/office/drawing/2014/main" id="{B403B435-3184-E1E2-C122-BF1EBA723618}"/>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Rectum</a:t>
            </a:r>
            <a:endParaRPr lang="en-US" sz="3200" dirty="0"/>
          </a:p>
        </p:txBody>
      </p:sp>
      <p:sp>
        <p:nvSpPr>
          <p:cNvPr id="4" name="Shape 2">
            <a:extLst>
              <a:ext uri="{FF2B5EF4-FFF2-40B4-BE49-F238E27FC236}">
                <a16:creationId xmlns:a16="http://schemas.microsoft.com/office/drawing/2014/main" id="{B9838C6D-5675-BA15-C30B-643476BF5B6E}"/>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Text 3">
            <a:extLst>
              <a:ext uri="{FF2B5EF4-FFF2-40B4-BE49-F238E27FC236}">
                <a16:creationId xmlns:a16="http://schemas.microsoft.com/office/drawing/2014/main" id="{BDFA6825-D3B9-FCB0-297F-D6E2B3D722F2}"/>
              </a:ext>
            </a:extLst>
          </p:cNvPr>
          <p:cNvSpPr/>
          <p:nvPr/>
        </p:nvSpPr>
        <p:spPr>
          <a:xfrm>
            <a:off x="640079" y="1856232"/>
            <a:ext cx="5898943" cy="4572000"/>
          </a:xfrm>
          <a:prstGeom prst="rect">
            <a:avLst/>
          </a:prstGeom>
          <a:noFill/>
          <a:ln/>
        </p:spPr>
        <p:txBody>
          <a:bodyPr wrap="square" rtlCol="0" anchor="t"/>
          <a:lstStyle/>
          <a:p>
            <a:pPr marL="254000" indent="-254000">
              <a:buSzPct val="100000"/>
              <a:buChar char="▪"/>
            </a:pPr>
            <a:r>
              <a:rPr lang="en-US" sz="2000" dirty="0"/>
              <a:t>Innervation: </a:t>
            </a:r>
          </a:p>
          <a:p>
            <a:pPr marL="711200" lvl="1" indent="-254000">
              <a:buSzPct val="100000"/>
              <a:buChar char="▪"/>
            </a:pPr>
            <a:r>
              <a:rPr lang="en-US" sz="2000" dirty="0"/>
              <a:t>autonomic (involuntary)</a:t>
            </a:r>
          </a:p>
          <a:p>
            <a:pPr marL="1168400" lvl="2" indent="-254000">
              <a:buSzPct val="100000"/>
              <a:buChar char="▪"/>
            </a:pPr>
            <a:r>
              <a:rPr lang="en-US" sz="2000" dirty="0"/>
              <a:t>Fibers from sacral spinal cord (S2-S4) via pelvic splanchnic nerves</a:t>
            </a:r>
          </a:p>
          <a:p>
            <a:pPr marL="1168400" lvl="2" indent="-254000">
              <a:buSzPct val="100000"/>
              <a:buChar char="▪"/>
            </a:pPr>
            <a:r>
              <a:rPr lang="en-US" sz="2000" dirty="0"/>
              <a:t>Stimulate rectal contraction + relax internal anal sphincter </a:t>
            </a:r>
            <a:r>
              <a:rPr lang="en-US" sz="2000" dirty="0">
                <a:sym typeface="Wingdings" panose="05000000000000000000" pitchFamily="2" charset="2"/>
              </a:rPr>
              <a:t> </a:t>
            </a:r>
            <a:r>
              <a:rPr lang="en-US" sz="2000" b="1" dirty="0">
                <a:sym typeface="Wingdings" panose="05000000000000000000" pitchFamily="2" charset="2"/>
              </a:rPr>
              <a:t>defecation</a:t>
            </a:r>
            <a:endParaRPr lang="en-US" sz="2000" b="1" dirty="0"/>
          </a:p>
          <a:p>
            <a:pPr marL="711200" lvl="1" indent="-254000">
              <a:buSzPct val="100000"/>
              <a:buChar char="▪"/>
            </a:pPr>
            <a:r>
              <a:rPr lang="en-US" sz="2000" dirty="0"/>
              <a:t>somatic (voluntary)</a:t>
            </a:r>
          </a:p>
          <a:p>
            <a:pPr marL="1168400" lvl="2" indent="-254000">
              <a:buSzPct val="100000"/>
              <a:buChar char="▪"/>
            </a:pPr>
            <a:r>
              <a:rPr lang="en-US" sz="2000" dirty="0"/>
              <a:t>Fibers from lumbar spinal cord (L1-L2) via lumbar splanchnic nerves</a:t>
            </a:r>
          </a:p>
          <a:p>
            <a:pPr marL="1168400" lvl="2" indent="-254000">
              <a:buSzPct val="100000"/>
              <a:buChar char="▪"/>
            </a:pPr>
            <a:r>
              <a:rPr lang="en-US" sz="2000" dirty="0"/>
              <a:t>Relax rectal wall + contract internal sphincter </a:t>
            </a:r>
            <a:r>
              <a:rPr lang="en-US" sz="2000" dirty="0">
                <a:sym typeface="Wingdings" panose="05000000000000000000" pitchFamily="2" charset="2"/>
              </a:rPr>
              <a:t> </a:t>
            </a:r>
            <a:r>
              <a:rPr lang="en-US" sz="2000" b="1" dirty="0">
                <a:sym typeface="Wingdings" panose="05000000000000000000" pitchFamily="2" charset="2"/>
              </a:rPr>
              <a:t>continence</a:t>
            </a:r>
            <a:endParaRPr lang="en-US" sz="2000" b="1" dirty="0"/>
          </a:p>
        </p:txBody>
      </p:sp>
      <p:sp>
        <p:nvSpPr>
          <p:cNvPr id="6" name="Text 4">
            <a:extLst>
              <a:ext uri="{FF2B5EF4-FFF2-40B4-BE49-F238E27FC236}">
                <a16:creationId xmlns:a16="http://schemas.microsoft.com/office/drawing/2014/main" id="{8EA0BA87-3747-F145-1F5B-028013BFA361}"/>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a:extLst>
              <a:ext uri="{FF2B5EF4-FFF2-40B4-BE49-F238E27FC236}">
                <a16:creationId xmlns:a16="http://schemas.microsoft.com/office/drawing/2014/main" id="{19467636-9B2D-FEA7-A9CD-97E3CCB8AD6A}"/>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26 / 46</a:t>
            </a:r>
            <a:endParaRPr lang="en-US" sz="1000" dirty="0"/>
          </a:p>
        </p:txBody>
      </p:sp>
      <p:pic>
        <p:nvPicPr>
          <p:cNvPr id="9" name="Picture 8">
            <a:extLst>
              <a:ext uri="{FF2B5EF4-FFF2-40B4-BE49-F238E27FC236}">
                <a16:creationId xmlns:a16="http://schemas.microsoft.com/office/drawing/2014/main" id="{48A539BC-043B-612D-9317-0C396EB2B3AE}"/>
              </a:ext>
            </a:extLst>
          </p:cNvPr>
          <p:cNvPicPr>
            <a:picLocks noChangeAspect="1"/>
          </p:cNvPicPr>
          <p:nvPr/>
        </p:nvPicPr>
        <p:blipFill>
          <a:blip r:embed="rId3"/>
          <a:stretch>
            <a:fillRect/>
          </a:stretch>
        </p:blipFill>
        <p:spPr>
          <a:xfrm>
            <a:off x="6677247" y="1705377"/>
            <a:ext cx="5061683" cy="4912371"/>
          </a:xfrm>
          <a:prstGeom prst="rect">
            <a:avLst/>
          </a:prstGeom>
        </p:spPr>
      </p:pic>
    </p:spTree>
    <p:extLst>
      <p:ext uri="{BB962C8B-B14F-4D97-AF65-F5344CB8AC3E}">
        <p14:creationId xmlns:p14="http://schemas.microsoft.com/office/powerpoint/2010/main" val="1052753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Liver: Diaphragmatic Surface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64808" y="1852388"/>
            <a:ext cx="5230368" cy="414077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liver_diaphragmatic_surface.jpeg"/>
          <p:cNvPicPr>
            <a:picLocks noChangeAspect="1"/>
          </p:cNvPicPr>
          <p:nvPr/>
        </p:nvPicPr>
        <p:blipFill>
          <a:blip r:embed="rId3"/>
          <a:stretch>
            <a:fillRect/>
          </a:stretch>
        </p:blipFill>
        <p:spPr>
          <a:xfrm>
            <a:off x="6519672" y="1907252"/>
            <a:ext cx="5120640" cy="403104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Largest solid organ &amp; largest gland in the body</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Right lobe &amp; left lobe divided by the falciform ligament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Falciform ligament anchors to the anterior abdominal wall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metabolism, detoxification, bile production — detailed a few slides ahead</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27 / 46</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Liver: Visceral Surface &amp; Lobes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493776" y="2021838"/>
            <a:ext cx="5230368" cy="380187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liver_visceral_surface_divisions.jpeg"/>
          <p:cNvPicPr>
            <a:picLocks noChangeAspect="1"/>
          </p:cNvPicPr>
          <p:nvPr/>
        </p:nvPicPr>
        <p:blipFill>
          <a:blip r:embed="rId3"/>
          <a:stretch>
            <a:fillRect/>
          </a:stretch>
        </p:blipFill>
        <p:spPr>
          <a:xfrm>
            <a:off x="548640" y="2076702"/>
            <a:ext cx="5120640" cy="369214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4 anatomic lobes — right, left, caudate, quadrate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Porta hepatis: portal vein, hepatic artery, common hepatic duct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8 Couinaud segments guide surgical resection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28 / 46</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Hepatic Portal Circulation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346928" y="36576"/>
            <a:ext cx="5638800" cy="6821424"/>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liver_portal_circulation.png"/>
          <p:cNvPicPr>
            <a:picLocks noChangeAspect="1"/>
          </p:cNvPicPr>
          <p:nvPr/>
        </p:nvPicPr>
        <p:blipFill>
          <a:blip r:embed="rId3"/>
          <a:stretch>
            <a:fillRect/>
          </a:stretch>
        </p:blipFill>
        <p:spPr>
          <a:xfrm>
            <a:off x="6346928" y="-9275"/>
            <a:ext cx="5486400" cy="7435153"/>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Portal vein = superior mesenteric vein + splenic vein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Carries nutrient-rich, oxygen-poor blood from the gut &amp; spleen to the liver first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Supplies ~75% of the liver's blood flow (hepatic artery supplies the rest)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lets the liver process/detoxify absorbed nutrients before they reach systemic circulation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29 / 46</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MICROANATOMY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The Hepatic Lobule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15" name="Text 13"/>
          <p:cNvSpPr/>
          <p:nvPr/>
        </p:nvSpPr>
        <p:spPr>
          <a:xfrm>
            <a:off x="361507" y="1857365"/>
            <a:ext cx="4775436" cy="4877409"/>
          </a:xfrm>
          <a:prstGeom prst="rect">
            <a:avLst/>
          </a:prstGeom>
          <a:noFill/>
          <a:ln/>
        </p:spPr>
        <p:txBody>
          <a:bodyPr wrap="square" rtlCol="0" anchor="t"/>
          <a:lstStyle/>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Hepatocyte plates radiate from the central vein</a:t>
            </a:r>
            <a:endParaRPr lang="en-US" sz="2000" dirty="0"/>
          </a:p>
          <a:p>
            <a:pPr marL="254000" indent="-254000">
              <a:lnSpc>
                <a:spcPct val="105000"/>
              </a:lnSpc>
              <a:spcAft>
                <a:spcPts val="1600"/>
              </a:spcAft>
              <a:buSzPct val="100000"/>
              <a:buFontTx/>
              <a:buChar char="▪"/>
            </a:pPr>
            <a:r>
              <a:rPr lang="en-US" sz="2000" dirty="0">
                <a:solidFill>
                  <a:srgbClr val="2B211D"/>
                </a:solidFill>
                <a:latin typeface="Calibri" pitchFamily="34" charset="0"/>
                <a:ea typeface="Calibri" pitchFamily="34" charset="-122"/>
                <a:cs typeface="Calibri" pitchFamily="34" charset="-120"/>
              </a:rPr>
              <a:t>Portal triad = vein, artery, bile duct</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Blood flows from portal vein &amp; hepatic artery (in portal triad) toward central vein via sinusoids</a:t>
            </a:r>
          </a:p>
          <a:p>
            <a:pPr marL="711200" lvl="1" indent="-254000">
              <a:lnSpc>
                <a:spcPct val="105000"/>
              </a:lnSpc>
              <a:spcAft>
                <a:spcPts val="1600"/>
              </a:spcAft>
              <a:buSzPct val="100000"/>
              <a:buFontTx/>
              <a:buChar char="▪"/>
            </a:pPr>
            <a:r>
              <a:rPr lang="en-US" sz="2000" dirty="0">
                <a:solidFill>
                  <a:srgbClr val="2B211D"/>
                </a:solidFill>
                <a:latin typeface="Calibri" pitchFamily="34" charset="0"/>
                <a:ea typeface="Calibri" pitchFamily="34" charset="-122"/>
                <a:cs typeface="Calibri" pitchFamily="34" charset="-120"/>
              </a:rPr>
              <a:t>Sinusoids = fenestrated capillaries; patrolled by Kupffer cells</a:t>
            </a:r>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Bile flows opposite to blood: from hepatocytes </a:t>
            </a:r>
            <a:r>
              <a:rPr lang="en-US" sz="2000" dirty="0">
                <a:solidFill>
                  <a:srgbClr val="2B211D"/>
                </a:solidFill>
                <a:latin typeface="Calibri" pitchFamily="34" charset="0"/>
                <a:ea typeface="Calibri" pitchFamily="34" charset="-122"/>
                <a:cs typeface="Calibri" pitchFamily="34" charset="-120"/>
                <a:sym typeface="Wingdings" panose="05000000000000000000" pitchFamily="2" charset="2"/>
              </a:rPr>
              <a:t> bile canaliculi  </a:t>
            </a:r>
            <a:r>
              <a:rPr lang="en-US" sz="2000" dirty="0">
                <a:solidFill>
                  <a:srgbClr val="2B211D"/>
                </a:solidFill>
                <a:latin typeface="Calibri" pitchFamily="34" charset="0"/>
                <a:ea typeface="Calibri" pitchFamily="34" charset="-122"/>
                <a:cs typeface="Calibri" pitchFamily="34" charset="-120"/>
              </a:rPr>
              <a:t>portal triad’s </a:t>
            </a:r>
            <a:r>
              <a:rPr lang="en-US" sz="2000" dirty="0">
                <a:solidFill>
                  <a:srgbClr val="2B211D"/>
                </a:solidFill>
                <a:latin typeface="Calibri" pitchFamily="34" charset="0"/>
                <a:ea typeface="Calibri" pitchFamily="34" charset="-122"/>
                <a:cs typeface="Calibri" pitchFamily="34" charset="-120"/>
                <a:sym typeface="Wingdings" panose="05000000000000000000" pitchFamily="2" charset="2"/>
              </a:rPr>
              <a:t>bile ducts </a:t>
            </a:r>
            <a:endParaRPr lang="en-US" sz="2000" dirty="0">
              <a:solidFill>
                <a:srgbClr val="2B211D"/>
              </a:solidFill>
              <a:latin typeface="Calibri" pitchFamily="34" charset="0"/>
              <a:ea typeface="Calibri" pitchFamily="34" charset="-122"/>
              <a:cs typeface="Calibri" pitchFamily="34" charset="-120"/>
            </a:endParaRPr>
          </a:p>
        </p:txBody>
      </p:sp>
      <p:sp>
        <p:nvSpPr>
          <p:cNvPr id="16" name="Text 1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7" name="Text 1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30 / 46</a:t>
            </a:r>
            <a:endParaRPr lang="en-US" sz="1000" dirty="0"/>
          </a:p>
        </p:txBody>
      </p:sp>
      <p:pic>
        <p:nvPicPr>
          <p:cNvPr id="23" name="Picture 22">
            <a:extLst>
              <a:ext uri="{FF2B5EF4-FFF2-40B4-BE49-F238E27FC236}">
                <a16:creationId xmlns:a16="http://schemas.microsoft.com/office/drawing/2014/main" id="{29630746-9B10-8B80-7D69-B5E3988CEA90}"/>
              </a:ext>
            </a:extLst>
          </p:cNvPr>
          <p:cNvPicPr>
            <a:picLocks noChangeAspect="1"/>
          </p:cNvPicPr>
          <p:nvPr/>
        </p:nvPicPr>
        <p:blipFill>
          <a:blip r:embed="rId3"/>
          <a:stretch>
            <a:fillRect/>
          </a:stretch>
        </p:blipFill>
        <p:spPr>
          <a:xfrm>
            <a:off x="5561333" y="282487"/>
            <a:ext cx="6534974" cy="643795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PHYSIOLOGY (REVIEW)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Liver: Core Functions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40080" y="1856232"/>
            <a:ext cx="10881360" cy="4572000"/>
          </a:xfrm>
          <a:prstGeom prst="rect">
            <a:avLst/>
          </a:prstGeom>
          <a:noFill/>
          <a:ln/>
        </p:spPr>
        <p:txBody>
          <a:bodyPr wrap="square" rtlCol="0" anchor="t"/>
          <a:lstStyle/>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Detoxification — Kupffer cells, drug/hormone breakdown, ammonia → urea</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Carbohydrate &amp; lipid metabolism — glycogen storage, triglyceride/cholesterol handling</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Protein synthesis — albumin, clotting factors</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Bile secretion — bile salts from cholesterol, bilirubin excretion</a:t>
            </a:r>
            <a:endParaRPr lang="en-US" sz="22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31 / 46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PHYSIOLOGY (REVIEW)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Bile &amp; Bilirubin (Brief Review)</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40080" y="1856232"/>
            <a:ext cx="10881360" cy="4572000"/>
          </a:xfrm>
          <a:prstGeom prst="rect">
            <a:avLst/>
          </a:prstGeom>
          <a:noFill/>
          <a:ln/>
        </p:spPr>
        <p:txBody>
          <a:bodyPr wrap="square" rtlCol="0" anchor="t"/>
          <a:lstStyle/>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Bile: bile salts, bilirubin, cholesterol, electrolytes</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Bile salts emulsify fat; most are recycled (enterohepatic circulation)</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Heme → unconjugated bilirubin → liver conjugates it → excreted in bile</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Direct/indirect split helps localize jaundice clinically</a:t>
            </a:r>
            <a:endParaRPr lang="en-US" sz="22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32 / 46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Biliary Tree &amp; Gallbladder</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032980" y="1664208"/>
            <a:ext cx="4094025"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biliary_tree_labeled.jpeg"/>
          <p:cNvPicPr>
            <a:picLocks noChangeAspect="1"/>
          </p:cNvPicPr>
          <p:nvPr/>
        </p:nvPicPr>
        <p:blipFill>
          <a:blip r:embed="rId3"/>
          <a:stretch>
            <a:fillRect/>
          </a:stretch>
        </p:blipFill>
        <p:spPr>
          <a:xfrm>
            <a:off x="7087844" y="1719072"/>
            <a:ext cx="3984297" cy="4407408"/>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Right + left hepatic ducts → common hepatic duct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Gallbladder stores/concentrates bile via the cystic duct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Common bile duct joins the pancreatic duct at the ampulla of Vater</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33 / 46</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Cystic Triangle (of Calot)</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821964" y="1664208"/>
            <a:ext cx="4573992" cy="4517136"/>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cystic_triangle_calot.jpeg"/>
          <p:cNvPicPr>
            <a:picLocks noChangeAspect="1"/>
          </p:cNvPicPr>
          <p:nvPr/>
        </p:nvPicPr>
        <p:blipFill>
          <a:blip r:embed="rId3"/>
          <a:stretch>
            <a:fillRect/>
          </a:stretch>
        </p:blipFill>
        <p:spPr>
          <a:xfrm>
            <a:off x="876828" y="1719072"/>
            <a:ext cx="4464264" cy="4407408"/>
          </a:xfrm>
          <a:prstGeom prst="rect">
            <a:avLst/>
          </a:prstGeom>
        </p:spPr>
      </p:pic>
      <p:sp>
        <p:nvSpPr>
          <p:cNvPr id="7" name="Text 4"/>
          <p:cNvSpPr/>
          <p:nvPr/>
        </p:nvSpPr>
        <p:spPr>
          <a:xfrm>
            <a:off x="589788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Bounded by the cystic duct, common hepatic duct &amp; liver edge</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Contains the cystic artery</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Key surgical landmark during cholecystectomy</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34 / 46</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Pancreas: Gross Anatomy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64808" y="1829927"/>
            <a:ext cx="5230368" cy="4185697"/>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pancreas_parts.png"/>
          <p:cNvPicPr>
            <a:picLocks noChangeAspect="1"/>
          </p:cNvPicPr>
          <p:nvPr/>
        </p:nvPicPr>
        <p:blipFill>
          <a:blip r:embed="rId3"/>
          <a:stretch>
            <a:fillRect/>
          </a:stretch>
        </p:blipFill>
        <p:spPr>
          <a:xfrm>
            <a:off x="6519672" y="1884791"/>
            <a:ext cx="5120640" cy="4075969"/>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Head, neck, body, tail — retroperitoneal</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Head sits within the duodenal C-loop</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Tail reaches toward the splenic hilum</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Function: exocrine digestive enzymes + endocrine insulin/glucagon</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35 / 46</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GROSS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Pancreas: Duct System</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2445488" y="3678865"/>
            <a:ext cx="8229600" cy="3118770"/>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pancreas_ducts.jpeg"/>
          <p:cNvPicPr>
            <a:picLocks noChangeAspect="1"/>
          </p:cNvPicPr>
          <p:nvPr/>
        </p:nvPicPr>
        <p:blipFill>
          <a:blip r:embed="rId3"/>
          <a:stretch>
            <a:fillRect/>
          </a:stretch>
        </p:blipFill>
        <p:spPr>
          <a:xfrm>
            <a:off x="2537280" y="3753293"/>
            <a:ext cx="7995750" cy="3010448"/>
          </a:xfrm>
          <a:prstGeom prst="rect">
            <a:avLst/>
          </a:prstGeom>
        </p:spPr>
      </p:pic>
      <p:sp>
        <p:nvSpPr>
          <p:cNvPr id="7" name="Text 4"/>
          <p:cNvSpPr/>
          <p:nvPr/>
        </p:nvSpPr>
        <p:spPr>
          <a:xfrm>
            <a:off x="633701" y="1627632"/>
            <a:ext cx="10744200" cy="4407408"/>
          </a:xfrm>
          <a:prstGeom prst="rect">
            <a:avLst/>
          </a:prstGeom>
          <a:noFill/>
          <a:ln/>
        </p:spPr>
        <p:txBody>
          <a:bodyPr wrap="square" rtlCol="0" anchor="t"/>
          <a:lstStyle/>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Main duct (of Wirsung) runs the gland's length</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Joins the common bile duct at the ampulla of Vater</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Accessory duct (of Santorini) — minor papilla in many people</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Function: delivers enzyme- and bicarbonate-rich secretions into the duodenum</a:t>
            </a:r>
            <a:endParaRPr lang="en-US" sz="20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36 / 46</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ACCESSORY ORGANS — PHYSIOLOGY (REVIEW)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Pancreas: Secretory Function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40080" y="1856232"/>
            <a:ext cx="10881360" cy="4572000"/>
          </a:xfrm>
          <a:prstGeom prst="rect">
            <a:avLst/>
          </a:prstGeom>
          <a:noFill/>
          <a:ln/>
        </p:spPr>
        <p:txBody>
          <a:bodyPr wrap="square" rtlCol="0" anchor="t"/>
          <a:lstStyle/>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Exocrine (acinar cells) — amylase, lipase, proteases (as zymogens)</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Ductal cells — bicarbonate neutralizes acidic chyme</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Regulated by secretin (bicarbonate) &amp; CCK (enzymes)</a:t>
            </a:r>
            <a:endParaRPr lang="en-US" sz="2200" dirty="0"/>
          </a:p>
          <a:p>
            <a:pPr marL="254000" indent="-254000">
              <a:lnSpc>
                <a:spcPct val="105000"/>
              </a:lnSpc>
              <a:spcAft>
                <a:spcPts val="1800"/>
              </a:spcAft>
              <a:buSzPct val="100000"/>
              <a:buChar char="▪"/>
            </a:pPr>
            <a:r>
              <a:rPr lang="en-US" sz="2200" dirty="0">
                <a:solidFill>
                  <a:srgbClr val="2B211D"/>
                </a:solidFill>
                <a:latin typeface="Calibri" pitchFamily="34" charset="0"/>
                <a:ea typeface="Calibri" pitchFamily="34" charset="-122"/>
                <a:cs typeface="Calibri" pitchFamily="34" charset="-120"/>
              </a:rPr>
              <a:t>Endocrine islets — insulin (β) and glucagon (α); detail in Metabolism module</a:t>
            </a:r>
            <a:endParaRPr lang="en-US" sz="22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37 / 46</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SYSTEMS VIEW</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Putting It Together: The Digestive Flow</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0080" y="1810512"/>
            <a:ext cx="6492240" cy="438912"/>
          </a:xfrm>
          <a:prstGeom prst="roundRect">
            <a:avLst>
              <a:gd name="adj" fmla="val 14583"/>
            </a:avLst>
          </a:prstGeom>
          <a:solidFill>
            <a:srgbClr val="C9A66B"/>
          </a:solidFill>
          <a:ln/>
        </p:spPr>
        <p:txBody>
          <a:bodyPr/>
          <a:lstStyle/>
          <a:p>
            <a:endParaRPr lang="en-US"/>
          </a:p>
        </p:txBody>
      </p:sp>
      <p:sp>
        <p:nvSpPr>
          <p:cNvPr id="6" name="Text 4"/>
          <p:cNvSpPr/>
          <p:nvPr/>
        </p:nvSpPr>
        <p:spPr>
          <a:xfrm>
            <a:off x="640080" y="1810512"/>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Meal</a:t>
            </a:r>
            <a:endParaRPr lang="en-US" sz="2100" dirty="0"/>
          </a:p>
        </p:txBody>
      </p:sp>
      <p:sp>
        <p:nvSpPr>
          <p:cNvPr id="7" name="Text 5"/>
          <p:cNvSpPr/>
          <p:nvPr/>
        </p:nvSpPr>
        <p:spPr>
          <a:xfrm>
            <a:off x="640080" y="2212848"/>
            <a:ext cx="6492240" cy="310896"/>
          </a:xfrm>
          <a:prstGeom prst="rect">
            <a:avLst/>
          </a:prstGeom>
          <a:noFill/>
          <a:ln/>
        </p:spPr>
        <p:txBody>
          <a:bodyPr wrap="square" rtlCol="0" anchor="ctr"/>
          <a:lstStyle/>
          <a:p>
            <a:pPr marL="0" indent="0" algn="ctr">
              <a:buNone/>
            </a:pPr>
            <a:r>
              <a:rPr lang="en-US" sz="1800" b="1" dirty="0">
                <a:solidFill>
                  <a:srgbClr val="7A2E2E"/>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685800" y="2518534"/>
            <a:ext cx="6492240" cy="438912"/>
          </a:xfrm>
          <a:prstGeom prst="roundRect">
            <a:avLst>
              <a:gd name="adj" fmla="val 14583"/>
            </a:avLst>
          </a:prstGeom>
          <a:solidFill>
            <a:srgbClr val="7A2E2E"/>
          </a:solidFill>
          <a:ln/>
        </p:spPr>
        <p:txBody>
          <a:bodyPr/>
          <a:lstStyle/>
          <a:p>
            <a:endParaRPr lang="en-US"/>
          </a:p>
        </p:txBody>
      </p:sp>
      <p:sp>
        <p:nvSpPr>
          <p:cNvPr id="9" name="Text 7"/>
          <p:cNvSpPr/>
          <p:nvPr/>
        </p:nvSpPr>
        <p:spPr>
          <a:xfrm>
            <a:off x="640080" y="2525871"/>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Stomach</a:t>
            </a:r>
            <a:endParaRPr lang="en-US" sz="2100" dirty="0"/>
          </a:p>
        </p:txBody>
      </p:sp>
      <p:sp>
        <p:nvSpPr>
          <p:cNvPr id="10" name="Text 8"/>
          <p:cNvSpPr/>
          <p:nvPr/>
        </p:nvSpPr>
        <p:spPr>
          <a:xfrm>
            <a:off x="640080" y="2907792"/>
            <a:ext cx="6492240" cy="310896"/>
          </a:xfrm>
          <a:prstGeom prst="rect">
            <a:avLst/>
          </a:prstGeom>
          <a:noFill/>
          <a:ln/>
        </p:spPr>
        <p:txBody>
          <a:bodyPr wrap="square" rtlCol="0" anchor="ctr"/>
          <a:lstStyle/>
          <a:p>
            <a:pPr marL="0" indent="0" algn="ctr">
              <a:buNone/>
            </a:pPr>
            <a:r>
              <a:rPr lang="en-US" sz="1800" b="1" dirty="0">
                <a:solidFill>
                  <a:srgbClr val="7A2E2E"/>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640080" y="3178306"/>
            <a:ext cx="6492240" cy="438912"/>
          </a:xfrm>
          <a:prstGeom prst="roundRect">
            <a:avLst>
              <a:gd name="adj" fmla="val 14583"/>
            </a:avLst>
          </a:prstGeom>
          <a:solidFill>
            <a:srgbClr val="3E5C43"/>
          </a:solidFill>
          <a:ln/>
        </p:spPr>
        <p:txBody>
          <a:bodyPr/>
          <a:lstStyle/>
          <a:p>
            <a:endParaRPr lang="en-US"/>
          </a:p>
        </p:txBody>
      </p:sp>
      <p:sp>
        <p:nvSpPr>
          <p:cNvPr id="12" name="Text 10"/>
          <p:cNvSpPr/>
          <p:nvPr/>
        </p:nvSpPr>
        <p:spPr>
          <a:xfrm>
            <a:off x="685800" y="3221091"/>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Duodenum</a:t>
            </a:r>
            <a:endParaRPr lang="en-US" sz="2100" dirty="0"/>
          </a:p>
        </p:txBody>
      </p:sp>
      <p:sp>
        <p:nvSpPr>
          <p:cNvPr id="13" name="Text 11"/>
          <p:cNvSpPr/>
          <p:nvPr/>
        </p:nvSpPr>
        <p:spPr>
          <a:xfrm>
            <a:off x="640080" y="3580791"/>
            <a:ext cx="6492240" cy="310896"/>
          </a:xfrm>
          <a:prstGeom prst="rect">
            <a:avLst/>
          </a:prstGeom>
          <a:noFill/>
          <a:ln/>
        </p:spPr>
        <p:txBody>
          <a:bodyPr wrap="square" rtlCol="0" anchor="ctr"/>
          <a:lstStyle/>
          <a:p>
            <a:pPr marL="0" indent="0" algn="ctr">
              <a:buNone/>
            </a:pPr>
            <a:r>
              <a:rPr lang="en-US" sz="1800" b="1" dirty="0">
                <a:solidFill>
                  <a:srgbClr val="7A2E2E"/>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40080" y="3859991"/>
            <a:ext cx="6492240" cy="438912"/>
          </a:xfrm>
          <a:prstGeom prst="roundRect">
            <a:avLst>
              <a:gd name="adj" fmla="val 14583"/>
            </a:avLst>
          </a:prstGeom>
          <a:solidFill>
            <a:srgbClr val="5A6B8C"/>
          </a:solidFill>
          <a:ln/>
        </p:spPr>
        <p:txBody>
          <a:bodyPr/>
          <a:lstStyle/>
          <a:p>
            <a:endParaRPr lang="en-US"/>
          </a:p>
        </p:txBody>
      </p:sp>
      <p:sp>
        <p:nvSpPr>
          <p:cNvPr id="15" name="Text 13"/>
          <p:cNvSpPr/>
          <p:nvPr/>
        </p:nvSpPr>
        <p:spPr>
          <a:xfrm>
            <a:off x="731520" y="3872484"/>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Bile + Pancreatic Enzymes</a:t>
            </a:r>
            <a:endParaRPr lang="en-US" sz="2100" dirty="0"/>
          </a:p>
        </p:txBody>
      </p:sp>
      <p:sp>
        <p:nvSpPr>
          <p:cNvPr id="16" name="Text 14"/>
          <p:cNvSpPr/>
          <p:nvPr/>
        </p:nvSpPr>
        <p:spPr>
          <a:xfrm>
            <a:off x="640080" y="4265676"/>
            <a:ext cx="6492240" cy="310896"/>
          </a:xfrm>
          <a:prstGeom prst="rect">
            <a:avLst/>
          </a:prstGeom>
          <a:noFill/>
          <a:ln/>
        </p:spPr>
        <p:txBody>
          <a:bodyPr wrap="square" rtlCol="0" anchor="ctr"/>
          <a:lstStyle/>
          <a:p>
            <a:pPr marL="0" indent="0" algn="ctr">
              <a:buNone/>
            </a:pPr>
            <a:r>
              <a:rPr lang="en-US" sz="1800" b="1" dirty="0">
                <a:solidFill>
                  <a:srgbClr val="7A2E2E"/>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685800" y="4557327"/>
            <a:ext cx="6492240" cy="438912"/>
          </a:xfrm>
          <a:prstGeom prst="roundRect">
            <a:avLst>
              <a:gd name="adj" fmla="val 14583"/>
            </a:avLst>
          </a:prstGeom>
          <a:solidFill>
            <a:srgbClr val="7A2E2E"/>
          </a:solidFill>
          <a:ln/>
        </p:spPr>
        <p:txBody>
          <a:bodyPr/>
          <a:lstStyle/>
          <a:p>
            <a:endParaRPr lang="en-US"/>
          </a:p>
        </p:txBody>
      </p:sp>
      <p:sp>
        <p:nvSpPr>
          <p:cNvPr id="18" name="Text 16"/>
          <p:cNvSpPr/>
          <p:nvPr/>
        </p:nvSpPr>
        <p:spPr>
          <a:xfrm>
            <a:off x="640080" y="4557327"/>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Jejunum/Ileum (Absorption)</a:t>
            </a:r>
            <a:endParaRPr lang="en-US" sz="2100" dirty="0"/>
          </a:p>
        </p:txBody>
      </p:sp>
      <p:sp>
        <p:nvSpPr>
          <p:cNvPr id="19" name="Text 17"/>
          <p:cNvSpPr/>
          <p:nvPr/>
        </p:nvSpPr>
        <p:spPr>
          <a:xfrm>
            <a:off x="640080" y="4958493"/>
            <a:ext cx="6492240" cy="310896"/>
          </a:xfrm>
          <a:prstGeom prst="rect">
            <a:avLst/>
          </a:prstGeom>
          <a:noFill/>
          <a:ln/>
        </p:spPr>
        <p:txBody>
          <a:bodyPr wrap="square" rtlCol="0" anchor="ctr"/>
          <a:lstStyle/>
          <a:p>
            <a:pPr marL="0" indent="0" algn="ctr">
              <a:buNone/>
            </a:pPr>
            <a:r>
              <a:rPr lang="en-US" sz="1800" b="1" dirty="0">
                <a:solidFill>
                  <a:srgbClr val="7A2E2E"/>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640080" y="5230368"/>
            <a:ext cx="6492240" cy="438912"/>
          </a:xfrm>
          <a:prstGeom prst="roundRect">
            <a:avLst>
              <a:gd name="adj" fmla="val 14583"/>
            </a:avLst>
          </a:prstGeom>
          <a:solidFill>
            <a:srgbClr val="3E5C43"/>
          </a:solidFill>
          <a:ln/>
        </p:spPr>
        <p:txBody>
          <a:bodyPr/>
          <a:lstStyle/>
          <a:p>
            <a:endParaRPr lang="en-US"/>
          </a:p>
        </p:txBody>
      </p:sp>
      <p:sp>
        <p:nvSpPr>
          <p:cNvPr id="21" name="Text 19"/>
          <p:cNvSpPr/>
          <p:nvPr/>
        </p:nvSpPr>
        <p:spPr>
          <a:xfrm>
            <a:off x="640080" y="5239512"/>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Portal Vein (Nutrients)</a:t>
            </a:r>
            <a:endParaRPr lang="en-US" sz="2100" dirty="0"/>
          </a:p>
        </p:txBody>
      </p:sp>
      <p:sp>
        <p:nvSpPr>
          <p:cNvPr id="22" name="Text 20"/>
          <p:cNvSpPr/>
          <p:nvPr/>
        </p:nvSpPr>
        <p:spPr>
          <a:xfrm>
            <a:off x="640080" y="5641848"/>
            <a:ext cx="6492240" cy="310896"/>
          </a:xfrm>
          <a:prstGeom prst="rect">
            <a:avLst/>
          </a:prstGeom>
          <a:noFill/>
          <a:ln/>
        </p:spPr>
        <p:txBody>
          <a:bodyPr wrap="square" rtlCol="0" anchor="ctr"/>
          <a:lstStyle/>
          <a:p>
            <a:pPr marL="0" indent="0" algn="ctr">
              <a:buNone/>
            </a:pPr>
            <a:r>
              <a:rPr lang="en-US" sz="1800" b="1" dirty="0">
                <a:solidFill>
                  <a:srgbClr val="7A2E2E"/>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640080" y="5925312"/>
            <a:ext cx="6492240" cy="438912"/>
          </a:xfrm>
          <a:prstGeom prst="roundRect">
            <a:avLst>
              <a:gd name="adj" fmla="val 14583"/>
            </a:avLst>
          </a:prstGeom>
          <a:solidFill>
            <a:srgbClr val="5A1F1F"/>
          </a:solidFill>
          <a:ln/>
        </p:spPr>
        <p:txBody>
          <a:bodyPr/>
          <a:lstStyle/>
          <a:p>
            <a:endParaRPr lang="en-US"/>
          </a:p>
        </p:txBody>
      </p:sp>
      <p:sp>
        <p:nvSpPr>
          <p:cNvPr id="24" name="Text 22"/>
          <p:cNvSpPr/>
          <p:nvPr/>
        </p:nvSpPr>
        <p:spPr>
          <a:xfrm>
            <a:off x="640080" y="5938071"/>
            <a:ext cx="6492240" cy="438912"/>
          </a:xfrm>
          <a:prstGeom prst="rect">
            <a:avLst/>
          </a:prstGeom>
          <a:noFill/>
          <a:ln/>
        </p:spPr>
        <p:txBody>
          <a:bodyPr wrap="square" rtlCol="0" anchor="ctr"/>
          <a:lstStyle/>
          <a:p>
            <a:pPr marL="0" indent="0" algn="ctr">
              <a:buNone/>
            </a:pPr>
            <a:r>
              <a:rPr lang="en-US" sz="2100" b="1" dirty="0">
                <a:solidFill>
                  <a:srgbClr val="FFFFFF"/>
                </a:solidFill>
                <a:latin typeface="Calibri" pitchFamily="34" charset="0"/>
                <a:ea typeface="Calibri" pitchFamily="34" charset="-122"/>
                <a:cs typeface="Calibri" pitchFamily="34" charset="-120"/>
              </a:rPr>
              <a:t>Liver</a:t>
            </a:r>
            <a:endParaRPr lang="en-US" sz="2100" dirty="0"/>
          </a:p>
        </p:txBody>
      </p:sp>
      <p:sp>
        <p:nvSpPr>
          <p:cNvPr id="26" name="Text 24"/>
          <p:cNvSpPr/>
          <p:nvPr/>
        </p:nvSpPr>
        <p:spPr>
          <a:xfrm>
            <a:off x="6960073" y="4606290"/>
            <a:ext cx="777240" cy="402336"/>
          </a:xfrm>
          <a:prstGeom prst="rect">
            <a:avLst/>
          </a:prstGeom>
          <a:noFill/>
          <a:ln/>
        </p:spPr>
        <p:txBody>
          <a:bodyPr wrap="square" rtlCol="0" anchor="ctr"/>
          <a:lstStyle/>
          <a:p>
            <a:pPr marL="0" indent="0" algn="ctr">
              <a:buNone/>
            </a:pPr>
            <a:r>
              <a:rPr lang="en-US" sz="1800" b="1" dirty="0">
                <a:solidFill>
                  <a:srgbClr val="6E5F55"/>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7645873" y="4277227"/>
            <a:ext cx="4114800" cy="292608"/>
          </a:xfrm>
          <a:prstGeom prst="rect">
            <a:avLst/>
          </a:prstGeom>
          <a:noFill/>
          <a:ln/>
        </p:spPr>
        <p:txBody>
          <a:bodyPr wrap="square" rtlCol="0" anchor="ctr"/>
          <a:lstStyle/>
          <a:p>
            <a:pPr marL="0" indent="0" algn="ctr">
              <a:buNone/>
            </a:pPr>
            <a:r>
              <a:rPr lang="en-US" sz="1400" i="1" dirty="0">
                <a:solidFill>
                  <a:srgbClr val="6E5F55"/>
                </a:solidFill>
                <a:latin typeface="Calibri" pitchFamily="34" charset="0"/>
                <a:ea typeface="Calibri" pitchFamily="34" charset="-122"/>
                <a:cs typeface="Calibri" pitchFamily="34" charset="-120"/>
              </a:rPr>
              <a:t>unabsorbed residue &amp; water</a:t>
            </a:r>
            <a:endParaRPr lang="en-US" sz="1400" dirty="0"/>
          </a:p>
        </p:txBody>
      </p:sp>
      <p:sp>
        <p:nvSpPr>
          <p:cNvPr id="28" name="Shape 26"/>
          <p:cNvSpPr/>
          <p:nvPr/>
        </p:nvSpPr>
        <p:spPr>
          <a:xfrm>
            <a:off x="7818120" y="4588002"/>
            <a:ext cx="3931920" cy="502920"/>
          </a:xfrm>
          <a:prstGeom prst="roundRect">
            <a:avLst>
              <a:gd name="adj" fmla="val 12727"/>
            </a:avLst>
          </a:prstGeom>
          <a:solidFill>
            <a:srgbClr val="9C7A4A"/>
          </a:solidFill>
          <a:ln/>
        </p:spPr>
        <p:txBody>
          <a:bodyPr/>
          <a:lstStyle/>
          <a:p>
            <a:endParaRPr lang="en-US"/>
          </a:p>
        </p:txBody>
      </p:sp>
      <p:sp>
        <p:nvSpPr>
          <p:cNvPr id="29" name="Text 27"/>
          <p:cNvSpPr/>
          <p:nvPr/>
        </p:nvSpPr>
        <p:spPr>
          <a:xfrm>
            <a:off x="7772400" y="4565913"/>
            <a:ext cx="3931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Colon (water absorption)</a:t>
            </a:r>
            <a:endParaRPr lang="en-US" sz="2000" dirty="0"/>
          </a:p>
        </p:txBody>
      </p:sp>
      <p:sp>
        <p:nvSpPr>
          <p:cNvPr id="30" name="Text 28"/>
          <p:cNvSpPr/>
          <p:nvPr/>
        </p:nvSpPr>
        <p:spPr>
          <a:xfrm>
            <a:off x="7818120" y="5065776"/>
            <a:ext cx="3931920" cy="329184"/>
          </a:xfrm>
          <a:prstGeom prst="rect">
            <a:avLst/>
          </a:prstGeom>
          <a:noFill/>
          <a:ln/>
        </p:spPr>
        <p:txBody>
          <a:bodyPr wrap="square" rtlCol="0" anchor="ctr"/>
          <a:lstStyle/>
          <a:p>
            <a:pPr marL="0" indent="0" algn="ctr">
              <a:buNone/>
            </a:pPr>
            <a:r>
              <a:rPr lang="en-US" sz="1600" b="1" dirty="0">
                <a:solidFill>
                  <a:srgbClr val="6E5F55"/>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7863840" y="5353706"/>
            <a:ext cx="3931920" cy="502920"/>
          </a:xfrm>
          <a:prstGeom prst="roundRect">
            <a:avLst>
              <a:gd name="adj" fmla="val 12727"/>
            </a:avLst>
          </a:prstGeom>
          <a:solidFill>
            <a:srgbClr val="6B4F32"/>
          </a:solidFill>
          <a:ln/>
        </p:spPr>
        <p:txBody>
          <a:bodyPr/>
          <a:lstStyle/>
          <a:p>
            <a:endParaRPr lang="en-US"/>
          </a:p>
        </p:txBody>
      </p:sp>
      <p:sp>
        <p:nvSpPr>
          <p:cNvPr id="32" name="Text 30"/>
          <p:cNvSpPr/>
          <p:nvPr/>
        </p:nvSpPr>
        <p:spPr>
          <a:xfrm>
            <a:off x="7772400" y="5341925"/>
            <a:ext cx="3931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Rectum (feces &amp; defecation)</a:t>
            </a:r>
            <a:endParaRPr lang="en-US" sz="2000" dirty="0"/>
          </a:p>
        </p:txBody>
      </p:sp>
      <p:sp>
        <p:nvSpPr>
          <p:cNvPr id="33" name="Text 31"/>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34" name="Text 32"/>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38 / 46</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ED6AD9-FCC5-F330-0C93-C669482322B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CF3CF4-ADD7-C02B-727C-678915758840}"/>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INTEGRATIVE ANATOMY</a:t>
            </a:r>
            <a:endParaRPr lang="en-US" sz="2000" dirty="0"/>
          </a:p>
        </p:txBody>
      </p:sp>
      <p:sp>
        <p:nvSpPr>
          <p:cNvPr id="3" name="Text 1">
            <a:extLst>
              <a:ext uri="{FF2B5EF4-FFF2-40B4-BE49-F238E27FC236}">
                <a16:creationId xmlns:a16="http://schemas.microsoft.com/office/drawing/2014/main" id="{FB38CB2F-FCA0-4FC9-BB6E-A86344B28B8D}"/>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Waste regulation</a:t>
            </a:r>
            <a:endParaRPr lang="en-US" sz="3200" dirty="0"/>
          </a:p>
        </p:txBody>
      </p:sp>
      <p:sp>
        <p:nvSpPr>
          <p:cNvPr id="4" name="Shape 2">
            <a:extLst>
              <a:ext uri="{FF2B5EF4-FFF2-40B4-BE49-F238E27FC236}">
                <a16:creationId xmlns:a16="http://schemas.microsoft.com/office/drawing/2014/main" id="{2C22CCBD-63CF-F704-91B3-190EFE68FF81}"/>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5" name="Shape 3">
            <a:extLst>
              <a:ext uri="{FF2B5EF4-FFF2-40B4-BE49-F238E27FC236}">
                <a16:creationId xmlns:a16="http://schemas.microsoft.com/office/drawing/2014/main" id="{0ACA7FCC-CA68-190A-5995-57AF09A5170B}"/>
              </a:ext>
            </a:extLst>
          </p:cNvPr>
          <p:cNvSpPr/>
          <p:nvPr/>
        </p:nvSpPr>
        <p:spPr>
          <a:xfrm>
            <a:off x="5773479" y="822819"/>
            <a:ext cx="6308935" cy="5709187"/>
          </a:xfrm>
          <a:prstGeom prst="rect">
            <a:avLst/>
          </a:prstGeom>
          <a:solidFill>
            <a:srgbClr val="FFFFFF"/>
          </a:solidFill>
          <a:ln w="19050">
            <a:solidFill>
              <a:srgbClr val="C9A66B"/>
            </a:solidFill>
            <a:prstDash val="solid"/>
          </a:ln>
        </p:spPr>
        <p:txBody>
          <a:bodyPr/>
          <a:lstStyle/>
          <a:p>
            <a:endParaRPr lang="en-US"/>
          </a:p>
        </p:txBody>
      </p:sp>
      <p:sp>
        <p:nvSpPr>
          <p:cNvPr id="7" name="Text 4">
            <a:extLst>
              <a:ext uri="{FF2B5EF4-FFF2-40B4-BE49-F238E27FC236}">
                <a16:creationId xmlns:a16="http://schemas.microsoft.com/office/drawing/2014/main" id="{613C675C-4F01-211C-74B2-748D99F95D71}"/>
              </a:ext>
            </a:extLst>
          </p:cNvPr>
          <p:cNvSpPr/>
          <p:nvPr/>
        </p:nvSpPr>
        <p:spPr>
          <a:xfrm>
            <a:off x="457200" y="2132848"/>
            <a:ext cx="5082362" cy="467347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Small intestine absorbs usable nutrients </a:t>
            </a: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 indigestible matter (fiber, dead cells, bacteria) enters large intestine  colon removes water &amp; electrolytes  bacteria ferment remaining carbohydrates  waste solidifies into feces</a:t>
            </a:r>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sym typeface="Wingdings" panose="05000000000000000000" pitchFamily="2" charset="2"/>
              </a:rPr>
              <a:t>Normal feces: formed; either sausage-shaped with cracks, or sausage-shaped with smooth/soft surface</a:t>
            </a:r>
            <a:endParaRPr lang="en-US" sz="2100" dirty="0"/>
          </a:p>
        </p:txBody>
      </p:sp>
      <p:sp>
        <p:nvSpPr>
          <p:cNvPr id="8" name="Text 5">
            <a:extLst>
              <a:ext uri="{FF2B5EF4-FFF2-40B4-BE49-F238E27FC236}">
                <a16:creationId xmlns:a16="http://schemas.microsoft.com/office/drawing/2014/main" id="{8C3E0996-4E77-FC8C-BDCA-5CB3B2CFB97A}"/>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a:extLst>
              <a:ext uri="{FF2B5EF4-FFF2-40B4-BE49-F238E27FC236}">
                <a16:creationId xmlns:a16="http://schemas.microsoft.com/office/drawing/2014/main" id="{87E3B229-0665-E5E1-7D7B-2CDBF3B1C1A2}"/>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40 / 46</a:t>
            </a:r>
            <a:endParaRPr lang="en-US" sz="1000" dirty="0"/>
          </a:p>
        </p:txBody>
      </p:sp>
      <p:pic>
        <p:nvPicPr>
          <p:cNvPr id="11" name="Picture 10">
            <a:extLst>
              <a:ext uri="{FF2B5EF4-FFF2-40B4-BE49-F238E27FC236}">
                <a16:creationId xmlns:a16="http://schemas.microsoft.com/office/drawing/2014/main" id="{2BD277C4-CD2A-DA00-2F74-27CB826BAB0D}"/>
              </a:ext>
            </a:extLst>
          </p:cNvPr>
          <p:cNvPicPr>
            <a:picLocks noChangeAspect="1"/>
          </p:cNvPicPr>
          <p:nvPr/>
        </p:nvPicPr>
        <p:blipFill>
          <a:blip r:embed="rId3"/>
          <a:srcRect b="3567"/>
          <a:stretch>
            <a:fillRect/>
          </a:stretch>
        </p:blipFill>
        <p:spPr>
          <a:xfrm>
            <a:off x="6857905" y="897386"/>
            <a:ext cx="3906166" cy="5634620"/>
          </a:xfrm>
          <a:prstGeom prst="rect">
            <a:avLst/>
          </a:prstGeom>
        </p:spPr>
      </p:pic>
    </p:spTree>
    <p:extLst>
      <p:ext uri="{BB962C8B-B14F-4D97-AF65-F5344CB8AC3E}">
        <p14:creationId xmlns:p14="http://schemas.microsoft.com/office/powerpoint/2010/main" val="25323758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INTEGRATIVE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GI Vasculature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5582093" y="543282"/>
            <a:ext cx="6517758" cy="5598437"/>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gi_blood_supply_1.png"/>
          <p:cNvPicPr>
            <a:picLocks noChangeAspect="1"/>
          </p:cNvPicPr>
          <p:nvPr/>
        </p:nvPicPr>
        <p:blipFill>
          <a:blip r:embed="rId3"/>
          <a:stretch>
            <a:fillRect/>
          </a:stretch>
        </p:blipFill>
        <p:spPr>
          <a:xfrm>
            <a:off x="5661418" y="747306"/>
            <a:ext cx="6317221" cy="5339549"/>
          </a:xfrm>
          <a:prstGeom prst="rect">
            <a:avLst/>
          </a:prstGeom>
        </p:spPr>
      </p:pic>
      <p:sp>
        <p:nvSpPr>
          <p:cNvPr id="7" name="Text 4"/>
          <p:cNvSpPr/>
          <p:nvPr/>
        </p:nvSpPr>
        <p:spPr>
          <a:xfrm>
            <a:off x="548640" y="1856232"/>
            <a:ext cx="4097788"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Celiac trunk — foregut (to major duodenal papilla)</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Superior mesenteric artery — midgut (to transverse colon)</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Inferior mesenteric artery — hindgut (to rectum)</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39 / 46</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INTEGRATIVE ANATOMY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rPr>
              <a:t>The Gut-Brain Axis &amp; Enteric Nervous System (ENS)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7276289" y="2441643"/>
            <a:ext cx="4806125" cy="3402190"/>
          </a:xfrm>
          <a:prstGeom prst="rect">
            <a:avLst/>
          </a:prstGeom>
          <a:solidFill>
            <a:srgbClr val="FFFFFF"/>
          </a:solidFill>
          <a:ln w="19050">
            <a:solidFill>
              <a:srgbClr val="C9A66B"/>
            </a:solidFill>
            <a:prstDash val="solid"/>
          </a:ln>
        </p:spPr>
        <p:txBody>
          <a:bodyPr/>
          <a:lstStyle/>
          <a:p>
            <a:endParaRPr lang="en-US"/>
          </a:p>
        </p:txBody>
      </p:sp>
      <p:sp>
        <p:nvSpPr>
          <p:cNvPr id="7" name="Text 4"/>
          <p:cNvSpPr/>
          <p:nvPr/>
        </p:nvSpPr>
        <p:spPr>
          <a:xfrm>
            <a:off x="311285" y="1678843"/>
            <a:ext cx="6861230" cy="5127484"/>
          </a:xfrm>
          <a:prstGeom prst="rect">
            <a:avLst/>
          </a:prstGeom>
          <a:noFill/>
          <a:ln/>
        </p:spPr>
        <p:txBody>
          <a:bodyPr wrap="square" rtlCol="0" anchor="t"/>
          <a:lstStyle/>
          <a:p>
            <a:pPr marL="254000" indent="-254000">
              <a:lnSpc>
                <a:spcPct val="105000"/>
              </a:lnSpc>
              <a:buSzPct val="100000"/>
              <a:buChar char="▪"/>
            </a:pPr>
            <a:r>
              <a:rPr lang="en-US" b="1" dirty="0">
                <a:solidFill>
                  <a:srgbClr val="2B211D"/>
                </a:solidFill>
                <a:latin typeface="Calibri" pitchFamily="34" charset="0"/>
                <a:ea typeface="Calibri" pitchFamily="34" charset="-122"/>
                <a:cs typeface="Calibri" pitchFamily="34" charset="-120"/>
              </a:rPr>
              <a:t>ENS </a:t>
            </a:r>
            <a:r>
              <a:rPr lang="en-US" dirty="0">
                <a:solidFill>
                  <a:srgbClr val="2B211D"/>
                </a:solidFill>
                <a:latin typeface="Calibri" pitchFamily="34" charset="0"/>
                <a:ea typeface="Calibri" pitchFamily="34" charset="-122"/>
                <a:cs typeface="Calibri" pitchFamily="34" charset="-120"/>
              </a:rPr>
              <a:t>— the “second brain” </a:t>
            </a:r>
          </a:p>
          <a:p>
            <a:pPr marL="711200" lvl="1" indent="-254000">
              <a:lnSpc>
                <a:spcPct val="105000"/>
              </a:lnSpc>
              <a:buSzPct val="100000"/>
              <a:buChar char="▪"/>
            </a:pPr>
            <a:r>
              <a:rPr lang="en-US" dirty="0"/>
              <a:t>a massive network of 200-600 million neurons in the gut wall</a:t>
            </a:r>
          </a:p>
          <a:p>
            <a:pPr marL="711200" lvl="1" indent="-254000">
              <a:lnSpc>
                <a:spcPct val="105000"/>
              </a:lnSpc>
              <a:buSzPct val="100000"/>
              <a:buChar char="▪"/>
            </a:pPr>
            <a:r>
              <a:rPr lang="en-US" dirty="0"/>
              <a:t>Can function independently from the CNS</a:t>
            </a:r>
          </a:p>
          <a:p>
            <a:pPr marL="254000" indent="-254000">
              <a:lnSpc>
                <a:spcPct val="105000"/>
              </a:lnSpc>
              <a:buSzPct val="100000"/>
              <a:buChar char="▪"/>
            </a:pPr>
            <a:r>
              <a:rPr lang="en-US" dirty="0"/>
              <a:t>Major ENS plexuses:</a:t>
            </a:r>
          </a:p>
          <a:p>
            <a:pPr marL="711200" lvl="1" indent="-254000">
              <a:lnSpc>
                <a:spcPct val="105000"/>
              </a:lnSpc>
              <a:buSzPct val="100000"/>
              <a:buChar char="▪"/>
            </a:pPr>
            <a:r>
              <a:rPr lang="en-US" b="1" dirty="0"/>
              <a:t>Myenteric (Auerbach's)</a:t>
            </a:r>
            <a:r>
              <a:rPr lang="en-US" dirty="0"/>
              <a:t> — between muscle layers → controls </a:t>
            </a:r>
            <a:r>
              <a:rPr lang="en-US" b="1" dirty="0"/>
              <a:t>motility</a:t>
            </a:r>
            <a:endParaRPr lang="en-US" dirty="0"/>
          </a:p>
          <a:p>
            <a:pPr marL="711200" lvl="1" indent="-254000">
              <a:lnSpc>
                <a:spcPct val="105000"/>
              </a:lnSpc>
              <a:buSzPct val="100000"/>
              <a:buChar char="▪"/>
            </a:pPr>
            <a:r>
              <a:rPr lang="en-US" b="1" dirty="0"/>
              <a:t>Submucosal (Meissner's)</a:t>
            </a:r>
            <a:r>
              <a:rPr lang="en-US" dirty="0"/>
              <a:t> — beneath mucosa → controls </a:t>
            </a:r>
            <a:r>
              <a:rPr lang="en-US" b="1" dirty="0"/>
              <a:t>secretion &amp; blood flow</a:t>
            </a:r>
            <a:endParaRPr lang="en-US" dirty="0"/>
          </a:p>
          <a:p>
            <a:pPr marL="342900" indent="-254000">
              <a:lnSpc>
                <a:spcPct val="105000"/>
              </a:lnSpc>
              <a:buSzPct val="100000"/>
              <a:buChar char="▪"/>
            </a:pPr>
            <a:r>
              <a:rPr lang="en-US" dirty="0"/>
              <a:t>Extrinsic CNS modulation of ENS:</a:t>
            </a:r>
          </a:p>
          <a:p>
            <a:pPr marL="742950" lvl="1" indent="-254000">
              <a:lnSpc>
                <a:spcPct val="105000"/>
              </a:lnSpc>
              <a:buSzPct val="100000"/>
              <a:buChar char="▪"/>
            </a:pPr>
            <a:r>
              <a:rPr lang="en-US" dirty="0" err="1"/>
              <a:t>Vagus</a:t>
            </a:r>
            <a:r>
              <a:rPr lang="en-US" dirty="0"/>
              <a:t> nerve (parasympathetic) — generally stimulatory (promotes motility/secretion)</a:t>
            </a:r>
          </a:p>
          <a:p>
            <a:pPr marL="742950" lvl="1" indent="-254000">
              <a:lnSpc>
                <a:spcPct val="105000"/>
              </a:lnSpc>
              <a:buSzPct val="100000"/>
              <a:buChar char="▪"/>
            </a:pPr>
            <a:r>
              <a:rPr lang="en-US" dirty="0"/>
              <a:t>Sympathetic nerves — generally inhibitory (slows motility, reduces secretion</a:t>
            </a:r>
          </a:p>
          <a:p>
            <a:pPr marL="254000" indent="-254000">
              <a:lnSpc>
                <a:spcPct val="105000"/>
              </a:lnSpc>
              <a:buSzPct val="100000"/>
              <a:buChar char="▪"/>
            </a:pPr>
            <a:r>
              <a:rPr lang="en-US" dirty="0"/>
              <a:t>Communication pathways: </a:t>
            </a:r>
            <a:r>
              <a:rPr lang="en-US" dirty="0" err="1"/>
              <a:t>Vagus</a:t>
            </a:r>
            <a:r>
              <a:rPr lang="en-US" dirty="0"/>
              <a:t> n. (80% afferent), immune mediators, enteroendocrine hormones, microbial metabolites</a:t>
            </a:r>
          </a:p>
          <a:p>
            <a:pPr marL="254000" indent="-254000">
              <a:lnSpc>
                <a:spcPct val="105000"/>
              </a:lnSpc>
              <a:buSzPct val="100000"/>
              <a:buChar char="▪"/>
            </a:pPr>
            <a:r>
              <a:rPr lang="en-US" dirty="0"/>
              <a:t>90% of the body’s serotonin produced in gut but does not pass BBB</a:t>
            </a:r>
          </a:p>
          <a:p>
            <a:pPr marL="711200" lvl="1" indent="-254000">
              <a:lnSpc>
                <a:spcPct val="105000"/>
              </a:lnSpc>
              <a:spcAft>
                <a:spcPts val="1600"/>
              </a:spcAft>
              <a:buSzPct val="100000"/>
              <a:buChar char="▪"/>
            </a:pP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40 / 46</a:t>
            </a:r>
            <a:endParaRPr lang="en-US" sz="1000" dirty="0"/>
          </a:p>
        </p:txBody>
      </p:sp>
      <p:pic>
        <p:nvPicPr>
          <p:cNvPr id="11" name="Picture 10">
            <a:extLst>
              <a:ext uri="{FF2B5EF4-FFF2-40B4-BE49-F238E27FC236}">
                <a16:creationId xmlns:a16="http://schemas.microsoft.com/office/drawing/2014/main" id="{053EC495-1A72-DDFF-C6B2-4DB867594727}"/>
              </a:ext>
            </a:extLst>
          </p:cNvPr>
          <p:cNvPicPr>
            <a:picLocks noChangeAspect="1"/>
          </p:cNvPicPr>
          <p:nvPr/>
        </p:nvPicPr>
        <p:blipFill>
          <a:blip r:embed="rId3"/>
          <a:srcRect b="56083"/>
          <a:stretch>
            <a:fillRect/>
          </a:stretch>
        </p:blipFill>
        <p:spPr>
          <a:xfrm>
            <a:off x="7343887" y="2776546"/>
            <a:ext cx="4634753" cy="301183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241A16"/>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34251F"/>
          </a:solidFill>
          <a:ln/>
        </p:spPr>
        <p:txBody>
          <a:bodyPr/>
          <a:lstStyle/>
          <a:p>
            <a:endParaRPr lang="en-US"/>
          </a:p>
        </p:txBody>
      </p:sp>
      <p:sp>
        <p:nvSpPr>
          <p:cNvPr id="3" name="Shape 1"/>
          <p:cNvSpPr/>
          <p:nvPr/>
        </p:nvSpPr>
        <p:spPr>
          <a:xfrm>
            <a:off x="9875520" y="-2560320"/>
            <a:ext cx="5029200" cy="5029200"/>
          </a:xfrm>
          <a:prstGeom prst="ellipse">
            <a:avLst/>
          </a:prstGeom>
          <a:solidFill>
            <a:srgbClr val="5A1F1F"/>
          </a:solidFill>
          <a:ln/>
        </p:spPr>
        <p:txBody>
          <a:bodyPr/>
          <a:lstStyle/>
          <a:p>
            <a:endParaRPr lang="en-US"/>
          </a:p>
        </p:txBody>
      </p:sp>
      <p:sp>
        <p:nvSpPr>
          <p:cNvPr id="4" name="Text 2"/>
          <p:cNvSpPr/>
          <p:nvPr/>
        </p:nvSpPr>
        <p:spPr>
          <a:xfrm>
            <a:off x="822960" y="2377440"/>
            <a:ext cx="10058400" cy="457200"/>
          </a:xfrm>
          <a:prstGeom prst="rect">
            <a:avLst/>
          </a:prstGeom>
          <a:noFill/>
          <a:ln/>
        </p:spPr>
        <p:txBody>
          <a:bodyPr wrap="square" rtlCol="0" anchor="ctr"/>
          <a:lstStyle/>
          <a:p>
            <a:pPr marL="0" indent="0">
              <a:buNone/>
            </a:pPr>
            <a:r>
              <a:rPr lang="en-US" sz="2000" b="1" kern="0" spc="100" dirty="0">
                <a:solidFill>
                  <a:srgbClr val="C9A66B"/>
                </a:solidFill>
                <a:latin typeface="Calibri" pitchFamily="34" charset="0"/>
                <a:ea typeface="Calibri" pitchFamily="34" charset="-122"/>
                <a:cs typeface="Calibri" pitchFamily="34" charset="-120"/>
              </a:rPr>
              <a:t>PULLING IT TOGETHER</a:t>
            </a:r>
            <a:endParaRPr lang="en-US" sz="2000" dirty="0"/>
          </a:p>
        </p:txBody>
      </p:sp>
      <p:sp>
        <p:nvSpPr>
          <p:cNvPr id="5" name="Text 3"/>
          <p:cNvSpPr/>
          <p:nvPr/>
        </p:nvSpPr>
        <p:spPr>
          <a:xfrm>
            <a:off x="822960" y="2834640"/>
            <a:ext cx="10058400" cy="12801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Motility &amp; Regulation</a:t>
            </a:r>
            <a:endParaRPr lang="en-US" sz="3800" dirty="0"/>
          </a:p>
        </p:txBody>
      </p:sp>
      <p:sp>
        <p:nvSpPr>
          <p:cNvPr id="6" name="Text 4"/>
          <p:cNvSpPr/>
          <p:nvPr/>
        </p:nvSpPr>
        <p:spPr>
          <a:xfrm>
            <a:off x="822960" y="4114800"/>
            <a:ext cx="9601200" cy="548640"/>
          </a:xfrm>
          <a:prstGeom prst="rect">
            <a:avLst/>
          </a:prstGeom>
          <a:noFill/>
          <a:ln/>
        </p:spPr>
        <p:txBody>
          <a:bodyPr wrap="square" rtlCol="0" anchor="ctr"/>
          <a:lstStyle/>
          <a:p>
            <a:pPr marL="0" indent="0">
              <a:buNone/>
            </a:pPr>
            <a:r>
              <a:rPr lang="en-US" sz="2000" i="1" dirty="0">
                <a:solidFill>
                  <a:srgbClr val="F3EAE0"/>
                </a:solidFill>
                <a:latin typeface="Calibri" pitchFamily="34" charset="0"/>
                <a:ea typeface="Calibri" pitchFamily="34" charset="-122"/>
                <a:cs typeface="Calibri" pitchFamily="34" charset="-120"/>
              </a:rPr>
              <a:t>How the tract moves food and coordinates itself</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MOTILITY</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Peristalsis &amp; Segmentation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096000" y="181777"/>
            <a:ext cx="5599176" cy="6595751"/>
          </a:xfrm>
          <a:prstGeom prst="rect">
            <a:avLst/>
          </a:prstGeom>
          <a:solidFill>
            <a:srgbClr val="FFFFFF"/>
          </a:solidFill>
          <a:ln w="19050">
            <a:solidFill>
              <a:srgbClr val="C9A66B"/>
            </a:solidFill>
            <a:prstDash val="solid"/>
          </a:ln>
        </p:spPr>
        <p:txBody>
          <a:bodyPr/>
          <a:lstStyle/>
          <a:p>
            <a:endParaRPr lang="en-US"/>
          </a:p>
        </p:txBody>
      </p:sp>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b="1" dirty="0">
                <a:solidFill>
                  <a:srgbClr val="2B211D"/>
                </a:solidFill>
                <a:latin typeface="Calibri" pitchFamily="34" charset="0"/>
                <a:ea typeface="Calibri" pitchFamily="34" charset="-122"/>
                <a:cs typeface="Calibri" pitchFamily="34" charset="-120"/>
              </a:rPr>
              <a:t>Peristalsis</a:t>
            </a:r>
            <a:r>
              <a:rPr lang="en-US" sz="2100" dirty="0">
                <a:solidFill>
                  <a:srgbClr val="2B211D"/>
                </a:solidFill>
                <a:latin typeface="Calibri" pitchFamily="34" charset="0"/>
                <a:ea typeface="Calibri" pitchFamily="34" charset="-122"/>
                <a:cs typeface="Calibri" pitchFamily="34" charset="-120"/>
              </a:rPr>
              <a:t> — coordinated wave of contraction behind + relaxation ahead of the bolus; propels contents forward</a:t>
            </a:r>
            <a:endParaRPr lang="en-US" sz="2100" dirty="0"/>
          </a:p>
          <a:p>
            <a:pPr marL="254000" indent="-254000">
              <a:lnSpc>
                <a:spcPct val="105000"/>
              </a:lnSpc>
              <a:spcAft>
                <a:spcPts val="1600"/>
              </a:spcAft>
              <a:buSzPct val="100000"/>
              <a:buChar char="▪"/>
            </a:pPr>
            <a:r>
              <a:rPr lang="en-US" sz="2100" b="1" dirty="0">
                <a:solidFill>
                  <a:srgbClr val="2B211D"/>
                </a:solidFill>
                <a:latin typeface="Calibri" pitchFamily="34" charset="0"/>
                <a:ea typeface="Calibri" pitchFamily="34" charset="-122"/>
                <a:cs typeface="Calibri" pitchFamily="34" charset="-120"/>
              </a:rPr>
              <a:t>Segmentation</a:t>
            </a:r>
            <a:r>
              <a:rPr lang="en-US" sz="2100" dirty="0">
                <a:solidFill>
                  <a:srgbClr val="2B211D"/>
                </a:solidFill>
                <a:latin typeface="Calibri" pitchFamily="34" charset="0"/>
                <a:ea typeface="Calibri" pitchFamily="34" charset="-122"/>
                <a:cs typeface="Calibri" pitchFamily="34" charset="-120"/>
              </a:rPr>
              <a:t> — localized ring contractions in the small intestine; mixes chyme with enzymes/bile rather than propelling it</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Both depend on the enteric nervous system, modulated by the vagus and sympathetics</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42 / 46</a:t>
            </a:r>
            <a:endParaRPr lang="en-US" sz="1000" dirty="0"/>
          </a:p>
        </p:txBody>
      </p:sp>
      <p:pic>
        <p:nvPicPr>
          <p:cNvPr id="11" name="Picture 10">
            <a:extLst>
              <a:ext uri="{FF2B5EF4-FFF2-40B4-BE49-F238E27FC236}">
                <a16:creationId xmlns:a16="http://schemas.microsoft.com/office/drawing/2014/main" id="{D475AD0C-EA90-0961-5F6F-02767C860482}"/>
              </a:ext>
            </a:extLst>
          </p:cNvPr>
          <p:cNvPicPr>
            <a:picLocks noChangeAspect="1"/>
          </p:cNvPicPr>
          <p:nvPr/>
        </p:nvPicPr>
        <p:blipFill>
          <a:blip r:embed="rId3"/>
          <a:srcRect l="4807" t="9068" r="7046" b="3996"/>
          <a:stretch>
            <a:fillRect/>
          </a:stretch>
        </p:blipFill>
        <p:spPr>
          <a:xfrm>
            <a:off x="6439693" y="315181"/>
            <a:ext cx="5061900" cy="2995456"/>
          </a:xfrm>
          <a:prstGeom prst="rect">
            <a:avLst/>
          </a:prstGeom>
        </p:spPr>
      </p:pic>
      <p:pic>
        <p:nvPicPr>
          <p:cNvPr id="13" name="Picture 12">
            <a:extLst>
              <a:ext uri="{FF2B5EF4-FFF2-40B4-BE49-F238E27FC236}">
                <a16:creationId xmlns:a16="http://schemas.microsoft.com/office/drawing/2014/main" id="{2517EE75-D826-194A-1847-A367EA981E9C}"/>
              </a:ext>
            </a:extLst>
          </p:cNvPr>
          <p:cNvPicPr>
            <a:picLocks noChangeAspect="1"/>
          </p:cNvPicPr>
          <p:nvPr/>
        </p:nvPicPr>
        <p:blipFill>
          <a:blip r:embed="rId4"/>
          <a:stretch>
            <a:fillRect/>
          </a:stretch>
        </p:blipFill>
        <p:spPr>
          <a:xfrm>
            <a:off x="6808160" y="3354533"/>
            <a:ext cx="4042720" cy="332973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REGULATION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GI Hormones I: The Core Three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0080" y="1901952"/>
            <a:ext cx="2377440" cy="1051560"/>
          </a:xfrm>
          <a:prstGeom prst="roundRect">
            <a:avLst>
              <a:gd name="adj" fmla="val 5217"/>
            </a:avLst>
          </a:prstGeom>
          <a:solidFill>
            <a:srgbClr val="7A2E2E"/>
          </a:solidFill>
          <a:ln/>
        </p:spPr>
        <p:txBody>
          <a:bodyPr/>
          <a:lstStyle/>
          <a:p>
            <a:endParaRPr lang="en-US"/>
          </a:p>
        </p:txBody>
      </p:sp>
      <p:sp>
        <p:nvSpPr>
          <p:cNvPr id="6" name="Text 4"/>
          <p:cNvSpPr/>
          <p:nvPr/>
        </p:nvSpPr>
        <p:spPr>
          <a:xfrm>
            <a:off x="640080" y="1901952"/>
            <a:ext cx="237744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Gastrin</a:t>
            </a:r>
            <a:endParaRPr lang="en-US" sz="2200" dirty="0"/>
          </a:p>
        </p:txBody>
      </p:sp>
      <p:sp>
        <p:nvSpPr>
          <p:cNvPr id="7" name="Text 5"/>
          <p:cNvSpPr/>
          <p:nvPr/>
        </p:nvSpPr>
        <p:spPr>
          <a:xfrm>
            <a:off x="3246120" y="1901952"/>
            <a:ext cx="8046720" cy="105156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G cells (antrum) — ↑ gastric acid secretion</a:t>
            </a:r>
            <a:endParaRPr lang="en-US" sz="2100" dirty="0"/>
          </a:p>
        </p:txBody>
      </p:sp>
      <p:sp>
        <p:nvSpPr>
          <p:cNvPr id="8" name="Shape 6"/>
          <p:cNvSpPr/>
          <p:nvPr/>
        </p:nvSpPr>
        <p:spPr>
          <a:xfrm>
            <a:off x="640080" y="3136392"/>
            <a:ext cx="2377440" cy="1051560"/>
          </a:xfrm>
          <a:prstGeom prst="roundRect">
            <a:avLst>
              <a:gd name="adj" fmla="val 5217"/>
            </a:avLst>
          </a:prstGeom>
          <a:solidFill>
            <a:srgbClr val="3E5C43"/>
          </a:solidFill>
          <a:ln/>
        </p:spPr>
        <p:txBody>
          <a:bodyPr/>
          <a:lstStyle/>
          <a:p>
            <a:endParaRPr lang="en-US"/>
          </a:p>
        </p:txBody>
      </p:sp>
      <p:sp>
        <p:nvSpPr>
          <p:cNvPr id="9" name="Text 7"/>
          <p:cNvSpPr/>
          <p:nvPr/>
        </p:nvSpPr>
        <p:spPr>
          <a:xfrm>
            <a:off x="640080" y="3136392"/>
            <a:ext cx="237744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Secretin</a:t>
            </a:r>
            <a:endParaRPr lang="en-US" sz="2200" dirty="0"/>
          </a:p>
        </p:txBody>
      </p:sp>
      <p:sp>
        <p:nvSpPr>
          <p:cNvPr id="10" name="Text 8"/>
          <p:cNvSpPr/>
          <p:nvPr/>
        </p:nvSpPr>
        <p:spPr>
          <a:xfrm>
            <a:off x="3246120" y="3136392"/>
            <a:ext cx="8046720" cy="105156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S cells (duodenum) — ↑ bicarbonate, ↓ gastric acid</a:t>
            </a:r>
            <a:endParaRPr lang="en-US" sz="2100" dirty="0"/>
          </a:p>
        </p:txBody>
      </p:sp>
      <p:sp>
        <p:nvSpPr>
          <p:cNvPr id="11" name="Shape 9"/>
          <p:cNvSpPr/>
          <p:nvPr/>
        </p:nvSpPr>
        <p:spPr>
          <a:xfrm>
            <a:off x="640080" y="4370832"/>
            <a:ext cx="2377440" cy="1051560"/>
          </a:xfrm>
          <a:prstGeom prst="roundRect">
            <a:avLst>
              <a:gd name="adj" fmla="val 5217"/>
            </a:avLst>
          </a:prstGeom>
          <a:solidFill>
            <a:srgbClr val="C9A66B"/>
          </a:solidFill>
          <a:ln/>
        </p:spPr>
        <p:txBody>
          <a:bodyPr/>
          <a:lstStyle/>
          <a:p>
            <a:endParaRPr lang="en-US"/>
          </a:p>
        </p:txBody>
      </p:sp>
      <p:sp>
        <p:nvSpPr>
          <p:cNvPr id="12" name="Text 10"/>
          <p:cNvSpPr/>
          <p:nvPr/>
        </p:nvSpPr>
        <p:spPr>
          <a:xfrm>
            <a:off x="640080" y="4370832"/>
            <a:ext cx="237744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CCK</a:t>
            </a:r>
            <a:endParaRPr lang="en-US" sz="2200" dirty="0"/>
          </a:p>
        </p:txBody>
      </p:sp>
      <p:sp>
        <p:nvSpPr>
          <p:cNvPr id="13" name="Text 11"/>
          <p:cNvSpPr/>
          <p:nvPr/>
        </p:nvSpPr>
        <p:spPr>
          <a:xfrm>
            <a:off x="3246120" y="4370832"/>
            <a:ext cx="8046720" cy="105156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I cells (duodenum) — ↑ pancreatic enzymes &amp; bile release</a:t>
            </a:r>
            <a:endParaRPr lang="en-US" sz="2100" dirty="0"/>
          </a:p>
        </p:txBody>
      </p:sp>
      <p:sp>
        <p:nvSpPr>
          <p:cNvPr id="14" name="Text 12"/>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5" name="Text 13"/>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43 / 46</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REGULATION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GI Hormones II: The Incretins &amp; Motilin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0080" y="1901952"/>
            <a:ext cx="2377440" cy="1051560"/>
          </a:xfrm>
          <a:prstGeom prst="roundRect">
            <a:avLst>
              <a:gd name="adj" fmla="val 5217"/>
            </a:avLst>
          </a:prstGeom>
          <a:solidFill>
            <a:srgbClr val="5A6B8C"/>
          </a:solidFill>
          <a:ln/>
        </p:spPr>
        <p:txBody>
          <a:bodyPr/>
          <a:lstStyle/>
          <a:p>
            <a:endParaRPr lang="en-US"/>
          </a:p>
        </p:txBody>
      </p:sp>
      <p:sp>
        <p:nvSpPr>
          <p:cNvPr id="6" name="Text 4"/>
          <p:cNvSpPr/>
          <p:nvPr/>
        </p:nvSpPr>
        <p:spPr>
          <a:xfrm>
            <a:off x="640080" y="1901952"/>
            <a:ext cx="237744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GIP</a:t>
            </a:r>
            <a:endParaRPr lang="en-US" sz="2200" dirty="0"/>
          </a:p>
        </p:txBody>
      </p:sp>
      <p:sp>
        <p:nvSpPr>
          <p:cNvPr id="7" name="Text 5"/>
          <p:cNvSpPr/>
          <p:nvPr/>
        </p:nvSpPr>
        <p:spPr>
          <a:xfrm>
            <a:off x="3246120" y="1901952"/>
            <a:ext cx="8046720" cy="105156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K cells (duodenum/jejunum) — ↑ insulin release (incretin effect)</a:t>
            </a:r>
            <a:endParaRPr lang="en-US" sz="2100" dirty="0"/>
          </a:p>
        </p:txBody>
      </p:sp>
      <p:sp>
        <p:nvSpPr>
          <p:cNvPr id="8" name="Shape 6"/>
          <p:cNvSpPr/>
          <p:nvPr/>
        </p:nvSpPr>
        <p:spPr>
          <a:xfrm>
            <a:off x="640080" y="3136392"/>
            <a:ext cx="2377440" cy="1051560"/>
          </a:xfrm>
          <a:prstGeom prst="roundRect">
            <a:avLst>
              <a:gd name="adj" fmla="val 5217"/>
            </a:avLst>
          </a:prstGeom>
          <a:solidFill>
            <a:srgbClr val="3E5C43"/>
          </a:solidFill>
          <a:ln/>
        </p:spPr>
        <p:txBody>
          <a:bodyPr/>
          <a:lstStyle/>
          <a:p>
            <a:endParaRPr lang="en-US"/>
          </a:p>
        </p:txBody>
      </p:sp>
      <p:sp>
        <p:nvSpPr>
          <p:cNvPr id="9" name="Text 7"/>
          <p:cNvSpPr/>
          <p:nvPr/>
        </p:nvSpPr>
        <p:spPr>
          <a:xfrm>
            <a:off x="640080" y="3136392"/>
            <a:ext cx="237744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GLP-1</a:t>
            </a:r>
            <a:endParaRPr lang="en-US" sz="2200" dirty="0"/>
          </a:p>
        </p:txBody>
      </p:sp>
      <p:sp>
        <p:nvSpPr>
          <p:cNvPr id="10" name="Text 8"/>
          <p:cNvSpPr/>
          <p:nvPr/>
        </p:nvSpPr>
        <p:spPr>
          <a:xfrm>
            <a:off x="3246120" y="3136392"/>
            <a:ext cx="8046720" cy="105156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L cells (ileum/colon) — ↑ insulin, ↓ gastric emptying &amp; appetite</a:t>
            </a:r>
            <a:endParaRPr lang="en-US" sz="2100" dirty="0"/>
          </a:p>
        </p:txBody>
      </p:sp>
      <p:sp>
        <p:nvSpPr>
          <p:cNvPr id="11" name="Shape 9"/>
          <p:cNvSpPr/>
          <p:nvPr/>
        </p:nvSpPr>
        <p:spPr>
          <a:xfrm>
            <a:off x="640080" y="4370832"/>
            <a:ext cx="2377440" cy="1051560"/>
          </a:xfrm>
          <a:prstGeom prst="roundRect">
            <a:avLst>
              <a:gd name="adj" fmla="val 5217"/>
            </a:avLst>
          </a:prstGeom>
          <a:solidFill>
            <a:srgbClr val="5A1F1F"/>
          </a:solidFill>
          <a:ln/>
        </p:spPr>
        <p:txBody>
          <a:bodyPr/>
          <a:lstStyle/>
          <a:p>
            <a:endParaRPr lang="en-US"/>
          </a:p>
        </p:txBody>
      </p:sp>
      <p:sp>
        <p:nvSpPr>
          <p:cNvPr id="12" name="Text 10"/>
          <p:cNvSpPr/>
          <p:nvPr/>
        </p:nvSpPr>
        <p:spPr>
          <a:xfrm>
            <a:off x="640080" y="4370832"/>
            <a:ext cx="2377440" cy="10515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Motilin</a:t>
            </a:r>
            <a:endParaRPr lang="en-US" sz="2200" dirty="0"/>
          </a:p>
        </p:txBody>
      </p:sp>
      <p:sp>
        <p:nvSpPr>
          <p:cNvPr id="13" name="Text 11"/>
          <p:cNvSpPr/>
          <p:nvPr/>
        </p:nvSpPr>
        <p:spPr>
          <a:xfrm>
            <a:off x="3246120" y="4370832"/>
            <a:ext cx="8046720" cy="1051560"/>
          </a:xfrm>
          <a:prstGeom prst="rect">
            <a:avLst/>
          </a:prstGeom>
          <a:noFill/>
          <a:ln/>
        </p:spPr>
        <p:txBody>
          <a:bodyPr wrap="square" rtlCol="0" anchor="ctr"/>
          <a:lstStyle/>
          <a:p>
            <a:pPr marL="0" indent="0">
              <a:buNone/>
            </a:pPr>
            <a:r>
              <a:rPr lang="en-US" sz="2100" dirty="0">
                <a:solidFill>
                  <a:srgbClr val="2B211D"/>
                </a:solidFill>
                <a:latin typeface="Calibri" pitchFamily="34" charset="0"/>
                <a:ea typeface="Calibri" pitchFamily="34" charset="-122"/>
                <a:cs typeface="Calibri" pitchFamily="34" charset="-120"/>
              </a:rPr>
              <a:t>M cells (duodenum) — triggers the migrating motor complex</a:t>
            </a:r>
            <a:endParaRPr lang="en-US" sz="2100" dirty="0"/>
          </a:p>
        </p:txBody>
      </p:sp>
      <p:sp>
        <p:nvSpPr>
          <p:cNvPr id="14" name="Text 12"/>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5" name="Text 13"/>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44 / 46</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5">
    <p:bg>
      <p:bgPr>
        <a:solidFill>
          <a:srgbClr val="241A16"/>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34251F"/>
          </a:solidFill>
          <a:ln/>
        </p:spPr>
        <p:txBody>
          <a:bodyPr/>
          <a:lstStyle/>
          <a:p>
            <a:endParaRPr lang="en-US"/>
          </a:p>
        </p:txBody>
      </p:sp>
      <p:sp>
        <p:nvSpPr>
          <p:cNvPr id="3" name="Shape 1"/>
          <p:cNvSpPr/>
          <p:nvPr/>
        </p:nvSpPr>
        <p:spPr>
          <a:xfrm>
            <a:off x="9875520" y="-2560320"/>
            <a:ext cx="5029200" cy="5029200"/>
          </a:xfrm>
          <a:prstGeom prst="ellipse">
            <a:avLst/>
          </a:prstGeom>
          <a:solidFill>
            <a:srgbClr val="5A1F1F"/>
          </a:solidFill>
          <a:ln/>
        </p:spPr>
        <p:txBody>
          <a:bodyPr/>
          <a:lstStyle/>
          <a:p>
            <a:endParaRPr lang="en-US"/>
          </a:p>
        </p:txBody>
      </p:sp>
      <p:sp>
        <p:nvSpPr>
          <p:cNvPr id="4" name="Text 2"/>
          <p:cNvSpPr/>
          <p:nvPr/>
        </p:nvSpPr>
        <p:spPr>
          <a:xfrm>
            <a:off x="822960" y="2286000"/>
            <a:ext cx="10058400" cy="457200"/>
          </a:xfrm>
          <a:prstGeom prst="rect">
            <a:avLst/>
          </a:prstGeom>
          <a:noFill/>
          <a:ln/>
        </p:spPr>
        <p:txBody>
          <a:bodyPr wrap="square" rtlCol="0" anchor="ctr"/>
          <a:lstStyle/>
          <a:p>
            <a:pPr marL="0" indent="0">
              <a:buNone/>
            </a:pPr>
            <a:r>
              <a:rPr lang="en-US" sz="2000" b="1" kern="0" spc="100" dirty="0">
                <a:solidFill>
                  <a:srgbClr val="C9A66B"/>
                </a:solidFill>
                <a:latin typeface="Calibri" pitchFamily="34" charset="0"/>
                <a:ea typeface="Calibri" pitchFamily="34" charset="-122"/>
                <a:cs typeface="Calibri" pitchFamily="34" charset="-120"/>
              </a:rPr>
              <a:t>A FIRST LOOK</a:t>
            </a:r>
            <a:endParaRPr lang="en-US" sz="2000" dirty="0"/>
          </a:p>
        </p:txBody>
      </p:sp>
      <p:sp>
        <p:nvSpPr>
          <p:cNvPr id="5" name="Text 3"/>
          <p:cNvSpPr/>
          <p:nvPr/>
        </p:nvSpPr>
        <p:spPr>
          <a:xfrm>
            <a:off x="822960" y="2743200"/>
            <a:ext cx="10515600" cy="17373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GI Diagnostics &amp; Imaging:</a:t>
            </a:r>
            <a:endParaRPr lang="en-US" sz="3600" dirty="0"/>
          </a:p>
          <a:p>
            <a:pPr marL="0" indent="0">
              <a:buNone/>
            </a:pPr>
            <a:r>
              <a:rPr lang="en-US" sz="3600" b="1" dirty="0">
                <a:solidFill>
                  <a:srgbClr val="FFFFFF"/>
                </a:solidFill>
                <a:latin typeface="Cambria" pitchFamily="34" charset="0"/>
                <a:ea typeface="Cambria" pitchFamily="34" charset="-122"/>
                <a:cs typeface="Cambria" pitchFamily="34" charset="-120"/>
              </a:rPr>
              <a:t>Getting Familiar</a:t>
            </a:r>
            <a:endParaRPr lang="en-US" sz="3600" dirty="0"/>
          </a:p>
        </p:txBody>
      </p:sp>
      <p:sp>
        <p:nvSpPr>
          <p:cNvPr id="6" name="Text 4"/>
          <p:cNvSpPr/>
          <p:nvPr/>
        </p:nvSpPr>
        <p:spPr>
          <a:xfrm>
            <a:off x="822960" y="4572000"/>
            <a:ext cx="9875520" cy="822960"/>
          </a:xfrm>
          <a:prstGeom prst="rect">
            <a:avLst/>
          </a:prstGeom>
          <a:noFill/>
          <a:ln/>
        </p:spPr>
        <p:txBody>
          <a:bodyPr wrap="square" rtlCol="0" anchor="ctr"/>
          <a:lstStyle/>
          <a:p>
            <a:pPr marL="0" indent="0">
              <a:buNone/>
            </a:pPr>
            <a:r>
              <a:rPr lang="en-US" sz="2000" i="1" dirty="0">
                <a:solidFill>
                  <a:srgbClr val="F3EAE0"/>
                </a:solidFill>
                <a:latin typeface="Calibri" pitchFamily="34" charset="0"/>
                <a:ea typeface="Calibri" pitchFamily="34" charset="-122"/>
                <a:cs typeface="Calibri" pitchFamily="34" charset="-120"/>
              </a:rPr>
              <a:t>Which tests exist and what they show</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Esophagus &amp; Stomach: Diagnostics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64808" y="1736621"/>
            <a:ext cx="5230368" cy="4372310"/>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diag_upper_gi_series.jpeg"/>
          <p:cNvPicPr>
            <a:picLocks noChangeAspect="1"/>
          </p:cNvPicPr>
          <p:nvPr/>
        </p:nvPicPr>
        <p:blipFill>
          <a:blip r:embed="rId3"/>
          <a:stretch>
            <a:fillRect/>
          </a:stretch>
        </p:blipFill>
        <p:spPr>
          <a:xfrm>
            <a:off x="6519672" y="1791485"/>
            <a:ext cx="5120640" cy="4262582"/>
          </a:xfrm>
          <a:prstGeom prst="rect">
            <a:avLst/>
          </a:prstGeom>
        </p:spPr>
      </p:pic>
      <p:sp>
        <p:nvSpPr>
          <p:cNvPr id="7" name="Text 4"/>
          <p:cNvSpPr/>
          <p:nvPr/>
        </p:nvSpPr>
        <p:spPr>
          <a:xfrm>
            <a:off x="548640" y="1856232"/>
            <a:ext cx="5394960" cy="4407408"/>
          </a:xfrm>
          <a:prstGeom prst="rect">
            <a:avLst/>
          </a:prstGeom>
          <a:noFill/>
          <a:ln/>
        </p:spPr>
        <p:txBody>
          <a:bodyPr wrap="square" rtlCol="0" anchor="t"/>
          <a:lstStyle/>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Barium swallow — fluoroscopy (real-time X-ray) while swallowing contrast; shows contour, motility, strictures</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EGD (esophagogastroduodenoscopy) — flexible scope passed through the mouth for direct visualization + biopsy</a:t>
            </a:r>
            <a:endParaRPr lang="en-US" sz="2100" dirty="0"/>
          </a:p>
          <a:p>
            <a:pPr marL="254000" indent="-254000">
              <a:lnSpc>
                <a:spcPct val="105000"/>
              </a:lnSpc>
              <a:spcAft>
                <a:spcPts val="1600"/>
              </a:spcAft>
              <a:buSzPct val="100000"/>
              <a:buChar char="▪"/>
            </a:pPr>
            <a:r>
              <a:rPr lang="en-US" sz="2100" dirty="0">
                <a:solidFill>
                  <a:srgbClr val="2B211D"/>
                </a:solidFill>
                <a:latin typeface="Calibri" pitchFamily="34" charset="0"/>
                <a:ea typeface="Calibri" pitchFamily="34" charset="-122"/>
                <a:cs typeface="Calibri" pitchFamily="34" charset="-120"/>
              </a:rPr>
              <a:t>Pictured: upper GI series (barium contrast, AP view)</a:t>
            </a:r>
            <a:endParaRPr lang="en-US" sz="2100" dirty="0"/>
          </a:p>
        </p:txBody>
      </p:sp>
      <p:sp>
        <p:nvSpPr>
          <p:cNvPr id="8" name="Text 5"/>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9" name="Text 6"/>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46 / 46</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Small Bowel &amp; Colon: Diagnostics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1351655" y="1664208"/>
            <a:ext cx="3606051" cy="3081528"/>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diag_lower_gi_series.jpeg"/>
          <p:cNvPicPr>
            <a:picLocks noChangeAspect="1"/>
          </p:cNvPicPr>
          <p:nvPr/>
        </p:nvPicPr>
        <p:blipFill>
          <a:blip r:embed="rId3"/>
          <a:stretch>
            <a:fillRect/>
          </a:stretch>
        </p:blipFill>
        <p:spPr>
          <a:xfrm>
            <a:off x="1406519" y="1719072"/>
            <a:ext cx="3496323" cy="2971800"/>
          </a:xfrm>
          <a:prstGeom prst="rect">
            <a:avLst/>
          </a:prstGeom>
        </p:spPr>
      </p:pic>
      <p:sp>
        <p:nvSpPr>
          <p:cNvPr id="7" name="Shape 4"/>
          <p:cNvSpPr/>
          <p:nvPr/>
        </p:nvSpPr>
        <p:spPr>
          <a:xfrm>
            <a:off x="6585897" y="1664208"/>
            <a:ext cx="4110365" cy="3081528"/>
          </a:xfrm>
          <a:prstGeom prst="rect">
            <a:avLst/>
          </a:prstGeom>
          <a:solidFill>
            <a:srgbClr val="FFFFFF"/>
          </a:solidFill>
          <a:ln w="19050">
            <a:solidFill>
              <a:srgbClr val="C9A66B"/>
            </a:solidFill>
            <a:prstDash val="solid"/>
          </a:ln>
        </p:spPr>
        <p:txBody>
          <a:bodyPr/>
          <a:lstStyle/>
          <a:p>
            <a:endParaRPr lang="en-US"/>
          </a:p>
        </p:txBody>
      </p:sp>
      <p:pic>
        <p:nvPicPr>
          <p:cNvPr id="8" name="Image 1" descr="/home/claude/gi_deck/assets/diag_colonoscopy.jpeg"/>
          <p:cNvPicPr>
            <a:picLocks noChangeAspect="1"/>
          </p:cNvPicPr>
          <p:nvPr/>
        </p:nvPicPr>
        <p:blipFill>
          <a:blip r:embed="rId4"/>
          <a:stretch>
            <a:fillRect/>
          </a:stretch>
        </p:blipFill>
        <p:spPr>
          <a:xfrm>
            <a:off x="6640761" y="1719072"/>
            <a:ext cx="4000637" cy="2971800"/>
          </a:xfrm>
          <a:prstGeom prst="rect">
            <a:avLst/>
          </a:prstGeom>
        </p:spPr>
      </p:pic>
      <p:sp>
        <p:nvSpPr>
          <p:cNvPr id="9" name="Text 5"/>
          <p:cNvSpPr/>
          <p:nvPr/>
        </p:nvSpPr>
        <p:spPr>
          <a:xfrm>
            <a:off x="548640" y="4745736"/>
            <a:ext cx="5212080" cy="320040"/>
          </a:xfrm>
          <a:prstGeom prst="rect">
            <a:avLst/>
          </a:prstGeom>
          <a:noFill/>
          <a:ln/>
        </p:spPr>
        <p:txBody>
          <a:bodyPr wrap="square" rtlCol="0" anchor="ctr"/>
          <a:lstStyle/>
          <a:p>
            <a:pPr marL="0" indent="0" algn="ctr">
              <a:buNone/>
            </a:pPr>
            <a:r>
              <a:rPr lang="en-US" sz="1600" b="1" dirty="0">
                <a:solidFill>
                  <a:srgbClr val="7A2E2E"/>
                </a:solidFill>
                <a:latin typeface="Calibri" pitchFamily="34" charset="0"/>
                <a:ea typeface="Calibri" pitchFamily="34" charset="-122"/>
                <a:cs typeface="Calibri" pitchFamily="34" charset="-120"/>
              </a:rPr>
              <a:t>Lower GI Series</a:t>
            </a:r>
            <a:endParaRPr lang="en-US" sz="1600" dirty="0"/>
          </a:p>
        </p:txBody>
      </p:sp>
      <p:sp>
        <p:nvSpPr>
          <p:cNvPr id="10" name="Text 6"/>
          <p:cNvSpPr/>
          <p:nvPr/>
        </p:nvSpPr>
        <p:spPr>
          <a:xfrm>
            <a:off x="6035040" y="4745736"/>
            <a:ext cx="5212080" cy="320040"/>
          </a:xfrm>
          <a:prstGeom prst="rect">
            <a:avLst/>
          </a:prstGeom>
          <a:noFill/>
          <a:ln/>
        </p:spPr>
        <p:txBody>
          <a:bodyPr wrap="square" rtlCol="0" anchor="ctr"/>
          <a:lstStyle/>
          <a:p>
            <a:pPr marL="0" indent="0" algn="ctr">
              <a:buNone/>
            </a:pPr>
            <a:r>
              <a:rPr lang="en-US" sz="1600" b="1" dirty="0">
                <a:solidFill>
                  <a:srgbClr val="7A2E2E"/>
                </a:solidFill>
                <a:latin typeface="Calibri" pitchFamily="34" charset="0"/>
                <a:ea typeface="Calibri" pitchFamily="34" charset="-122"/>
                <a:cs typeface="Calibri" pitchFamily="34" charset="-120"/>
              </a:rPr>
              <a:t>Colonoscopy</a:t>
            </a:r>
            <a:endParaRPr lang="en-US" sz="1600" dirty="0"/>
          </a:p>
        </p:txBody>
      </p:sp>
      <p:sp>
        <p:nvSpPr>
          <p:cNvPr id="11" name="Text 7"/>
          <p:cNvSpPr/>
          <p:nvPr/>
        </p:nvSpPr>
        <p:spPr>
          <a:xfrm>
            <a:off x="548640" y="5129784"/>
            <a:ext cx="11064240" cy="1280160"/>
          </a:xfrm>
          <a:prstGeom prst="rect">
            <a:avLst/>
          </a:prstGeom>
          <a:noFill/>
          <a:ln/>
        </p:spPr>
        <p:txBody>
          <a:bodyPr wrap="square" rtlCol="0" anchor="t"/>
          <a:lstStyle/>
          <a:p>
            <a:pPr marL="254000"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Capsule endoscopy — swallowed pill camera images the small bowel as it passes through</a:t>
            </a:r>
            <a:endParaRPr lang="en-US" sz="2000" dirty="0"/>
          </a:p>
          <a:p>
            <a:pPr marL="254000"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Colonoscopy — flexible scope via the anus; direct visualization, biopsy &amp; CRC screening</a:t>
            </a:r>
            <a:endParaRPr lang="en-US" sz="2000" dirty="0"/>
          </a:p>
        </p:txBody>
      </p:sp>
      <p:sp>
        <p:nvSpPr>
          <p:cNvPr id="12" name="Text 8"/>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3" name="Text 9"/>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47 / 46</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D75DA3C-3C0C-ECCA-ADBF-B1D2FFA4B9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64C2A03-C58C-D468-CF99-BD2CDD74E5C8}"/>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a:extLst>
              <a:ext uri="{FF2B5EF4-FFF2-40B4-BE49-F238E27FC236}">
                <a16:creationId xmlns:a16="http://schemas.microsoft.com/office/drawing/2014/main" id="{83413788-F4AA-DC74-4756-7DB7452B3F9B}"/>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Small Bowel &amp; Colon: Diagnostics</a:t>
            </a:r>
            <a:endParaRPr lang="en-US" sz="3200" dirty="0"/>
          </a:p>
        </p:txBody>
      </p:sp>
      <p:sp>
        <p:nvSpPr>
          <p:cNvPr id="4" name="Shape 2">
            <a:extLst>
              <a:ext uri="{FF2B5EF4-FFF2-40B4-BE49-F238E27FC236}">
                <a16:creationId xmlns:a16="http://schemas.microsoft.com/office/drawing/2014/main" id="{22BF9138-5222-14E1-CF69-B8B6CCAA39D6}"/>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7" name="Shape 4">
            <a:extLst>
              <a:ext uri="{FF2B5EF4-FFF2-40B4-BE49-F238E27FC236}">
                <a16:creationId xmlns:a16="http://schemas.microsoft.com/office/drawing/2014/main" id="{03DA3FD0-21F5-D4CE-CC35-20B479E539FB}"/>
              </a:ext>
            </a:extLst>
          </p:cNvPr>
          <p:cNvSpPr/>
          <p:nvPr/>
        </p:nvSpPr>
        <p:spPr>
          <a:xfrm>
            <a:off x="7136755" y="1645920"/>
            <a:ext cx="3921106" cy="4572000"/>
          </a:xfrm>
          <a:prstGeom prst="rect">
            <a:avLst/>
          </a:prstGeom>
          <a:solidFill>
            <a:srgbClr val="FFFFFF"/>
          </a:solidFill>
          <a:ln w="19050">
            <a:solidFill>
              <a:srgbClr val="C9A66B"/>
            </a:solidFill>
            <a:prstDash val="solid"/>
          </a:ln>
        </p:spPr>
        <p:txBody>
          <a:bodyPr/>
          <a:lstStyle/>
          <a:p>
            <a:endParaRPr lang="en-US"/>
          </a:p>
        </p:txBody>
      </p:sp>
      <p:sp>
        <p:nvSpPr>
          <p:cNvPr id="9" name="Text 5">
            <a:extLst>
              <a:ext uri="{FF2B5EF4-FFF2-40B4-BE49-F238E27FC236}">
                <a16:creationId xmlns:a16="http://schemas.microsoft.com/office/drawing/2014/main" id="{6DE342C0-D293-5175-5652-15492B604F3E}"/>
              </a:ext>
            </a:extLst>
          </p:cNvPr>
          <p:cNvSpPr/>
          <p:nvPr/>
        </p:nvSpPr>
        <p:spPr>
          <a:xfrm>
            <a:off x="548640" y="4745736"/>
            <a:ext cx="5212080" cy="320040"/>
          </a:xfrm>
          <a:prstGeom prst="rect">
            <a:avLst/>
          </a:prstGeom>
          <a:noFill/>
          <a:ln/>
        </p:spPr>
        <p:txBody>
          <a:bodyPr wrap="square" rtlCol="0" anchor="ctr"/>
          <a:lstStyle/>
          <a:p>
            <a:pPr marL="0" indent="0" algn="ctr">
              <a:buNone/>
            </a:pPr>
            <a:endParaRPr lang="en-US" sz="1600" dirty="0"/>
          </a:p>
        </p:txBody>
      </p:sp>
      <p:sp>
        <p:nvSpPr>
          <p:cNvPr id="10" name="Text 6">
            <a:extLst>
              <a:ext uri="{FF2B5EF4-FFF2-40B4-BE49-F238E27FC236}">
                <a16:creationId xmlns:a16="http://schemas.microsoft.com/office/drawing/2014/main" id="{ED618056-F69D-CF33-840A-A910E5E97B48}"/>
              </a:ext>
            </a:extLst>
          </p:cNvPr>
          <p:cNvSpPr/>
          <p:nvPr/>
        </p:nvSpPr>
        <p:spPr>
          <a:xfrm>
            <a:off x="6585897" y="6249924"/>
            <a:ext cx="5212080" cy="320040"/>
          </a:xfrm>
          <a:prstGeom prst="rect">
            <a:avLst/>
          </a:prstGeom>
          <a:noFill/>
          <a:ln/>
        </p:spPr>
        <p:txBody>
          <a:bodyPr wrap="square" rtlCol="0" anchor="ctr"/>
          <a:lstStyle/>
          <a:p>
            <a:pPr marL="0" indent="0" algn="ctr">
              <a:buNone/>
            </a:pPr>
            <a:r>
              <a:rPr lang="en-US" sz="1600" b="1" dirty="0">
                <a:solidFill>
                  <a:srgbClr val="7A2E2E"/>
                </a:solidFill>
                <a:latin typeface="Calibri" pitchFamily="34" charset="0"/>
                <a:ea typeface="Calibri" pitchFamily="34" charset="-122"/>
                <a:cs typeface="Calibri" pitchFamily="34" charset="-120"/>
              </a:rPr>
              <a:t>Normal</a:t>
            </a:r>
            <a:endParaRPr lang="en-US" sz="1600" dirty="0"/>
          </a:p>
        </p:txBody>
      </p:sp>
      <p:sp>
        <p:nvSpPr>
          <p:cNvPr id="11" name="Text 7">
            <a:extLst>
              <a:ext uri="{FF2B5EF4-FFF2-40B4-BE49-F238E27FC236}">
                <a16:creationId xmlns:a16="http://schemas.microsoft.com/office/drawing/2014/main" id="{65222A70-9AA6-6BBB-AEAE-77E95A591FD9}"/>
              </a:ext>
            </a:extLst>
          </p:cNvPr>
          <p:cNvSpPr/>
          <p:nvPr/>
        </p:nvSpPr>
        <p:spPr>
          <a:xfrm>
            <a:off x="548640" y="2267712"/>
            <a:ext cx="5057464" cy="4142232"/>
          </a:xfrm>
          <a:prstGeom prst="rect">
            <a:avLst/>
          </a:prstGeom>
          <a:noFill/>
          <a:ln/>
        </p:spPr>
        <p:txBody>
          <a:bodyPr wrap="square" rtlCol="0" anchor="t"/>
          <a:lstStyle/>
          <a:p>
            <a:pPr marL="254000"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Abdominal X-ray</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Bowel gas patterns</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Fecal material</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Solid organs</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Psoas muscles outline</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Boney structures</a:t>
            </a:r>
          </a:p>
        </p:txBody>
      </p:sp>
      <p:sp>
        <p:nvSpPr>
          <p:cNvPr id="12" name="Text 8">
            <a:extLst>
              <a:ext uri="{FF2B5EF4-FFF2-40B4-BE49-F238E27FC236}">
                <a16:creationId xmlns:a16="http://schemas.microsoft.com/office/drawing/2014/main" id="{853D021A-E27B-C254-5852-71A76A9B0693}"/>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3" name="Text 9">
            <a:extLst>
              <a:ext uri="{FF2B5EF4-FFF2-40B4-BE49-F238E27FC236}">
                <a16:creationId xmlns:a16="http://schemas.microsoft.com/office/drawing/2014/main" id="{6619E6C0-C464-25B5-87AA-FECB7ACC3ED6}"/>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47 / 46</a:t>
            </a:r>
            <a:endParaRPr lang="en-US" sz="1000" dirty="0"/>
          </a:p>
        </p:txBody>
      </p:sp>
      <p:pic>
        <p:nvPicPr>
          <p:cNvPr id="15" name="Picture 14">
            <a:extLst>
              <a:ext uri="{FF2B5EF4-FFF2-40B4-BE49-F238E27FC236}">
                <a16:creationId xmlns:a16="http://schemas.microsoft.com/office/drawing/2014/main" id="{D15984B8-5527-729B-4344-D37F3AE99829}"/>
              </a:ext>
            </a:extLst>
          </p:cNvPr>
          <p:cNvPicPr>
            <a:picLocks noChangeAspect="1"/>
          </p:cNvPicPr>
          <p:nvPr/>
        </p:nvPicPr>
        <p:blipFill>
          <a:blip r:embed="rId3"/>
          <a:stretch>
            <a:fillRect/>
          </a:stretch>
        </p:blipFill>
        <p:spPr>
          <a:xfrm>
            <a:off x="7289836" y="1782345"/>
            <a:ext cx="3576638" cy="4307559"/>
          </a:xfrm>
          <a:prstGeom prst="rect">
            <a:avLst/>
          </a:prstGeom>
        </p:spPr>
      </p:pic>
    </p:spTree>
    <p:extLst>
      <p:ext uri="{BB962C8B-B14F-4D97-AF65-F5344CB8AC3E}">
        <p14:creationId xmlns:p14="http://schemas.microsoft.com/office/powerpoint/2010/main" val="7817480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Liver: Diagnostics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55320" y="1773721"/>
            <a:ext cx="10881360" cy="4884811"/>
          </a:xfrm>
          <a:prstGeom prst="rect">
            <a:avLst/>
          </a:prstGeom>
          <a:noFill/>
          <a:ln/>
        </p:spPr>
        <p:txBody>
          <a:bodyPr wrap="square" rtlCol="0" anchor="t"/>
          <a:lstStyle/>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Lab tests</a:t>
            </a:r>
          </a:p>
          <a:p>
            <a:pPr marL="711200" lvl="1"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rPr>
              <a:t>AST/ALT — enzymes released when hepatocytes are injured (ALT more liver-specific)</a:t>
            </a:r>
            <a:endParaRPr lang="en-US" sz="2100" dirty="0"/>
          </a:p>
          <a:p>
            <a:pPr marL="711200" lvl="1" indent="-254000">
              <a:lnSpc>
                <a:spcPct val="105000"/>
              </a:lnSpc>
              <a:buSzPct val="100000"/>
              <a:buChar char="▪"/>
            </a:pPr>
            <a:r>
              <a:rPr lang="en-US" sz="2100" dirty="0">
                <a:solidFill>
                  <a:srgbClr val="2B211D"/>
                </a:solidFill>
                <a:latin typeface="Calibri" pitchFamily="34" charset="0"/>
                <a:ea typeface="Calibri" pitchFamily="34" charset="-122"/>
                <a:cs typeface="Calibri" pitchFamily="34" charset="-120"/>
              </a:rPr>
              <a:t>Bilirubin (direct vs. indirect) — blood test that helps localize the cause of jaundice</a:t>
            </a:r>
          </a:p>
          <a:p>
            <a:pPr marL="711200" lvl="1"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Liver panel = enzymes and proteins such as ALT, AST, ALP, bilirubin, albumin</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Ultrasound — most widely used liver imaging, first-line; sound-wave imaging, no radiation; quickly detects liver structure/tumors/gallstones</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CT – detailed cross-sectional x-ray images; detects tumors, abscesses, trauma, cancer staging</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MRI – superior to CT for characterizing liver lesions, fatty liver disease</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Elastography (</a:t>
            </a:r>
            <a:r>
              <a:rPr lang="en-US" sz="2100" dirty="0" err="1">
                <a:solidFill>
                  <a:srgbClr val="2B211D"/>
                </a:solidFill>
                <a:latin typeface="Calibri" pitchFamily="34" charset="0"/>
                <a:ea typeface="Calibri" pitchFamily="34" charset="-122"/>
                <a:cs typeface="Calibri" pitchFamily="34" charset="-120"/>
              </a:rPr>
              <a:t>FibroScan</a:t>
            </a:r>
            <a:r>
              <a:rPr lang="en-US" sz="2100" dirty="0">
                <a:solidFill>
                  <a:srgbClr val="2B211D"/>
                </a:solidFill>
                <a:latin typeface="Calibri" pitchFamily="34" charset="0"/>
                <a:ea typeface="Calibri" pitchFamily="34" charset="-122"/>
                <a:cs typeface="Calibri" pitchFamily="34" charset="-120"/>
              </a:rPr>
              <a:t> or MR Elastography) – noninvasive; </a:t>
            </a:r>
            <a:r>
              <a:rPr lang="en-US" sz="2100" dirty="0" err="1">
                <a:solidFill>
                  <a:srgbClr val="2B211D"/>
                </a:solidFill>
                <a:latin typeface="Calibri" pitchFamily="34" charset="0"/>
                <a:ea typeface="Calibri" pitchFamily="34" charset="-122"/>
                <a:cs typeface="Calibri" pitchFamily="34" charset="-120"/>
              </a:rPr>
              <a:t>measurue</a:t>
            </a:r>
            <a:r>
              <a:rPr lang="en-US" sz="2100" dirty="0">
                <a:solidFill>
                  <a:srgbClr val="2B211D"/>
                </a:solidFill>
                <a:latin typeface="Calibri" pitchFamily="34" charset="0"/>
                <a:ea typeface="Calibri" pitchFamily="34" charset="-122"/>
                <a:cs typeface="Calibri" pitchFamily="34" charset="-120"/>
              </a:rPr>
              <a:t> liver fibrosis &amp; fat content; may replace need for liver biopsy</a:t>
            </a:r>
            <a:endParaRPr lang="en-US" sz="21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48 / 46</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4747D9-5277-7590-98E3-6286988F1F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00E2681-0232-F1CB-C7A9-EE1A6525245F}"/>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a:extLst>
              <a:ext uri="{FF2B5EF4-FFF2-40B4-BE49-F238E27FC236}">
                <a16:creationId xmlns:a16="http://schemas.microsoft.com/office/drawing/2014/main" id="{AC545148-5946-9956-9E94-03F7E148EACF}"/>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Liver: Diagnostics</a:t>
            </a:r>
            <a:endParaRPr lang="en-US" sz="3200" dirty="0"/>
          </a:p>
        </p:txBody>
      </p:sp>
      <p:sp>
        <p:nvSpPr>
          <p:cNvPr id="4" name="Shape 2">
            <a:extLst>
              <a:ext uri="{FF2B5EF4-FFF2-40B4-BE49-F238E27FC236}">
                <a16:creationId xmlns:a16="http://schemas.microsoft.com/office/drawing/2014/main" id="{28642AD6-47E3-D1CB-1232-10127A92E087}"/>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6" name="Text 4">
            <a:extLst>
              <a:ext uri="{FF2B5EF4-FFF2-40B4-BE49-F238E27FC236}">
                <a16:creationId xmlns:a16="http://schemas.microsoft.com/office/drawing/2014/main" id="{84E82597-E1C2-D47F-5B0A-0633B7784914}"/>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a:extLst>
              <a:ext uri="{FF2B5EF4-FFF2-40B4-BE49-F238E27FC236}">
                <a16:creationId xmlns:a16="http://schemas.microsoft.com/office/drawing/2014/main" id="{87825FB7-1C5D-80F5-B6DA-C6D53D2DB2B5}"/>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48 / 46</a:t>
            </a:r>
            <a:endParaRPr lang="en-US" sz="1000" dirty="0"/>
          </a:p>
        </p:txBody>
      </p:sp>
      <p:pic>
        <p:nvPicPr>
          <p:cNvPr id="9" name="Picture 8">
            <a:extLst>
              <a:ext uri="{FF2B5EF4-FFF2-40B4-BE49-F238E27FC236}">
                <a16:creationId xmlns:a16="http://schemas.microsoft.com/office/drawing/2014/main" id="{2427B940-2CBB-A3B7-30CA-A723EC00F5DF}"/>
              </a:ext>
            </a:extLst>
          </p:cNvPr>
          <p:cNvPicPr>
            <a:picLocks noChangeAspect="1"/>
          </p:cNvPicPr>
          <p:nvPr/>
        </p:nvPicPr>
        <p:blipFill>
          <a:blip r:embed="rId3"/>
          <a:stretch>
            <a:fillRect/>
          </a:stretch>
        </p:blipFill>
        <p:spPr>
          <a:xfrm>
            <a:off x="2729909" y="1756029"/>
            <a:ext cx="6477000" cy="4791075"/>
          </a:xfrm>
          <a:prstGeom prst="rect">
            <a:avLst/>
          </a:prstGeom>
        </p:spPr>
      </p:pic>
    </p:spTree>
    <p:extLst>
      <p:ext uri="{BB962C8B-B14F-4D97-AF65-F5344CB8AC3E}">
        <p14:creationId xmlns:p14="http://schemas.microsoft.com/office/powerpoint/2010/main" val="10386018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Gallbladder &amp; Biliary Tree: Diagnostics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3617981" y="1664208"/>
            <a:ext cx="3530567" cy="3081528"/>
          </a:xfrm>
          <a:prstGeom prst="rect">
            <a:avLst/>
          </a:prstGeom>
          <a:solidFill>
            <a:srgbClr val="FFFFFF"/>
          </a:solidFill>
          <a:ln w="19050">
            <a:solidFill>
              <a:srgbClr val="C9A66B"/>
            </a:solidFill>
            <a:prstDash val="solid"/>
          </a:ln>
        </p:spPr>
        <p:txBody>
          <a:bodyPr/>
          <a:lstStyle/>
          <a:p>
            <a:endParaRPr lang="en-US"/>
          </a:p>
        </p:txBody>
      </p:sp>
      <p:pic>
        <p:nvPicPr>
          <p:cNvPr id="6" name="Image 0" descr="/home/claude/gi_deck/assets/diag_cholecystogram.jpeg"/>
          <p:cNvPicPr>
            <a:picLocks noChangeAspect="1"/>
          </p:cNvPicPr>
          <p:nvPr/>
        </p:nvPicPr>
        <p:blipFill>
          <a:blip r:embed="rId3"/>
          <a:stretch>
            <a:fillRect/>
          </a:stretch>
        </p:blipFill>
        <p:spPr>
          <a:xfrm>
            <a:off x="3672844" y="1709928"/>
            <a:ext cx="3420839" cy="2971800"/>
          </a:xfrm>
          <a:prstGeom prst="rect">
            <a:avLst/>
          </a:prstGeom>
        </p:spPr>
      </p:pic>
      <p:sp>
        <p:nvSpPr>
          <p:cNvPr id="7" name="Shape 4"/>
          <p:cNvSpPr/>
          <p:nvPr/>
        </p:nvSpPr>
        <p:spPr>
          <a:xfrm>
            <a:off x="7281288" y="1632204"/>
            <a:ext cx="4745736" cy="3081528"/>
          </a:xfrm>
          <a:prstGeom prst="rect">
            <a:avLst/>
          </a:prstGeom>
          <a:solidFill>
            <a:srgbClr val="FFFFFF"/>
          </a:solidFill>
          <a:ln w="19050">
            <a:solidFill>
              <a:srgbClr val="C9A66B"/>
            </a:solidFill>
            <a:prstDash val="solid"/>
          </a:ln>
        </p:spPr>
        <p:txBody>
          <a:bodyPr/>
          <a:lstStyle/>
          <a:p>
            <a:endParaRPr lang="en-US"/>
          </a:p>
        </p:txBody>
      </p:sp>
      <p:pic>
        <p:nvPicPr>
          <p:cNvPr id="8" name="Image 1" descr="/home/claude/gi_deck/assets/diag_mrcp.jpeg"/>
          <p:cNvPicPr>
            <a:picLocks noChangeAspect="1"/>
          </p:cNvPicPr>
          <p:nvPr/>
        </p:nvPicPr>
        <p:blipFill>
          <a:blip r:embed="rId4"/>
          <a:stretch>
            <a:fillRect/>
          </a:stretch>
        </p:blipFill>
        <p:spPr>
          <a:xfrm>
            <a:off x="7342632" y="1679200"/>
            <a:ext cx="4636008" cy="2971800"/>
          </a:xfrm>
          <a:prstGeom prst="rect">
            <a:avLst/>
          </a:prstGeom>
        </p:spPr>
      </p:pic>
      <p:sp>
        <p:nvSpPr>
          <p:cNvPr id="9" name="Text 5"/>
          <p:cNvSpPr/>
          <p:nvPr/>
        </p:nvSpPr>
        <p:spPr>
          <a:xfrm>
            <a:off x="2777225" y="4722876"/>
            <a:ext cx="5212080" cy="320040"/>
          </a:xfrm>
          <a:prstGeom prst="rect">
            <a:avLst/>
          </a:prstGeom>
          <a:noFill/>
          <a:ln/>
        </p:spPr>
        <p:txBody>
          <a:bodyPr wrap="square" rtlCol="0" anchor="ctr"/>
          <a:lstStyle/>
          <a:p>
            <a:pPr marL="0" indent="0" algn="ctr">
              <a:buNone/>
            </a:pPr>
            <a:r>
              <a:rPr lang="en-US" sz="1600" b="1" dirty="0">
                <a:solidFill>
                  <a:srgbClr val="7A2E2E"/>
                </a:solidFill>
                <a:latin typeface="Calibri" pitchFamily="34" charset="0"/>
                <a:ea typeface="Calibri" pitchFamily="34" charset="-122"/>
                <a:cs typeface="Calibri" pitchFamily="34" charset="-120"/>
              </a:rPr>
              <a:t>Cholecystogram</a:t>
            </a:r>
            <a:endParaRPr lang="en-US" sz="1600" dirty="0"/>
          </a:p>
        </p:txBody>
      </p:sp>
      <p:sp>
        <p:nvSpPr>
          <p:cNvPr id="10" name="Text 6"/>
          <p:cNvSpPr/>
          <p:nvPr/>
        </p:nvSpPr>
        <p:spPr>
          <a:xfrm>
            <a:off x="7130193" y="4745736"/>
            <a:ext cx="5212080" cy="320040"/>
          </a:xfrm>
          <a:prstGeom prst="rect">
            <a:avLst/>
          </a:prstGeom>
          <a:noFill/>
          <a:ln/>
        </p:spPr>
        <p:txBody>
          <a:bodyPr wrap="square" rtlCol="0" anchor="ctr"/>
          <a:lstStyle/>
          <a:p>
            <a:pPr marL="0" indent="0" algn="ctr">
              <a:buNone/>
            </a:pPr>
            <a:r>
              <a:rPr lang="en-US" sz="1600" b="1" dirty="0">
                <a:solidFill>
                  <a:srgbClr val="7A2E2E"/>
                </a:solidFill>
                <a:latin typeface="Calibri" pitchFamily="34" charset="0"/>
                <a:ea typeface="Calibri" pitchFamily="34" charset="-122"/>
                <a:cs typeface="Calibri" pitchFamily="34" charset="-120"/>
              </a:rPr>
              <a:t>MRCP</a:t>
            </a:r>
            <a:endParaRPr lang="en-US" sz="1600" dirty="0"/>
          </a:p>
        </p:txBody>
      </p:sp>
      <p:sp>
        <p:nvSpPr>
          <p:cNvPr id="11" name="Text 7"/>
          <p:cNvSpPr/>
          <p:nvPr/>
        </p:nvSpPr>
        <p:spPr>
          <a:xfrm>
            <a:off x="548640" y="5129784"/>
            <a:ext cx="11430000" cy="1280160"/>
          </a:xfrm>
          <a:prstGeom prst="rect">
            <a:avLst/>
          </a:prstGeom>
          <a:noFill/>
          <a:ln/>
        </p:spPr>
        <p:txBody>
          <a:bodyPr wrap="square" rtlCol="0" anchor="t"/>
          <a:lstStyle/>
          <a:p>
            <a:pPr marL="254000"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Ultrasound (first-line) or HIDA scan (nuclear tracer tests gallbladder emptying)</a:t>
            </a:r>
          </a:p>
          <a:p>
            <a:pPr marL="254000" indent="-254000">
              <a:lnSpc>
                <a:spcPct val="105000"/>
              </a:lnSpc>
              <a:spcAft>
                <a:spcPts val="800"/>
              </a:spcAft>
              <a:buSzPct val="100000"/>
              <a:buChar char="▪"/>
            </a:pPr>
            <a:r>
              <a:rPr lang="en-US" sz="2000" dirty="0" err="1">
                <a:solidFill>
                  <a:srgbClr val="2B211D"/>
                </a:solidFill>
                <a:latin typeface="Calibri" pitchFamily="34" charset="0"/>
                <a:ea typeface="Calibri" pitchFamily="34" charset="-122"/>
                <a:cs typeface="Calibri" pitchFamily="34" charset="-120"/>
              </a:rPr>
              <a:t>Cholecystogram</a:t>
            </a:r>
            <a:r>
              <a:rPr lang="en-US" sz="2000" dirty="0">
                <a:solidFill>
                  <a:srgbClr val="2B211D"/>
                </a:solidFill>
                <a:latin typeface="Calibri" pitchFamily="34" charset="0"/>
                <a:ea typeface="Calibri" pitchFamily="34" charset="-122"/>
                <a:cs typeface="Calibri" pitchFamily="34" charset="-120"/>
              </a:rPr>
              <a:t> – patient swallows iodine-based contrast, which liver excretes into bile, then x-rays taken</a:t>
            </a:r>
            <a:endParaRPr lang="en-US" sz="2000" dirty="0"/>
          </a:p>
          <a:p>
            <a:pPr marL="254000"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MRCP — noninvasive MRI of the bile ducts</a:t>
            </a:r>
          </a:p>
        </p:txBody>
      </p:sp>
      <p:sp>
        <p:nvSpPr>
          <p:cNvPr id="12" name="Text 8"/>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3" name="Text 9"/>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49 / 46</a:t>
            </a:r>
            <a:endParaRPr lang="en-US" sz="1000" dirty="0"/>
          </a:p>
        </p:txBody>
      </p:sp>
      <p:pic>
        <p:nvPicPr>
          <p:cNvPr id="15" name="Picture 14">
            <a:extLst>
              <a:ext uri="{FF2B5EF4-FFF2-40B4-BE49-F238E27FC236}">
                <a16:creationId xmlns:a16="http://schemas.microsoft.com/office/drawing/2014/main" id="{5108E84E-4460-95D8-08C8-D7E10FB7D188}"/>
              </a:ext>
            </a:extLst>
          </p:cNvPr>
          <p:cNvPicPr>
            <a:picLocks noChangeAspect="1"/>
          </p:cNvPicPr>
          <p:nvPr/>
        </p:nvPicPr>
        <p:blipFill>
          <a:blip r:embed="rId5"/>
          <a:stretch>
            <a:fillRect/>
          </a:stretch>
        </p:blipFill>
        <p:spPr>
          <a:xfrm>
            <a:off x="62908" y="1653406"/>
            <a:ext cx="3422333" cy="3103133"/>
          </a:xfrm>
          <a:prstGeom prst="rect">
            <a:avLst/>
          </a:prstGeom>
        </p:spPr>
      </p:pic>
      <p:sp>
        <p:nvSpPr>
          <p:cNvPr id="18" name="TextBox 17">
            <a:extLst>
              <a:ext uri="{FF2B5EF4-FFF2-40B4-BE49-F238E27FC236}">
                <a16:creationId xmlns:a16="http://schemas.microsoft.com/office/drawing/2014/main" id="{E8286F4D-D895-F774-7B5B-3D45A241CA06}"/>
              </a:ext>
            </a:extLst>
          </p:cNvPr>
          <p:cNvSpPr txBox="1"/>
          <p:nvPr/>
        </p:nvSpPr>
        <p:spPr>
          <a:xfrm>
            <a:off x="1063314" y="4765484"/>
            <a:ext cx="1421519" cy="338554"/>
          </a:xfrm>
          <a:prstGeom prst="rect">
            <a:avLst/>
          </a:prstGeom>
          <a:noFill/>
        </p:spPr>
        <p:txBody>
          <a:bodyPr wrap="square" rtlCol="0">
            <a:spAutoFit/>
          </a:bodyPr>
          <a:lstStyle/>
          <a:p>
            <a:r>
              <a:rPr lang="en-US" sz="1600" b="1" dirty="0">
                <a:solidFill>
                  <a:srgbClr val="7A2E2E"/>
                </a:solidFill>
                <a:latin typeface="Calibri" pitchFamily="34" charset="0"/>
                <a:ea typeface="Calibri" pitchFamily="34" charset="-122"/>
                <a:cs typeface="Calibri" pitchFamily="34" charset="-120"/>
              </a:rPr>
              <a:t>HIDA scan</a:t>
            </a:r>
            <a:endParaRPr lang="en-US" sz="1600" dirty="0"/>
          </a:p>
        </p:txBody>
      </p:sp>
      <p:pic>
        <p:nvPicPr>
          <p:cNvPr id="20" name="Picture 19">
            <a:extLst>
              <a:ext uri="{FF2B5EF4-FFF2-40B4-BE49-F238E27FC236}">
                <a16:creationId xmlns:a16="http://schemas.microsoft.com/office/drawing/2014/main" id="{5AB2D3E9-9ED8-9261-840A-4F25AE4FC568}"/>
              </a:ext>
            </a:extLst>
          </p:cNvPr>
          <p:cNvPicPr>
            <a:picLocks noChangeAspect="1"/>
          </p:cNvPicPr>
          <p:nvPr/>
        </p:nvPicPr>
        <p:blipFill>
          <a:blip r:embed="rId6"/>
          <a:stretch>
            <a:fillRect/>
          </a:stretch>
        </p:blipFill>
        <p:spPr>
          <a:xfrm>
            <a:off x="169033" y="1970096"/>
            <a:ext cx="3210079" cy="237953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9755BF-BB17-967D-5926-C0D3B4E6A0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091E3F-CB2A-CA0B-72B6-A9FD6831F4DD}"/>
              </a:ext>
            </a:extLst>
          </p:cNvPr>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a:extLst>
              <a:ext uri="{FF2B5EF4-FFF2-40B4-BE49-F238E27FC236}">
                <a16:creationId xmlns:a16="http://schemas.microsoft.com/office/drawing/2014/main" id="{2C955C1A-F6C0-4E89-90EB-CCCEF4BE32F0}"/>
              </a:ext>
            </a:extLst>
          </p:cNvPr>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Gallbladder &amp; Biliary Tree: Diagnostics</a:t>
            </a:r>
            <a:endParaRPr lang="en-US" sz="3200" dirty="0"/>
          </a:p>
        </p:txBody>
      </p:sp>
      <p:sp>
        <p:nvSpPr>
          <p:cNvPr id="4" name="Shape 2">
            <a:extLst>
              <a:ext uri="{FF2B5EF4-FFF2-40B4-BE49-F238E27FC236}">
                <a16:creationId xmlns:a16="http://schemas.microsoft.com/office/drawing/2014/main" id="{989FD7F3-430D-D7FA-26A5-DE7576BCB6D0}"/>
              </a:ext>
            </a:extLst>
          </p:cNvPr>
          <p:cNvSpPr/>
          <p:nvPr/>
        </p:nvSpPr>
        <p:spPr>
          <a:xfrm>
            <a:off x="548640" y="1536192"/>
            <a:ext cx="11064240" cy="10973"/>
          </a:xfrm>
          <a:prstGeom prst="rect">
            <a:avLst/>
          </a:prstGeom>
          <a:solidFill>
            <a:srgbClr val="E3D6C6"/>
          </a:solidFill>
          <a:ln/>
        </p:spPr>
        <p:txBody>
          <a:bodyPr/>
          <a:lstStyle/>
          <a:p>
            <a:endParaRPr lang="en-US"/>
          </a:p>
        </p:txBody>
      </p:sp>
      <p:sp>
        <p:nvSpPr>
          <p:cNvPr id="7" name="Shape 4">
            <a:extLst>
              <a:ext uri="{FF2B5EF4-FFF2-40B4-BE49-F238E27FC236}">
                <a16:creationId xmlns:a16="http://schemas.microsoft.com/office/drawing/2014/main" id="{11C20182-A43B-C003-A69F-B905C4152199}"/>
              </a:ext>
            </a:extLst>
          </p:cNvPr>
          <p:cNvSpPr/>
          <p:nvPr/>
        </p:nvSpPr>
        <p:spPr>
          <a:xfrm>
            <a:off x="7155712" y="1577872"/>
            <a:ext cx="4900037" cy="5243552"/>
          </a:xfrm>
          <a:prstGeom prst="rect">
            <a:avLst/>
          </a:prstGeom>
          <a:solidFill>
            <a:srgbClr val="FFFFFF"/>
          </a:solidFill>
          <a:ln w="19050">
            <a:solidFill>
              <a:srgbClr val="C9A66B"/>
            </a:solidFill>
            <a:prstDash val="solid"/>
          </a:ln>
        </p:spPr>
        <p:txBody>
          <a:bodyPr/>
          <a:lstStyle/>
          <a:p>
            <a:endParaRPr lang="en-US"/>
          </a:p>
        </p:txBody>
      </p:sp>
      <p:sp>
        <p:nvSpPr>
          <p:cNvPr id="10" name="Text 6">
            <a:extLst>
              <a:ext uri="{FF2B5EF4-FFF2-40B4-BE49-F238E27FC236}">
                <a16:creationId xmlns:a16="http://schemas.microsoft.com/office/drawing/2014/main" id="{108FA85F-54FD-464B-A174-F94A18951330}"/>
              </a:ext>
            </a:extLst>
          </p:cNvPr>
          <p:cNvSpPr/>
          <p:nvPr/>
        </p:nvSpPr>
        <p:spPr>
          <a:xfrm>
            <a:off x="6898959" y="6501384"/>
            <a:ext cx="5212080" cy="320040"/>
          </a:xfrm>
          <a:prstGeom prst="rect">
            <a:avLst/>
          </a:prstGeom>
          <a:noFill/>
          <a:ln/>
        </p:spPr>
        <p:txBody>
          <a:bodyPr wrap="square" rtlCol="0" anchor="ctr"/>
          <a:lstStyle/>
          <a:p>
            <a:pPr marL="0" indent="0" algn="ctr">
              <a:buNone/>
            </a:pPr>
            <a:r>
              <a:rPr lang="en-US" sz="1600" b="1" dirty="0">
                <a:solidFill>
                  <a:srgbClr val="7A2E2E"/>
                </a:solidFill>
                <a:latin typeface="Calibri" pitchFamily="34" charset="0"/>
                <a:ea typeface="Calibri" pitchFamily="34" charset="-122"/>
                <a:cs typeface="Calibri" pitchFamily="34" charset="-120"/>
              </a:rPr>
              <a:t>ERCP</a:t>
            </a:r>
            <a:endParaRPr lang="en-US" sz="1600" dirty="0"/>
          </a:p>
        </p:txBody>
      </p:sp>
      <p:sp>
        <p:nvSpPr>
          <p:cNvPr id="11" name="Text 7">
            <a:extLst>
              <a:ext uri="{FF2B5EF4-FFF2-40B4-BE49-F238E27FC236}">
                <a16:creationId xmlns:a16="http://schemas.microsoft.com/office/drawing/2014/main" id="{9D65444D-3709-2198-3E99-ED388E4ED590}"/>
              </a:ext>
            </a:extLst>
          </p:cNvPr>
          <p:cNvSpPr/>
          <p:nvPr/>
        </p:nvSpPr>
        <p:spPr>
          <a:xfrm>
            <a:off x="294829" y="2108049"/>
            <a:ext cx="6521302" cy="4183197"/>
          </a:xfrm>
          <a:prstGeom prst="rect">
            <a:avLst/>
          </a:prstGeom>
          <a:noFill/>
          <a:ln/>
        </p:spPr>
        <p:txBody>
          <a:bodyPr wrap="square" rtlCol="0" anchor="t"/>
          <a:lstStyle/>
          <a:p>
            <a:pPr marL="254000"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ERCP = Endoscopic Retrograde Cholangiopancreatography</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invasive scope + X-ray</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Diagnose </a:t>
            </a:r>
            <a:r>
              <a:rPr lang="en-US" sz="2000" i="1" dirty="0">
                <a:solidFill>
                  <a:srgbClr val="2B211D"/>
                </a:solidFill>
                <a:latin typeface="Calibri" pitchFamily="34" charset="0"/>
                <a:ea typeface="Calibri" pitchFamily="34" charset="-122"/>
                <a:cs typeface="Calibri" pitchFamily="34" charset="-120"/>
              </a:rPr>
              <a:t>and treat</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Assesses liver, pancreas, bile ducts</a:t>
            </a:r>
          </a:p>
          <a:p>
            <a:pPr marL="711200" lvl="1" indent="-254000">
              <a:lnSpc>
                <a:spcPct val="105000"/>
              </a:lnSpc>
              <a:spcAft>
                <a:spcPts val="800"/>
              </a:spcAft>
              <a:buSzPct val="100000"/>
              <a:buChar char="▪"/>
            </a:pPr>
            <a:r>
              <a:rPr lang="en-US" sz="2000" dirty="0">
                <a:solidFill>
                  <a:srgbClr val="2B211D"/>
                </a:solidFill>
                <a:latin typeface="Calibri" pitchFamily="34" charset="0"/>
                <a:ea typeface="Calibri" pitchFamily="34" charset="-122"/>
                <a:cs typeface="Calibri" pitchFamily="34" charset="-120"/>
              </a:rPr>
              <a:t>Used to remove gallstones or pancreatic stones, place stents, check for strictures or leaks, identify tumors, take biopsies</a:t>
            </a:r>
            <a:endParaRPr lang="en-US" sz="2000" dirty="0"/>
          </a:p>
        </p:txBody>
      </p:sp>
      <p:sp>
        <p:nvSpPr>
          <p:cNvPr id="12" name="Text 8">
            <a:extLst>
              <a:ext uri="{FF2B5EF4-FFF2-40B4-BE49-F238E27FC236}">
                <a16:creationId xmlns:a16="http://schemas.microsoft.com/office/drawing/2014/main" id="{25595022-47A6-A091-D392-07000329E255}"/>
              </a:ext>
            </a:extLst>
          </p:cNvPr>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13" name="Text 9">
            <a:extLst>
              <a:ext uri="{FF2B5EF4-FFF2-40B4-BE49-F238E27FC236}">
                <a16:creationId xmlns:a16="http://schemas.microsoft.com/office/drawing/2014/main" id="{BBB4CF6C-149E-BB5A-71F7-91814FD6836E}"/>
              </a:ext>
            </a:extLst>
          </p:cNvPr>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49 / 46</a:t>
            </a:r>
            <a:endParaRPr lang="en-US" sz="1000" dirty="0"/>
          </a:p>
        </p:txBody>
      </p:sp>
      <p:pic>
        <p:nvPicPr>
          <p:cNvPr id="15" name="Picture 14">
            <a:extLst>
              <a:ext uri="{FF2B5EF4-FFF2-40B4-BE49-F238E27FC236}">
                <a16:creationId xmlns:a16="http://schemas.microsoft.com/office/drawing/2014/main" id="{2CC8D0A1-3708-F663-56BA-BE7F6EBB254F}"/>
              </a:ext>
            </a:extLst>
          </p:cNvPr>
          <p:cNvPicPr>
            <a:picLocks noChangeAspect="1"/>
          </p:cNvPicPr>
          <p:nvPr/>
        </p:nvPicPr>
        <p:blipFill>
          <a:blip r:embed="rId3"/>
          <a:stretch>
            <a:fillRect/>
          </a:stretch>
        </p:blipFill>
        <p:spPr>
          <a:xfrm>
            <a:off x="7277478" y="1692614"/>
            <a:ext cx="4619693" cy="4785378"/>
          </a:xfrm>
          <a:prstGeom prst="rect">
            <a:avLst/>
          </a:prstGeom>
        </p:spPr>
      </p:pic>
    </p:spTree>
    <p:extLst>
      <p:ext uri="{BB962C8B-B14F-4D97-AF65-F5344CB8AC3E}">
        <p14:creationId xmlns:p14="http://schemas.microsoft.com/office/powerpoint/2010/main" val="34568856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BY ORGAN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Pancreas: Diagnostics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59928" y="1729969"/>
            <a:ext cx="4581924" cy="5293473"/>
          </a:xfrm>
          <a:prstGeom prst="rect">
            <a:avLst/>
          </a:prstGeom>
          <a:noFill/>
          <a:ln/>
        </p:spPr>
        <p:txBody>
          <a:bodyPr wrap="square" rtlCol="0" anchor="t"/>
          <a:lstStyle/>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Labs</a:t>
            </a:r>
          </a:p>
          <a:p>
            <a:pPr marL="711200" lvl="1"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Lipase — enzyme released with pancreatic injury; more pancreas-specific than amylase</a:t>
            </a:r>
            <a:endParaRPr lang="en-US" sz="2100" dirty="0"/>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CT abdomen/pelvis —gold standard, first-line for pancreatitis or a mass</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MRCP</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Endoscopic Ultrasound (EUS)</a:t>
            </a:r>
          </a:p>
          <a:p>
            <a:pPr marL="254000" indent="-254000">
              <a:lnSpc>
                <a:spcPct val="105000"/>
              </a:lnSpc>
              <a:spcAft>
                <a:spcPts val="1800"/>
              </a:spcAft>
              <a:buSzPct val="100000"/>
              <a:buChar char="▪"/>
            </a:pPr>
            <a:r>
              <a:rPr lang="en-US" sz="2100" dirty="0">
                <a:solidFill>
                  <a:srgbClr val="2B211D"/>
                </a:solidFill>
                <a:latin typeface="Calibri" pitchFamily="34" charset="0"/>
                <a:ea typeface="Calibri" pitchFamily="34" charset="-122"/>
                <a:cs typeface="Calibri" pitchFamily="34" charset="-120"/>
              </a:rPr>
              <a:t>Abdominal Ultrasound</a:t>
            </a:r>
            <a:endParaRPr lang="en-US" sz="21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50 / 46</a:t>
            </a:r>
            <a:endParaRPr lang="en-US" sz="1000" dirty="0"/>
          </a:p>
        </p:txBody>
      </p:sp>
      <p:pic>
        <p:nvPicPr>
          <p:cNvPr id="9" name="Picture 8">
            <a:extLst>
              <a:ext uri="{FF2B5EF4-FFF2-40B4-BE49-F238E27FC236}">
                <a16:creationId xmlns:a16="http://schemas.microsoft.com/office/drawing/2014/main" id="{BC495FE5-DA00-1A38-0D52-5525B8F43CD4}"/>
              </a:ext>
            </a:extLst>
          </p:cNvPr>
          <p:cNvPicPr>
            <a:picLocks noChangeAspect="1"/>
          </p:cNvPicPr>
          <p:nvPr/>
        </p:nvPicPr>
        <p:blipFill>
          <a:blip r:embed="rId3"/>
          <a:stretch>
            <a:fillRect/>
          </a:stretch>
        </p:blipFill>
        <p:spPr>
          <a:xfrm>
            <a:off x="5829299" y="1863089"/>
            <a:ext cx="5424025" cy="4399487"/>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DIAGNOSTICS — CROSS-CUTTING</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Other Diagnostics You'll See Again</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40080" y="1856232"/>
            <a:ext cx="10881360" cy="4572000"/>
          </a:xfrm>
          <a:prstGeom prst="rect">
            <a:avLst/>
          </a:prstGeom>
          <a:noFill/>
          <a:ln/>
        </p:spPr>
        <p:txBody>
          <a:bodyPr wrap="square" rtlCol="0" anchor="t"/>
          <a:lstStyle/>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Plain abdominal X-ray (KUB) — quick look for free air, obstruction, bowel gas pattern</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Stool studies — fecal occult blood/FIT (bleeding), fecal calprotectin (inflammation)</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H. pylori testing — urea breath test, stool antigen, or biopsy at EGD</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Tumor markers — CEA followed serially after colorectal cancer treatment</a:t>
            </a:r>
            <a:endParaRPr lang="en-US" sz="20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51 / 46</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QUICK REFERENCE</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Acronyms at a Glance</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0080" y="1764792"/>
            <a:ext cx="2103120" cy="621792"/>
          </a:xfrm>
          <a:prstGeom prst="rect">
            <a:avLst/>
          </a:prstGeom>
          <a:solidFill>
            <a:srgbClr val="7A2E2E"/>
          </a:solidFill>
          <a:ln/>
        </p:spPr>
        <p:txBody>
          <a:bodyPr/>
          <a:lstStyle/>
          <a:p>
            <a:endParaRPr lang="en-US"/>
          </a:p>
        </p:txBody>
      </p:sp>
      <p:sp>
        <p:nvSpPr>
          <p:cNvPr id="6" name="Text 4"/>
          <p:cNvSpPr/>
          <p:nvPr/>
        </p:nvSpPr>
        <p:spPr>
          <a:xfrm>
            <a:off x="640080" y="1764792"/>
            <a:ext cx="210312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EGD</a:t>
            </a:r>
            <a:endParaRPr lang="en-US" sz="2000" dirty="0"/>
          </a:p>
        </p:txBody>
      </p:sp>
      <p:sp>
        <p:nvSpPr>
          <p:cNvPr id="7" name="Shape 5"/>
          <p:cNvSpPr/>
          <p:nvPr/>
        </p:nvSpPr>
        <p:spPr>
          <a:xfrm>
            <a:off x="2743200" y="1764792"/>
            <a:ext cx="8778240" cy="621792"/>
          </a:xfrm>
          <a:prstGeom prst="rect">
            <a:avLst/>
          </a:prstGeom>
          <a:solidFill>
            <a:srgbClr val="FFFFFF"/>
          </a:solidFill>
          <a:ln w="9525">
            <a:solidFill>
              <a:srgbClr val="E3D6C6"/>
            </a:solidFill>
            <a:prstDash val="solid"/>
          </a:ln>
        </p:spPr>
        <p:txBody>
          <a:bodyPr/>
          <a:lstStyle/>
          <a:p>
            <a:endParaRPr lang="en-US"/>
          </a:p>
        </p:txBody>
      </p:sp>
      <p:sp>
        <p:nvSpPr>
          <p:cNvPr id="8" name="Text 6"/>
          <p:cNvSpPr/>
          <p:nvPr/>
        </p:nvSpPr>
        <p:spPr>
          <a:xfrm>
            <a:off x="2880360" y="1764792"/>
            <a:ext cx="8503920" cy="621792"/>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Esophagogastroduodenoscopy</a:t>
            </a:r>
            <a:endParaRPr lang="en-US" sz="2000" dirty="0"/>
          </a:p>
        </p:txBody>
      </p:sp>
      <p:sp>
        <p:nvSpPr>
          <p:cNvPr id="9" name="Shape 7"/>
          <p:cNvSpPr/>
          <p:nvPr/>
        </p:nvSpPr>
        <p:spPr>
          <a:xfrm>
            <a:off x="640080" y="2478024"/>
            <a:ext cx="2103120" cy="621792"/>
          </a:xfrm>
          <a:prstGeom prst="rect">
            <a:avLst/>
          </a:prstGeom>
          <a:solidFill>
            <a:srgbClr val="7A2E2E"/>
          </a:solidFill>
          <a:ln/>
        </p:spPr>
        <p:txBody>
          <a:bodyPr/>
          <a:lstStyle/>
          <a:p>
            <a:endParaRPr lang="en-US"/>
          </a:p>
        </p:txBody>
      </p:sp>
      <p:sp>
        <p:nvSpPr>
          <p:cNvPr id="10" name="Text 8"/>
          <p:cNvSpPr/>
          <p:nvPr/>
        </p:nvSpPr>
        <p:spPr>
          <a:xfrm>
            <a:off x="640080" y="2478024"/>
            <a:ext cx="210312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ERCP</a:t>
            </a:r>
            <a:endParaRPr lang="en-US" sz="2000" dirty="0"/>
          </a:p>
        </p:txBody>
      </p:sp>
      <p:sp>
        <p:nvSpPr>
          <p:cNvPr id="11" name="Shape 9"/>
          <p:cNvSpPr/>
          <p:nvPr/>
        </p:nvSpPr>
        <p:spPr>
          <a:xfrm>
            <a:off x="2743200" y="2478024"/>
            <a:ext cx="8778240" cy="621792"/>
          </a:xfrm>
          <a:prstGeom prst="rect">
            <a:avLst/>
          </a:prstGeom>
          <a:solidFill>
            <a:srgbClr val="F7F3EC"/>
          </a:solidFill>
          <a:ln w="9525">
            <a:solidFill>
              <a:srgbClr val="E3D6C6"/>
            </a:solidFill>
            <a:prstDash val="solid"/>
          </a:ln>
        </p:spPr>
        <p:txBody>
          <a:bodyPr/>
          <a:lstStyle/>
          <a:p>
            <a:endParaRPr lang="en-US"/>
          </a:p>
        </p:txBody>
      </p:sp>
      <p:sp>
        <p:nvSpPr>
          <p:cNvPr id="12" name="Text 10"/>
          <p:cNvSpPr/>
          <p:nvPr/>
        </p:nvSpPr>
        <p:spPr>
          <a:xfrm>
            <a:off x="2880360" y="2478024"/>
            <a:ext cx="8503920" cy="621792"/>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Endoscopic retrograde cholangiopancreatography</a:t>
            </a:r>
            <a:endParaRPr lang="en-US" sz="2000" dirty="0"/>
          </a:p>
        </p:txBody>
      </p:sp>
      <p:sp>
        <p:nvSpPr>
          <p:cNvPr id="13" name="Shape 11"/>
          <p:cNvSpPr/>
          <p:nvPr/>
        </p:nvSpPr>
        <p:spPr>
          <a:xfrm>
            <a:off x="640080" y="3191256"/>
            <a:ext cx="2103120" cy="621792"/>
          </a:xfrm>
          <a:prstGeom prst="rect">
            <a:avLst/>
          </a:prstGeom>
          <a:solidFill>
            <a:srgbClr val="7A2E2E"/>
          </a:solidFill>
          <a:ln/>
        </p:spPr>
        <p:txBody>
          <a:bodyPr/>
          <a:lstStyle/>
          <a:p>
            <a:endParaRPr lang="en-US"/>
          </a:p>
        </p:txBody>
      </p:sp>
      <p:sp>
        <p:nvSpPr>
          <p:cNvPr id="14" name="Text 12"/>
          <p:cNvSpPr/>
          <p:nvPr/>
        </p:nvSpPr>
        <p:spPr>
          <a:xfrm>
            <a:off x="640080" y="3191256"/>
            <a:ext cx="210312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MRCP</a:t>
            </a:r>
            <a:endParaRPr lang="en-US" sz="2000" dirty="0"/>
          </a:p>
        </p:txBody>
      </p:sp>
      <p:sp>
        <p:nvSpPr>
          <p:cNvPr id="15" name="Shape 13"/>
          <p:cNvSpPr/>
          <p:nvPr/>
        </p:nvSpPr>
        <p:spPr>
          <a:xfrm>
            <a:off x="2743200" y="3191256"/>
            <a:ext cx="8778240" cy="621792"/>
          </a:xfrm>
          <a:prstGeom prst="rect">
            <a:avLst/>
          </a:prstGeom>
          <a:solidFill>
            <a:srgbClr val="FFFFFF"/>
          </a:solidFill>
          <a:ln w="9525">
            <a:solidFill>
              <a:srgbClr val="E3D6C6"/>
            </a:solidFill>
            <a:prstDash val="solid"/>
          </a:ln>
        </p:spPr>
        <p:txBody>
          <a:bodyPr/>
          <a:lstStyle/>
          <a:p>
            <a:endParaRPr lang="en-US"/>
          </a:p>
        </p:txBody>
      </p:sp>
      <p:sp>
        <p:nvSpPr>
          <p:cNvPr id="16" name="Text 14"/>
          <p:cNvSpPr/>
          <p:nvPr/>
        </p:nvSpPr>
        <p:spPr>
          <a:xfrm>
            <a:off x="2880360" y="3191256"/>
            <a:ext cx="8503920" cy="621792"/>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Magnetic resonance cholangiopancreatography</a:t>
            </a:r>
            <a:endParaRPr lang="en-US" sz="2000" dirty="0"/>
          </a:p>
        </p:txBody>
      </p:sp>
      <p:sp>
        <p:nvSpPr>
          <p:cNvPr id="17" name="Shape 15"/>
          <p:cNvSpPr/>
          <p:nvPr/>
        </p:nvSpPr>
        <p:spPr>
          <a:xfrm>
            <a:off x="640080" y="3904488"/>
            <a:ext cx="2103120" cy="621792"/>
          </a:xfrm>
          <a:prstGeom prst="rect">
            <a:avLst/>
          </a:prstGeom>
          <a:solidFill>
            <a:srgbClr val="7A2E2E"/>
          </a:solidFill>
          <a:ln/>
        </p:spPr>
        <p:txBody>
          <a:bodyPr/>
          <a:lstStyle/>
          <a:p>
            <a:endParaRPr lang="en-US"/>
          </a:p>
        </p:txBody>
      </p:sp>
      <p:sp>
        <p:nvSpPr>
          <p:cNvPr id="18" name="Text 16"/>
          <p:cNvSpPr/>
          <p:nvPr/>
        </p:nvSpPr>
        <p:spPr>
          <a:xfrm>
            <a:off x="640080" y="3904488"/>
            <a:ext cx="210312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HIDA</a:t>
            </a:r>
            <a:endParaRPr lang="en-US" sz="2000" dirty="0"/>
          </a:p>
        </p:txBody>
      </p:sp>
      <p:sp>
        <p:nvSpPr>
          <p:cNvPr id="19" name="Shape 17"/>
          <p:cNvSpPr/>
          <p:nvPr/>
        </p:nvSpPr>
        <p:spPr>
          <a:xfrm>
            <a:off x="2743200" y="3904488"/>
            <a:ext cx="8778240" cy="621792"/>
          </a:xfrm>
          <a:prstGeom prst="rect">
            <a:avLst/>
          </a:prstGeom>
          <a:solidFill>
            <a:srgbClr val="F7F3EC"/>
          </a:solidFill>
          <a:ln w="9525">
            <a:solidFill>
              <a:srgbClr val="E3D6C6"/>
            </a:solidFill>
            <a:prstDash val="solid"/>
          </a:ln>
        </p:spPr>
        <p:txBody>
          <a:bodyPr/>
          <a:lstStyle/>
          <a:p>
            <a:endParaRPr lang="en-US"/>
          </a:p>
        </p:txBody>
      </p:sp>
      <p:sp>
        <p:nvSpPr>
          <p:cNvPr id="20" name="Text 18"/>
          <p:cNvSpPr/>
          <p:nvPr/>
        </p:nvSpPr>
        <p:spPr>
          <a:xfrm>
            <a:off x="2880360" y="3904488"/>
            <a:ext cx="8503920" cy="621792"/>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Hepatobiliary iminodiacetic acid (scan)</a:t>
            </a:r>
            <a:endParaRPr lang="en-US" sz="2000" dirty="0"/>
          </a:p>
        </p:txBody>
      </p:sp>
      <p:sp>
        <p:nvSpPr>
          <p:cNvPr id="21" name="Shape 19"/>
          <p:cNvSpPr/>
          <p:nvPr/>
        </p:nvSpPr>
        <p:spPr>
          <a:xfrm>
            <a:off x="640080" y="4617720"/>
            <a:ext cx="2103120" cy="621792"/>
          </a:xfrm>
          <a:prstGeom prst="rect">
            <a:avLst/>
          </a:prstGeom>
          <a:solidFill>
            <a:srgbClr val="7A2E2E"/>
          </a:solidFill>
          <a:ln/>
        </p:spPr>
        <p:txBody>
          <a:bodyPr/>
          <a:lstStyle/>
          <a:p>
            <a:endParaRPr lang="en-US"/>
          </a:p>
        </p:txBody>
      </p:sp>
      <p:sp>
        <p:nvSpPr>
          <p:cNvPr id="22" name="Text 20"/>
          <p:cNvSpPr/>
          <p:nvPr/>
        </p:nvSpPr>
        <p:spPr>
          <a:xfrm>
            <a:off x="640080" y="4617720"/>
            <a:ext cx="210312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CT</a:t>
            </a:r>
            <a:endParaRPr lang="en-US" sz="2000" dirty="0"/>
          </a:p>
        </p:txBody>
      </p:sp>
      <p:sp>
        <p:nvSpPr>
          <p:cNvPr id="23" name="Shape 21"/>
          <p:cNvSpPr/>
          <p:nvPr/>
        </p:nvSpPr>
        <p:spPr>
          <a:xfrm>
            <a:off x="2743200" y="4617720"/>
            <a:ext cx="8778240" cy="621792"/>
          </a:xfrm>
          <a:prstGeom prst="rect">
            <a:avLst/>
          </a:prstGeom>
          <a:solidFill>
            <a:srgbClr val="FFFFFF"/>
          </a:solidFill>
          <a:ln w="9525">
            <a:solidFill>
              <a:srgbClr val="E3D6C6"/>
            </a:solidFill>
            <a:prstDash val="solid"/>
          </a:ln>
        </p:spPr>
        <p:txBody>
          <a:bodyPr/>
          <a:lstStyle/>
          <a:p>
            <a:endParaRPr lang="en-US"/>
          </a:p>
        </p:txBody>
      </p:sp>
      <p:sp>
        <p:nvSpPr>
          <p:cNvPr id="24" name="Text 22"/>
          <p:cNvSpPr/>
          <p:nvPr/>
        </p:nvSpPr>
        <p:spPr>
          <a:xfrm>
            <a:off x="2880360" y="4617720"/>
            <a:ext cx="8503920" cy="621792"/>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Computed tomography</a:t>
            </a:r>
            <a:endParaRPr lang="en-US" sz="2000" dirty="0"/>
          </a:p>
        </p:txBody>
      </p:sp>
      <p:sp>
        <p:nvSpPr>
          <p:cNvPr id="25" name="Shape 23"/>
          <p:cNvSpPr/>
          <p:nvPr/>
        </p:nvSpPr>
        <p:spPr>
          <a:xfrm>
            <a:off x="640080" y="5330952"/>
            <a:ext cx="2103120" cy="621792"/>
          </a:xfrm>
          <a:prstGeom prst="rect">
            <a:avLst/>
          </a:prstGeom>
          <a:solidFill>
            <a:srgbClr val="7A2E2E"/>
          </a:solidFill>
          <a:ln/>
        </p:spPr>
        <p:txBody>
          <a:bodyPr/>
          <a:lstStyle/>
          <a:p>
            <a:endParaRPr lang="en-US"/>
          </a:p>
        </p:txBody>
      </p:sp>
      <p:sp>
        <p:nvSpPr>
          <p:cNvPr id="26" name="Text 24"/>
          <p:cNvSpPr/>
          <p:nvPr/>
        </p:nvSpPr>
        <p:spPr>
          <a:xfrm>
            <a:off x="640080" y="5330952"/>
            <a:ext cx="2103120"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KUB</a:t>
            </a:r>
            <a:endParaRPr lang="en-US" sz="2000" dirty="0"/>
          </a:p>
        </p:txBody>
      </p:sp>
      <p:sp>
        <p:nvSpPr>
          <p:cNvPr id="27" name="Shape 25"/>
          <p:cNvSpPr/>
          <p:nvPr/>
        </p:nvSpPr>
        <p:spPr>
          <a:xfrm>
            <a:off x="2743200" y="5330952"/>
            <a:ext cx="8778240" cy="621792"/>
          </a:xfrm>
          <a:prstGeom prst="rect">
            <a:avLst/>
          </a:prstGeom>
          <a:solidFill>
            <a:srgbClr val="F7F3EC"/>
          </a:solidFill>
          <a:ln w="9525">
            <a:solidFill>
              <a:srgbClr val="E3D6C6"/>
            </a:solidFill>
            <a:prstDash val="solid"/>
          </a:ln>
        </p:spPr>
        <p:txBody>
          <a:bodyPr/>
          <a:lstStyle/>
          <a:p>
            <a:endParaRPr lang="en-US"/>
          </a:p>
        </p:txBody>
      </p:sp>
      <p:sp>
        <p:nvSpPr>
          <p:cNvPr id="28" name="Text 26"/>
          <p:cNvSpPr/>
          <p:nvPr/>
        </p:nvSpPr>
        <p:spPr>
          <a:xfrm>
            <a:off x="2880360" y="5330952"/>
            <a:ext cx="8503920" cy="621792"/>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Kidneys, ureters, bladder (plain abdominal X-ray)</a:t>
            </a:r>
            <a:endParaRPr lang="en-US" sz="2000" dirty="0"/>
          </a:p>
        </p:txBody>
      </p:sp>
      <p:sp>
        <p:nvSpPr>
          <p:cNvPr id="29" name="Text 27"/>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30" name="Text 28"/>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52 / 46</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CLINICAL CORRELATION</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Choosing the Right Study</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Shape 3"/>
          <p:cNvSpPr/>
          <p:nvPr/>
        </p:nvSpPr>
        <p:spPr>
          <a:xfrm>
            <a:off x="640080" y="1719072"/>
            <a:ext cx="5486400" cy="566928"/>
          </a:xfrm>
          <a:prstGeom prst="rect">
            <a:avLst/>
          </a:prstGeom>
          <a:solidFill>
            <a:srgbClr val="FFFFFF"/>
          </a:solidFill>
          <a:ln w="9525">
            <a:solidFill>
              <a:srgbClr val="E3D6C6"/>
            </a:solidFill>
            <a:prstDash val="solid"/>
          </a:ln>
        </p:spPr>
        <p:txBody>
          <a:bodyPr/>
          <a:lstStyle/>
          <a:p>
            <a:endParaRPr lang="en-US"/>
          </a:p>
        </p:txBody>
      </p:sp>
      <p:sp>
        <p:nvSpPr>
          <p:cNvPr id="6" name="Text 4"/>
          <p:cNvSpPr/>
          <p:nvPr/>
        </p:nvSpPr>
        <p:spPr>
          <a:xfrm>
            <a:off x="777240" y="171907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Suspected appendicitis</a:t>
            </a:r>
            <a:endParaRPr lang="en-US" sz="2000" dirty="0"/>
          </a:p>
        </p:txBody>
      </p:sp>
      <p:sp>
        <p:nvSpPr>
          <p:cNvPr id="7" name="Shape 5"/>
          <p:cNvSpPr/>
          <p:nvPr/>
        </p:nvSpPr>
        <p:spPr>
          <a:xfrm>
            <a:off x="6126480" y="1719072"/>
            <a:ext cx="5394960" cy="566928"/>
          </a:xfrm>
          <a:prstGeom prst="rect">
            <a:avLst/>
          </a:prstGeom>
          <a:solidFill>
            <a:srgbClr val="FFFFFF"/>
          </a:solidFill>
          <a:ln w="9525">
            <a:solidFill>
              <a:srgbClr val="E3D6C6"/>
            </a:solidFill>
            <a:prstDash val="solid"/>
          </a:ln>
        </p:spPr>
        <p:txBody>
          <a:bodyPr/>
          <a:lstStyle/>
          <a:p>
            <a:endParaRPr lang="en-US"/>
          </a:p>
        </p:txBody>
      </p:sp>
      <p:sp>
        <p:nvSpPr>
          <p:cNvPr id="8" name="Text 6"/>
          <p:cNvSpPr/>
          <p:nvPr/>
        </p:nvSpPr>
        <p:spPr>
          <a:xfrm>
            <a:off x="6263640" y="171907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CT (adult) or ultrasound (child/pregnant)</a:t>
            </a:r>
            <a:endParaRPr lang="en-US" sz="2000" dirty="0"/>
          </a:p>
        </p:txBody>
      </p:sp>
      <p:sp>
        <p:nvSpPr>
          <p:cNvPr id="9" name="Shape 7"/>
          <p:cNvSpPr/>
          <p:nvPr/>
        </p:nvSpPr>
        <p:spPr>
          <a:xfrm>
            <a:off x="640080" y="2359152"/>
            <a:ext cx="5486400" cy="566928"/>
          </a:xfrm>
          <a:prstGeom prst="rect">
            <a:avLst/>
          </a:prstGeom>
          <a:solidFill>
            <a:srgbClr val="F7F3EC"/>
          </a:solidFill>
          <a:ln w="9525">
            <a:solidFill>
              <a:srgbClr val="E3D6C6"/>
            </a:solidFill>
            <a:prstDash val="solid"/>
          </a:ln>
        </p:spPr>
        <p:txBody>
          <a:bodyPr/>
          <a:lstStyle/>
          <a:p>
            <a:endParaRPr lang="en-US"/>
          </a:p>
        </p:txBody>
      </p:sp>
      <p:sp>
        <p:nvSpPr>
          <p:cNvPr id="10" name="Text 8"/>
          <p:cNvSpPr/>
          <p:nvPr/>
        </p:nvSpPr>
        <p:spPr>
          <a:xfrm>
            <a:off x="777240" y="235915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RUQ pain, gallstones</a:t>
            </a:r>
            <a:endParaRPr lang="en-US" sz="2000" dirty="0"/>
          </a:p>
        </p:txBody>
      </p:sp>
      <p:sp>
        <p:nvSpPr>
          <p:cNvPr id="11" name="Shape 9"/>
          <p:cNvSpPr/>
          <p:nvPr/>
        </p:nvSpPr>
        <p:spPr>
          <a:xfrm>
            <a:off x="6126480" y="2359152"/>
            <a:ext cx="5394960" cy="566928"/>
          </a:xfrm>
          <a:prstGeom prst="rect">
            <a:avLst/>
          </a:prstGeom>
          <a:solidFill>
            <a:srgbClr val="F7F3EC"/>
          </a:solidFill>
          <a:ln w="9525">
            <a:solidFill>
              <a:srgbClr val="E3D6C6"/>
            </a:solidFill>
            <a:prstDash val="solid"/>
          </a:ln>
        </p:spPr>
        <p:txBody>
          <a:bodyPr/>
          <a:lstStyle/>
          <a:p>
            <a:endParaRPr lang="en-US"/>
          </a:p>
        </p:txBody>
      </p:sp>
      <p:sp>
        <p:nvSpPr>
          <p:cNvPr id="12" name="Text 10"/>
          <p:cNvSpPr/>
          <p:nvPr/>
        </p:nvSpPr>
        <p:spPr>
          <a:xfrm>
            <a:off x="6263640" y="235915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Ultrasound ± HIDA scan</a:t>
            </a:r>
            <a:endParaRPr lang="en-US" sz="2000" dirty="0"/>
          </a:p>
        </p:txBody>
      </p:sp>
      <p:sp>
        <p:nvSpPr>
          <p:cNvPr id="13" name="Shape 11"/>
          <p:cNvSpPr/>
          <p:nvPr/>
        </p:nvSpPr>
        <p:spPr>
          <a:xfrm>
            <a:off x="640080" y="2999232"/>
            <a:ext cx="5486400" cy="566928"/>
          </a:xfrm>
          <a:prstGeom prst="rect">
            <a:avLst/>
          </a:prstGeom>
          <a:solidFill>
            <a:srgbClr val="FFFFFF"/>
          </a:solidFill>
          <a:ln w="9525">
            <a:solidFill>
              <a:srgbClr val="E3D6C6"/>
            </a:solidFill>
            <a:prstDash val="solid"/>
          </a:ln>
        </p:spPr>
        <p:txBody>
          <a:bodyPr/>
          <a:lstStyle/>
          <a:p>
            <a:endParaRPr lang="en-US"/>
          </a:p>
        </p:txBody>
      </p:sp>
      <p:sp>
        <p:nvSpPr>
          <p:cNvPr id="14" name="Text 12"/>
          <p:cNvSpPr/>
          <p:nvPr/>
        </p:nvSpPr>
        <p:spPr>
          <a:xfrm>
            <a:off x="777240" y="299923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Dysphagia</a:t>
            </a:r>
            <a:endParaRPr lang="en-US" sz="2000" dirty="0"/>
          </a:p>
        </p:txBody>
      </p:sp>
      <p:sp>
        <p:nvSpPr>
          <p:cNvPr id="15" name="Shape 13"/>
          <p:cNvSpPr/>
          <p:nvPr/>
        </p:nvSpPr>
        <p:spPr>
          <a:xfrm>
            <a:off x="6126480" y="2999232"/>
            <a:ext cx="5394960" cy="566928"/>
          </a:xfrm>
          <a:prstGeom prst="rect">
            <a:avLst/>
          </a:prstGeom>
          <a:solidFill>
            <a:srgbClr val="FFFFFF"/>
          </a:solidFill>
          <a:ln w="9525">
            <a:solidFill>
              <a:srgbClr val="E3D6C6"/>
            </a:solidFill>
            <a:prstDash val="solid"/>
          </a:ln>
        </p:spPr>
        <p:txBody>
          <a:bodyPr/>
          <a:lstStyle/>
          <a:p>
            <a:endParaRPr lang="en-US"/>
          </a:p>
        </p:txBody>
      </p:sp>
      <p:sp>
        <p:nvSpPr>
          <p:cNvPr id="16" name="Text 14"/>
          <p:cNvSpPr/>
          <p:nvPr/>
        </p:nvSpPr>
        <p:spPr>
          <a:xfrm>
            <a:off x="6263640" y="299923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Barium swallow ± manometry</a:t>
            </a:r>
            <a:endParaRPr lang="en-US" sz="2000" dirty="0"/>
          </a:p>
        </p:txBody>
      </p:sp>
      <p:sp>
        <p:nvSpPr>
          <p:cNvPr id="17" name="Shape 15"/>
          <p:cNvSpPr/>
          <p:nvPr/>
        </p:nvSpPr>
        <p:spPr>
          <a:xfrm>
            <a:off x="640080" y="3639312"/>
            <a:ext cx="5486400" cy="566928"/>
          </a:xfrm>
          <a:prstGeom prst="rect">
            <a:avLst/>
          </a:prstGeom>
          <a:solidFill>
            <a:srgbClr val="F7F3EC"/>
          </a:solidFill>
          <a:ln w="9525">
            <a:solidFill>
              <a:srgbClr val="E3D6C6"/>
            </a:solidFill>
            <a:prstDash val="solid"/>
          </a:ln>
        </p:spPr>
        <p:txBody>
          <a:bodyPr/>
          <a:lstStyle/>
          <a:p>
            <a:endParaRPr lang="en-US"/>
          </a:p>
        </p:txBody>
      </p:sp>
      <p:sp>
        <p:nvSpPr>
          <p:cNvPr id="18" name="Text 16"/>
          <p:cNvSpPr/>
          <p:nvPr/>
        </p:nvSpPr>
        <p:spPr>
          <a:xfrm>
            <a:off x="777240" y="363931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Colorectal cancer screening</a:t>
            </a:r>
            <a:endParaRPr lang="en-US" sz="2000" dirty="0"/>
          </a:p>
        </p:txBody>
      </p:sp>
      <p:sp>
        <p:nvSpPr>
          <p:cNvPr id="19" name="Shape 17"/>
          <p:cNvSpPr/>
          <p:nvPr/>
        </p:nvSpPr>
        <p:spPr>
          <a:xfrm>
            <a:off x="6126480" y="3639312"/>
            <a:ext cx="5394960" cy="566928"/>
          </a:xfrm>
          <a:prstGeom prst="rect">
            <a:avLst/>
          </a:prstGeom>
          <a:solidFill>
            <a:srgbClr val="F7F3EC"/>
          </a:solidFill>
          <a:ln w="9525">
            <a:solidFill>
              <a:srgbClr val="E3D6C6"/>
            </a:solidFill>
            <a:prstDash val="solid"/>
          </a:ln>
        </p:spPr>
        <p:txBody>
          <a:bodyPr/>
          <a:lstStyle/>
          <a:p>
            <a:endParaRPr lang="en-US"/>
          </a:p>
        </p:txBody>
      </p:sp>
      <p:sp>
        <p:nvSpPr>
          <p:cNvPr id="20" name="Text 18"/>
          <p:cNvSpPr/>
          <p:nvPr/>
        </p:nvSpPr>
        <p:spPr>
          <a:xfrm>
            <a:off x="6263640" y="363931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Colonoscopy</a:t>
            </a:r>
            <a:endParaRPr lang="en-US" sz="2000" dirty="0"/>
          </a:p>
        </p:txBody>
      </p:sp>
      <p:sp>
        <p:nvSpPr>
          <p:cNvPr id="21" name="Shape 19"/>
          <p:cNvSpPr/>
          <p:nvPr/>
        </p:nvSpPr>
        <p:spPr>
          <a:xfrm>
            <a:off x="640080" y="4279392"/>
            <a:ext cx="5486400" cy="566928"/>
          </a:xfrm>
          <a:prstGeom prst="rect">
            <a:avLst/>
          </a:prstGeom>
          <a:solidFill>
            <a:srgbClr val="FFFFFF"/>
          </a:solidFill>
          <a:ln w="9525">
            <a:solidFill>
              <a:srgbClr val="E3D6C6"/>
            </a:solidFill>
            <a:prstDash val="solid"/>
          </a:ln>
        </p:spPr>
        <p:txBody>
          <a:bodyPr/>
          <a:lstStyle/>
          <a:p>
            <a:endParaRPr lang="en-US"/>
          </a:p>
        </p:txBody>
      </p:sp>
      <p:sp>
        <p:nvSpPr>
          <p:cNvPr id="22" name="Text 20"/>
          <p:cNvSpPr/>
          <p:nvPr/>
        </p:nvSpPr>
        <p:spPr>
          <a:xfrm>
            <a:off x="777240" y="427939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Suspected pancreatitis</a:t>
            </a:r>
            <a:endParaRPr lang="en-US" sz="2000" dirty="0"/>
          </a:p>
        </p:txBody>
      </p:sp>
      <p:sp>
        <p:nvSpPr>
          <p:cNvPr id="23" name="Shape 21"/>
          <p:cNvSpPr/>
          <p:nvPr/>
        </p:nvSpPr>
        <p:spPr>
          <a:xfrm>
            <a:off x="6126480" y="4279392"/>
            <a:ext cx="5394960" cy="566928"/>
          </a:xfrm>
          <a:prstGeom prst="rect">
            <a:avLst/>
          </a:prstGeom>
          <a:solidFill>
            <a:srgbClr val="FFFFFF"/>
          </a:solidFill>
          <a:ln w="9525">
            <a:solidFill>
              <a:srgbClr val="E3D6C6"/>
            </a:solidFill>
            <a:prstDash val="solid"/>
          </a:ln>
        </p:spPr>
        <p:txBody>
          <a:bodyPr/>
          <a:lstStyle/>
          <a:p>
            <a:endParaRPr lang="en-US"/>
          </a:p>
        </p:txBody>
      </p:sp>
      <p:sp>
        <p:nvSpPr>
          <p:cNvPr id="24" name="Text 22"/>
          <p:cNvSpPr/>
          <p:nvPr/>
        </p:nvSpPr>
        <p:spPr>
          <a:xfrm>
            <a:off x="6263640" y="427939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Lipase + CT abdomen/pelvis</a:t>
            </a:r>
            <a:endParaRPr lang="en-US" sz="2000" dirty="0"/>
          </a:p>
        </p:txBody>
      </p:sp>
      <p:sp>
        <p:nvSpPr>
          <p:cNvPr id="25" name="Shape 23"/>
          <p:cNvSpPr/>
          <p:nvPr/>
        </p:nvSpPr>
        <p:spPr>
          <a:xfrm>
            <a:off x="640080" y="4919472"/>
            <a:ext cx="5486400" cy="566928"/>
          </a:xfrm>
          <a:prstGeom prst="rect">
            <a:avLst/>
          </a:prstGeom>
          <a:solidFill>
            <a:srgbClr val="F7F3EC"/>
          </a:solidFill>
          <a:ln w="9525">
            <a:solidFill>
              <a:srgbClr val="E3D6C6"/>
            </a:solidFill>
            <a:prstDash val="solid"/>
          </a:ln>
        </p:spPr>
        <p:txBody>
          <a:bodyPr/>
          <a:lstStyle/>
          <a:p>
            <a:endParaRPr lang="en-US"/>
          </a:p>
        </p:txBody>
      </p:sp>
      <p:sp>
        <p:nvSpPr>
          <p:cNvPr id="26" name="Text 24"/>
          <p:cNvSpPr/>
          <p:nvPr/>
        </p:nvSpPr>
        <p:spPr>
          <a:xfrm>
            <a:off x="777240" y="491947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Abnormal LFTs</a:t>
            </a:r>
            <a:endParaRPr lang="en-US" sz="2000" dirty="0"/>
          </a:p>
        </p:txBody>
      </p:sp>
      <p:sp>
        <p:nvSpPr>
          <p:cNvPr id="27" name="Shape 25"/>
          <p:cNvSpPr/>
          <p:nvPr/>
        </p:nvSpPr>
        <p:spPr>
          <a:xfrm>
            <a:off x="6126480" y="4919472"/>
            <a:ext cx="5394960" cy="566928"/>
          </a:xfrm>
          <a:prstGeom prst="rect">
            <a:avLst/>
          </a:prstGeom>
          <a:solidFill>
            <a:srgbClr val="F7F3EC"/>
          </a:solidFill>
          <a:ln w="9525">
            <a:solidFill>
              <a:srgbClr val="E3D6C6"/>
            </a:solidFill>
            <a:prstDash val="solid"/>
          </a:ln>
        </p:spPr>
        <p:txBody>
          <a:bodyPr/>
          <a:lstStyle/>
          <a:p>
            <a:endParaRPr lang="en-US"/>
          </a:p>
        </p:txBody>
      </p:sp>
      <p:sp>
        <p:nvSpPr>
          <p:cNvPr id="28" name="Text 26"/>
          <p:cNvSpPr/>
          <p:nvPr/>
        </p:nvSpPr>
        <p:spPr>
          <a:xfrm>
            <a:off x="6263640" y="491947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AST/ALT, bilirubin → ultrasound</a:t>
            </a:r>
            <a:endParaRPr lang="en-US" sz="2000" dirty="0"/>
          </a:p>
        </p:txBody>
      </p:sp>
      <p:sp>
        <p:nvSpPr>
          <p:cNvPr id="29" name="Shape 27"/>
          <p:cNvSpPr/>
          <p:nvPr/>
        </p:nvSpPr>
        <p:spPr>
          <a:xfrm>
            <a:off x="640080" y="5559552"/>
            <a:ext cx="5486400" cy="566928"/>
          </a:xfrm>
          <a:prstGeom prst="rect">
            <a:avLst/>
          </a:prstGeom>
          <a:solidFill>
            <a:srgbClr val="FFFFFF"/>
          </a:solidFill>
          <a:ln w="9525">
            <a:solidFill>
              <a:srgbClr val="E3D6C6"/>
            </a:solidFill>
            <a:prstDash val="solid"/>
          </a:ln>
        </p:spPr>
        <p:txBody>
          <a:bodyPr/>
          <a:lstStyle/>
          <a:p>
            <a:endParaRPr lang="en-US"/>
          </a:p>
        </p:txBody>
      </p:sp>
      <p:sp>
        <p:nvSpPr>
          <p:cNvPr id="30" name="Text 28"/>
          <p:cNvSpPr/>
          <p:nvPr/>
        </p:nvSpPr>
        <p:spPr>
          <a:xfrm>
            <a:off x="777240" y="5559552"/>
            <a:ext cx="5212080" cy="566928"/>
          </a:xfrm>
          <a:prstGeom prst="rect">
            <a:avLst/>
          </a:prstGeom>
          <a:noFill/>
          <a:ln/>
        </p:spPr>
        <p:txBody>
          <a:bodyPr wrap="square" rtlCol="0" anchor="ctr"/>
          <a:lstStyle/>
          <a:p>
            <a:pPr marL="0" indent="0">
              <a:buNone/>
            </a:pPr>
            <a:r>
              <a:rPr lang="en-US" sz="2000" dirty="0">
                <a:solidFill>
                  <a:srgbClr val="2B211D"/>
                </a:solidFill>
                <a:latin typeface="Calibri" pitchFamily="34" charset="0"/>
                <a:ea typeface="Calibri" pitchFamily="34" charset="-122"/>
                <a:cs typeface="Calibri" pitchFamily="34" charset="-120"/>
              </a:rPr>
              <a:t>Suspected PUD/gastritis</a:t>
            </a:r>
            <a:endParaRPr lang="en-US" sz="2000" dirty="0"/>
          </a:p>
        </p:txBody>
      </p:sp>
      <p:sp>
        <p:nvSpPr>
          <p:cNvPr id="31" name="Shape 29"/>
          <p:cNvSpPr/>
          <p:nvPr/>
        </p:nvSpPr>
        <p:spPr>
          <a:xfrm>
            <a:off x="6126480" y="5559552"/>
            <a:ext cx="5394960" cy="566928"/>
          </a:xfrm>
          <a:prstGeom prst="rect">
            <a:avLst/>
          </a:prstGeom>
          <a:solidFill>
            <a:srgbClr val="FFFFFF"/>
          </a:solidFill>
          <a:ln w="9525">
            <a:solidFill>
              <a:srgbClr val="E3D6C6"/>
            </a:solidFill>
            <a:prstDash val="solid"/>
          </a:ln>
        </p:spPr>
        <p:txBody>
          <a:bodyPr/>
          <a:lstStyle/>
          <a:p>
            <a:endParaRPr lang="en-US"/>
          </a:p>
        </p:txBody>
      </p:sp>
      <p:sp>
        <p:nvSpPr>
          <p:cNvPr id="32" name="Text 30"/>
          <p:cNvSpPr/>
          <p:nvPr/>
        </p:nvSpPr>
        <p:spPr>
          <a:xfrm>
            <a:off x="6263640" y="5559552"/>
            <a:ext cx="5120640" cy="566928"/>
          </a:xfrm>
          <a:prstGeom prst="rect">
            <a:avLst/>
          </a:prstGeom>
          <a:noFill/>
          <a:ln/>
        </p:spPr>
        <p:txBody>
          <a:bodyPr wrap="square" rtlCol="0" anchor="ctr"/>
          <a:lstStyle/>
          <a:p>
            <a:pPr marL="0" indent="0">
              <a:buNone/>
            </a:pPr>
            <a:r>
              <a:rPr lang="en-US" sz="2000" b="1" dirty="0">
                <a:solidFill>
                  <a:srgbClr val="7A2E2E"/>
                </a:solidFill>
                <a:latin typeface="Calibri" pitchFamily="34" charset="0"/>
                <a:ea typeface="Calibri" pitchFamily="34" charset="-122"/>
                <a:cs typeface="Calibri" pitchFamily="34" charset="-120"/>
              </a:rPr>
              <a:t>H. pylori testing ± EGD</a:t>
            </a:r>
            <a:endParaRPr lang="en-US" sz="2000" dirty="0"/>
          </a:p>
        </p:txBody>
      </p:sp>
      <p:sp>
        <p:nvSpPr>
          <p:cNvPr id="33" name="Text 31"/>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34" name="Text 32"/>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53 / 46</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365760"/>
          </a:xfrm>
          <a:prstGeom prst="rect">
            <a:avLst/>
          </a:prstGeom>
          <a:noFill/>
          <a:ln/>
        </p:spPr>
        <p:txBody>
          <a:bodyPr wrap="square" rtlCol="0" anchor="ctr"/>
          <a:lstStyle/>
          <a:p>
            <a:pPr marL="0" indent="0">
              <a:buNone/>
            </a:pPr>
            <a:r>
              <a:rPr lang="en-US" sz="2000" b="1" kern="0" spc="100" dirty="0">
                <a:solidFill>
                  <a:srgbClr val="7A2E2E"/>
                </a:solidFill>
                <a:latin typeface="Calibri" pitchFamily="34" charset="0"/>
                <a:ea typeface="Calibri" pitchFamily="34" charset="-122"/>
                <a:cs typeface="Calibri" pitchFamily="34" charset="-120"/>
              </a:rPr>
              <a:t>WRAP-UP</a:t>
            </a:r>
            <a:endParaRPr lang="en-US" sz="2000" dirty="0"/>
          </a:p>
        </p:txBody>
      </p:sp>
      <p:sp>
        <p:nvSpPr>
          <p:cNvPr id="3" name="Text 1"/>
          <p:cNvSpPr/>
          <p:nvPr/>
        </p:nvSpPr>
        <p:spPr>
          <a:xfrm>
            <a:off x="548640" y="822960"/>
            <a:ext cx="11064240" cy="731520"/>
          </a:xfrm>
          <a:prstGeom prst="rect">
            <a:avLst/>
          </a:prstGeom>
          <a:noFill/>
          <a:ln/>
        </p:spPr>
        <p:txBody>
          <a:bodyPr wrap="square" rtlCol="0" anchor="ctr"/>
          <a:lstStyle/>
          <a:p>
            <a:pPr marL="0" indent="0">
              <a:buNone/>
            </a:pPr>
            <a:r>
              <a:rPr lang="en-US" sz="3200" b="1" dirty="0">
                <a:solidFill>
                  <a:srgbClr val="2B211D"/>
                </a:solidFill>
                <a:latin typeface="Cambria" pitchFamily="34" charset="0"/>
                <a:ea typeface="Cambria" pitchFamily="34" charset="-122"/>
                <a:cs typeface="Cambria" pitchFamily="34" charset="-120"/>
              </a:rPr>
              <a:t>Key Takeaways</a:t>
            </a:r>
            <a:endParaRPr lang="en-US" sz="3200" dirty="0"/>
          </a:p>
        </p:txBody>
      </p:sp>
      <p:sp>
        <p:nvSpPr>
          <p:cNvPr id="4" name="Shape 2"/>
          <p:cNvSpPr/>
          <p:nvPr/>
        </p:nvSpPr>
        <p:spPr>
          <a:xfrm>
            <a:off x="548640" y="1536192"/>
            <a:ext cx="11064240" cy="10973"/>
          </a:xfrm>
          <a:prstGeom prst="rect">
            <a:avLst/>
          </a:prstGeom>
          <a:solidFill>
            <a:srgbClr val="E3D6C6"/>
          </a:solidFill>
          <a:ln/>
        </p:spPr>
        <p:txBody>
          <a:bodyPr/>
          <a:lstStyle/>
          <a:p>
            <a:endParaRPr lang="en-US"/>
          </a:p>
        </p:txBody>
      </p:sp>
      <p:sp>
        <p:nvSpPr>
          <p:cNvPr id="5" name="Text 3"/>
          <p:cNvSpPr/>
          <p:nvPr/>
        </p:nvSpPr>
        <p:spPr>
          <a:xfrm>
            <a:off x="640080" y="1856232"/>
            <a:ext cx="10881360" cy="4572000"/>
          </a:xfrm>
          <a:prstGeom prst="rect">
            <a:avLst/>
          </a:prstGeom>
          <a:noFill/>
          <a:ln/>
        </p:spPr>
        <p:txBody>
          <a:bodyPr wrap="square" rtlCol="0" anchor="t"/>
          <a:lstStyle/>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Four wall layers, regionally specialized, run the whole GI tract</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Accessory organs share one ductal system at the ampulla of Vater, and the portal vein routes absorbed nutrients to the liver first</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Foregut/midgut/hindgut map to celiac/SMA/IMA blood supply</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Motility (peristalsis/segmentation) and hormones (gastrin, secretin, CCK, GIP, GLP-1, motilin) coordinate the whole process</a:t>
            </a:r>
            <a:endParaRPr lang="en-US" sz="2000" dirty="0"/>
          </a:p>
          <a:p>
            <a:pPr marL="254000" indent="-254000">
              <a:lnSpc>
                <a:spcPct val="105000"/>
              </a:lnSpc>
              <a:spcAft>
                <a:spcPts val="1600"/>
              </a:spcAft>
              <a:buSzPct val="100000"/>
              <a:buChar char="▪"/>
            </a:pPr>
            <a:r>
              <a:rPr lang="en-US" sz="2000" dirty="0">
                <a:solidFill>
                  <a:srgbClr val="2B211D"/>
                </a:solidFill>
                <a:latin typeface="Calibri" pitchFamily="34" charset="0"/>
                <a:ea typeface="Calibri" pitchFamily="34" charset="-122"/>
                <a:cs typeface="Calibri" pitchFamily="34" charset="-120"/>
              </a:rPr>
              <a:t>Imaging &amp; lab choice always follows the clinical question — you'll see these tests again in each disease lecture</a:t>
            </a:r>
            <a:endParaRPr lang="en-US" sz="2000" dirty="0"/>
          </a:p>
        </p:txBody>
      </p:sp>
      <p:sp>
        <p:nvSpPr>
          <p:cNvPr id="6" name="Text 4"/>
          <p:cNvSpPr/>
          <p:nvPr/>
        </p:nvSpPr>
        <p:spPr>
          <a:xfrm>
            <a:off x="457200" y="6547104"/>
            <a:ext cx="8229600" cy="274320"/>
          </a:xfrm>
          <a:prstGeom prst="rect">
            <a:avLst/>
          </a:prstGeom>
          <a:noFill/>
          <a:ln/>
        </p:spPr>
        <p:txBody>
          <a:bodyPr wrap="square" rtlCol="0" anchor="ctr"/>
          <a:lstStyle/>
          <a:p>
            <a:pPr marL="0" indent="0" algn="l">
              <a:buNone/>
            </a:pPr>
            <a:r>
              <a:rPr lang="en-US" sz="1000" dirty="0">
                <a:solidFill>
                  <a:srgbClr val="6E5F55"/>
                </a:solidFill>
                <a:latin typeface="Calibri" pitchFamily="34" charset="0"/>
                <a:ea typeface="Calibri" pitchFamily="34" charset="-122"/>
                <a:cs typeface="Calibri" pitchFamily="34" charset="-120"/>
              </a:rPr>
              <a:t>GI System — Anatomy &amp; Physiology</a:t>
            </a:r>
            <a:endParaRPr lang="en-US" sz="1000" dirty="0"/>
          </a:p>
        </p:txBody>
      </p:sp>
      <p:sp>
        <p:nvSpPr>
          <p:cNvPr id="7" name="Text 5"/>
          <p:cNvSpPr/>
          <p:nvPr/>
        </p:nvSpPr>
        <p:spPr>
          <a:xfrm>
            <a:off x="10972800" y="6547104"/>
            <a:ext cx="1005840" cy="274320"/>
          </a:xfrm>
          <a:prstGeom prst="rect">
            <a:avLst/>
          </a:prstGeom>
          <a:noFill/>
          <a:ln/>
        </p:spPr>
        <p:txBody>
          <a:bodyPr wrap="square" rtlCol="0" anchor="ctr"/>
          <a:lstStyle/>
          <a:p>
            <a:pPr marL="0" indent="0" algn="r">
              <a:buNone/>
            </a:pPr>
            <a:r>
              <a:rPr lang="en-US" sz="1000" dirty="0">
                <a:solidFill>
                  <a:srgbClr val="6E5F55"/>
                </a:solidFill>
                <a:latin typeface="Calibri" pitchFamily="34" charset="0"/>
                <a:ea typeface="Calibri" pitchFamily="34" charset="-122"/>
                <a:cs typeface="Calibri" pitchFamily="34" charset="-120"/>
              </a:rPr>
              <a:t>54 / 46</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5">
    <p:bg>
      <p:bgPr>
        <a:solidFill>
          <a:srgbClr val="241A16"/>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5A1F1F"/>
          </a:solidFill>
          <a:ln/>
        </p:spPr>
        <p:txBody>
          <a:bodyPr/>
          <a:lstStyle/>
          <a:p>
            <a:endParaRPr lang="en-US"/>
          </a:p>
        </p:txBody>
      </p:sp>
      <p:sp>
        <p:nvSpPr>
          <p:cNvPr id="3" name="Shape 1"/>
          <p:cNvSpPr/>
          <p:nvPr/>
        </p:nvSpPr>
        <p:spPr>
          <a:xfrm>
            <a:off x="-1828800" y="4389120"/>
            <a:ext cx="4114800" cy="4114800"/>
          </a:xfrm>
          <a:prstGeom prst="ellipse">
            <a:avLst/>
          </a:prstGeom>
          <a:solidFill>
            <a:srgbClr val="34251F"/>
          </a:solidFill>
          <a:ln/>
        </p:spPr>
        <p:txBody>
          <a:bodyPr/>
          <a:lstStyle/>
          <a:p>
            <a:endParaRPr lang="en-US"/>
          </a:p>
        </p:txBody>
      </p:sp>
      <p:sp>
        <p:nvSpPr>
          <p:cNvPr id="4" name="Text 2"/>
          <p:cNvSpPr/>
          <p:nvPr/>
        </p:nvSpPr>
        <p:spPr>
          <a:xfrm>
            <a:off x="822960" y="2560320"/>
            <a:ext cx="96012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Questions &amp; Discussion</a:t>
            </a:r>
            <a:endParaRPr lang="en-US" sz="4000" dirty="0"/>
          </a:p>
        </p:txBody>
      </p:sp>
      <p:sp>
        <p:nvSpPr>
          <p:cNvPr id="5" name="Text 3"/>
          <p:cNvSpPr/>
          <p:nvPr/>
        </p:nvSpPr>
        <p:spPr>
          <a:xfrm>
            <a:off x="822960" y="3657600"/>
            <a:ext cx="9601200" cy="640080"/>
          </a:xfrm>
          <a:prstGeom prst="rect">
            <a:avLst/>
          </a:prstGeom>
          <a:noFill/>
          <a:ln/>
        </p:spPr>
        <p:txBody>
          <a:bodyPr wrap="square" rtlCol="0" anchor="ctr"/>
          <a:lstStyle/>
          <a:p>
            <a:pPr marL="0" indent="0">
              <a:buNone/>
            </a:pPr>
            <a:r>
              <a:rPr lang="en-US" sz="2000" i="1" dirty="0">
                <a:solidFill>
                  <a:srgbClr val="F3EAE0"/>
                </a:solidFill>
                <a:latin typeface="Calibri" pitchFamily="34" charset="0"/>
                <a:ea typeface="Calibri" pitchFamily="34" charset="-122"/>
                <a:cs typeface="Calibri" pitchFamily="34" charset="-120"/>
              </a:rPr>
              <a:t>Next up: GI A&amp;P Lab session</a:t>
            </a:r>
            <a:endParaRPr lang="en-US" sz="2000" dirty="0"/>
          </a:p>
        </p:txBody>
      </p:sp>
      <p:sp>
        <p:nvSpPr>
          <p:cNvPr id="6" name="Shape 4"/>
          <p:cNvSpPr/>
          <p:nvPr/>
        </p:nvSpPr>
        <p:spPr>
          <a:xfrm>
            <a:off x="822960" y="3337560"/>
            <a:ext cx="1280160" cy="45720"/>
          </a:xfrm>
          <a:prstGeom prst="rect">
            <a:avLst/>
          </a:prstGeom>
          <a:solidFill>
            <a:srgbClr val="C9A66B"/>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332</TotalTime>
  <Words>4269</Words>
  <Application>Microsoft Office PowerPoint</Application>
  <PresentationFormat>Widescreen</PresentationFormat>
  <Paragraphs>640</Paragraphs>
  <Slides>64</Slides>
  <Notes>64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Hammett, Angela</cp:lastModifiedBy>
  <cp:revision>2</cp:revision>
  <dcterms:created xsi:type="dcterms:W3CDTF">2026-07-17T13:49:06Z</dcterms:created>
  <dcterms:modified xsi:type="dcterms:W3CDTF">2026-07-17T19:28:24Z</dcterms:modified>
</cp:coreProperties>
</file>