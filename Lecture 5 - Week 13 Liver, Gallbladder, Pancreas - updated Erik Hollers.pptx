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7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5" r:id="rId24"/>
    <p:sldId id="294" r:id="rId25"/>
    <p:sldId id="296" r:id="rId26"/>
    <p:sldId id="297" r:id="rId27"/>
    <p:sldId id="298" r:id="rId28"/>
    <p:sldId id="307" r:id="rId29"/>
    <p:sldId id="308" r:id="rId30"/>
    <p:sldId id="309" r:id="rId31"/>
    <p:sldId id="310" r:id="rId32"/>
    <p:sldId id="311" r:id="rId33"/>
    <p:sldId id="326" r:id="rId34"/>
    <p:sldId id="327" r:id="rId35"/>
    <p:sldId id="328" r:id="rId36"/>
    <p:sldId id="329" r:id="rId37"/>
    <p:sldId id="330" r:id="rId38"/>
    <p:sldId id="331" r:id="rId39"/>
    <p:sldId id="269" r:id="rId40"/>
    <p:sldId id="270" r:id="rId41"/>
    <p:sldId id="271" r:id="rId42"/>
    <p:sldId id="272" r:id="rId43"/>
    <p:sldId id="273" r:id="rId44"/>
    <p:sldId id="274" r:id="rId45"/>
    <p:sldId id="275" r:id="rId46"/>
    <p:sldId id="276" r:id="rId47"/>
    <p:sldId id="277" r:id="rId48"/>
    <p:sldId id="278" r:id="rId49"/>
    <p:sldId id="279" r:id="rId50"/>
    <p:sldId id="280" r:id="rId51"/>
    <p:sldId id="281" r:id="rId52"/>
    <p:sldId id="282" r:id="rId53"/>
    <p:sldId id="283" r:id="rId54"/>
    <p:sldId id="299" r:id="rId55"/>
    <p:sldId id="300" r:id="rId56"/>
    <p:sldId id="301" r:id="rId57"/>
    <p:sldId id="303" r:id="rId58"/>
    <p:sldId id="302" r:id="rId59"/>
    <p:sldId id="304" r:id="rId60"/>
    <p:sldId id="305" r:id="rId61"/>
    <p:sldId id="306" r:id="rId62"/>
    <p:sldId id="312" r:id="rId63"/>
    <p:sldId id="259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17"/>
    <p:restoredTop sz="94645"/>
  </p:normalViewPr>
  <p:slideViewPr>
    <p:cSldViewPr snapToGrid="0">
      <p:cViewPr>
        <p:scale>
          <a:sx n="110" d="100"/>
          <a:sy n="110" d="100"/>
        </p:scale>
        <p:origin x="92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873AC5-70E2-0E40-9A69-A91DF6C091DB}" type="datetimeFigureOut">
              <a:rPr lang="en-US" smtClean="0"/>
              <a:t>8/3/26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BEA4B-9F32-DF4D-8959-7DFD863B66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400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BEA4B-9F32-DF4D-8959-7DFD863B666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180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BEA4B-9F32-DF4D-8959-7DFD863B666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492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BEA4B-9F32-DF4D-8959-7DFD863B6660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442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BEA4B-9F32-DF4D-8959-7DFD863B6660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694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A6459D-0CC0-C448-A6F0-6D4FD737A7C5}" type="slidenum">
              <a:rPr lang="en-US" smtClean="0"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040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A6459D-0CC0-C448-A6F0-6D4FD737A7C5}" type="slidenum">
              <a:rPr lang="en-US" smtClean="0"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214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A6459D-0CC0-C448-A6F0-6D4FD737A7C5}" type="slidenum">
              <a:rPr lang="en-US" smtClean="0"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744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A6459D-0CC0-C448-A6F0-6D4FD737A7C5}" type="slidenum">
              <a:rPr lang="en-US" smtClean="0"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91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5500731-7D5F-484B-825D-455B7D50EFE6}" type="datetimeFigureOut">
              <a:rPr lang="en-US" smtClean="0"/>
              <a:t>8/3/26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229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373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888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179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041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02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832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873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198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568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5970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32400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6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6021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239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0607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0731-7D5F-484B-825D-455B7D50EFE6}" type="datetimeFigureOut">
              <a:rPr lang="en-US" smtClean="0"/>
              <a:t>8/3/26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8BED-5FF4-2D40-B974-D6BF5FC913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6117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203201" y="6477001"/>
            <a:ext cx="10775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Copyrights apply</a:t>
            </a:r>
          </a:p>
        </p:txBody>
      </p:sp>
    </p:spTree>
    <p:extLst>
      <p:ext uri="{BB962C8B-B14F-4D97-AF65-F5344CB8AC3E}">
        <p14:creationId xmlns:p14="http://schemas.microsoft.com/office/powerpoint/2010/main" val="2639349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00731-7D5F-484B-825D-455B7D50EFE6}" type="datetimeFigureOut">
              <a:rPr lang="en-US" smtClean="0"/>
              <a:t>8/3/26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378BED-5FF4-2D40-B974-D6BF5FC913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8472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jpeg"/><Relationship Id="rId4" Type="http://schemas.openxmlformats.org/officeDocument/2006/relationships/image" Target="../media/image46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jpeg"/><Relationship Id="rId4" Type="http://schemas.openxmlformats.org/officeDocument/2006/relationships/image" Target="../media/image54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8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jpeg"/><Relationship Id="rId4" Type="http://schemas.openxmlformats.org/officeDocument/2006/relationships/image" Target="../media/image63.jpe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gi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D3E97-47FB-FA50-DF6B-8EAACFBC61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 Lecture: Liver, Pancreatic, and Biliary Conditions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23BAA9-3895-D19E-7B19-2D3FF1A7C4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Erik Hollers, PA-C – Moffitt Cancer and Research Center</a:t>
            </a:r>
          </a:p>
          <a:p>
            <a:r>
              <a:rPr lang="en-US" dirty="0"/>
              <a:t>Lincoln Memorial University - Tampa</a:t>
            </a:r>
          </a:p>
          <a:p>
            <a:r>
              <a:rPr lang="en-US" dirty="0"/>
              <a:t>Clinical Medicine II </a:t>
            </a:r>
          </a:p>
          <a:p>
            <a:r>
              <a:rPr lang="en-US" dirty="0"/>
              <a:t>Summer 2026</a:t>
            </a:r>
          </a:p>
        </p:txBody>
      </p:sp>
    </p:spTree>
    <p:extLst>
      <p:ext uri="{BB962C8B-B14F-4D97-AF65-F5344CB8AC3E}">
        <p14:creationId xmlns:p14="http://schemas.microsoft.com/office/powerpoint/2010/main" val="3942972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CFE1-3E14-0004-4697-492F45EAF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9C77-8FA6-39E0-2578-F2B49C273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effectLst/>
              </a:rPr>
              <a:t>Explain the epidemiology, etiology, pathophysiology, clinical presentation, diagnostic findings, and treatment of Diseases of the Colon and Rectum.</a:t>
            </a:r>
          </a:p>
          <a:p>
            <a:r>
              <a:rPr lang="en-US" dirty="0">
                <a:effectLst/>
              </a:rPr>
              <a:t>Explain the epidemiology, etiology, pathophysiology, clinical presentation, diagnostic findings, and treatment of Diseases of the Anorectum including</a:t>
            </a:r>
          </a:p>
          <a:p>
            <a:r>
              <a:rPr lang="en-US" dirty="0">
                <a:effectLst/>
              </a:rPr>
              <a:t>Explain the epidemiology, etiology, pathophysiology, clinical presentation, diagnostic findings, and treatment of Diseases of the Liver </a:t>
            </a:r>
          </a:p>
          <a:p>
            <a:r>
              <a:rPr lang="en-US" dirty="0">
                <a:effectLst/>
              </a:rPr>
              <a:t>Explain the epidemiology, etiology, pathophysiology, clinical presentation, diagnostic findings, and treatment of Diseases of the Biliary Tract </a:t>
            </a:r>
          </a:p>
          <a:p>
            <a:r>
              <a:rPr lang="en-US" dirty="0">
                <a:effectLst/>
              </a:rPr>
              <a:t>Explain the epidemiology, etiology, pathophysiology, clinical presentation, diagnostic findings, and treatment of Diseases of the Pancreas </a:t>
            </a:r>
          </a:p>
        </p:txBody>
      </p:sp>
    </p:spTree>
    <p:extLst>
      <p:ext uri="{BB962C8B-B14F-4D97-AF65-F5344CB8AC3E}">
        <p14:creationId xmlns:p14="http://schemas.microsoft.com/office/powerpoint/2010/main" val="1110648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B0F8C-7F00-1AF8-1FF5-C460B8A83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D4A0E-B1D8-7A8B-552D-706F47736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>
                <a:effectLst/>
              </a:rPr>
              <a:t>Apply knowledge of GI anatomy and physiology when taking a patient’s history, performing a physical examination, and developing a treatment plan, considering age-related changes</a:t>
            </a:r>
          </a:p>
          <a:p>
            <a:r>
              <a:rPr lang="en-US" dirty="0">
                <a:effectLst/>
              </a:rPr>
              <a:t>Differentiate between normal and abnormal gastrointestinal exam findings to guide and support medical decisions and treatment plans.</a:t>
            </a:r>
          </a:p>
          <a:p>
            <a:r>
              <a:rPr lang="en-US" dirty="0">
                <a:effectLst/>
              </a:rPr>
              <a:t>Analyze abnormal findings to develop a relevant differential diagnosis utilizing a system based pathophysiological model.</a:t>
            </a:r>
          </a:p>
          <a:p>
            <a:r>
              <a:rPr lang="en-US" dirty="0">
                <a:effectLst/>
              </a:rPr>
              <a:t>Interpret common GI laboratory and diagnostic tests/screenings (including selection of appropriate tests and interpretation of age-appropriate reference ranges).</a:t>
            </a:r>
          </a:p>
          <a:p>
            <a:r>
              <a:rPr lang="en-US" dirty="0">
                <a:effectLst/>
              </a:rPr>
              <a:t>Select appropriate patient-centered treatment plans for gastroenterology disorders that incorporate evidence-based non-pharmacologic and pharmacologic interventions, considering patient preferences, values, and cultural beliefs.</a:t>
            </a:r>
          </a:p>
          <a:p>
            <a:r>
              <a:rPr lang="en-US" dirty="0">
                <a:effectLst/>
              </a:rPr>
              <a:t>Develop professional, culturally sensitive, empathetic, comprehensive acute and chronic care plans for patients of all ages, incorporating preventive care, education, referrals, and rehabilitation coordination.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871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9391C63B-9409-43FE-B3C8-05C2F406E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037" name="Rectangle 1036">
              <a:extLst>
                <a:ext uri="{FF2B5EF4-FFF2-40B4-BE49-F238E27FC236}">
                  <a16:creationId xmlns:a16="http://schemas.microsoft.com/office/drawing/2014/main" id="{FD4D2D43-3C80-463E-95BA-95EDCFE52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38" name="Picture 2">
              <a:extLst>
                <a:ext uri="{FF2B5EF4-FFF2-40B4-BE49-F238E27FC236}">
                  <a16:creationId xmlns:a16="http://schemas.microsoft.com/office/drawing/2014/main" id="{A79495A4-D8D7-4D35-B403-4A8B70B48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182F2A0-B23C-EDC9-271B-0E27A3785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425" y="618518"/>
            <a:ext cx="4598985" cy="1478570"/>
          </a:xfrm>
        </p:spPr>
        <p:txBody>
          <a:bodyPr>
            <a:normAutofit/>
          </a:bodyPr>
          <a:lstStyle/>
          <a:p>
            <a:r>
              <a:rPr lang="en-US" dirty="0"/>
              <a:t>Hepatitis: overview</a:t>
            </a:r>
          </a:p>
        </p:txBody>
      </p:sp>
      <p:pic>
        <p:nvPicPr>
          <p:cNvPr id="1026" name="Picture 2" descr="Hepatitis A Basics | Hepatitis A | CDC">
            <a:extLst>
              <a:ext uri="{FF2B5EF4-FFF2-40B4-BE49-F238E27FC236}">
                <a16:creationId xmlns:a16="http://schemas.microsoft.com/office/drawing/2014/main" id="{4312A153-546D-6651-8F58-43C0D3E52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5597" y="10"/>
            <a:ext cx="610159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86A8F816-AC43-412D-A97C-04A5F187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041" name="Rectangle 1040">
              <a:extLst>
                <a:ext uri="{FF2B5EF4-FFF2-40B4-BE49-F238E27FC236}">
                  <a16:creationId xmlns:a16="http://schemas.microsoft.com/office/drawing/2014/main" id="{03C200A6-A160-4D61-B495-766D61704C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2" name="Freeform 6">
              <a:extLst>
                <a:ext uri="{FF2B5EF4-FFF2-40B4-BE49-F238E27FC236}">
                  <a16:creationId xmlns:a16="http://schemas.microsoft.com/office/drawing/2014/main" id="{A65C50F5-3FA5-496C-AE9D-9B2D18BA72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3" name="Freeform 7">
              <a:extLst>
                <a:ext uri="{FF2B5EF4-FFF2-40B4-BE49-F238E27FC236}">
                  <a16:creationId xmlns:a16="http://schemas.microsoft.com/office/drawing/2014/main" id="{93A0E285-6A59-4F32-954F-F4D01CF18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4" name="Rectangle 1043">
              <a:extLst>
                <a:ext uri="{FF2B5EF4-FFF2-40B4-BE49-F238E27FC236}">
                  <a16:creationId xmlns:a16="http://schemas.microsoft.com/office/drawing/2014/main" id="{647449E1-B2FD-40EC-B9B6-3B04F8691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5" name="Freeform 9">
              <a:extLst>
                <a:ext uri="{FF2B5EF4-FFF2-40B4-BE49-F238E27FC236}">
                  <a16:creationId xmlns:a16="http://schemas.microsoft.com/office/drawing/2014/main" id="{374C7DBB-A645-4225-913A-B32BF022CF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6" name="Freeform 10">
              <a:extLst>
                <a:ext uri="{FF2B5EF4-FFF2-40B4-BE49-F238E27FC236}">
                  <a16:creationId xmlns:a16="http://schemas.microsoft.com/office/drawing/2014/main" id="{02763F9E-06D4-44F8-99B7-F03E46503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7" name="Freeform 11">
              <a:extLst>
                <a:ext uri="{FF2B5EF4-FFF2-40B4-BE49-F238E27FC236}">
                  <a16:creationId xmlns:a16="http://schemas.microsoft.com/office/drawing/2014/main" id="{F9485170-FF6A-4C2C-AD53-F75775B6A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8" name="Freeform 12">
              <a:extLst>
                <a:ext uri="{FF2B5EF4-FFF2-40B4-BE49-F238E27FC236}">
                  <a16:creationId xmlns:a16="http://schemas.microsoft.com/office/drawing/2014/main" id="{5A3B546C-8D41-4BED-9C42-40AA55B97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9" name="Freeform 13">
              <a:extLst>
                <a:ext uri="{FF2B5EF4-FFF2-40B4-BE49-F238E27FC236}">
                  <a16:creationId xmlns:a16="http://schemas.microsoft.com/office/drawing/2014/main" id="{1D3BFA4D-2052-4626-BD98-6ED846E77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0" name="Freeform 14">
              <a:extLst>
                <a:ext uri="{FF2B5EF4-FFF2-40B4-BE49-F238E27FC236}">
                  <a16:creationId xmlns:a16="http://schemas.microsoft.com/office/drawing/2014/main" id="{9B1795D5-2BDD-4792-9724-B7FFD0A2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1" name="Freeform 15">
              <a:extLst>
                <a:ext uri="{FF2B5EF4-FFF2-40B4-BE49-F238E27FC236}">
                  <a16:creationId xmlns:a16="http://schemas.microsoft.com/office/drawing/2014/main" id="{FC57801A-7AC9-41A1-BC38-77918A1B4F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2" name="Freeform 16">
              <a:extLst>
                <a:ext uri="{FF2B5EF4-FFF2-40B4-BE49-F238E27FC236}">
                  <a16:creationId xmlns:a16="http://schemas.microsoft.com/office/drawing/2014/main" id="{82E16F78-76A8-4502-BDD1-C56EE245CF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3" name="Freeform 17">
              <a:extLst>
                <a:ext uri="{FF2B5EF4-FFF2-40B4-BE49-F238E27FC236}">
                  <a16:creationId xmlns:a16="http://schemas.microsoft.com/office/drawing/2014/main" id="{223BA1AA-E97D-4933-9448-B450686246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4" name="Freeform 18">
              <a:extLst>
                <a:ext uri="{FF2B5EF4-FFF2-40B4-BE49-F238E27FC236}">
                  <a16:creationId xmlns:a16="http://schemas.microsoft.com/office/drawing/2014/main" id="{B914E16B-686D-4E93-AF1A-48016E5FC5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5" name="Freeform 19">
              <a:extLst>
                <a:ext uri="{FF2B5EF4-FFF2-40B4-BE49-F238E27FC236}">
                  <a16:creationId xmlns:a16="http://schemas.microsoft.com/office/drawing/2014/main" id="{2BE217F2-46D9-4542-A0CA-62A6BDFA0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6" name="Freeform 20">
              <a:extLst>
                <a:ext uri="{FF2B5EF4-FFF2-40B4-BE49-F238E27FC236}">
                  <a16:creationId xmlns:a16="http://schemas.microsoft.com/office/drawing/2014/main" id="{0295D04E-B04B-4149-B449-82C021A0C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7" name="Freeform 21">
              <a:extLst>
                <a:ext uri="{FF2B5EF4-FFF2-40B4-BE49-F238E27FC236}">
                  <a16:creationId xmlns:a16="http://schemas.microsoft.com/office/drawing/2014/main" id="{1B45069A-DE6E-4DAC-B4FB-53E0BE0F2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8" name="Freeform 22">
              <a:extLst>
                <a:ext uri="{FF2B5EF4-FFF2-40B4-BE49-F238E27FC236}">
                  <a16:creationId xmlns:a16="http://schemas.microsoft.com/office/drawing/2014/main" id="{2381C171-634E-4582-8BCF-4B1465D3C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9" name="Freeform 23">
              <a:extLst>
                <a:ext uri="{FF2B5EF4-FFF2-40B4-BE49-F238E27FC236}">
                  <a16:creationId xmlns:a16="http://schemas.microsoft.com/office/drawing/2014/main" id="{CDE96AC1-974B-46DC-8856-FF24F21FD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0" name="Freeform 24">
              <a:extLst>
                <a:ext uri="{FF2B5EF4-FFF2-40B4-BE49-F238E27FC236}">
                  <a16:creationId xmlns:a16="http://schemas.microsoft.com/office/drawing/2014/main" id="{E9E50B46-EEFE-4F1F-A66C-01A3056E4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1" name="Freeform 25">
              <a:extLst>
                <a:ext uri="{FF2B5EF4-FFF2-40B4-BE49-F238E27FC236}">
                  <a16:creationId xmlns:a16="http://schemas.microsoft.com/office/drawing/2014/main" id="{39C19F1F-0A32-47E4-B860-E7238095B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2" name="Freeform 26">
              <a:extLst>
                <a:ext uri="{FF2B5EF4-FFF2-40B4-BE49-F238E27FC236}">
                  <a16:creationId xmlns:a16="http://schemas.microsoft.com/office/drawing/2014/main" id="{9BC5FEDC-F173-42DA-B6B4-38887BEBB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3" name="Freeform 27">
              <a:extLst>
                <a:ext uri="{FF2B5EF4-FFF2-40B4-BE49-F238E27FC236}">
                  <a16:creationId xmlns:a16="http://schemas.microsoft.com/office/drawing/2014/main" id="{F603B486-2B6A-427C-B213-94D62DEE7F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4" name="Freeform 28">
              <a:extLst>
                <a:ext uri="{FF2B5EF4-FFF2-40B4-BE49-F238E27FC236}">
                  <a16:creationId xmlns:a16="http://schemas.microsoft.com/office/drawing/2014/main" id="{9923324F-5ABA-4211-BFD5-3C7210A3D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5" name="Freeform 29">
              <a:extLst>
                <a:ext uri="{FF2B5EF4-FFF2-40B4-BE49-F238E27FC236}">
                  <a16:creationId xmlns:a16="http://schemas.microsoft.com/office/drawing/2014/main" id="{174E15FD-3C22-42F2-86C1-816A41A113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6" name="Freeform 30">
              <a:extLst>
                <a:ext uri="{FF2B5EF4-FFF2-40B4-BE49-F238E27FC236}">
                  <a16:creationId xmlns:a16="http://schemas.microsoft.com/office/drawing/2014/main" id="{97DBD1EA-E545-4370-BDAE-BCADFCAE0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7" name="Freeform 31">
              <a:extLst>
                <a:ext uri="{FF2B5EF4-FFF2-40B4-BE49-F238E27FC236}">
                  <a16:creationId xmlns:a16="http://schemas.microsoft.com/office/drawing/2014/main" id="{349BB900-4B0A-4A52-91D0-BA1251DD9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8" name="Freeform 32">
              <a:extLst>
                <a:ext uri="{FF2B5EF4-FFF2-40B4-BE49-F238E27FC236}">
                  <a16:creationId xmlns:a16="http://schemas.microsoft.com/office/drawing/2014/main" id="{6806FA38-BF37-458D-8FA3-FFAE06373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9" name="Rectangle 1068">
              <a:extLst>
                <a:ext uri="{FF2B5EF4-FFF2-40B4-BE49-F238E27FC236}">
                  <a16:creationId xmlns:a16="http://schemas.microsoft.com/office/drawing/2014/main" id="{4D932FFD-96DA-4DCC-9719-F5734FC5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0" name="Freeform 34">
              <a:extLst>
                <a:ext uri="{FF2B5EF4-FFF2-40B4-BE49-F238E27FC236}">
                  <a16:creationId xmlns:a16="http://schemas.microsoft.com/office/drawing/2014/main" id="{55D6D3C9-0B00-4009-8DD3-C64858A9A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1" name="Freeform 35">
              <a:extLst>
                <a:ext uri="{FF2B5EF4-FFF2-40B4-BE49-F238E27FC236}">
                  <a16:creationId xmlns:a16="http://schemas.microsoft.com/office/drawing/2014/main" id="{8D8B5E4D-FF9B-4CED-91C9-B2800B3DA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2" name="Freeform 36">
              <a:extLst>
                <a:ext uri="{FF2B5EF4-FFF2-40B4-BE49-F238E27FC236}">
                  <a16:creationId xmlns:a16="http://schemas.microsoft.com/office/drawing/2014/main" id="{6A4620BB-BF1E-4B42-870C-57EC0C649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3" name="Freeform 37">
              <a:extLst>
                <a:ext uri="{FF2B5EF4-FFF2-40B4-BE49-F238E27FC236}">
                  <a16:creationId xmlns:a16="http://schemas.microsoft.com/office/drawing/2014/main" id="{4F5B49D4-1AE0-44C9-AEDE-8F98DC508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4" name="Freeform 38">
              <a:extLst>
                <a:ext uri="{FF2B5EF4-FFF2-40B4-BE49-F238E27FC236}">
                  <a16:creationId xmlns:a16="http://schemas.microsoft.com/office/drawing/2014/main" id="{83722B55-49D5-4B14-8816-40F027BB5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5" name="Freeform 39">
              <a:extLst>
                <a:ext uri="{FF2B5EF4-FFF2-40B4-BE49-F238E27FC236}">
                  <a16:creationId xmlns:a16="http://schemas.microsoft.com/office/drawing/2014/main" id="{B501AD49-DB3F-4688-9FBD-D5856C90B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6" name="Freeform 40">
              <a:extLst>
                <a:ext uri="{FF2B5EF4-FFF2-40B4-BE49-F238E27FC236}">
                  <a16:creationId xmlns:a16="http://schemas.microsoft.com/office/drawing/2014/main" id="{4414AF2C-5011-4941-A5FC-9F0BFFDA13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7" name="Freeform 41">
              <a:extLst>
                <a:ext uri="{FF2B5EF4-FFF2-40B4-BE49-F238E27FC236}">
                  <a16:creationId xmlns:a16="http://schemas.microsoft.com/office/drawing/2014/main" id="{E43B9AC1-EA63-4CBE-A044-814D130F4E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8" name="Freeform 42">
              <a:extLst>
                <a:ext uri="{FF2B5EF4-FFF2-40B4-BE49-F238E27FC236}">
                  <a16:creationId xmlns:a16="http://schemas.microsoft.com/office/drawing/2014/main" id="{FE925601-6A24-4966-AB9C-96A5FD1FD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9" name="Freeform 43">
              <a:extLst>
                <a:ext uri="{FF2B5EF4-FFF2-40B4-BE49-F238E27FC236}">
                  <a16:creationId xmlns:a16="http://schemas.microsoft.com/office/drawing/2014/main" id="{07904E40-954B-44B5-8DEF-ABBAAB3EF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0" name="Freeform 44">
              <a:extLst>
                <a:ext uri="{FF2B5EF4-FFF2-40B4-BE49-F238E27FC236}">
                  <a16:creationId xmlns:a16="http://schemas.microsoft.com/office/drawing/2014/main" id="{D5D18F9A-64A1-491E-8420-D9E6A9659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1" name="Rectangle 1080">
              <a:extLst>
                <a:ext uri="{FF2B5EF4-FFF2-40B4-BE49-F238E27FC236}">
                  <a16:creationId xmlns:a16="http://schemas.microsoft.com/office/drawing/2014/main" id="{C0506166-82B1-452B-A872-793A8226E1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2" name="Freeform 46">
              <a:extLst>
                <a:ext uri="{FF2B5EF4-FFF2-40B4-BE49-F238E27FC236}">
                  <a16:creationId xmlns:a16="http://schemas.microsoft.com/office/drawing/2014/main" id="{E86143AC-3ED1-4B89-88B2-9B34834B21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3" name="Freeform 47">
              <a:extLst>
                <a:ext uri="{FF2B5EF4-FFF2-40B4-BE49-F238E27FC236}">
                  <a16:creationId xmlns:a16="http://schemas.microsoft.com/office/drawing/2014/main" id="{2506B36D-400D-4AE7-854E-81E7D1711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4" name="Freeform 48">
              <a:extLst>
                <a:ext uri="{FF2B5EF4-FFF2-40B4-BE49-F238E27FC236}">
                  <a16:creationId xmlns:a16="http://schemas.microsoft.com/office/drawing/2014/main" id="{FAC469E8-99A7-4A3B-AA77-7D3F8B5A1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5" name="Freeform 49">
              <a:extLst>
                <a:ext uri="{FF2B5EF4-FFF2-40B4-BE49-F238E27FC236}">
                  <a16:creationId xmlns:a16="http://schemas.microsoft.com/office/drawing/2014/main" id="{C9D4AC33-8E6A-487F-B207-0910573B2F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6" name="Freeform 50">
              <a:extLst>
                <a:ext uri="{FF2B5EF4-FFF2-40B4-BE49-F238E27FC236}">
                  <a16:creationId xmlns:a16="http://schemas.microsoft.com/office/drawing/2014/main" id="{5169DB35-0F33-4D65-A6A7-B29435846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7" name="Freeform 51">
              <a:extLst>
                <a:ext uri="{FF2B5EF4-FFF2-40B4-BE49-F238E27FC236}">
                  <a16:creationId xmlns:a16="http://schemas.microsoft.com/office/drawing/2014/main" id="{276CF58E-C966-4C95-A574-042E4A056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8" name="Freeform 52">
              <a:extLst>
                <a:ext uri="{FF2B5EF4-FFF2-40B4-BE49-F238E27FC236}">
                  <a16:creationId xmlns:a16="http://schemas.microsoft.com/office/drawing/2014/main" id="{39352F72-1FD1-480D-8480-5B8D4AEE2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9" name="Freeform 53">
              <a:extLst>
                <a:ext uri="{FF2B5EF4-FFF2-40B4-BE49-F238E27FC236}">
                  <a16:creationId xmlns:a16="http://schemas.microsoft.com/office/drawing/2014/main" id="{387FF91D-79A1-4BEE-B978-9A4CA48C5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0" name="Freeform 54">
              <a:extLst>
                <a:ext uri="{FF2B5EF4-FFF2-40B4-BE49-F238E27FC236}">
                  <a16:creationId xmlns:a16="http://schemas.microsoft.com/office/drawing/2014/main" id="{A4378872-C560-4526-A46E-8E7744EDD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1" name="Freeform 55">
              <a:extLst>
                <a:ext uri="{FF2B5EF4-FFF2-40B4-BE49-F238E27FC236}">
                  <a16:creationId xmlns:a16="http://schemas.microsoft.com/office/drawing/2014/main" id="{7CACB4BC-B52B-499B-87DB-D29BDA3206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2" name="Freeform 56">
              <a:extLst>
                <a:ext uri="{FF2B5EF4-FFF2-40B4-BE49-F238E27FC236}">
                  <a16:creationId xmlns:a16="http://schemas.microsoft.com/office/drawing/2014/main" id="{A54207F8-153A-46DB-9031-D45E462B70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3" name="Freeform 57">
              <a:extLst>
                <a:ext uri="{FF2B5EF4-FFF2-40B4-BE49-F238E27FC236}">
                  <a16:creationId xmlns:a16="http://schemas.microsoft.com/office/drawing/2014/main" id="{3D28E5BB-BD55-40DE-83C3-67FD3B1A2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4" name="Freeform 58">
              <a:extLst>
                <a:ext uri="{FF2B5EF4-FFF2-40B4-BE49-F238E27FC236}">
                  <a16:creationId xmlns:a16="http://schemas.microsoft.com/office/drawing/2014/main" id="{F5C4D757-8A6D-4D97-A17E-BF0D0EFD0D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15837-8387-6663-F17E-C5A7FD9D3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8424" y="2249487"/>
            <a:ext cx="5329237" cy="397192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Hepatitis: inflammation of the liver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Multiple Etiologies Include: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Viral Infections: Hep A, B, C, D, and E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Alcohol Toxification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Drug Induced (ex. Tylenol)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Autoimmune process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All causes can cause similar sign/symptoms. It’s our job to figure out the cause and try to fix it</a:t>
            </a:r>
          </a:p>
        </p:txBody>
      </p:sp>
    </p:spTree>
    <p:extLst>
      <p:ext uri="{BB962C8B-B14F-4D97-AF65-F5344CB8AC3E}">
        <p14:creationId xmlns:p14="http://schemas.microsoft.com/office/powerpoint/2010/main" val="315169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4E202-F5BA-88DF-9156-8924FAAA3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588" y="-254699"/>
            <a:ext cx="9905998" cy="1478570"/>
          </a:xfrm>
        </p:spPr>
        <p:txBody>
          <a:bodyPr/>
          <a:lstStyle/>
          <a:p>
            <a:r>
              <a:rPr lang="en-US" dirty="0"/>
              <a:t>Hepatitis: Clinical Manifestations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AFEB6-CA11-E64D-BA45-26EDA7DD9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9301" y="714407"/>
            <a:ext cx="8979619" cy="4410258"/>
          </a:xfrm>
        </p:spPr>
        <p:txBody>
          <a:bodyPr>
            <a:noAutofit/>
          </a:bodyPr>
          <a:lstStyle/>
          <a:p>
            <a:r>
              <a:rPr lang="en-US" sz="2000" dirty="0"/>
              <a:t>Early Stage</a:t>
            </a:r>
          </a:p>
          <a:p>
            <a:pPr lvl="1"/>
            <a:r>
              <a:rPr lang="en-US" dirty="0"/>
              <a:t>Fever/Malaise (fever often associated with Hep A)</a:t>
            </a:r>
          </a:p>
          <a:p>
            <a:pPr lvl="1"/>
            <a:r>
              <a:rPr lang="en-US" dirty="0"/>
              <a:t>Fatigue</a:t>
            </a:r>
          </a:p>
          <a:p>
            <a:pPr lvl="1"/>
            <a:r>
              <a:rPr lang="en-US" dirty="0"/>
              <a:t>Anorexia </a:t>
            </a:r>
          </a:p>
          <a:p>
            <a:pPr lvl="1"/>
            <a:r>
              <a:rPr lang="en-US" dirty="0"/>
              <a:t>N/V/D</a:t>
            </a:r>
          </a:p>
          <a:p>
            <a:pPr lvl="1"/>
            <a:r>
              <a:rPr lang="en-US" dirty="0"/>
              <a:t>Abdominal Pain</a:t>
            </a:r>
          </a:p>
          <a:p>
            <a:pPr lvl="1"/>
            <a:r>
              <a:rPr lang="en-US" dirty="0"/>
              <a:t>Loss of Appetite</a:t>
            </a:r>
          </a:p>
          <a:p>
            <a:r>
              <a:rPr lang="en-US" sz="2000" dirty="0"/>
              <a:t>Later Stage (Fulminant Stage)</a:t>
            </a:r>
          </a:p>
          <a:p>
            <a:pPr lvl="1"/>
            <a:r>
              <a:rPr lang="en-US" dirty="0"/>
              <a:t>Jaundice</a:t>
            </a:r>
          </a:p>
          <a:p>
            <a:pPr lvl="1"/>
            <a:r>
              <a:rPr lang="en-US" dirty="0"/>
              <a:t>Encephalopathy </a:t>
            </a:r>
          </a:p>
          <a:p>
            <a:pPr lvl="1"/>
            <a:r>
              <a:rPr lang="en-US" dirty="0"/>
              <a:t>Coagulopathy </a:t>
            </a:r>
          </a:p>
          <a:p>
            <a:pPr lvl="1"/>
            <a:r>
              <a:rPr lang="en-US" dirty="0"/>
              <a:t>Hepatomegaly </a:t>
            </a:r>
          </a:p>
          <a:p>
            <a:pPr lvl="1"/>
            <a:r>
              <a:rPr lang="en-US" dirty="0"/>
              <a:t>Ascites </a:t>
            </a:r>
          </a:p>
          <a:p>
            <a:pPr lvl="1"/>
            <a:r>
              <a:rPr lang="en-US" dirty="0"/>
              <a:t>Asterixis (flapping hand tremor with wrist extension)</a:t>
            </a:r>
          </a:p>
        </p:txBody>
      </p:sp>
      <p:pic>
        <p:nvPicPr>
          <p:cNvPr id="2050" name="Picture 2" descr="What Are The Signs and Symptoms of Hepatitis? All Types Explained - Usman  Memorial Hospital">
            <a:extLst>
              <a:ext uri="{FF2B5EF4-FFF2-40B4-BE49-F238E27FC236}">
                <a16:creationId xmlns:a16="http://schemas.microsoft.com/office/drawing/2014/main" id="{D00244FC-73C8-13BD-736F-8994D04FF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49956" y="2192977"/>
            <a:ext cx="5681630" cy="3314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7187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9" name="Group 3078">
            <a:extLst>
              <a:ext uri="{FF2B5EF4-FFF2-40B4-BE49-F238E27FC236}">
                <a16:creationId xmlns:a16="http://schemas.microsoft.com/office/drawing/2014/main" id="{9391C63B-9409-43FE-B3C8-05C2F406E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3080" name="Rectangle 3079">
              <a:extLst>
                <a:ext uri="{FF2B5EF4-FFF2-40B4-BE49-F238E27FC236}">
                  <a16:creationId xmlns:a16="http://schemas.microsoft.com/office/drawing/2014/main" id="{FD4D2D43-3C80-463E-95BA-95EDCFE52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081" name="Picture 2">
              <a:extLst>
                <a:ext uri="{FF2B5EF4-FFF2-40B4-BE49-F238E27FC236}">
                  <a16:creationId xmlns:a16="http://schemas.microsoft.com/office/drawing/2014/main" id="{A79495A4-D8D7-4D35-B403-4A8B70B48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34D8943-0618-9FD6-1129-475EE951A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425" y="618518"/>
            <a:ext cx="4598985" cy="1478570"/>
          </a:xfrm>
        </p:spPr>
        <p:txBody>
          <a:bodyPr>
            <a:normAutofit/>
          </a:bodyPr>
          <a:lstStyle/>
          <a:p>
            <a:r>
              <a:rPr lang="en-US" dirty="0"/>
              <a:t>Hepatitis: Diagnostics</a:t>
            </a:r>
          </a:p>
        </p:txBody>
      </p:sp>
      <p:pic>
        <p:nvPicPr>
          <p:cNvPr id="3074" name="Picture 2" descr="Jaundice | What It Is and How to Treat at Digestive Health Associates">
            <a:extLst>
              <a:ext uri="{FF2B5EF4-FFF2-40B4-BE49-F238E27FC236}">
                <a16:creationId xmlns:a16="http://schemas.microsoft.com/office/drawing/2014/main" id="{40FD33AA-DEA3-F7E4-26A1-C9FB32B3C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5597" y="10"/>
            <a:ext cx="610159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83" name="Group 3082">
            <a:extLst>
              <a:ext uri="{FF2B5EF4-FFF2-40B4-BE49-F238E27FC236}">
                <a16:creationId xmlns:a16="http://schemas.microsoft.com/office/drawing/2014/main" id="{86A8F816-AC43-412D-A97C-04A5F187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3084" name="Rectangle 3083">
              <a:extLst>
                <a:ext uri="{FF2B5EF4-FFF2-40B4-BE49-F238E27FC236}">
                  <a16:creationId xmlns:a16="http://schemas.microsoft.com/office/drawing/2014/main" id="{03C200A6-A160-4D61-B495-766D61704C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85" name="Freeform 6">
              <a:extLst>
                <a:ext uri="{FF2B5EF4-FFF2-40B4-BE49-F238E27FC236}">
                  <a16:creationId xmlns:a16="http://schemas.microsoft.com/office/drawing/2014/main" id="{A65C50F5-3FA5-496C-AE9D-9B2D18BA72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86" name="Freeform 7">
              <a:extLst>
                <a:ext uri="{FF2B5EF4-FFF2-40B4-BE49-F238E27FC236}">
                  <a16:creationId xmlns:a16="http://schemas.microsoft.com/office/drawing/2014/main" id="{93A0E285-6A59-4F32-954F-F4D01CF18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87" name="Rectangle 3086">
              <a:extLst>
                <a:ext uri="{FF2B5EF4-FFF2-40B4-BE49-F238E27FC236}">
                  <a16:creationId xmlns:a16="http://schemas.microsoft.com/office/drawing/2014/main" id="{647449E1-B2FD-40EC-B9B6-3B04F8691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88" name="Freeform 9">
              <a:extLst>
                <a:ext uri="{FF2B5EF4-FFF2-40B4-BE49-F238E27FC236}">
                  <a16:creationId xmlns:a16="http://schemas.microsoft.com/office/drawing/2014/main" id="{374C7DBB-A645-4225-913A-B32BF022CF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89" name="Freeform 10">
              <a:extLst>
                <a:ext uri="{FF2B5EF4-FFF2-40B4-BE49-F238E27FC236}">
                  <a16:creationId xmlns:a16="http://schemas.microsoft.com/office/drawing/2014/main" id="{02763F9E-06D4-44F8-99B7-F03E46503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0" name="Freeform 11">
              <a:extLst>
                <a:ext uri="{FF2B5EF4-FFF2-40B4-BE49-F238E27FC236}">
                  <a16:creationId xmlns:a16="http://schemas.microsoft.com/office/drawing/2014/main" id="{F9485170-FF6A-4C2C-AD53-F75775B6A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1" name="Freeform 12">
              <a:extLst>
                <a:ext uri="{FF2B5EF4-FFF2-40B4-BE49-F238E27FC236}">
                  <a16:creationId xmlns:a16="http://schemas.microsoft.com/office/drawing/2014/main" id="{5A3B546C-8D41-4BED-9C42-40AA55B97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2" name="Freeform 13">
              <a:extLst>
                <a:ext uri="{FF2B5EF4-FFF2-40B4-BE49-F238E27FC236}">
                  <a16:creationId xmlns:a16="http://schemas.microsoft.com/office/drawing/2014/main" id="{1D3BFA4D-2052-4626-BD98-6ED846E77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3" name="Freeform 14">
              <a:extLst>
                <a:ext uri="{FF2B5EF4-FFF2-40B4-BE49-F238E27FC236}">
                  <a16:creationId xmlns:a16="http://schemas.microsoft.com/office/drawing/2014/main" id="{9B1795D5-2BDD-4792-9724-B7FFD0A2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4" name="Freeform 15">
              <a:extLst>
                <a:ext uri="{FF2B5EF4-FFF2-40B4-BE49-F238E27FC236}">
                  <a16:creationId xmlns:a16="http://schemas.microsoft.com/office/drawing/2014/main" id="{FC57801A-7AC9-41A1-BC38-77918A1B4F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5" name="Freeform 16">
              <a:extLst>
                <a:ext uri="{FF2B5EF4-FFF2-40B4-BE49-F238E27FC236}">
                  <a16:creationId xmlns:a16="http://schemas.microsoft.com/office/drawing/2014/main" id="{82E16F78-76A8-4502-BDD1-C56EE245CF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6" name="Freeform 17">
              <a:extLst>
                <a:ext uri="{FF2B5EF4-FFF2-40B4-BE49-F238E27FC236}">
                  <a16:creationId xmlns:a16="http://schemas.microsoft.com/office/drawing/2014/main" id="{223BA1AA-E97D-4933-9448-B450686246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7" name="Freeform 18">
              <a:extLst>
                <a:ext uri="{FF2B5EF4-FFF2-40B4-BE49-F238E27FC236}">
                  <a16:creationId xmlns:a16="http://schemas.microsoft.com/office/drawing/2014/main" id="{B914E16B-686D-4E93-AF1A-48016E5FC5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8" name="Freeform 19">
              <a:extLst>
                <a:ext uri="{FF2B5EF4-FFF2-40B4-BE49-F238E27FC236}">
                  <a16:creationId xmlns:a16="http://schemas.microsoft.com/office/drawing/2014/main" id="{2BE217F2-46D9-4542-A0CA-62A6BDFA0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9" name="Freeform 20">
              <a:extLst>
                <a:ext uri="{FF2B5EF4-FFF2-40B4-BE49-F238E27FC236}">
                  <a16:creationId xmlns:a16="http://schemas.microsoft.com/office/drawing/2014/main" id="{0295D04E-B04B-4149-B449-82C021A0C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0" name="Freeform 21">
              <a:extLst>
                <a:ext uri="{FF2B5EF4-FFF2-40B4-BE49-F238E27FC236}">
                  <a16:creationId xmlns:a16="http://schemas.microsoft.com/office/drawing/2014/main" id="{1B45069A-DE6E-4DAC-B4FB-53E0BE0F2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1" name="Freeform 22">
              <a:extLst>
                <a:ext uri="{FF2B5EF4-FFF2-40B4-BE49-F238E27FC236}">
                  <a16:creationId xmlns:a16="http://schemas.microsoft.com/office/drawing/2014/main" id="{2381C171-634E-4582-8BCF-4B1465D3C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2" name="Freeform 23">
              <a:extLst>
                <a:ext uri="{FF2B5EF4-FFF2-40B4-BE49-F238E27FC236}">
                  <a16:creationId xmlns:a16="http://schemas.microsoft.com/office/drawing/2014/main" id="{CDE96AC1-974B-46DC-8856-FF24F21FD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3" name="Freeform 24">
              <a:extLst>
                <a:ext uri="{FF2B5EF4-FFF2-40B4-BE49-F238E27FC236}">
                  <a16:creationId xmlns:a16="http://schemas.microsoft.com/office/drawing/2014/main" id="{E9E50B46-EEFE-4F1F-A66C-01A3056E4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4" name="Freeform 25">
              <a:extLst>
                <a:ext uri="{FF2B5EF4-FFF2-40B4-BE49-F238E27FC236}">
                  <a16:creationId xmlns:a16="http://schemas.microsoft.com/office/drawing/2014/main" id="{39C19F1F-0A32-47E4-B860-E7238095B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5" name="Freeform 26">
              <a:extLst>
                <a:ext uri="{FF2B5EF4-FFF2-40B4-BE49-F238E27FC236}">
                  <a16:creationId xmlns:a16="http://schemas.microsoft.com/office/drawing/2014/main" id="{9BC5FEDC-F173-42DA-B6B4-38887BEBB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6" name="Freeform 27">
              <a:extLst>
                <a:ext uri="{FF2B5EF4-FFF2-40B4-BE49-F238E27FC236}">
                  <a16:creationId xmlns:a16="http://schemas.microsoft.com/office/drawing/2014/main" id="{F603B486-2B6A-427C-B213-94D62DEE7F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7" name="Freeform 28">
              <a:extLst>
                <a:ext uri="{FF2B5EF4-FFF2-40B4-BE49-F238E27FC236}">
                  <a16:creationId xmlns:a16="http://schemas.microsoft.com/office/drawing/2014/main" id="{9923324F-5ABA-4211-BFD5-3C7210A3D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8" name="Freeform 29">
              <a:extLst>
                <a:ext uri="{FF2B5EF4-FFF2-40B4-BE49-F238E27FC236}">
                  <a16:creationId xmlns:a16="http://schemas.microsoft.com/office/drawing/2014/main" id="{174E15FD-3C22-42F2-86C1-816A41A113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9" name="Freeform 30">
              <a:extLst>
                <a:ext uri="{FF2B5EF4-FFF2-40B4-BE49-F238E27FC236}">
                  <a16:creationId xmlns:a16="http://schemas.microsoft.com/office/drawing/2014/main" id="{97DBD1EA-E545-4370-BDAE-BCADFCAE0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0" name="Freeform 31">
              <a:extLst>
                <a:ext uri="{FF2B5EF4-FFF2-40B4-BE49-F238E27FC236}">
                  <a16:creationId xmlns:a16="http://schemas.microsoft.com/office/drawing/2014/main" id="{349BB900-4B0A-4A52-91D0-BA1251DD9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1" name="Freeform 32">
              <a:extLst>
                <a:ext uri="{FF2B5EF4-FFF2-40B4-BE49-F238E27FC236}">
                  <a16:creationId xmlns:a16="http://schemas.microsoft.com/office/drawing/2014/main" id="{6806FA38-BF37-458D-8FA3-FFAE06373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2" name="Rectangle 3111">
              <a:extLst>
                <a:ext uri="{FF2B5EF4-FFF2-40B4-BE49-F238E27FC236}">
                  <a16:creationId xmlns:a16="http://schemas.microsoft.com/office/drawing/2014/main" id="{4D932FFD-96DA-4DCC-9719-F5734FC5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3" name="Freeform 34">
              <a:extLst>
                <a:ext uri="{FF2B5EF4-FFF2-40B4-BE49-F238E27FC236}">
                  <a16:creationId xmlns:a16="http://schemas.microsoft.com/office/drawing/2014/main" id="{55D6D3C9-0B00-4009-8DD3-C64858A9A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4" name="Freeform 35">
              <a:extLst>
                <a:ext uri="{FF2B5EF4-FFF2-40B4-BE49-F238E27FC236}">
                  <a16:creationId xmlns:a16="http://schemas.microsoft.com/office/drawing/2014/main" id="{8D8B5E4D-FF9B-4CED-91C9-B2800B3DA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5" name="Freeform 36">
              <a:extLst>
                <a:ext uri="{FF2B5EF4-FFF2-40B4-BE49-F238E27FC236}">
                  <a16:creationId xmlns:a16="http://schemas.microsoft.com/office/drawing/2014/main" id="{6A4620BB-BF1E-4B42-870C-57EC0C649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6" name="Freeform 37">
              <a:extLst>
                <a:ext uri="{FF2B5EF4-FFF2-40B4-BE49-F238E27FC236}">
                  <a16:creationId xmlns:a16="http://schemas.microsoft.com/office/drawing/2014/main" id="{4F5B49D4-1AE0-44C9-AEDE-8F98DC508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7" name="Freeform 38">
              <a:extLst>
                <a:ext uri="{FF2B5EF4-FFF2-40B4-BE49-F238E27FC236}">
                  <a16:creationId xmlns:a16="http://schemas.microsoft.com/office/drawing/2014/main" id="{83722B55-49D5-4B14-8816-40F027BB5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8" name="Freeform 39">
              <a:extLst>
                <a:ext uri="{FF2B5EF4-FFF2-40B4-BE49-F238E27FC236}">
                  <a16:creationId xmlns:a16="http://schemas.microsoft.com/office/drawing/2014/main" id="{B501AD49-DB3F-4688-9FBD-D5856C90B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9" name="Freeform 40">
              <a:extLst>
                <a:ext uri="{FF2B5EF4-FFF2-40B4-BE49-F238E27FC236}">
                  <a16:creationId xmlns:a16="http://schemas.microsoft.com/office/drawing/2014/main" id="{4414AF2C-5011-4941-A5FC-9F0BFFDA13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0" name="Freeform 41">
              <a:extLst>
                <a:ext uri="{FF2B5EF4-FFF2-40B4-BE49-F238E27FC236}">
                  <a16:creationId xmlns:a16="http://schemas.microsoft.com/office/drawing/2014/main" id="{E43B9AC1-EA63-4CBE-A044-814D130F4E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1" name="Freeform 42">
              <a:extLst>
                <a:ext uri="{FF2B5EF4-FFF2-40B4-BE49-F238E27FC236}">
                  <a16:creationId xmlns:a16="http://schemas.microsoft.com/office/drawing/2014/main" id="{FE925601-6A24-4966-AB9C-96A5FD1FD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2" name="Freeform 43">
              <a:extLst>
                <a:ext uri="{FF2B5EF4-FFF2-40B4-BE49-F238E27FC236}">
                  <a16:creationId xmlns:a16="http://schemas.microsoft.com/office/drawing/2014/main" id="{07904E40-954B-44B5-8DEF-ABBAAB3EF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3" name="Freeform 44">
              <a:extLst>
                <a:ext uri="{FF2B5EF4-FFF2-40B4-BE49-F238E27FC236}">
                  <a16:creationId xmlns:a16="http://schemas.microsoft.com/office/drawing/2014/main" id="{D5D18F9A-64A1-491E-8420-D9E6A9659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4" name="Rectangle 3123">
              <a:extLst>
                <a:ext uri="{FF2B5EF4-FFF2-40B4-BE49-F238E27FC236}">
                  <a16:creationId xmlns:a16="http://schemas.microsoft.com/office/drawing/2014/main" id="{C0506166-82B1-452B-A872-793A8226E1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5" name="Freeform 46">
              <a:extLst>
                <a:ext uri="{FF2B5EF4-FFF2-40B4-BE49-F238E27FC236}">
                  <a16:creationId xmlns:a16="http://schemas.microsoft.com/office/drawing/2014/main" id="{E86143AC-3ED1-4B89-88B2-9B34834B21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6" name="Freeform 47">
              <a:extLst>
                <a:ext uri="{FF2B5EF4-FFF2-40B4-BE49-F238E27FC236}">
                  <a16:creationId xmlns:a16="http://schemas.microsoft.com/office/drawing/2014/main" id="{2506B36D-400D-4AE7-854E-81E7D1711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7" name="Freeform 48">
              <a:extLst>
                <a:ext uri="{FF2B5EF4-FFF2-40B4-BE49-F238E27FC236}">
                  <a16:creationId xmlns:a16="http://schemas.microsoft.com/office/drawing/2014/main" id="{FAC469E8-99A7-4A3B-AA77-7D3F8B5A1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8" name="Freeform 49">
              <a:extLst>
                <a:ext uri="{FF2B5EF4-FFF2-40B4-BE49-F238E27FC236}">
                  <a16:creationId xmlns:a16="http://schemas.microsoft.com/office/drawing/2014/main" id="{C9D4AC33-8E6A-487F-B207-0910573B2F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9" name="Freeform 50">
              <a:extLst>
                <a:ext uri="{FF2B5EF4-FFF2-40B4-BE49-F238E27FC236}">
                  <a16:creationId xmlns:a16="http://schemas.microsoft.com/office/drawing/2014/main" id="{5169DB35-0F33-4D65-A6A7-B29435846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0" name="Freeform 51">
              <a:extLst>
                <a:ext uri="{FF2B5EF4-FFF2-40B4-BE49-F238E27FC236}">
                  <a16:creationId xmlns:a16="http://schemas.microsoft.com/office/drawing/2014/main" id="{276CF58E-C966-4C95-A574-042E4A056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1" name="Freeform 52">
              <a:extLst>
                <a:ext uri="{FF2B5EF4-FFF2-40B4-BE49-F238E27FC236}">
                  <a16:creationId xmlns:a16="http://schemas.microsoft.com/office/drawing/2014/main" id="{39352F72-1FD1-480D-8480-5B8D4AEE2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2" name="Freeform 53">
              <a:extLst>
                <a:ext uri="{FF2B5EF4-FFF2-40B4-BE49-F238E27FC236}">
                  <a16:creationId xmlns:a16="http://schemas.microsoft.com/office/drawing/2014/main" id="{387FF91D-79A1-4BEE-B978-9A4CA48C5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3" name="Freeform 54">
              <a:extLst>
                <a:ext uri="{FF2B5EF4-FFF2-40B4-BE49-F238E27FC236}">
                  <a16:creationId xmlns:a16="http://schemas.microsoft.com/office/drawing/2014/main" id="{A4378872-C560-4526-A46E-8E7744EDD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4" name="Freeform 55">
              <a:extLst>
                <a:ext uri="{FF2B5EF4-FFF2-40B4-BE49-F238E27FC236}">
                  <a16:creationId xmlns:a16="http://schemas.microsoft.com/office/drawing/2014/main" id="{7CACB4BC-B52B-499B-87DB-D29BDA3206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5" name="Freeform 56">
              <a:extLst>
                <a:ext uri="{FF2B5EF4-FFF2-40B4-BE49-F238E27FC236}">
                  <a16:creationId xmlns:a16="http://schemas.microsoft.com/office/drawing/2014/main" id="{A54207F8-153A-46DB-9031-D45E462B70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6" name="Freeform 57">
              <a:extLst>
                <a:ext uri="{FF2B5EF4-FFF2-40B4-BE49-F238E27FC236}">
                  <a16:creationId xmlns:a16="http://schemas.microsoft.com/office/drawing/2014/main" id="{3D28E5BB-BD55-40DE-83C3-67FD3B1A2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7" name="Freeform 58">
              <a:extLst>
                <a:ext uri="{FF2B5EF4-FFF2-40B4-BE49-F238E27FC236}">
                  <a16:creationId xmlns:a16="http://schemas.microsoft.com/office/drawing/2014/main" id="{F5C4D757-8A6D-4D97-A17E-BF0D0EFD0D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90257-8535-CDB4-80A2-BE6B38FDE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8425" y="2249487"/>
            <a:ext cx="4598986" cy="397192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Transaminitis: Elevated AST/ALT (usually greater than 500 if acute, less than 500 in more chronic hepatitis)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Coagulopathy: Elevated PT/INR, PTT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 Hyperbilirubinemia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Hypoglycemia (d/t decreased hepatic gluconeogenesis)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Elevated Ammonia (can lead to encephalopathy)</a:t>
            </a:r>
          </a:p>
          <a:p>
            <a:pPr>
              <a:lnSpc>
                <a:spcPct val="110000"/>
              </a:lnSpc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476736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B9CEC-18B1-2B57-0F93-A374E5973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495" y="-299351"/>
            <a:ext cx="9905998" cy="1478570"/>
          </a:xfrm>
        </p:spPr>
        <p:txBody>
          <a:bodyPr/>
          <a:lstStyle/>
          <a:p>
            <a:r>
              <a:rPr lang="en-US" dirty="0"/>
              <a:t>Hepatitis: Etiologies – </a:t>
            </a:r>
            <a:r>
              <a:rPr lang="en-US" u="sng" dirty="0"/>
              <a:t>Hep 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62D22-C259-386F-2617-5143064CC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507" y="757825"/>
            <a:ext cx="10819051" cy="6100175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en-US" dirty="0"/>
              <a:t>RNA Virus transmitted primarily via fecal oral route (person to person or cross-contamination) </a:t>
            </a:r>
          </a:p>
          <a:p>
            <a:pPr lvl="1"/>
            <a:r>
              <a:rPr lang="en-US" dirty="0"/>
              <a:t>Highest in developing countries</a:t>
            </a:r>
          </a:p>
          <a:p>
            <a:pPr lvl="1"/>
            <a:r>
              <a:rPr lang="en-US" dirty="0"/>
              <a:t>Risk Factors</a:t>
            </a:r>
          </a:p>
          <a:p>
            <a:pPr lvl="2"/>
            <a:r>
              <a:rPr lang="en-US" dirty="0"/>
              <a:t>IV Drug Users </a:t>
            </a:r>
          </a:p>
          <a:p>
            <a:pPr lvl="2"/>
            <a:r>
              <a:rPr lang="en-US" dirty="0"/>
              <a:t>Endemic Workers</a:t>
            </a:r>
          </a:p>
          <a:p>
            <a:pPr lvl="2"/>
            <a:r>
              <a:rPr lang="en-US" dirty="0"/>
              <a:t> Sexual relations (MWM) </a:t>
            </a:r>
          </a:p>
          <a:p>
            <a:pPr lvl="1"/>
            <a:r>
              <a:rPr lang="en-US" dirty="0"/>
              <a:t>Clinical Manifestations: </a:t>
            </a:r>
          </a:p>
          <a:p>
            <a:pPr lvl="2"/>
            <a:r>
              <a:rPr lang="en-US" dirty="0"/>
              <a:t>Most patients have mild symptoms (self limited)</a:t>
            </a:r>
          </a:p>
          <a:p>
            <a:pPr lvl="2"/>
            <a:r>
              <a:rPr lang="en-US" dirty="0"/>
              <a:t>Incubation Period: 28 days on average</a:t>
            </a:r>
          </a:p>
          <a:p>
            <a:pPr lvl="2"/>
            <a:r>
              <a:rPr lang="en-US" dirty="0"/>
              <a:t>N/V/D, Anorexia, FEVER, malaise, RUQ pain</a:t>
            </a:r>
          </a:p>
          <a:p>
            <a:pPr lvl="2"/>
            <a:r>
              <a:rPr lang="en-US" dirty="0"/>
              <a:t>Later Symptoms (few weeks later): dark urine (bilirubinuria),  pale stools (lacking bilirubin), jaundice, pruritus. Pregnant women have high risk of pre-term/gestational complications</a:t>
            </a:r>
          </a:p>
          <a:p>
            <a:pPr lvl="1"/>
            <a:r>
              <a:rPr lang="en-US" dirty="0"/>
              <a:t>Diagnostics: Elevated AST/ALT (ALT usually higher, 1000s+), hyperbilirubinemia</a:t>
            </a:r>
          </a:p>
          <a:p>
            <a:pPr lvl="2"/>
            <a:r>
              <a:rPr lang="en-US" dirty="0"/>
              <a:t>Serological Testing: (+) IgM and anti-HAV antibodies</a:t>
            </a:r>
          </a:p>
          <a:p>
            <a:pPr lvl="1"/>
            <a:r>
              <a:rPr lang="en-US" dirty="0"/>
              <a:t>Treatment: Supportive care – usually resolves within a few months </a:t>
            </a:r>
          </a:p>
          <a:p>
            <a:pPr lvl="1"/>
            <a:r>
              <a:rPr lang="en-US" dirty="0"/>
              <a:t>HEP A VACCINE Available: 2 doses of vaccine 6-12 months apart </a:t>
            </a:r>
          </a:p>
          <a:p>
            <a:pPr lvl="2"/>
            <a:endParaRPr lang="en-US" dirty="0"/>
          </a:p>
        </p:txBody>
      </p:sp>
      <p:pic>
        <p:nvPicPr>
          <p:cNvPr id="4098" name="Picture 2" descr="Hepatitis A: What you need to know | Positively Aware">
            <a:extLst>
              <a:ext uri="{FF2B5EF4-FFF2-40B4-BE49-F238E27FC236}">
                <a16:creationId xmlns:a16="http://schemas.microsoft.com/office/drawing/2014/main" id="{AF3477E5-B0FE-E86A-7382-B52EEE55D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84307" y="1605064"/>
            <a:ext cx="4130122" cy="2065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6627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7" name="Group 5126">
            <a:extLst>
              <a:ext uri="{FF2B5EF4-FFF2-40B4-BE49-F238E27FC236}">
                <a16:creationId xmlns:a16="http://schemas.microsoft.com/office/drawing/2014/main" id="{9391C63B-9409-43FE-B3C8-05C2F406E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5128" name="Rectangle 5127">
              <a:extLst>
                <a:ext uri="{FF2B5EF4-FFF2-40B4-BE49-F238E27FC236}">
                  <a16:creationId xmlns:a16="http://schemas.microsoft.com/office/drawing/2014/main" id="{FD4D2D43-3C80-463E-95BA-95EDCFE52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129" name="Picture 2">
              <a:extLst>
                <a:ext uri="{FF2B5EF4-FFF2-40B4-BE49-F238E27FC236}">
                  <a16:creationId xmlns:a16="http://schemas.microsoft.com/office/drawing/2014/main" id="{A79495A4-D8D7-4D35-B403-4A8B70B48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FBAE1C-982A-6D9E-3968-8782857A4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425" y="-176516"/>
            <a:ext cx="4598985" cy="1478570"/>
          </a:xfrm>
        </p:spPr>
        <p:txBody>
          <a:bodyPr>
            <a:normAutofit/>
          </a:bodyPr>
          <a:lstStyle/>
          <a:p>
            <a:r>
              <a:rPr lang="en-US" dirty="0"/>
              <a:t>Hepatitis: Etiologies – </a:t>
            </a:r>
            <a:r>
              <a:rPr lang="en-US" u="sng" dirty="0"/>
              <a:t>Hep E </a:t>
            </a:r>
          </a:p>
        </p:txBody>
      </p:sp>
      <p:pic>
        <p:nvPicPr>
          <p:cNvPr id="5122" name="Picture 2" descr="Hepatitis E Virus: symptoms | transferability | treatment |">
            <a:extLst>
              <a:ext uri="{FF2B5EF4-FFF2-40B4-BE49-F238E27FC236}">
                <a16:creationId xmlns:a16="http://schemas.microsoft.com/office/drawing/2014/main" id="{906EBB4B-273B-F9A4-8A3A-DDB75C787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>
            <a:fillRect/>
          </a:stretch>
        </p:blipFill>
        <p:spPr bwMode="auto">
          <a:xfrm>
            <a:off x="-5597" y="10"/>
            <a:ext cx="610159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31" name="Group 5130">
            <a:extLst>
              <a:ext uri="{FF2B5EF4-FFF2-40B4-BE49-F238E27FC236}">
                <a16:creationId xmlns:a16="http://schemas.microsoft.com/office/drawing/2014/main" id="{86A8F816-AC43-412D-A97C-04A5F187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5132" name="Rectangle 5131">
              <a:extLst>
                <a:ext uri="{FF2B5EF4-FFF2-40B4-BE49-F238E27FC236}">
                  <a16:creationId xmlns:a16="http://schemas.microsoft.com/office/drawing/2014/main" id="{03C200A6-A160-4D61-B495-766D61704C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33" name="Freeform 6">
              <a:extLst>
                <a:ext uri="{FF2B5EF4-FFF2-40B4-BE49-F238E27FC236}">
                  <a16:creationId xmlns:a16="http://schemas.microsoft.com/office/drawing/2014/main" id="{A65C50F5-3FA5-496C-AE9D-9B2D18BA72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34" name="Freeform 7">
              <a:extLst>
                <a:ext uri="{FF2B5EF4-FFF2-40B4-BE49-F238E27FC236}">
                  <a16:creationId xmlns:a16="http://schemas.microsoft.com/office/drawing/2014/main" id="{93A0E285-6A59-4F32-954F-F4D01CF18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35" name="Rectangle 5134">
              <a:extLst>
                <a:ext uri="{FF2B5EF4-FFF2-40B4-BE49-F238E27FC236}">
                  <a16:creationId xmlns:a16="http://schemas.microsoft.com/office/drawing/2014/main" id="{647449E1-B2FD-40EC-B9B6-3B04F8691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36" name="Freeform 9">
              <a:extLst>
                <a:ext uri="{FF2B5EF4-FFF2-40B4-BE49-F238E27FC236}">
                  <a16:creationId xmlns:a16="http://schemas.microsoft.com/office/drawing/2014/main" id="{374C7DBB-A645-4225-913A-B32BF022CF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37" name="Freeform 10">
              <a:extLst>
                <a:ext uri="{FF2B5EF4-FFF2-40B4-BE49-F238E27FC236}">
                  <a16:creationId xmlns:a16="http://schemas.microsoft.com/office/drawing/2014/main" id="{02763F9E-06D4-44F8-99B7-F03E46503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38" name="Freeform 11">
              <a:extLst>
                <a:ext uri="{FF2B5EF4-FFF2-40B4-BE49-F238E27FC236}">
                  <a16:creationId xmlns:a16="http://schemas.microsoft.com/office/drawing/2014/main" id="{F9485170-FF6A-4C2C-AD53-F75775B6A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39" name="Freeform 12">
              <a:extLst>
                <a:ext uri="{FF2B5EF4-FFF2-40B4-BE49-F238E27FC236}">
                  <a16:creationId xmlns:a16="http://schemas.microsoft.com/office/drawing/2014/main" id="{5A3B546C-8D41-4BED-9C42-40AA55B97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40" name="Freeform 13">
              <a:extLst>
                <a:ext uri="{FF2B5EF4-FFF2-40B4-BE49-F238E27FC236}">
                  <a16:creationId xmlns:a16="http://schemas.microsoft.com/office/drawing/2014/main" id="{1D3BFA4D-2052-4626-BD98-6ED846E77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41" name="Freeform 14">
              <a:extLst>
                <a:ext uri="{FF2B5EF4-FFF2-40B4-BE49-F238E27FC236}">
                  <a16:creationId xmlns:a16="http://schemas.microsoft.com/office/drawing/2014/main" id="{9B1795D5-2BDD-4792-9724-B7FFD0A2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42" name="Freeform 15">
              <a:extLst>
                <a:ext uri="{FF2B5EF4-FFF2-40B4-BE49-F238E27FC236}">
                  <a16:creationId xmlns:a16="http://schemas.microsoft.com/office/drawing/2014/main" id="{FC57801A-7AC9-41A1-BC38-77918A1B4F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43" name="Freeform 16">
              <a:extLst>
                <a:ext uri="{FF2B5EF4-FFF2-40B4-BE49-F238E27FC236}">
                  <a16:creationId xmlns:a16="http://schemas.microsoft.com/office/drawing/2014/main" id="{82E16F78-76A8-4502-BDD1-C56EE245CF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44" name="Freeform 17">
              <a:extLst>
                <a:ext uri="{FF2B5EF4-FFF2-40B4-BE49-F238E27FC236}">
                  <a16:creationId xmlns:a16="http://schemas.microsoft.com/office/drawing/2014/main" id="{223BA1AA-E97D-4933-9448-B450686246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45" name="Freeform 18">
              <a:extLst>
                <a:ext uri="{FF2B5EF4-FFF2-40B4-BE49-F238E27FC236}">
                  <a16:creationId xmlns:a16="http://schemas.microsoft.com/office/drawing/2014/main" id="{B914E16B-686D-4E93-AF1A-48016E5FC5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46" name="Freeform 19">
              <a:extLst>
                <a:ext uri="{FF2B5EF4-FFF2-40B4-BE49-F238E27FC236}">
                  <a16:creationId xmlns:a16="http://schemas.microsoft.com/office/drawing/2014/main" id="{2BE217F2-46D9-4542-A0CA-62A6BDFA0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47" name="Freeform 20">
              <a:extLst>
                <a:ext uri="{FF2B5EF4-FFF2-40B4-BE49-F238E27FC236}">
                  <a16:creationId xmlns:a16="http://schemas.microsoft.com/office/drawing/2014/main" id="{0295D04E-B04B-4149-B449-82C021A0C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48" name="Freeform 21">
              <a:extLst>
                <a:ext uri="{FF2B5EF4-FFF2-40B4-BE49-F238E27FC236}">
                  <a16:creationId xmlns:a16="http://schemas.microsoft.com/office/drawing/2014/main" id="{1B45069A-DE6E-4DAC-B4FB-53E0BE0F2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49" name="Freeform 22">
              <a:extLst>
                <a:ext uri="{FF2B5EF4-FFF2-40B4-BE49-F238E27FC236}">
                  <a16:creationId xmlns:a16="http://schemas.microsoft.com/office/drawing/2014/main" id="{2381C171-634E-4582-8BCF-4B1465D3C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50" name="Freeform 23">
              <a:extLst>
                <a:ext uri="{FF2B5EF4-FFF2-40B4-BE49-F238E27FC236}">
                  <a16:creationId xmlns:a16="http://schemas.microsoft.com/office/drawing/2014/main" id="{CDE96AC1-974B-46DC-8856-FF24F21FD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51" name="Freeform 24">
              <a:extLst>
                <a:ext uri="{FF2B5EF4-FFF2-40B4-BE49-F238E27FC236}">
                  <a16:creationId xmlns:a16="http://schemas.microsoft.com/office/drawing/2014/main" id="{E9E50B46-EEFE-4F1F-A66C-01A3056E4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52" name="Freeform 25">
              <a:extLst>
                <a:ext uri="{FF2B5EF4-FFF2-40B4-BE49-F238E27FC236}">
                  <a16:creationId xmlns:a16="http://schemas.microsoft.com/office/drawing/2014/main" id="{39C19F1F-0A32-47E4-B860-E7238095B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53" name="Freeform 26">
              <a:extLst>
                <a:ext uri="{FF2B5EF4-FFF2-40B4-BE49-F238E27FC236}">
                  <a16:creationId xmlns:a16="http://schemas.microsoft.com/office/drawing/2014/main" id="{9BC5FEDC-F173-42DA-B6B4-38887BEBB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54" name="Freeform 27">
              <a:extLst>
                <a:ext uri="{FF2B5EF4-FFF2-40B4-BE49-F238E27FC236}">
                  <a16:creationId xmlns:a16="http://schemas.microsoft.com/office/drawing/2014/main" id="{F603B486-2B6A-427C-B213-94D62DEE7F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55" name="Freeform 28">
              <a:extLst>
                <a:ext uri="{FF2B5EF4-FFF2-40B4-BE49-F238E27FC236}">
                  <a16:creationId xmlns:a16="http://schemas.microsoft.com/office/drawing/2014/main" id="{9923324F-5ABA-4211-BFD5-3C7210A3D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56" name="Freeform 29">
              <a:extLst>
                <a:ext uri="{FF2B5EF4-FFF2-40B4-BE49-F238E27FC236}">
                  <a16:creationId xmlns:a16="http://schemas.microsoft.com/office/drawing/2014/main" id="{174E15FD-3C22-42F2-86C1-816A41A113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57" name="Freeform 30">
              <a:extLst>
                <a:ext uri="{FF2B5EF4-FFF2-40B4-BE49-F238E27FC236}">
                  <a16:creationId xmlns:a16="http://schemas.microsoft.com/office/drawing/2014/main" id="{97DBD1EA-E545-4370-BDAE-BCADFCAE0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58" name="Freeform 31">
              <a:extLst>
                <a:ext uri="{FF2B5EF4-FFF2-40B4-BE49-F238E27FC236}">
                  <a16:creationId xmlns:a16="http://schemas.microsoft.com/office/drawing/2014/main" id="{349BB900-4B0A-4A52-91D0-BA1251DD9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59" name="Freeform 32">
              <a:extLst>
                <a:ext uri="{FF2B5EF4-FFF2-40B4-BE49-F238E27FC236}">
                  <a16:creationId xmlns:a16="http://schemas.microsoft.com/office/drawing/2014/main" id="{6806FA38-BF37-458D-8FA3-FFAE06373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60" name="Rectangle 5159">
              <a:extLst>
                <a:ext uri="{FF2B5EF4-FFF2-40B4-BE49-F238E27FC236}">
                  <a16:creationId xmlns:a16="http://schemas.microsoft.com/office/drawing/2014/main" id="{4D932FFD-96DA-4DCC-9719-F5734FC5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61" name="Freeform 34">
              <a:extLst>
                <a:ext uri="{FF2B5EF4-FFF2-40B4-BE49-F238E27FC236}">
                  <a16:creationId xmlns:a16="http://schemas.microsoft.com/office/drawing/2014/main" id="{55D6D3C9-0B00-4009-8DD3-C64858A9A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62" name="Freeform 35">
              <a:extLst>
                <a:ext uri="{FF2B5EF4-FFF2-40B4-BE49-F238E27FC236}">
                  <a16:creationId xmlns:a16="http://schemas.microsoft.com/office/drawing/2014/main" id="{8D8B5E4D-FF9B-4CED-91C9-B2800B3DA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63" name="Freeform 36">
              <a:extLst>
                <a:ext uri="{FF2B5EF4-FFF2-40B4-BE49-F238E27FC236}">
                  <a16:creationId xmlns:a16="http://schemas.microsoft.com/office/drawing/2014/main" id="{6A4620BB-BF1E-4B42-870C-57EC0C649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64" name="Freeform 37">
              <a:extLst>
                <a:ext uri="{FF2B5EF4-FFF2-40B4-BE49-F238E27FC236}">
                  <a16:creationId xmlns:a16="http://schemas.microsoft.com/office/drawing/2014/main" id="{4F5B49D4-1AE0-44C9-AEDE-8F98DC508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65" name="Freeform 38">
              <a:extLst>
                <a:ext uri="{FF2B5EF4-FFF2-40B4-BE49-F238E27FC236}">
                  <a16:creationId xmlns:a16="http://schemas.microsoft.com/office/drawing/2014/main" id="{83722B55-49D5-4B14-8816-40F027BB5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66" name="Freeform 39">
              <a:extLst>
                <a:ext uri="{FF2B5EF4-FFF2-40B4-BE49-F238E27FC236}">
                  <a16:creationId xmlns:a16="http://schemas.microsoft.com/office/drawing/2014/main" id="{B501AD49-DB3F-4688-9FBD-D5856C90B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67" name="Freeform 40">
              <a:extLst>
                <a:ext uri="{FF2B5EF4-FFF2-40B4-BE49-F238E27FC236}">
                  <a16:creationId xmlns:a16="http://schemas.microsoft.com/office/drawing/2014/main" id="{4414AF2C-5011-4941-A5FC-9F0BFFDA13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68" name="Freeform 41">
              <a:extLst>
                <a:ext uri="{FF2B5EF4-FFF2-40B4-BE49-F238E27FC236}">
                  <a16:creationId xmlns:a16="http://schemas.microsoft.com/office/drawing/2014/main" id="{E43B9AC1-EA63-4CBE-A044-814D130F4E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69" name="Freeform 42">
              <a:extLst>
                <a:ext uri="{FF2B5EF4-FFF2-40B4-BE49-F238E27FC236}">
                  <a16:creationId xmlns:a16="http://schemas.microsoft.com/office/drawing/2014/main" id="{FE925601-6A24-4966-AB9C-96A5FD1FD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70" name="Freeform 43">
              <a:extLst>
                <a:ext uri="{FF2B5EF4-FFF2-40B4-BE49-F238E27FC236}">
                  <a16:creationId xmlns:a16="http://schemas.microsoft.com/office/drawing/2014/main" id="{07904E40-954B-44B5-8DEF-ABBAAB3EF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71" name="Freeform 44">
              <a:extLst>
                <a:ext uri="{FF2B5EF4-FFF2-40B4-BE49-F238E27FC236}">
                  <a16:creationId xmlns:a16="http://schemas.microsoft.com/office/drawing/2014/main" id="{D5D18F9A-64A1-491E-8420-D9E6A9659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72" name="Rectangle 5171">
              <a:extLst>
                <a:ext uri="{FF2B5EF4-FFF2-40B4-BE49-F238E27FC236}">
                  <a16:creationId xmlns:a16="http://schemas.microsoft.com/office/drawing/2014/main" id="{C0506166-82B1-452B-A872-793A8226E1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73" name="Freeform 46">
              <a:extLst>
                <a:ext uri="{FF2B5EF4-FFF2-40B4-BE49-F238E27FC236}">
                  <a16:creationId xmlns:a16="http://schemas.microsoft.com/office/drawing/2014/main" id="{E86143AC-3ED1-4B89-88B2-9B34834B21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74" name="Freeform 47">
              <a:extLst>
                <a:ext uri="{FF2B5EF4-FFF2-40B4-BE49-F238E27FC236}">
                  <a16:creationId xmlns:a16="http://schemas.microsoft.com/office/drawing/2014/main" id="{2506B36D-400D-4AE7-854E-81E7D1711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75" name="Freeform 48">
              <a:extLst>
                <a:ext uri="{FF2B5EF4-FFF2-40B4-BE49-F238E27FC236}">
                  <a16:creationId xmlns:a16="http://schemas.microsoft.com/office/drawing/2014/main" id="{FAC469E8-99A7-4A3B-AA77-7D3F8B5A1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76" name="Freeform 49">
              <a:extLst>
                <a:ext uri="{FF2B5EF4-FFF2-40B4-BE49-F238E27FC236}">
                  <a16:creationId xmlns:a16="http://schemas.microsoft.com/office/drawing/2014/main" id="{C9D4AC33-8E6A-487F-B207-0910573B2F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77" name="Freeform 50">
              <a:extLst>
                <a:ext uri="{FF2B5EF4-FFF2-40B4-BE49-F238E27FC236}">
                  <a16:creationId xmlns:a16="http://schemas.microsoft.com/office/drawing/2014/main" id="{5169DB35-0F33-4D65-A6A7-B29435846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78" name="Freeform 51">
              <a:extLst>
                <a:ext uri="{FF2B5EF4-FFF2-40B4-BE49-F238E27FC236}">
                  <a16:creationId xmlns:a16="http://schemas.microsoft.com/office/drawing/2014/main" id="{276CF58E-C966-4C95-A574-042E4A056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79" name="Freeform 52">
              <a:extLst>
                <a:ext uri="{FF2B5EF4-FFF2-40B4-BE49-F238E27FC236}">
                  <a16:creationId xmlns:a16="http://schemas.microsoft.com/office/drawing/2014/main" id="{39352F72-1FD1-480D-8480-5B8D4AEE2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80" name="Freeform 53">
              <a:extLst>
                <a:ext uri="{FF2B5EF4-FFF2-40B4-BE49-F238E27FC236}">
                  <a16:creationId xmlns:a16="http://schemas.microsoft.com/office/drawing/2014/main" id="{387FF91D-79A1-4BEE-B978-9A4CA48C5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81" name="Freeform 54">
              <a:extLst>
                <a:ext uri="{FF2B5EF4-FFF2-40B4-BE49-F238E27FC236}">
                  <a16:creationId xmlns:a16="http://schemas.microsoft.com/office/drawing/2014/main" id="{A4378872-C560-4526-A46E-8E7744EDD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82" name="Freeform 55">
              <a:extLst>
                <a:ext uri="{FF2B5EF4-FFF2-40B4-BE49-F238E27FC236}">
                  <a16:creationId xmlns:a16="http://schemas.microsoft.com/office/drawing/2014/main" id="{7CACB4BC-B52B-499B-87DB-D29BDA3206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83" name="Freeform 56">
              <a:extLst>
                <a:ext uri="{FF2B5EF4-FFF2-40B4-BE49-F238E27FC236}">
                  <a16:creationId xmlns:a16="http://schemas.microsoft.com/office/drawing/2014/main" id="{A54207F8-153A-46DB-9031-D45E462B70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84" name="Freeform 57">
              <a:extLst>
                <a:ext uri="{FF2B5EF4-FFF2-40B4-BE49-F238E27FC236}">
                  <a16:creationId xmlns:a16="http://schemas.microsoft.com/office/drawing/2014/main" id="{3D28E5BB-BD55-40DE-83C3-67FD3B1A2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85" name="Freeform 58">
              <a:extLst>
                <a:ext uri="{FF2B5EF4-FFF2-40B4-BE49-F238E27FC236}">
                  <a16:creationId xmlns:a16="http://schemas.microsoft.com/office/drawing/2014/main" id="{F5C4D757-8A6D-4D97-A17E-BF0D0EFD0D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FCF4E-43C5-111B-40F9-70BA891BA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79513"/>
            <a:ext cx="5957887" cy="551656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RNA Virus transmitted primarily through consumption of contaminated food and water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MC cause of acute viral hepatitis globally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Clinical Manifestations: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Most have self-limiting illness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Incubation period: 15-60 days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Jaundice (about 5-10 days post exposure), malaise, anorexia, n/v, abdominal pain, fever, hepatomegaly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Fulminant Hepatitis: rare (about 1-2% of cases)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Diagnostics: Elevated AST/ALT (ALT usually higher 1000+), hyperbilirubinemia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Serological Testing: (+) IgM and anti-HEV antibodies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Treatment: Supportive Care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Chronic Hepatitis can develop in immunocompromised patients</a:t>
            </a:r>
          </a:p>
          <a:p>
            <a:pPr lvl="1">
              <a:lnSpc>
                <a:spcPct val="110000"/>
              </a:lnSpc>
            </a:pPr>
            <a:endParaRPr lang="en-US" sz="900" dirty="0"/>
          </a:p>
          <a:p>
            <a:pPr>
              <a:lnSpc>
                <a:spcPct val="110000"/>
              </a:lnSpc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40369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0B58B-326F-1423-B6BB-79F79F3B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744" y="-372971"/>
            <a:ext cx="9905998" cy="1478570"/>
          </a:xfrm>
        </p:spPr>
        <p:txBody>
          <a:bodyPr/>
          <a:lstStyle/>
          <a:p>
            <a:r>
              <a:rPr lang="en-US" dirty="0"/>
              <a:t>Hepatitis: Etiologies – </a:t>
            </a:r>
            <a:r>
              <a:rPr lang="en-US" u="sng" dirty="0"/>
              <a:t>Hep 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E6002-2D03-B574-8163-6046418DA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088" y="743038"/>
            <a:ext cx="10960273" cy="611496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RNA Virus that requires Hepatitis B surface antigen (HBsAG) to become infectious (Hep D uses HBsAG protein to assemble/reproduce)</a:t>
            </a:r>
          </a:p>
          <a:p>
            <a:r>
              <a:rPr lang="en-US" dirty="0"/>
              <a:t>Infectious Hep D ALWAYS associated with Hep B Infection</a:t>
            </a:r>
          </a:p>
          <a:p>
            <a:r>
              <a:rPr lang="en-US" dirty="0"/>
              <a:t>Dual infection caused by Hep B/D can lead to acute liver failure/chronic hepatitis </a:t>
            </a:r>
          </a:p>
          <a:p>
            <a:r>
              <a:rPr lang="en-US" dirty="0"/>
              <a:t>Usually transmitted via Parenteral Route: IV drug users or blood products</a:t>
            </a:r>
          </a:p>
          <a:p>
            <a:r>
              <a:rPr lang="en-US" dirty="0"/>
              <a:t> Clinical Manifestations: </a:t>
            </a:r>
          </a:p>
          <a:p>
            <a:pPr lvl="1"/>
            <a:r>
              <a:rPr lang="en-US" dirty="0"/>
              <a:t>Co-Infection: Dual infection with Hep B (no prior exposure) and Hep D presents as acute hepatitis. Clinically non-distinguishable from acute Hep B. Typically self-limiting</a:t>
            </a:r>
          </a:p>
          <a:p>
            <a:pPr lvl="1"/>
            <a:r>
              <a:rPr lang="en-US" dirty="0"/>
              <a:t>Superinfection: Hep B unknown carrier with severe hepatitis with Hep D -or- exacerbation of Chronic Hep B. </a:t>
            </a:r>
          </a:p>
          <a:p>
            <a:pPr lvl="2"/>
            <a:r>
              <a:rPr lang="en-US" dirty="0"/>
              <a:t>Higher incidence of Liver failure/Cirrhosis </a:t>
            </a:r>
          </a:p>
          <a:p>
            <a:pPr lvl="2"/>
            <a:r>
              <a:rPr lang="en-US" dirty="0"/>
              <a:t>Higher risk of Hepatocellular carcinoma </a:t>
            </a:r>
          </a:p>
          <a:p>
            <a:r>
              <a:rPr lang="en-US" dirty="0"/>
              <a:t>Diagnostics: (+) hepatitis D Antigen (anti-HDV),  (+) Serum HDV RNA,Hep B serologies, (+) IgM Hep B (co-infection ONLY), HBsAG (present in both co-infection and superinfection)</a:t>
            </a:r>
          </a:p>
          <a:p>
            <a:r>
              <a:rPr lang="en-US" dirty="0"/>
              <a:t>Management: </a:t>
            </a:r>
          </a:p>
          <a:p>
            <a:pPr lvl="1"/>
            <a:r>
              <a:rPr lang="en-US" dirty="0"/>
              <a:t>Pegylated Interferon Alpha 2b: can eliminate Hep D RNA in approximately 20-50% (has a lot of side effects)</a:t>
            </a:r>
          </a:p>
          <a:p>
            <a:pPr lvl="1"/>
            <a:r>
              <a:rPr lang="en-US" dirty="0"/>
              <a:t>For Liver Failure/Cirrhosis: will need liver transplant</a:t>
            </a:r>
          </a:p>
        </p:txBody>
      </p:sp>
    </p:spTree>
    <p:extLst>
      <p:ext uri="{BB962C8B-B14F-4D97-AF65-F5344CB8AC3E}">
        <p14:creationId xmlns:p14="http://schemas.microsoft.com/office/powerpoint/2010/main" val="393107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5" name="Group 7174">
            <a:extLst>
              <a:ext uri="{FF2B5EF4-FFF2-40B4-BE49-F238E27FC236}">
                <a16:creationId xmlns:a16="http://schemas.microsoft.com/office/drawing/2014/main" id="{9391C63B-9409-43FE-B3C8-05C2F406E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7176" name="Rectangle 7175">
              <a:extLst>
                <a:ext uri="{FF2B5EF4-FFF2-40B4-BE49-F238E27FC236}">
                  <a16:creationId xmlns:a16="http://schemas.microsoft.com/office/drawing/2014/main" id="{FD4D2D43-3C80-463E-95BA-95EDCFE52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177" name="Picture 2">
              <a:extLst>
                <a:ext uri="{FF2B5EF4-FFF2-40B4-BE49-F238E27FC236}">
                  <a16:creationId xmlns:a16="http://schemas.microsoft.com/office/drawing/2014/main" id="{A79495A4-D8D7-4D35-B403-4A8B70B48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71B3DED-7043-C163-6BFC-8A2FE4E59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425" y="618518"/>
            <a:ext cx="4598985" cy="1478570"/>
          </a:xfrm>
        </p:spPr>
        <p:txBody>
          <a:bodyPr>
            <a:normAutofit/>
          </a:bodyPr>
          <a:lstStyle/>
          <a:p>
            <a:r>
              <a:rPr lang="en-US" dirty="0"/>
              <a:t>Hepatitis: Etiologies – </a:t>
            </a:r>
            <a:r>
              <a:rPr lang="en-US" u="sng" dirty="0"/>
              <a:t>Hep B</a:t>
            </a:r>
            <a:endParaRPr lang="en-US" dirty="0"/>
          </a:p>
        </p:txBody>
      </p:sp>
      <p:pic>
        <p:nvPicPr>
          <p:cNvPr id="7170" name="Picture 2" descr="Hepatitis B | HBV | MedlinePlus">
            <a:extLst>
              <a:ext uri="{FF2B5EF4-FFF2-40B4-BE49-F238E27FC236}">
                <a16:creationId xmlns:a16="http://schemas.microsoft.com/office/drawing/2014/main" id="{DBDF0641-60AE-E670-DE52-246AA8A6E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>
            <a:fillRect/>
          </a:stretch>
        </p:blipFill>
        <p:spPr bwMode="auto">
          <a:xfrm>
            <a:off x="-5597" y="10"/>
            <a:ext cx="610159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179" name="Group 7178">
            <a:extLst>
              <a:ext uri="{FF2B5EF4-FFF2-40B4-BE49-F238E27FC236}">
                <a16:creationId xmlns:a16="http://schemas.microsoft.com/office/drawing/2014/main" id="{86A8F816-AC43-412D-A97C-04A5F187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7180" name="Rectangle 7179">
              <a:extLst>
                <a:ext uri="{FF2B5EF4-FFF2-40B4-BE49-F238E27FC236}">
                  <a16:creationId xmlns:a16="http://schemas.microsoft.com/office/drawing/2014/main" id="{03C200A6-A160-4D61-B495-766D61704C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81" name="Freeform 6">
              <a:extLst>
                <a:ext uri="{FF2B5EF4-FFF2-40B4-BE49-F238E27FC236}">
                  <a16:creationId xmlns:a16="http://schemas.microsoft.com/office/drawing/2014/main" id="{A65C50F5-3FA5-496C-AE9D-9B2D18BA72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82" name="Freeform 7">
              <a:extLst>
                <a:ext uri="{FF2B5EF4-FFF2-40B4-BE49-F238E27FC236}">
                  <a16:creationId xmlns:a16="http://schemas.microsoft.com/office/drawing/2014/main" id="{93A0E285-6A59-4F32-954F-F4D01CF18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83" name="Rectangle 7182">
              <a:extLst>
                <a:ext uri="{FF2B5EF4-FFF2-40B4-BE49-F238E27FC236}">
                  <a16:creationId xmlns:a16="http://schemas.microsoft.com/office/drawing/2014/main" id="{647449E1-B2FD-40EC-B9B6-3B04F8691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84" name="Freeform 9">
              <a:extLst>
                <a:ext uri="{FF2B5EF4-FFF2-40B4-BE49-F238E27FC236}">
                  <a16:creationId xmlns:a16="http://schemas.microsoft.com/office/drawing/2014/main" id="{374C7DBB-A645-4225-913A-B32BF022CF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85" name="Freeform 10">
              <a:extLst>
                <a:ext uri="{FF2B5EF4-FFF2-40B4-BE49-F238E27FC236}">
                  <a16:creationId xmlns:a16="http://schemas.microsoft.com/office/drawing/2014/main" id="{02763F9E-06D4-44F8-99B7-F03E46503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86" name="Freeform 11">
              <a:extLst>
                <a:ext uri="{FF2B5EF4-FFF2-40B4-BE49-F238E27FC236}">
                  <a16:creationId xmlns:a16="http://schemas.microsoft.com/office/drawing/2014/main" id="{F9485170-FF6A-4C2C-AD53-F75775B6A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87" name="Freeform 12">
              <a:extLst>
                <a:ext uri="{FF2B5EF4-FFF2-40B4-BE49-F238E27FC236}">
                  <a16:creationId xmlns:a16="http://schemas.microsoft.com/office/drawing/2014/main" id="{5A3B546C-8D41-4BED-9C42-40AA55B97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88" name="Freeform 13">
              <a:extLst>
                <a:ext uri="{FF2B5EF4-FFF2-40B4-BE49-F238E27FC236}">
                  <a16:creationId xmlns:a16="http://schemas.microsoft.com/office/drawing/2014/main" id="{1D3BFA4D-2052-4626-BD98-6ED846E77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89" name="Freeform 14">
              <a:extLst>
                <a:ext uri="{FF2B5EF4-FFF2-40B4-BE49-F238E27FC236}">
                  <a16:creationId xmlns:a16="http://schemas.microsoft.com/office/drawing/2014/main" id="{9B1795D5-2BDD-4792-9724-B7FFD0A2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90" name="Freeform 15">
              <a:extLst>
                <a:ext uri="{FF2B5EF4-FFF2-40B4-BE49-F238E27FC236}">
                  <a16:creationId xmlns:a16="http://schemas.microsoft.com/office/drawing/2014/main" id="{FC57801A-7AC9-41A1-BC38-77918A1B4F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91" name="Freeform 16">
              <a:extLst>
                <a:ext uri="{FF2B5EF4-FFF2-40B4-BE49-F238E27FC236}">
                  <a16:creationId xmlns:a16="http://schemas.microsoft.com/office/drawing/2014/main" id="{82E16F78-76A8-4502-BDD1-C56EE245CF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92" name="Freeform 17">
              <a:extLst>
                <a:ext uri="{FF2B5EF4-FFF2-40B4-BE49-F238E27FC236}">
                  <a16:creationId xmlns:a16="http://schemas.microsoft.com/office/drawing/2014/main" id="{223BA1AA-E97D-4933-9448-B450686246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93" name="Freeform 18">
              <a:extLst>
                <a:ext uri="{FF2B5EF4-FFF2-40B4-BE49-F238E27FC236}">
                  <a16:creationId xmlns:a16="http://schemas.microsoft.com/office/drawing/2014/main" id="{B914E16B-686D-4E93-AF1A-48016E5FC5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94" name="Freeform 19">
              <a:extLst>
                <a:ext uri="{FF2B5EF4-FFF2-40B4-BE49-F238E27FC236}">
                  <a16:creationId xmlns:a16="http://schemas.microsoft.com/office/drawing/2014/main" id="{2BE217F2-46D9-4542-A0CA-62A6BDFA0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95" name="Freeform 20">
              <a:extLst>
                <a:ext uri="{FF2B5EF4-FFF2-40B4-BE49-F238E27FC236}">
                  <a16:creationId xmlns:a16="http://schemas.microsoft.com/office/drawing/2014/main" id="{0295D04E-B04B-4149-B449-82C021A0C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96" name="Freeform 21">
              <a:extLst>
                <a:ext uri="{FF2B5EF4-FFF2-40B4-BE49-F238E27FC236}">
                  <a16:creationId xmlns:a16="http://schemas.microsoft.com/office/drawing/2014/main" id="{1B45069A-DE6E-4DAC-B4FB-53E0BE0F2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97" name="Freeform 22">
              <a:extLst>
                <a:ext uri="{FF2B5EF4-FFF2-40B4-BE49-F238E27FC236}">
                  <a16:creationId xmlns:a16="http://schemas.microsoft.com/office/drawing/2014/main" id="{2381C171-634E-4582-8BCF-4B1465D3C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98" name="Freeform 23">
              <a:extLst>
                <a:ext uri="{FF2B5EF4-FFF2-40B4-BE49-F238E27FC236}">
                  <a16:creationId xmlns:a16="http://schemas.microsoft.com/office/drawing/2014/main" id="{CDE96AC1-974B-46DC-8856-FF24F21FD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99" name="Freeform 24">
              <a:extLst>
                <a:ext uri="{FF2B5EF4-FFF2-40B4-BE49-F238E27FC236}">
                  <a16:creationId xmlns:a16="http://schemas.microsoft.com/office/drawing/2014/main" id="{E9E50B46-EEFE-4F1F-A66C-01A3056E4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00" name="Freeform 25">
              <a:extLst>
                <a:ext uri="{FF2B5EF4-FFF2-40B4-BE49-F238E27FC236}">
                  <a16:creationId xmlns:a16="http://schemas.microsoft.com/office/drawing/2014/main" id="{39C19F1F-0A32-47E4-B860-E7238095B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01" name="Freeform 26">
              <a:extLst>
                <a:ext uri="{FF2B5EF4-FFF2-40B4-BE49-F238E27FC236}">
                  <a16:creationId xmlns:a16="http://schemas.microsoft.com/office/drawing/2014/main" id="{9BC5FEDC-F173-42DA-B6B4-38887BEBB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02" name="Freeform 27">
              <a:extLst>
                <a:ext uri="{FF2B5EF4-FFF2-40B4-BE49-F238E27FC236}">
                  <a16:creationId xmlns:a16="http://schemas.microsoft.com/office/drawing/2014/main" id="{F603B486-2B6A-427C-B213-94D62DEE7F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03" name="Freeform 28">
              <a:extLst>
                <a:ext uri="{FF2B5EF4-FFF2-40B4-BE49-F238E27FC236}">
                  <a16:creationId xmlns:a16="http://schemas.microsoft.com/office/drawing/2014/main" id="{9923324F-5ABA-4211-BFD5-3C7210A3D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04" name="Freeform 29">
              <a:extLst>
                <a:ext uri="{FF2B5EF4-FFF2-40B4-BE49-F238E27FC236}">
                  <a16:creationId xmlns:a16="http://schemas.microsoft.com/office/drawing/2014/main" id="{174E15FD-3C22-42F2-86C1-816A41A113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05" name="Freeform 30">
              <a:extLst>
                <a:ext uri="{FF2B5EF4-FFF2-40B4-BE49-F238E27FC236}">
                  <a16:creationId xmlns:a16="http://schemas.microsoft.com/office/drawing/2014/main" id="{97DBD1EA-E545-4370-BDAE-BCADFCAE0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06" name="Freeform 31">
              <a:extLst>
                <a:ext uri="{FF2B5EF4-FFF2-40B4-BE49-F238E27FC236}">
                  <a16:creationId xmlns:a16="http://schemas.microsoft.com/office/drawing/2014/main" id="{349BB900-4B0A-4A52-91D0-BA1251DD9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07" name="Freeform 32">
              <a:extLst>
                <a:ext uri="{FF2B5EF4-FFF2-40B4-BE49-F238E27FC236}">
                  <a16:creationId xmlns:a16="http://schemas.microsoft.com/office/drawing/2014/main" id="{6806FA38-BF37-458D-8FA3-FFAE06373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08" name="Rectangle 7207">
              <a:extLst>
                <a:ext uri="{FF2B5EF4-FFF2-40B4-BE49-F238E27FC236}">
                  <a16:creationId xmlns:a16="http://schemas.microsoft.com/office/drawing/2014/main" id="{4D932FFD-96DA-4DCC-9719-F5734FC5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09" name="Freeform 34">
              <a:extLst>
                <a:ext uri="{FF2B5EF4-FFF2-40B4-BE49-F238E27FC236}">
                  <a16:creationId xmlns:a16="http://schemas.microsoft.com/office/drawing/2014/main" id="{55D6D3C9-0B00-4009-8DD3-C64858A9A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10" name="Freeform 35">
              <a:extLst>
                <a:ext uri="{FF2B5EF4-FFF2-40B4-BE49-F238E27FC236}">
                  <a16:creationId xmlns:a16="http://schemas.microsoft.com/office/drawing/2014/main" id="{8D8B5E4D-FF9B-4CED-91C9-B2800B3DA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11" name="Freeform 36">
              <a:extLst>
                <a:ext uri="{FF2B5EF4-FFF2-40B4-BE49-F238E27FC236}">
                  <a16:creationId xmlns:a16="http://schemas.microsoft.com/office/drawing/2014/main" id="{6A4620BB-BF1E-4B42-870C-57EC0C649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12" name="Freeform 37">
              <a:extLst>
                <a:ext uri="{FF2B5EF4-FFF2-40B4-BE49-F238E27FC236}">
                  <a16:creationId xmlns:a16="http://schemas.microsoft.com/office/drawing/2014/main" id="{4F5B49D4-1AE0-44C9-AEDE-8F98DC508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13" name="Freeform 38">
              <a:extLst>
                <a:ext uri="{FF2B5EF4-FFF2-40B4-BE49-F238E27FC236}">
                  <a16:creationId xmlns:a16="http://schemas.microsoft.com/office/drawing/2014/main" id="{83722B55-49D5-4B14-8816-40F027BB5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14" name="Freeform 39">
              <a:extLst>
                <a:ext uri="{FF2B5EF4-FFF2-40B4-BE49-F238E27FC236}">
                  <a16:creationId xmlns:a16="http://schemas.microsoft.com/office/drawing/2014/main" id="{B501AD49-DB3F-4688-9FBD-D5856C90B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15" name="Freeform 40">
              <a:extLst>
                <a:ext uri="{FF2B5EF4-FFF2-40B4-BE49-F238E27FC236}">
                  <a16:creationId xmlns:a16="http://schemas.microsoft.com/office/drawing/2014/main" id="{4414AF2C-5011-4941-A5FC-9F0BFFDA13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16" name="Freeform 41">
              <a:extLst>
                <a:ext uri="{FF2B5EF4-FFF2-40B4-BE49-F238E27FC236}">
                  <a16:creationId xmlns:a16="http://schemas.microsoft.com/office/drawing/2014/main" id="{E43B9AC1-EA63-4CBE-A044-814D130F4E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17" name="Freeform 42">
              <a:extLst>
                <a:ext uri="{FF2B5EF4-FFF2-40B4-BE49-F238E27FC236}">
                  <a16:creationId xmlns:a16="http://schemas.microsoft.com/office/drawing/2014/main" id="{FE925601-6A24-4966-AB9C-96A5FD1FD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18" name="Freeform 43">
              <a:extLst>
                <a:ext uri="{FF2B5EF4-FFF2-40B4-BE49-F238E27FC236}">
                  <a16:creationId xmlns:a16="http://schemas.microsoft.com/office/drawing/2014/main" id="{07904E40-954B-44B5-8DEF-ABBAAB3EF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19" name="Freeform 44">
              <a:extLst>
                <a:ext uri="{FF2B5EF4-FFF2-40B4-BE49-F238E27FC236}">
                  <a16:creationId xmlns:a16="http://schemas.microsoft.com/office/drawing/2014/main" id="{D5D18F9A-64A1-491E-8420-D9E6A9659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20" name="Rectangle 7219">
              <a:extLst>
                <a:ext uri="{FF2B5EF4-FFF2-40B4-BE49-F238E27FC236}">
                  <a16:creationId xmlns:a16="http://schemas.microsoft.com/office/drawing/2014/main" id="{C0506166-82B1-452B-A872-793A8226E1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21" name="Freeform 46">
              <a:extLst>
                <a:ext uri="{FF2B5EF4-FFF2-40B4-BE49-F238E27FC236}">
                  <a16:creationId xmlns:a16="http://schemas.microsoft.com/office/drawing/2014/main" id="{E86143AC-3ED1-4B89-88B2-9B34834B21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22" name="Freeform 47">
              <a:extLst>
                <a:ext uri="{FF2B5EF4-FFF2-40B4-BE49-F238E27FC236}">
                  <a16:creationId xmlns:a16="http://schemas.microsoft.com/office/drawing/2014/main" id="{2506B36D-400D-4AE7-854E-81E7D1711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23" name="Freeform 48">
              <a:extLst>
                <a:ext uri="{FF2B5EF4-FFF2-40B4-BE49-F238E27FC236}">
                  <a16:creationId xmlns:a16="http://schemas.microsoft.com/office/drawing/2014/main" id="{FAC469E8-99A7-4A3B-AA77-7D3F8B5A1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24" name="Freeform 49">
              <a:extLst>
                <a:ext uri="{FF2B5EF4-FFF2-40B4-BE49-F238E27FC236}">
                  <a16:creationId xmlns:a16="http://schemas.microsoft.com/office/drawing/2014/main" id="{C9D4AC33-8E6A-487F-B207-0910573B2F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25" name="Freeform 50">
              <a:extLst>
                <a:ext uri="{FF2B5EF4-FFF2-40B4-BE49-F238E27FC236}">
                  <a16:creationId xmlns:a16="http://schemas.microsoft.com/office/drawing/2014/main" id="{5169DB35-0F33-4D65-A6A7-B29435846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26" name="Freeform 51">
              <a:extLst>
                <a:ext uri="{FF2B5EF4-FFF2-40B4-BE49-F238E27FC236}">
                  <a16:creationId xmlns:a16="http://schemas.microsoft.com/office/drawing/2014/main" id="{276CF58E-C966-4C95-A574-042E4A056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27" name="Freeform 52">
              <a:extLst>
                <a:ext uri="{FF2B5EF4-FFF2-40B4-BE49-F238E27FC236}">
                  <a16:creationId xmlns:a16="http://schemas.microsoft.com/office/drawing/2014/main" id="{39352F72-1FD1-480D-8480-5B8D4AEE2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28" name="Freeform 53">
              <a:extLst>
                <a:ext uri="{FF2B5EF4-FFF2-40B4-BE49-F238E27FC236}">
                  <a16:creationId xmlns:a16="http://schemas.microsoft.com/office/drawing/2014/main" id="{387FF91D-79A1-4BEE-B978-9A4CA48C5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29" name="Freeform 54">
              <a:extLst>
                <a:ext uri="{FF2B5EF4-FFF2-40B4-BE49-F238E27FC236}">
                  <a16:creationId xmlns:a16="http://schemas.microsoft.com/office/drawing/2014/main" id="{A4378872-C560-4526-A46E-8E7744EDD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30" name="Freeform 55">
              <a:extLst>
                <a:ext uri="{FF2B5EF4-FFF2-40B4-BE49-F238E27FC236}">
                  <a16:creationId xmlns:a16="http://schemas.microsoft.com/office/drawing/2014/main" id="{7CACB4BC-B52B-499B-87DB-D29BDA3206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31" name="Freeform 56">
              <a:extLst>
                <a:ext uri="{FF2B5EF4-FFF2-40B4-BE49-F238E27FC236}">
                  <a16:creationId xmlns:a16="http://schemas.microsoft.com/office/drawing/2014/main" id="{A54207F8-153A-46DB-9031-D45E462B70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32" name="Freeform 57">
              <a:extLst>
                <a:ext uri="{FF2B5EF4-FFF2-40B4-BE49-F238E27FC236}">
                  <a16:creationId xmlns:a16="http://schemas.microsoft.com/office/drawing/2014/main" id="{3D28E5BB-BD55-40DE-83C3-67FD3B1A2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33" name="Freeform 58">
              <a:extLst>
                <a:ext uri="{FF2B5EF4-FFF2-40B4-BE49-F238E27FC236}">
                  <a16:creationId xmlns:a16="http://schemas.microsoft.com/office/drawing/2014/main" id="{F5C4D757-8A6D-4D97-A17E-BF0D0EFD0D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9DE64-151B-BC42-AFE4-39B4C28B1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8425" y="2249487"/>
            <a:ext cx="4598986" cy="418147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DNA Virus transmitted via: percutaneous, sexual, parenteral, perinatal (childbirth)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Clinical Manifestations: malaise, fatigue, arthralgia, n/v/d, abdominal pain, jaundice (only in about 1/3 patients), dark urine, pale stools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Can lead to fulminant phase – liver failure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Presents in both acute and chronic phases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Diagnostics: this is the fun part! </a:t>
            </a:r>
          </a:p>
        </p:txBody>
      </p:sp>
    </p:spTree>
    <p:extLst>
      <p:ext uri="{BB962C8B-B14F-4D97-AF65-F5344CB8AC3E}">
        <p14:creationId xmlns:p14="http://schemas.microsoft.com/office/powerpoint/2010/main" val="2086472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31066-B363-6463-F6C4-907E95A2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Hepatitis: Etiologies – </a:t>
            </a:r>
            <a:r>
              <a:rPr lang="en-US" u="sng" dirty="0"/>
              <a:t>Hep 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41F9F-9AA6-1764-CA5C-C46453095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645" y="1987643"/>
            <a:ext cx="4594922" cy="461357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Diagnostics: </a:t>
            </a:r>
          </a:p>
          <a:p>
            <a:pPr lvl="1"/>
            <a:r>
              <a:rPr lang="en-US" dirty="0"/>
              <a:t>Elevated AST/ALT (1000s in acute, 100s if chronic)</a:t>
            </a:r>
          </a:p>
          <a:p>
            <a:pPr lvl="1"/>
            <a:r>
              <a:rPr lang="en-US" dirty="0"/>
              <a:t>Hyperbilirubinemia </a:t>
            </a:r>
          </a:p>
          <a:p>
            <a:pPr lvl="1"/>
            <a:r>
              <a:rPr lang="en-US" dirty="0"/>
              <a:t>+ HBV DNA </a:t>
            </a:r>
          </a:p>
          <a:p>
            <a:r>
              <a:rPr lang="en-US" dirty="0"/>
              <a:t>Serologies: </a:t>
            </a:r>
          </a:p>
          <a:p>
            <a:pPr lvl="1"/>
            <a:r>
              <a:rPr lang="en-US" dirty="0"/>
              <a:t>Hep B Surface Antigen (HBsAG)</a:t>
            </a:r>
          </a:p>
          <a:p>
            <a:pPr lvl="1"/>
            <a:r>
              <a:rPr lang="en-US" dirty="0"/>
              <a:t>Hep B Surface Antibody (anti-HBs)</a:t>
            </a:r>
          </a:p>
          <a:p>
            <a:pPr lvl="1"/>
            <a:r>
              <a:rPr lang="en-US" dirty="0"/>
              <a:t>Hep B Core Antibody (anti-HBc)</a:t>
            </a:r>
          </a:p>
          <a:p>
            <a:pPr lvl="2"/>
            <a:r>
              <a:rPr lang="en-US" dirty="0"/>
              <a:t>Hep B Core Antigen not detectable</a:t>
            </a:r>
          </a:p>
          <a:p>
            <a:pPr lvl="1"/>
            <a:r>
              <a:rPr lang="en-US" dirty="0"/>
              <a:t>Hep B E Antigen (HBeAG) </a:t>
            </a:r>
          </a:p>
          <a:p>
            <a:pPr lvl="1"/>
            <a:r>
              <a:rPr lang="en-US" dirty="0"/>
              <a:t>Hep B E Antibody (Anti-HBe)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C7EB5C4-632E-23E3-D9D3-1EFD8EA10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935261"/>
              </p:ext>
            </p:extLst>
          </p:nvPr>
        </p:nvGraphicFramePr>
        <p:xfrm>
          <a:off x="4847572" y="2077277"/>
          <a:ext cx="7194780" cy="3810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99130">
                  <a:extLst>
                    <a:ext uri="{9D8B030D-6E8A-4147-A177-3AD203B41FA5}">
                      <a16:colId xmlns:a16="http://schemas.microsoft.com/office/drawing/2014/main" val="384032157"/>
                    </a:ext>
                  </a:extLst>
                </a:gridCol>
                <a:gridCol w="1199130">
                  <a:extLst>
                    <a:ext uri="{9D8B030D-6E8A-4147-A177-3AD203B41FA5}">
                      <a16:colId xmlns:a16="http://schemas.microsoft.com/office/drawing/2014/main" val="1639778695"/>
                    </a:ext>
                  </a:extLst>
                </a:gridCol>
                <a:gridCol w="1199130">
                  <a:extLst>
                    <a:ext uri="{9D8B030D-6E8A-4147-A177-3AD203B41FA5}">
                      <a16:colId xmlns:a16="http://schemas.microsoft.com/office/drawing/2014/main" val="1486786905"/>
                    </a:ext>
                  </a:extLst>
                </a:gridCol>
                <a:gridCol w="1199130">
                  <a:extLst>
                    <a:ext uri="{9D8B030D-6E8A-4147-A177-3AD203B41FA5}">
                      <a16:colId xmlns:a16="http://schemas.microsoft.com/office/drawing/2014/main" val="1260149999"/>
                    </a:ext>
                  </a:extLst>
                </a:gridCol>
                <a:gridCol w="1199130">
                  <a:extLst>
                    <a:ext uri="{9D8B030D-6E8A-4147-A177-3AD203B41FA5}">
                      <a16:colId xmlns:a16="http://schemas.microsoft.com/office/drawing/2014/main" val="2358560294"/>
                    </a:ext>
                  </a:extLst>
                </a:gridCol>
                <a:gridCol w="1199130">
                  <a:extLst>
                    <a:ext uri="{9D8B030D-6E8A-4147-A177-3AD203B41FA5}">
                      <a16:colId xmlns:a16="http://schemas.microsoft.com/office/drawing/2014/main" val="2801124011"/>
                    </a:ext>
                  </a:extLst>
                </a:gridCol>
              </a:tblGrid>
              <a:tr h="3046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Diagnosis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HBsAG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anti-HBs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anti-HBc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HBeAG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anti-HBe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2426"/>
                  </a:ext>
                </a:extLst>
              </a:tr>
              <a:tr h="30465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Window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IgM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295720"/>
                  </a:ext>
                </a:extLst>
              </a:tr>
              <a:tr h="30465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Acute Hepatitis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IgM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+/-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+/-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468053"/>
                  </a:ext>
                </a:extLst>
              </a:tr>
              <a:tr h="30465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Resolved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IgG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846797"/>
                  </a:ext>
                </a:extLst>
              </a:tr>
              <a:tr h="30465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Immunization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185901"/>
                  </a:ext>
                </a:extLst>
              </a:tr>
              <a:tr h="60096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Chronic Hepatitis</a:t>
                      </a:r>
                    </a:p>
                    <a:p>
                      <a:pPr algn="ctr"/>
                      <a:r>
                        <a:rPr lang="en-US" sz="1400" dirty="0"/>
                        <a:t>(replicative)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IgG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362549"/>
                  </a:ext>
                </a:extLst>
              </a:tr>
              <a:tr h="60096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Chronic Hepatitis</a:t>
                      </a:r>
                    </a:p>
                    <a:p>
                      <a:pPr algn="ctr"/>
                      <a:r>
                        <a:rPr lang="en-US" sz="1400" dirty="0"/>
                        <a:t>(non-replicative)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IgG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001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7738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1E86E-8833-E32E-DEFD-1E8A206A4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30211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Hepatitis: Etiologies – </a:t>
            </a:r>
            <a:r>
              <a:rPr lang="en-US" u="sng" dirty="0"/>
              <a:t>Hep 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EC775-3858-9C15-CE3D-23DA2054B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24629"/>
            <a:ext cx="5058971" cy="4394074"/>
          </a:xfrm>
        </p:spPr>
        <p:txBody>
          <a:bodyPr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Management: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Supportive care: most patients do not progress to chronic hepatitis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Antiviral therapy: based persistent/severity of symptoms, sever hyperbilirubinemia (bilirubin&gt;10), severe transaminitis, HBeAG persistence </a:t>
            </a:r>
          </a:p>
          <a:p>
            <a:pPr lvl="2">
              <a:lnSpc>
                <a:spcPct val="110000"/>
              </a:lnSpc>
            </a:pPr>
            <a:r>
              <a:rPr lang="en-US" sz="2000" dirty="0"/>
              <a:t>Entecavir and Tenofovir (first line)</a:t>
            </a:r>
          </a:p>
          <a:p>
            <a:pPr lvl="2">
              <a:lnSpc>
                <a:spcPct val="110000"/>
              </a:lnSpc>
            </a:pPr>
            <a:r>
              <a:rPr lang="en-US" sz="2000" dirty="0"/>
              <a:t>Alternates: Adefovir, Telbivudine, and Lamivudine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Treatment continues until clearance of HBsAG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Hep B Vaccine available: usually given in with childhood vaccinations </a:t>
            </a:r>
          </a:p>
        </p:txBody>
      </p:sp>
      <p:pic>
        <p:nvPicPr>
          <p:cNvPr id="8194" name="Picture 2" descr="What is hepatitis B, and why are newborns vaccinated against it? : Shots -  Health News : NPR">
            <a:extLst>
              <a:ext uri="{FF2B5EF4-FFF2-40B4-BE49-F238E27FC236}">
                <a16:creationId xmlns:a16="http://schemas.microsoft.com/office/drawing/2014/main" id="{27AA408B-88B2-CE6B-E400-2E874A4C6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92335" y="2497720"/>
            <a:ext cx="4655075" cy="304789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2254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37F9F-2B39-13AE-7F79-D22A4CA4E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777" y="455680"/>
            <a:ext cx="9905998" cy="1478570"/>
          </a:xfrm>
        </p:spPr>
        <p:txBody>
          <a:bodyPr/>
          <a:lstStyle/>
          <a:p>
            <a:r>
              <a:rPr lang="en-US" dirty="0"/>
              <a:t>Hepatitis C: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8F6A9-9D37-322E-D081-04E16F6AF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60971"/>
            <a:ext cx="5973372" cy="4978031"/>
          </a:xfrm>
        </p:spPr>
        <p:txBody>
          <a:bodyPr>
            <a:normAutofit/>
          </a:bodyPr>
          <a:lstStyle/>
          <a:p>
            <a:r>
              <a:rPr lang="en-US" dirty="0"/>
              <a:t>Hepatitis C: single stranded RNA virus </a:t>
            </a:r>
          </a:p>
          <a:p>
            <a:r>
              <a:rPr lang="en-US" dirty="0"/>
              <a:t>MC cause of chronic liver disease, cirrhosis (leading to liver transplant) ‘</a:t>
            </a:r>
          </a:p>
          <a:p>
            <a:r>
              <a:rPr lang="en-US" dirty="0"/>
              <a:t>MC cause of transmission: IV Drug Usage (other causes: sexual transmission and mother-neonatal transmission) </a:t>
            </a:r>
          </a:p>
          <a:p>
            <a:r>
              <a:rPr lang="en-US" dirty="0"/>
              <a:t>Chronic Hepatitis: can occur in as high as 85% of patients with acute hepatitis C. This eventually leads to liver cirrhosis and increased risk for hepatocellular carcinoma. </a:t>
            </a:r>
          </a:p>
        </p:txBody>
      </p:sp>
      <p:pic>
        <p:nvPicPr>
          <p:cNvPr id="8194" name="Picture 2" descr="Hepatitis C (HCV) - AGA GI Patient Center">
            <a:extLst>
              <a:ext uri="{FF2B5EF4-FFF2-40B4-BE49-F238E27FC236}">
                <a16:creationId xmlns:a16="http://schemas.microsoft.com/office/drawing/2014/main" id="{145CBFDD-7C3A-C47E-DFD9-5EA547157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14785" y="1760971"/>
            <a:ext cx="4564672" cy="3512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9717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B1808-E5C3-6191-8595-BBBDFC46A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Hep C: Clinical Manifestations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E9F2E-8BDA-3284-59AD-5655B8261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6411783" cy="3541714"/>
          </a:xfrm>
        </p:spPr>
        <p:txBody>
          <a:bodyPr/>
          <a:lstStyle/>
          <a:p>
            <a:r>
              <a:rPr lang="en-US" dirty="0"/>
              <a:t>Incubation period: 6-7 weeks </a:t>
            </a:r>
          </a:p>
          <a:p>
            <a:r>
              <a:rPr lang="en-US" dirty="0"/>
              <a:t>Most patients remain asymptomatic until signs/symptoms of liver cirrhosis begin to occur (ascites (why?), esophageal varices, portal HTN) </a:t>
            </a:r>
          </a:p>
          <a:p>
            <a:r>
              <a:rPr lang="en-US" dirty="0"/>
              <a:t>Acute Hepatitis Symptoms: fatigue, malaise, RUQ pain, jaundice, clary-colored stools </a:t>
            </a:r>
          </a:p>
          <a:p>
            <a:endParaRPr lang="en-US" dirty="0"/>
          </a:p>
        </p:txBody>
      </p:sp>
      <p:pic>
        <p:nvPicPr>
          <p:cNvPr id="9218" name="Picture 2" descr="Symptoms of hepatitis C range from abdominal pain to fever to loss of appetite">
            <a:extLst>
              <a:ext uri="{FF2B5EF4-FFF2-40B4-BE49-F238E27FC236}">
                <a16:creationId xmlns:a16="http://schemas.microsoft.com/office/drawing/2014/main" id="{FDA533B8-2FF3-DF6E-F6FD-6C5143EED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22308" y="618518"/>
            <a:ext cx="1973785" cy="5279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0348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7" name="Group 10246">
            <a:extLst>
              <a:ext uri="{FF2B5EF4-FFF2-40B4-BE49-F238E27FC236}">
                <a16:creationId xmlns:a16="http://schemas.microsoft.com/office/drawing/2014/main" id="{9391C63B-9409-43FE-B3C8-05C2F406E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0248" name="Rectangle 10247">
              <a:extLst>
                <a:ext uri="{FF2B5EF4-FFF2-40B4-BE49-F238E27FC236}">
                  <a16:creationId xmlns:a16="http://schemas.microsoft.com/office/drawing/2014/main" id="{FD4D2D43-3C80-463E-95BA-95EDCFE52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249" name="Picture 2">
              <a:extLst>
                <a:ext uri="{FF2B5EF4-FFF2-40B4-BE49-F238E27FC236}">
                  <a16:creationId xmlns:a16="http://schemas.microsoft.com/office/drawing/2014/main" id="{A79495A4-D8D7-4D35-B403-4A8B70B48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60A8B9B-A890-AA09-388E-4AB38AA67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425" y="618518"/>
            <a:ext cx="4598985" cy="1478570"/>
          </a:xfrm>
        </p:spPr>
        <p:txBody>
          <a:bodyPr>
            <a:normAutofit/>
          </a:bodyPr>
          <a:lstStyle/>
          <a:p>
            <a:r>
              <a:rPr lang="en-US" dirty="0"/>
              <a:t>Hep C: Clinical Manifestations</a:t>
            </a:r>
          </a:p>
        </p:txBody>
      </p:sp>
      <p:pic>
        <p:nvPicPr>
          <p:cNvPr id="10242" name="Picture 2" descr="Testing for Hepatitis C | Hepatitis C | CDC">
            <a:extLst>
              <a:ext uri="{FF2B5EF4-FFF2-40B4-BE49-F238E27FC236}">
                <a16:creationId xmlns:a16="http://schemas.microsoft.com/office/drawing/2014/main" id="{53144B8F-9304-2F06-CDE4-1618C08B4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5597" y="10"/>
            <a:ext cx="610159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251" name="Group 10250">
            <a:extLst>
              <a:ext uri="{FF2B5EF4-FFF2-40B4-BE49-F238E27FC236}">
                <a16:creationId xmlns:a16="http://schemas.microsoft.com/office/drawing/2014/main" id="{86A8F816-AC43-412D-A97C-04A5F187F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0252" name="Rectangle 10251">
              <a:extLst>
                <a:ext uri="{FF2B5EF4-FFF2-40B4-BE49-F238E27FC236}">
                  <a16:creationId xmlns:a16="http://schemas.microsoft.com/office/drawing/2014/main" id="{03C200A6-A160-4D61-B495-766D61704C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53" name="Freeform 6">
              <a:extLst>
                <a:ext uri="{FF2B5EF4-FFF2-40B4-BE49-F238E27FC236}">
                  <a16:creationId xmlns:a16="http://schemas.microsoft.com/office/drawing/2014/main" id="{A65C50F5-3FA5-496C-AE9D-9B2D18BA72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54" name="Freeform 7">
              <a:extLst>
                <a:ext uri="{FF2B5EF4-FFF2-40B4-BE49-F238E27FC236}">
                  <a16:creationId xmlns:a16="http://schemas.microsoft.com/office/drawing/2014/main" id="{93A0E285-6A59-4F32-954F-F4D01CF18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55" name="Rectangle 10254">
              <a:extLst>
                <a:ext uri="{FF2B5EF4-FFF2-40B4-BE49-F238E27FC236}">
                  <a16:creationId xmlns:a16="http://schemas.microsoft.com/office/drawing/2014/main" id="{647449E1-B2FD-40EC-B9B6-3B04F8691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56" name="Freeform 9">
              <a:extLst>
                <a:ext uri="{FF2B5EF4-FFF2-40B4-BE49-F238E27FC236}">
                  <a16:creationId xmlns:a16="http://schemas.microsoft.com/office/drawing/2014/main" id="{374C7DBB-A645-4225-913A-B32BF022CF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57" name="Freeform 10">
              <a:extLst>
                <a:ext uri="{FF2B5EF4-FFF2-40B4-BE49-F238E27FC236}">
                  <a16:creationId xmlns:a16="http://schemas.microsoft.com/office/drawing/2014/main" id="{02763F9E-06D4-44F8-99B7-F03E46503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58" name="Freeform 11">
              <a:extLst>
                <a:ext uri="{FF2B5EF4-FFF2-40B4-BE49-F238E27FC236}">
                  <a16:creationId xmlns:a16="http://schemas.microsoft.com/office/drawing/2014/main" id="{F9485170-FF6A-4C2C-AD53-F75775B6A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59" name="Freeform 12">
              <a:extLst>
                <a:ext uri="{FF2B5EF4-FFF2-40B4-BE49-F238E27FC236}">
                  <a16:creationId xmlns:a16="http://schemas.microsoft.com/office/drawing/2014/main" id="{5A3B546C-8D41-4BED-9C42-40AA55B97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60" name="Freeform 13">
              <a:extLst>
                <a:ext uri="{FF2B5EF4-FFF2-40B4-BE49-F238E27FC236}">
                  <a16:creationId xmlns:a16="http://schemas.microsoft.com/office/drawing/2014/main" id="{1D3BFA4D-2052-4626-BD98-6ED846E77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61" name="Freeform 14">
              <a:extLst>
                <a:ext uri="{FF2B5EF4-FFF2-40B4-BE49-F238E27FC236}">
                  <a16:creationId xmlns:a16="http://schemas.microsoft.com/office/drawing/2014/main" id="{9B1795D5-2BDD-4792-9724-B7FFD0A2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62" name="Freeform 15">
              <a:extLst>
                <a:ext uri="{FF2B5EF4-FFF2-40B4-BE49-F238E27FC236}">
                  <a16:creationId xmlns:a16="http://schemas.microsoft.com/office/drawing/2014/main" id="{FC57801A-7AC9-41A1-BC38-77918A1B4F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63" name="Freeform 16">
              <a:extLst>
                <a:ext uri="{FF2B5EF4-FFF2-40B4-BE49-F238E27FC236}">
                  <a16:creationId xmlns:a16="http://schemas.microsoft.com/office/drawing/2014/main" id="{82E16F78-76A8-4502-BDD1-C56EE245CF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64" name="Freeform 17">
              <a:extLst>
                <a:ext uri="{FF2B5EF4-FFF2-40B4-BE49-F238E27FC236}">
                  <a16:creationId xmlns:a16="http://schemas.microsoft.com/office/drawing/2014/main" id="{223BA1AA-E97D-4933-9448-B450686246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65" name="Freeform 18">
              <a:extLst>
                <a:ext uri="{FF2B5EF4-FFF2-40B4-BE49-F238E27FC236}">
                  <a16:creationId xmlns:a16="http://schemas.microsoft.com/office/drawing/2014/main" id="{B914E16B-686D-4E93-AF1A-48016E5FC5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66" name="Freeform 19">
              <a:extLst>
                <a:ext uri="{FF2B5EF4-FFF2-40B4-BE49-F238E27FC236}">
                  <a16:creationId xmlns:a16="http://schemas.microsoft.com/office/drawing/2014/main" id="{2BE217F2-46D9-4542-A0CA-62A6BDFA0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67" name="Freeform 20">
              <a:extLst>
                <a:ext uri="{FF2B5EF4-FFF2-40B4-BE49-F238E27FC236}">
                  <a16:creationId xmlns:a16="http://schemas.microsoft.com/office/drawing/2014/main" id="{0295D04E-B04B-4149-B449-82C021A0C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68" name="Freeform 21">
              <a:extLst>
                <a:ext uri="{FF2B5EF4-FFF2-40B4-BE49-F238E27FC236}">
                  <a16:creationId xmlns:a16="http://schemas.microsoft.com/office/drawing/2014/main" id="{1B45069A-DE6E-4DAC-B4FB-53E0BE0F2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69" name="Freeform 22">
              <a:extLst>
                <a:ext uri="{FF2B5EF4-FFF2-40B4-BE49-F238E27FC236}">
                  <a16:creationId xmlns:a16="http://schemas.microsoft.com/office/drawing/2014/main" id="{2381C171-634E-4582-8BCF-4B1465D3C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70" name="Freeform 23">
              <a:extLst>
                <a:ext uri="{FF2B5EF4-FFF2-40B4-BE49-F238E27FC236}">
                  <a16:creationId xmlns:a16="http://schemas.microsoft.com/office/drawing/2014/main" id="{CDE96AC1-974B-46DC-8856-FF24F21FD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71" name="Freeform 24">
              <a:extLst>
                <a:ext uri="{FF2B5EF4-FFF2-40B4-BE49-F238E27FC236}">
                  <a16:creationId xmlns:a16="http://schemas.microsoft.com/office/drawing/2014/main" id="{E9E50B46-EEFE-4F1F-A66C-01A3056E4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72" name="Freeform 25">
              <a:extLst>
                <a:ext uri="{FF2B5EF4-FFF2-40B4-BE49-F238E27FC236}">
                  <a16:creationId xmlns:a16="http://schemas.microsoft.com/office/drawing/2014/main" id="{39C19F1F-0A32-47E4-B860-E7238095B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73" name="Freeform 26">
              <a:extLst>
                <a:ext uri="{FF2B5EF4-FFF2-40B4-BE49-F238E27FC236}">
                  <a16:creationId xmlns:a16="http://schemas.microsoft.com/office/drawing/2014/main" id="{9BC5FEDC-F173-42DA-B6B4-38887BEBB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74" name="Freeform 27">
              <a:extLst>
                <a:ext uri="{FF2B5EF4-FFF2-40B4-BE49-F238E27FC236}">
                  <a16:creationId xmlns:a16="http://schemas.microsoft.com/office/drawing/2014/main" id="{F603B486-2B6A-427C-B213-94D62DEE7F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75" name="Freeform 28">
              <a:extLst>
                <a:ext uri="{FF2B5EF4-FFF2-40B4-BE49-F238E27FC236}">
                  <a16:creationId xmlns:a16="http://schemas.microsoft.com/office/drawing/2014/main" id="{9923324F-5ABA-4211-BFD5-3C7210A3D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76" name="Freeform 29">
              <a:extLst>
                <a:ext uri="{FF2B5EF4-FFF2-40B4-BE49-F238E27FC236}">
                  <a16:creationId xmlns:a16="http://schemas.microsoft.com/office/drawing/2014/main" id="{174E15FD-3C22-42F2-86C1-816A41A113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77" name="Freeform 30">
              <a:extLst>
                <a:ext uri="{FF2B5EF4-FFF2-40B4-BE49-F238E27FC236}">
                  <a16:creationId xmlns:a16="http://schemas.microsoft.com/office/drawing/2014/main" id="{97DBD1EA-E545-4370-BDAE-BCADFCAE0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78" name="Freeform 31">
              <a:extLst>
                <a:ext uri="{FF2B5EF4-FFF2-40B4-BE49-F238E27FC236}">
                  <a16:creationId xmlns:a16="http://schemas.microsoft.com/office/drawing/2014/main" id="{349BB900-4B0A-4A52-91D0-BA1251DD9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79" name="Freeform 32">
              <a:extLst>
                <a:ext uri="{FF2B5EF4-FFF2-40B4-BE49-F238E27FC236}">
                  <a16:creationId xmlns:a16="http://schemas.microsoft.com/office/drawing/2014/main" id="{6806FA38-BF37-458D-8FA3-FFAE06373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80" name="Rectangle 10279">
              <a:extLst>
                <a:ext uri="{FF2B5EF4-FFF2-40B4-BE49-F238E27FC236}">
                  <a16:creationId xmlns:a16="http://schemas.microsoft.com/office/drawing/2014/main" id="{4D932FFD-96DA-4DCC-9719-F5734FC5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81" name="Freeform 34">
              <a:extLst>
                <a:ext uri="{FF2B5EF4-FFF2-40B4-BE49-F238E27FC236}">
                  <a16:creationId xmlns:a16="http://schemas.microsoft.com/office/drawing/2014/main" id="{55D6D3C9-0B00-4009-8DD3-C64858A9A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82" name="Freeform 35">
              <a:extLst>
                <a:ext uri="{FF2B5EF4-FFF2-40B4-BE49-F238E27FC236}">
                  <a16:creationId xmlns:a16="http://schemas.microsoft.com/office/drawing/2014/main" id="{8D8B5E4D-FF9B-4CED-91C9-B2800B3DA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83" name="Freeform 36">
              <a:extLst>
                <a:ext uri="{FF2B5EF4-FFF2-40B4-BE49-F238E27FC236}">
                  <a16:creationId xmlns:a16="http://schemas.microsoft.com/office/drawing/2014/main" id="{6A4620BB-BF1E-4B42-870C-57EC0C649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84" name="Freeform 37">
              <a:extLst>
                <a:ext uri="{FF2B5EF4-FFF2-40B4-BE49-F238E27FC236}">
                  <a16:creationId xmlns:a16="http://schemas.microsoft.com/office/drawing/2014/main" id="{4F5B49D4-1AE0-44C9-AEDE-8F98DC508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85" name="Freeform 38">
              <a:extLst>
                <a:ext uri="{FF2B5EF4-FFF2-40B4-BE49-F238E27FC236}">
                  <a16:creationId xmlns:a16="http://schemas.microsoft.com/office/drawing/2014/main" id="{83722B55-49D5-4B14-8816-40F027BB5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86" name="Freeform 39">
              <a:extLst>
                <a:ext uri="{FF2B5EF4-FFF2-40B4-BE49-F238E27FC236}">
                  <a16:creationId xmlns:a16="http://schemas.microsoft.com/office/drawing/2014/main" id="{B501AD49-DB3F-4688-9FBD-D5856C90B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87" name="Freeform 40">
              <a:extLst>
                <a:ext uri="{FF2B5EF4-FFF2-40B4-BE49-F238E27FC236}">
                  <a16:creationId xmlns:a16="http://schemas.microsoft.com/office/drawing/2014/main" id="{4414AF2C-5011-4941-A5FC-9F0BFFDA13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88" name="Freeform 41">
              <a:extLst>
                <a:ext uri="{FF2B5EF4-FFF2-40B4-BE49-F238E27FC236}">
                  <a16:creationId xmlns:a16="http://schemas.microsoft.com/office/drawing/2014/main" id="{E43B9AC1-EA63-4CBE-A044-814D130F4E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89" name="Freeform 42">
              <a:extLst>
                <a:ext uri="{FF2B5EF4-FFF2-40B4-BE49-F238E27FC236}">
                  <a16:creationId xmlns:a16="http://schemas.microsoft.com/office/drawing/2014/main" id="{FE925601-6A24-4966-AB9C-96A5FD1FD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90" name="Freeform 43">
              <a:extLst>
                <a:ext uri="{FF2B5EF4-FFF2-40B4-BE49-F238E27FC236}">
                  <a16:creationId xmlns:a16="http://schemas.microsoft.com/office/drawing/2014/main" id="{07904E40-954B-44B5-8DEF-ABBAAB3EF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91" name="Freeform 44">
              <a:extLst>
                <a:ext uri="{FF2B5EF4-FFF2-40B4-BE49-F238E27FC236}">
                  <a16:creationId xmlns:a16="http://schemas.microsoft.com/office/drawing/2014/main" id="{D5D18F9A-64A1-491E-8420-D9E6A9659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92" name="Rectangle 10291">
              <a:extLst>
                <a:ext uri="{FF2B5EF4-FFF2-40B4-BE49-F238E27FC236}">
                  <a16:creationId xmlns:a16="http://schemas.microsoft.com/office/drawing/2014/main" id="{C0506166-82B1-452B-A872-793A8226E1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93" name="Freeform 46">
              <a:extLst>
                <a:ext uri="{FF2B5EF4-FFF2-40B4-BE49-F238E27FC236}">
                  <a16:creationId xmlns:a16="http://schemas.microsoft.com/office/drawing/2014/main" id="{E86143AC-3ED1-4B89-88B2-9B34834B21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94" name="Freeform 47">
              <a:extLst>
                <a:ext uri="{FF2B5EF4-FFF2-40B4-BE49-F238E27FC236}">
                  <a16:creationId xmlns:a16="http://schemas.microsoft.com/office/drawing/2014/main" id="{2506B36D-400D-4AE7-854E-81E7D1711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95" name="Freeform 48">
              <a:extLst>
                <a:ext uri="{FF2B5EF4-FFF2-40B4-BE49-F238E27FC236}">
                  <a16:creationId xmlns:a16="http://schemas.microsoft.com/office/drawing/2014/main" id="{FAC469E8-99A7-4A3B-AA77-7D3F8B5A1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96" name="Freeform 49">
              <a:extLst>
                <a:ext uri="{FF2B5EF4-FFF2-40B4-BE49-F238E27FC236}">
                  <a16:creationId xmlns:a16="http://schemas.microsoft.com/office/drawing/2014/main" id="{C9D4AC33-8E6A-487F-B207-0910573B2F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97" name="Freeform 50">
              <a:extLst>
                <a:ext uri="{FF2B5EF4-FFF2-40B4-BE49-F238E27FC236}">
                  <a16:creationId xmlns:a16="http://schemas.microsoft.com/office/drawing/2014/main" id="{5169DB35-0F33-4D65-A6A7-B29435846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98" name="Freeform 51">
              <a:extLst>
                <a:ext uri="{FF2B5EF4-FFF2-40B4-BE49-F238E27FC236}">
                  <a16:creationId xmlns:a16="http://schemas.microsoft.com/office/drawing/2014/main" id="{276CF58E-C966-4C95-A574-042E4A056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99" name="Freeform 52">
              <a:extLst>
                <a:ext uri="{FF2B5EF4-FFF2-40B4-BE49-F238E27FC236}">
                  <a16:creationId xmlns:a16="http://schemas.microsoft.com/office/drawing/2014/main" id="{39352F72-1FD1-480D-8480-5B8D4AEE2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00" name="Freeform 53">
              <a:extLst>
                <a:ext uri="{FF2B5EF4-FFF2-40B4-BE49-F238E27FC236}">
                  <a16:creationId xmlns:a16="http://schemas.microsoft.com/office/drawing/2014/main" id="{387FF91D-79A1-4BEE-B978-9A4CA48C5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01" name="Freeform 54">
              <a:extLst>
                <a:ext uri="{FF2B5EF4-FFF2-40B4-BE49-F238E27FC236}">
                  <a16:creationId xmlns:a16="http://schemas.microsoft.com/office/drawing/2014/main" id="{A4378872-C560-4526-A46E-8E7744EDD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02" name="Freeform 55">
              <a:extLst>
                <a:ext uri="{FF2B5EF4-FFF2-40B4-BE49-F238E27FC236}">
                  <a16:creationId xmlns:a16="http://schemas.microsoft.com/office/drawing/2014/main" id="{7CACB4BC-B52B-499B-87DB-D29BDA3206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03" name="Freeform 56">
              <a:extLst>
                <a:ext uri="{FF2B5EF4-FFF2-40B4-BE49-F238E27FC236}">
                  <a16:creationId xmlns:a16="http://schemas.microsoft.com/office/drawing/2014/main" id="{A54207F8-153A-46DB-9031-D45E462B70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04" name="Freeform 57">
              <a:extLst>
                <a:ext uri="{FF2B5EF4-FFF2-40B4-BE49-F238E27FC236}">
                  <a16:creationId xmlns:a16="http://schemas.microsoft.com/office/drawing/2014/main" id="{3D28E5BB-BD55-40DE-83C3-67FD3B1A2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05" name="Freeform 58">
              <a:extLst>
                <a:ext uri="{FF2B5EF4-FFF2-40B4-BE49-F238E27FC236}">
                  <a16:creationId xmlns:a16="http://schemas.microsoft.com/office/drawing/2014/main" id="{F5C4D757-8A6D-4D97-A17E-BF0D0EFD0D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2FD6E-2901-D87B-B12F-D0D889D31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8425" y="2249486"/>
            <a:ext cx="5505450" cy="437038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Diagnostics: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CMP: LFTs elevated (waxing and waning)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CBC with diff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PT/PTT/INR/Fibrinogen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HCV antibodies: indicates acute vs chronic (+ result within 6 weeks)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Anti-HCV without HCV RNA = past recovery from HCV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Anti-HCV with HCV RNA = likely Chronic Hepatitis </a:t>
            </a:r>
          </a:p>
        </p:txBody>
      </p:sp>
    </p:spTree>
    <p:extLst>
      <p:ext uri="{BB962C8B-B14F-4D97-AF65-F5344CB8AC3E}">
        <p14:creationId xmlns:p14="http://schemas.microsoft.com/office/powerpoint/2010/main" val="4139239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9349F-496E-0134-7E8A-B4DAD77C4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Hep C: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9BDB-958D-09B2-62B3-4DFE04F73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945" y="2262012"/>
            <a:ext cx="7288604" cy="431415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Oral Regimens first line: high potential for cure rate</a:t>
            </a:r>
          </a:p>
          <a:p>
            <a:pPr lvl="1"/>
            <a:r>
              <a:rPr lang="en-US" dirty="0"/>
              <a:t>Glecaprevie-Pibrentasvir for 8 weeks </a:t>
            </a:r>
          </a:p>
          <a:p>
            <a:pPr lvl="1"/>
            <a:r>
              <a:rPr lang="en-US" dirty="0"/>
              <a:t>Sofosbuvir-Velpatasvir for 12 weeks</a:t>
            </a:r>
          </a:p>
          <a:p>
            <a:r>
              <a:rPr lang="en-US" dirty="0"/>
              <a:t>Treatment options have the potential to reactivate Hep B (always check first) </a:t>
            </a:r>
          </a:p>
          <a:p>
            <a:r>
              <a:rPr lang="en-US" dirty="0"/>
              <a:t>Re-check HCV Viral Levels around 3 months after finishing oral regimen </a:t>
            </a:r>
          </a:p>
          <a:p>
            <a:r>
              <a:rPr lang="en-US" dirty="0"/>
              <a:t>For patients with signs/symptoms of cirrhosis – close monitoring warranted for complications including future malignancy. </a:t>
            </a:r>
          </a:p>
        </p:txBody>
      </p:sp>
      <p:pic>
        <p:nvPicPr>
          <p:cNvPr id="11266" name="Picture 2" descr="Hepatitis C | HCV | MedlinePlus">
            <a:extLst>
              <a:ext uri="{FF2B5EF4-FFF2-40B4-BE49-F238E27FC236}">
                <a16:creationId xmlns:a16="http://schemas.microsoft.com/office/drawing/2014/main" id="{14E4D6F5-4390-2E1F-C757-751CAAC90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28559" y="1481676"/>
            <a:ext cx="4063674" cy="2708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8428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5FE8F-3D77-0021-1086-E589DD775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Cirrhosis: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4282A-7146-0E81-FFA8-D936250BE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412" y="882658"/>
            <a:ext cx="5407148" cy="6144016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Cirrhosis: represents a late stage of progressive hepatic fibrosis characterized by distortion of the hepatic architecture and the formation of regenerative nodules</a:t>
            </a:r>
            <a:r>
              <a:rPr lang="en-US" sz="2000" dirty="0">
                <a:effectLst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US" sz="2000" dirty="0">
                <a:effectLst/>
              </a:rPr>
              <a:t>Can lead to Portal Hypertension due to hepatic cell dysfunction and portosystemic shunting.</a:t>
            </a:r>
          </a:p>
          <a:p>
            <a:pPr>
              <a:lnSpc>
                <a:spcPct val="110000"/>
              </a:lnSpc>
            </a:pPr>
            <a:r>
              <a:rPr lang="en-US" sz="2000" dirty="0">
                <a:effectLst/>
              </a:rPr>
              <a:t>Etiologies: Chronic Hepatitis (Hep C) MC, alcohol, Chronic HBV, HDV. 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effectLst/>
              </a:rPr>
              <a:t>Others: Fatty Liver Disease, Medication Induced, Autoimmune hepatitis, biliary cirrhosis</a:t>
            </a:r>
          </a:p>
        </p:txBody>
      </p:sp>
      <p:pic>
        <p:nvPicPr>
          <p:cNvPr id="12292" name="Picture 4" descr="Causes of Cirrhosis &amp; Liver Cancer | USA Oncology Centers">
            <a:extLst>
              <a:ext uri="{FF2B5EF4-FFF2-40B4-BE49-F238E27FC236}">
                <a16:creationId xmlns:a16="http://schemas.microsoft.com/office/drawing/2014/main" id="{41B7CB69-BF5D-208D-A3DA-FC2EC1B18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2083" y="2554457"/>
            <a:ext cx="4430756" cy="280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1073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4E6C6-DC76-B294-92D2-C86A8AC18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Cirrhosis: Clinical Manifestations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365B9-8AF7-7805-3E1F-71526162B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787" y="1811076"/>
            <a:ext cx="9905999" cy="480266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Symptoms: dependent on extent of disease/complications</a:t>
            </a:r>
          </a:p>
          <a:p>
            <a:r>
              <a:rPr lang="en-US" dirty="0"/>
              <a:t>General symptoms: fatigue, weakness, weight loss, abdominal pain</a:t>
            </a:r>
          </a:p>
          <a:p>
            <a:r>
              <a:rPr lang="en-US" dirty="0"/>
              <a:t>GI Bleed: due to portal HTN/esophageal varices, peptic ulcers</a:t>
            </a:r>
          </a:p>
          <a:p>
            <a:r>
              <a:rPr lang="en-US" dirty="0"/>
              <a:t>Physical Exam: </a:t>
            </a:r>
          </a:p>
          <a:p>
            <a:pPr lvl="1"/>
            <a:r>
              <a:rPr lang="en-US" dirty="0"/>
              <a:t>Ascites (WHY?) </a:t>
            </a:r>
          </a:p>
          <a:p>
            <a:pPr lvl="1"/>
            <a:r>
              <a:rPr lang="en-US" dirty="0"/>
              <a:t>Skin Changes: spider angioma, telangiectasia</a:t>
            </a:r>
          </a:p>
          <a:p>
            <a:pPr lvl="1"/>
            <a:r>
              <a:rPr lang="en-US" dirty="0"/>
              <a:t>Hepatosplenomegaly</a:t>
            </a:r>
          </a:p>
          <a:p>
            <a:pPr lvl="1"/>
            <a:r>
              <a:rPr lang="en-US" dirty="0"/>
              <a:t>Gynecomastia (hormone imbalance – liver clears estrogen) </a:t>
            </a:r>
          </a:p>
          <a:p>
            <a:pPr lvl="1"/>
            <a:r>
              <a:rPr lang="en-US" dirty="0"/>
              <a:t>Muscle Wasting </a:t>
            </a:r>
          </a:p>
          <a:p>
            <a:pPr lvl="1"/>
            <a:r>
              <a:rPr lang="en-US" dirty="0"/>
              <a:t>Jaundice </a:t>
            </a:r>
          </a:p>
          <a:p>
            <a:pPr lvl="1"/>
            <a:r>
              <a:rPr lang="en-US" dirty="0"/>
              <a:t>Symptoms of hepatic encephalopathy (more on this) </a:t>
            </a:r>
          </a:p>
          <a:p>
            <a:pPr lvl="1"/>
            <a:endParaRPr lang="en-US" dirty="0"/>
          </a:p>
        </p:txBody>
      </p:sp>
      <p:pic>
        <p:nvPicPr>
          <p:cNvPr id="13314" name="Picture 2" descr="Cirrhosis of the Liver - What You Need to Know">
            <a:extLst>
              <a:ext uri="{FF2B5EF4-FFF2-40B4-BE49-F238E27FC236}">
                <a16:creationId xmlns:a16="http://schemas.microsoft.com/office/drawing/2014/main" id="{02117BBC-2C88-7C32-D8CC-C194A3912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31769" y="3429000"/>
            <a:ext cx="3015642" cy="3015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9530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05747-C7E8-D071-C187-56DAB1E31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Cirrhosis: Clinical Manifestations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FA80E-9BF6-49C0-7CA1-05886AE0A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6"/>
            <a:ext cx="4954588" cy="4608513"/>
          </a:xfrm>
        </p:spPr>
        <p:txBody>
          <a:bodyPr/>
          <a:lstStyle/>
          <a:p>
            <a:r>
              <a:rPr lang="en-US" dirty="0"/>
              <a:t>Diagnostics: </a:t>
            </a:r>
          </a:p>
          <a:p>
            <a:pPr lvl="1"/>
            <a:r>
              <a:rPr lang="en-US" dirty="0"/>
              <a:t>US RUQ/Abd: fibrosis nodularity with increased echogenicity atrophy or hypertrophy of live</a:t>
            </a:r>
          </a:p>
          <a:p>
            <a:pPr lvl="1"/>
            <a:r>
              <a:rPr lang="en-US" dirty="0"/>
              <a:t>Elastography: measures stiffness of the liver – increased stiffness in cirrhosis </a:t>
            </a:r>
          </a:p>
          <a:p>
            <a:pPr lvl="1"/>
            <a:r>
              <a:rPr lang="en-US" dirty="0"/>
              <a:t>Liver biopsy: definitive diagnosis</a:t>
            </a:r>
          </a:p>
          <a:p>
            <a:pPr lvl="1"/>
            <a:r>
              <a:rPr lang="en-US" dirty="0"/>
              <a:t>CMP: elevated LFTs, Hyperbilirubinemia</a:t>
            </a:r>
          </a:p>
          <a:p>
            <a:pPr lvl="1"/>
            <a:r>
              <a:rPr lang="en-US" dirty="0"/>
              <a:t>Coagulations Studies</a:t>
            </a:r>
          </a:p>
        </p:txBody>
      </p:sp>
      <p:pic>
        <p:nvPicPr>
          <p:cNvPr id="14338" name="Picture 2" descr="Ultrasound Elastography Proves an Effective Tool for Diagnosing Hepatic  Fibrosis | RSNA">
            <a:extLst>
              <a:ext uri="{FF2B5EF4-FFF2-40B4-BE49-F238E27FC236}">
                <a16:creationId xmlns:a16="http://schemas.microsoft.com/office/drawing/2014/main" id="{53588704-EC94-B6A6-3339-B425A53C6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88065" y="2249486"/>
            <a:ext cx="5501710" cy="3438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9474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2">
            <a:extLst>
              <a:ext uri="{FF2B5EF4-FFF2-40B4-BE49-F238E27FC236}">
                <a16:creationId xmlns:a16="http://schemas.microsoft.com/office/drawing/2014/main" id="{EA8ADA9F-99E3-4964-8962-1118D1439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366C3164-AA9F-47E3-913A-4F002BC0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3FFBAC2-26D2-48B6-B2AA-34AEA0E79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72" name="Rectangle 5">
                <a:extLst>
                  <a:ext uri="{FF2B5EF4-FFF2-40B4-BE49-F238E27FC236}">
                    <a16:creationId xmlns:a16="http://schemas.microsoft.com/office/drawing/2014/main" id="{9B164BCB-27D3-4B8C-AC13-0A6F461082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10B247BE-F4A2-4259-9B20-FB9A555D2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39322C5A-DB6D-4B28-8C1C-1B1E896789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67009B08-E345-4516-96EC-ED0AB1F30B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DFE2793C-165C-4635-A26E-C569C8E0C5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ECDFEF2C-7B0A-41A1-BB61-C92CB3E3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0012A396-1946-4B40-AA39-0790157CE9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CD6C6024-F73D-4991-97B9-BE53FF24E3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5977EDD1-3D10-43FA-B800-7A7C8112B7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7988CF-9FC6-48F5-82F8-D2EB0178A3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EC5BB05B-491C-414A-91C3-B1CAB785A8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3" name="Line 16">
                <a:extLst>
                  <a:ext uri="{FF2B5EF4-FFF2-40B4-BE49-F238E27FC236}">
                    <a16:creationId xmlns:a16="http://schemas.microsoft.com/office/drawing/2014/main" id="{F3180CB6-F8D2-4596-B6CB-F9CEF5D38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DF338DD3-80F8-4F68-AC7C-361ABF2A9B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5" name="Freeform 18">
                <a:extLst>
                  <a:ext uri="{FF2B5EF4-FFF2-40B4-BE49-F238E27FC236}">
                    <a16:creationId xmlns:a16="http://schemas.microsoft.com/office/drawing/2014/main" id="{9666E4DB-B855-4A4E-BB50-1880738C11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F570FD9C-B435-4EF1-962C-621F1261AA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E236AF0B-3BDC-43C3-8FFC-2A94121E94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" name="Rectangle 21">
                <a:extLst>
                  <a:ext uri="{FF2B5EF4-FFF2-40B4-BE49-F238E27FC236}">
                    <a16:creationId xmlns:a16="http://schemas.microsoft.com/office/drawing/2014/main" id="{3BA2C208-5097-4497-AA2C-ADDDAB48B6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6A45DD96-8D07-43CA-B036-6FDA880A17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AF7F7CBB-E154-4CD5-9ED0-D5DDC1DFEA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EFF4AB16-41DD-4877-8C28-ED78F4CA7F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30BCBD5D-92EB-487E-B1D0-F9000D45D1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3" name="Freeform 26">
                <a:extLst>
                  <a:ext uri="{FF2B5EF4-FFF2-40B4-BE49-F238E27FC236}">
                    <a16:creationId xmlns:a16="http://schemas.microsoft.com/office/drawing/2014/main" id="{DA07BDB8-9827-4EBF-9B99-6C503EA0BC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4" name="Freeform 27">
                <a:extLst>
                  <a:ext uri="{FF2B5EF4-FFF2-40B4-BE49-F238E27FC236}">
                    <a16:creationId xmlns:a16="http://schemas.microsoft.com/office/drawing/2014/main" id="{7F41FB05-1B3F-450A-A1A7-8C8BD182A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5" name="Freeform 28">
                <a:extLst>
                  <a:ext uri="{FF2B5EF4-FFF2-40B4-BE49-F238E27FC236}">
                    <a16:creationId xmlns:a16="http://schemas.microsoft.com/office/drawing/2014/main" id="{0629E219-1F32-41C1-B921-05E4561179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6" name="Freeform 29">
                <a:extLst>
                  <a:ext uri="{FF2B5EF4-FFF2-40B4-BE49-F238E27FC236}">
                    <a16:creationId xmlns:a16="http://schemas.microsoft.com/office/drawing/2014/main" id="{8081FB28-486E-4C09-9D15-0B2657B56F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7" name="Freeform 30">
                <a:extLst>
                  <a:ext uri="{FF2B5EF4-FFF2-40B4-BE49-F238E27FC236}">
                    <a16:creationId xmlns:a16="http://schemas.microsoft.com/office/drawing/2014/main" id="{CB547EFB-F29D-4336-9644-0AE7A94EA4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8" name="Freeform 31">
                <a:extLst>
                  <a:ext uri="{FF2B5EF4-FFF2-40B4-BE49-F238E27FC236}">
                    <a16:creationId xmlns:a16="http://schemas.microsoft.com/office/drawing/2014/main" id="{BB2793F4-FAD7-459A-BC46-06BB1D4FAA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C01589C-0235-4B21-B264-777746D4D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62" name="Freeform 32">
                <a:extLst>
                  <a:ext uri="{FF2B5EF4-FFF2-40B4-BE49-F238E27FC236}">
                    <a16:creationId xmlns:a16="http://schemas.microsoft.com/office/drawing/2014/main" id="{678F5669-8CE7-445E-8D54-49C5E2013B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3" name="Freeform 33">
                <a:extLst>
                  <a:ext uri="{FF2B5EF4-FFF2-40B4-BE49-F238E27FC236}">
                    <a16:creationId xmlns:a16="http://schemas.microsoft.com/office/drawing/2014/main" id="{E93A3F8E-D876-485E-9EDC-43E315DE1E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4" name="Freeform 34">
                <a:extLst>
                  <a:ext uri="{FF2B5EF4-FFF2-40B4-BE49-F238E27FC236}">
                    <a16:creationId xmlns:a16="http://schemas.microsoft.com/office/drawing/2014/main" id="{B4F848A6-931A-4CC9-9B29-C7A9CEA3AC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" name="Freeform 35">
                <a:extLst>
                  <a:ext uri="{FF2B5EF4-FFF2-40B4-BE49-F238E27FC236}">
                    <a16:creationId xmlns:a16="http://schemas.microsoft.com/office/drawing/2014/main" id="{5C4204D4-6782-4DB1-8FF8-86CC698AF2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6" name="Freeform 36">
                <a:extLst>
                  <a:ext uri="{FF2B5EF4-FFF2-40B4-BE49-F238E27FC236}">
                    <a16:creationId xmlns:a16="http://schemas.microsoft.com/office/drawing/2014/main" id="{3907C583-5764-43DC-8AF9-992D3472F6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7" name="Freeform 37">
                <a:extLst>
                  <a:ext uri="{FF2B5EF4-FFF2-40B4-BE49-F238E27FC236}">
                    <a16:creationId xmlns:a16="http://schemas.microsoft.com/office/drawing/2014/main" id="{56CE3D6E-1121-4EF2-9DFB-7F3937FCCD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8" name="Freeform 38">
                <a:extLst>
                  <a:ext uri="{FF2B5EF4-FFF2-40B4-BE49-F238E27FC236}">
                    <a16:creationId xmlns:a16="http://schemas.microsoft.com/office/drawing/2014/main" id="{3AEB7245-E197-4AE5-BCFC-7821E49EFE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9" name="Freeform 39">
                <a:extLst>
                  <a:ext uri="{FF2B5EF4-FFF2-40B4-BE49-F238E27FC236}">
                    <a16:creationId xmlns:a16="http://schemas.microsoft.com/office/drawing/2014/main" id="{801E9C76-F4FB-4C4D-9350-B526F294E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0" name="Freeform 40">
                <a:extLst>
                  <a:ext uri="{FF2B5EF4-FFF2-40B4-BE49-F238E27FC236}">
                    <a16:creationId xmlns:a16="http://schemas.microsoft.com/office/drawing/2014/main" id="{F9C0C5DE-6C8C-4CD0-9C91-6A132A06DA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1" name="Rectangle 41">
                <a:extLst>
                  <a:ext uri="{FF2B5EF4-FFF2-40B4-BE49-F238E27FC236}">
                    <a16:creationId xmlns:a16="http://schemas.microsoft.com/office/drawing/2014/main" id="{955A7039-8B66-4CF0-8048-0AD0F4A5B8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sp>
        <p:nvSpPr>
          <p:cNvPr id="100" name="Rectangle 99">
            <a:extLst>
              <a:ext uri="{FF2B5EF4-FFF2-40B4-BE49-F238E27FC236}">
                <a16:creationId xmlns:a16="http://schemas.microsoft.com/office/drawing/2014/main" id="{C068D0EE-C6C8-484A-AFB7-3602BA27F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DE5FB8C-CC3F-4C24-BF4F-1B5999DE6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8097" y="643467"/>
            <a:ext cx="3735805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445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EA991-D4F1-D1D1-D864-7A9A479AD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-81669"/>
            <a:ext cx="9905998" cy="1478570"/>
          </a:xfrm>
        </p:spPr>
        <p:txBody>
          <a:bodyPr/>
          <a:lstStyle/>
          <a:p>
            <a:r>
              <a:rPr lang="en-US" dirty="0"/>
              <a:t>Cirrhosis: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4D8B3-6EB6-1FAE-4839-9994B5DD3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996" y="1327759"/>
            <a:ext cx="6529758" cy="487262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Survival rates vary on class of Cirrhosis</a:t>
            </a:r>
          </a:p>
          <a:p>
            <a:pPr lvl="1"/>
            <a:r>
              <a:rPr lang="en-US" dirty="0"/>
              <a:t>Class A: 100% 1-year, 85% 2-year </a:t>
            </a:r>
          </a:p>
          <a:p>
            <a:pPr lvl="1"/>
            <a:r>
              <a:rPr lang="en-US" dirty="0"/>
              <a:t>Class B: 81% 1-year, 57% 2-year</a:t>
            </a:r>
          </a:p>
          <a:p>
            <a:pPr lvl="1"/>
            <a:r>
              <a:rPr lang="en-US" dirty="0"/>
              <a:t>Class C: 45% 1-year, 35% 2-year </a:t>
            </a:r>
          </a:p>
          <a:p>
            <a:r>
              <a:rPr lang="en-US" dirty="0"/>
              <a:t>Restriction: alcohol, hepatotoxic meds, sodium</a:t>
            </a:r>
          </a:p>
          <a:p>
            <a:r>
              <a:rPr lang="en-US" dirty="0"/>
              <a:t>Treat Ascites/Edema: limit sodium, diuretics (Spironolactone/Lasix), may require paracentesis intermittently</a:t>
            </a:r>
          </a:p>
          <a:p>
            <a:r>
              <a:rPr lang="en-US" dirty="0"/>
              <a:t>Pruritus: Cholestyramine (bile acid sequestrant) </a:t>
            </a:r>
          </a:p>
          <a:p>
            <a:r>
              <a:rPr lang="en-US" dirty="0"/>
              <a:t>Monitor closely for GIB/Bleeding</a:t>
            </a:r>
          </a:p>
          <a:p>
            <a:r>
              <a:rPr lang="en-US" dirty="0"/>
              <a:t>LIVER TRANSPANT = ULTIMATE CURE </a:t>
            </a:r>
          </a:p>
        </p:txBody>
      </p:sp>
      <p:pic>
        <p:nvPicPr>
          <p:cNvPr id="15362" name="Picture 2" descr="Paracentesis - Wikipedia">
            <a:extLst>
              <a:ext uri="{FF2B5EF4-FFF2-40B4-BE49-F238E27FC236}">
                <a16:creationId xmlns:a16="http://schemas.microsoft.com/office/drawing/2014/main" id="{48AB6738-8E25-46CD-B6BE-89BBAC1C7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31798" y="1191016"/>
            <a:ext cx="4219206" cy="421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1304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E4BEC-27D4-2A9D-72B3-91813358D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Hepatic Encephalopathy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E8C3D-3425-7624-A174-AB1D0C424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907617"/>
            <a:ext cx="6123684" cy="4201417"/>
          </a:xfrm>
        </p:spPr>
        <p:txBody>
          <a:bodyPr>
            <a:normAutofit/>
          </a:bodyPr>
          <a:lstStyle/>
          <a:p>
            <a:r>
              <a:rPr lang="en-US" dirty="0"/>
              <a:t>Hepatic Encephalopathy: neuropsychiatric abnormalities resulting from the liver’s failure to detoxify agents of gut origin (ammonia) due to hepatocellular dysfunction and/or portosystemic shunting. </a:t>
            </a:r>
          </a:p>
          <a:p>
            <a:r>
              <a:rPr lang="en-US" dirty="0"/>
              <a:t>Clinical Manifestations: </a:t>
            </a:r>
          </a:p>
          <a:p>
            <a:pPr lvl="1"/>
            <a:r>
              <a:rPr lang="en-US" dirty="0"/>
              <a:t>CNS Symptoms: confusion, drowsiness, stupor, coma </a:t>
            </a:r>
          </a:p>
          <a:p>
            <a:pPr lvl="1"/>
            <a:r>
              <a:rPr lang="en-US" dirty="0"/>
              <a:t>PE: asterixis (flapping tremor with wrist extension) and fetor hepaticus (foul breath) </a:t>
            </a:r>
          </a:p>
        </p:txBody>
      </p:sp>
      <p:pic>
        <p:nvPicPr>
          <p:cNvPr id="16386" name="Picture 2" descr="What is Asterixis? | Lippincott NursingCenter">
            <a:extLst>
              <a:ext uri="{FF2B5EF4-FFF2-40B4-BE49-F238E27FC236}">
                <a16:creationId xmlns:a16="http://schemas.microsoft.com/office/drawing/2014/main" id="{1A5542F3-A1EF-7AC7-6EBE-E6C28272D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53194" y="2234874"/>
            <a:ext cx="4090444" cy="322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8574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EA8ADA9F-99E3-4964-8962-1118D1439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66C3164-AA9F-47E3-913A-4F002BC0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3FFBAC2-26D2-48B6-B2AA-34AEA0E79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2" name="Rectangle 5">
                <a:extLst>
                  <a:ext uri="{FF2B5EF4-FFF2-40B4-BE49-F238E27FC236}">
                    <a16:creationId xmlns:a16="http://schemas.microsoft.com/office/drawing/2014/main" id="{9B164BCB-27D3-4B8C-AC13-0A6F461082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3" name="Freeform 6">
                <a:extLst>
                  <a:ext uri="{FF2B5EF4-FFF2-40B4-BE49-F238E27FC236}">
                    <a16:creationId xmlns:a16="http://schemas.microsoft.com/office/drawing/2014/main" id="{10B247BE-F4A2-4259-9B20-FB9A555D2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4" name="Freeform 7">
                <a:extLst>
                  <a:ext uri="{FF2B5EF4-FFF2-40B4-BE49-F238E27FC236}">
                    <a16:creationId xmlns:a16="http://schemas.microsoft.com/office/drawing/2014/main" id="{39322C5A-DB6D-4B28-8C1C-1B1E896789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5" name="Freeform 8">
                <a:extLst>
                  <a:ext uri="{FF2B5EF4-FFF2-40B4-BE49-F238E27FC236}">
                    <a16:creationId xmlns:a16="http://schemas.microsoft.com/office/drawing/2014/main" id="{67009B08-E345-4516-96EC-ED0AB1F30B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6" name="Freeform 9">
                <a:extLst>
                  <a:ext uri="{FF2B5EF4-FFF2-40B4-BE49-F238E27FC236}">
                    <a16:creationId xmlns:a16="http://schemas.microsoft.com/office/drawing/2014/main" id="{DFE2793C-165C-4635-A26E-C569C8E0C5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7" name="Freeform 10">
                <a:extLst>
                  <a:ext uri="{FF2B5EF4-FFF2-40B4-BE49-F238E27FC236}">
                    <a16:creationId xmlns:a16="http://schemas.microsoft.com/office/drawing/2014/main" id="{ECDFEF2C-7B0A-41A1-BB61-C92CB3E3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0012A396-1946-4B40-AA39-0790157CE9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9" name="Freeform 12">
                <a:extLst>
                  <a:ext uri="{FF2B5EF4-FFF2-40B4-BE49-F238E27FC236}">
                    <a16:creationId xmlns:a16="http://schemas.microsoft.com/office/drawing/2014/main" id="{CD6C6024-F73D-4991-97B9-BE53FF24E3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0" name="Freeform 13">
                <a:extLst>
                  <a:ext uri="{FF2B5EF4-FFF2-40B4-BE49-F238E27FC236}">
                    <a16:creationId xmlns:a16="http://schemas.microsoft.com/office/drawing/2014/main" id="{5977EDD1-3D10-43FA-B800-7A7C8112B7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1" name="Freeform 14">
                <a:extLst>
                  <a:ext uri="{FF2B5EF4-FFF2-40B4-BE49-F238E27FC236}">
                    <a16:creationId xmlns:a16="http://schemas.microsoft.com/office/drawing/2014/main" id="{D37988CF-9FC6-48F5-82F8-D2EB0178A3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2" name="Freeform 15">
                <a:extLst>
                  <a:ext uri="{FF2B5EF4-FFF2-40B4-BE49-F238E27FC236}">
                    <a16:creationId xmlns:a16="http://schemas.microsoft.com/office/drawing/2014/main" id="{EC5BB05B-491C-414A-91C3-B1CAB785A8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3" name="Line 16">
                <a:extLst>
                  <a:ext uri="{FF2B5EF4-FFF2-40B4-BE49-F238E27FC236}">
                    <a16:creationId xmlns:a16="http://schemas.microsoft.com/office/drawing/2014/main" id="{F3180CB6-F8D2-4596-B6CB-F9CEF5D38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" name="Freeform 17">
                <a:extLst>
                  <a:ext uri="{FF2B5EF4-FFF2-40B4-BE49-F238E27FC236}">
                    <a16:creationId xmlns:a16="http://schemas.microsoft.com/office/drawing/2014/main" id="{DF338DD3-80F8-4F68-AC7C-361ABF2A9B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5" name="Freeform 18">
                <a:extLst>
                  <a:ext uri="{FF2B5EF4-FFF2-40B4-BE49-F238E27FC236}">
                    <a16:creationId xmlns:a16="http://schemas.microsoft.com/office/drawing/2014/main" id="{9666E4DB-B855-4A4E-BB50-1880738C11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6" name="Freeform 19">
                <a:extLst>
                  <a:ext uri="{FF2B5EF4-FFF2-40B4-BE49-F238E27FC236}">
                    <a16:creationId xmlns:a16="http://schemas.microsoft.com/office/drawing/2014/main" id="{F570FD9C-B435-4EF1-962C-621F1261AA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7" name="Freeform 20">
                <a:extLst>
                  <a:ext uri="{FF2B5EF4-FFF2-40B4-BE49-F238E27FC236}">
                    <a16:creationId xmlns:a16="http://schemas.microsoft.com/office/drawing/2014/main" id="{E236AF0B-3BDC-43C3-8FFC-2A94121E94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8" name="Rectangle 21">
                <a:extLst>
                  <a:ext uri="{FF2B5EF4-FFF2-40B4-BE49-F238E27FC236}">
                    <a16:creationId xmlns:a16="http://schemas.microsoft.com/office/drawing/2014/main" id="{3BA2C208-5097-4497-AA2C-ADDDAB48B6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9" name="Freeform 22">
                <a:extLst>
                  <a:ext uri="{FF2B5EF4-FFF2-40B4-BE49-F238E27FC236}">
                    <a16:creationId xmlns:a16="http://schemas.microsoft.com/office/drawing/2014/main" id="{6A45DD96-8D07-43CA-B036-6FDA880A17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0" name="Freeform 23">
                <a:extLst>
                  <a:ext uri="{FF2B5EF4-FFF2-40B4-BE49-F238E27FC236}">
                    <a16:creationId xmlns:a16="http://schemas.microsoft.com/office/drawing/2014/main" id="{AF7F7CBB-E154-4CD5-9ED0-D5DDC1DFEA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1" name="Freeform 24">
                <a:extLst>
                  <a:ext uri="{FF2B5EF4-FFF2-40B4-BE49-F238E27FC236}">
                    <a16:creationId xmlns:a16="http://schemas.microsoft.com/office/drawing/2014/main" id="{EFF4AB16-41DD-4877-8C28-ED78F4CA7F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2" name="Freeform 25">
                <a:extLst>
                  <a:ext uri="{FF2B5EF4-FFF2-40B4-BE49-F238E27FC236}">
                    <a16:creationId xmlns:a16="http://schemas.microsoft.com/office/drawing/2014/main" id="{30BCBD5D-92EB-487E-B1D0-F9000D45D1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3" name="Freeform 26">
                <a:extLst>
                  <a:ext uri="{FF2B5EF4-FFF2-40B4-BE49-F238E27FC236}">
                    <a16:creationId xmlns:a16="http://schemas.microsoft.com/office/drawing/2014/main" id="{DA07BDB8-9827-4EBF-9B99-6C503EA0BC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" name="Freeform 27">
                <a:extLst>
                  <a:ext uri="{FF2B5EF4-FFF2-40B4-BE49-F238E27FC236}">
                    <a16:creationId xmlns:a16="http://schemas.microsoft.com/office/drawing/2014/main" id="{7F41FB05-1B3F-450A-A1A7-8C8BD182A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5" name="Freeform 28">
                <a:extLst>
                  <a:ext uri="{FF2B5EF4-FFF2-40B4-BE49-F238E27FC236}">
                    <a16:creationId xmlns:a16="http://schemas.microsoft.com/office/drawing/2014/main" id="{0629E219-1F32-41C1-B921-05E4561179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6" name="Freeform 29">
                <a:extLst>
                  <a:ext uri="{FF2B5EF4-FFF2-40B4-BE49-F238E27FC236}">
                    <a16:creationId xmlns:a16="http://schemas.microsoft.com/office/drawing/2014/main" id="{8081FB28-486E-4C09-9D15-0B2657B56F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7" name="Freeform 30">
                <a:extLst>
                  <a:ext uri="{FF2B5EF4-FFF2-40B4-BE49-F238E27FC236}">
                    <a16:creationId xmlns:a16="http://schemas.microsoft.com/office/drawing/2014/main" id="{CB547EFB-F29D-4336-9644-0AE7A94EA4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8" name="Freeform 31">
                <a:extLst>
                  <a:ext uri="{FF2B5EF4-FFF2-40B4-BE49-F238E27FC236}">
                    <a16:creationId xmlns:a16="http://schemas.microsoft.com/office/drawing/2014/main" id="{BB2793F4-FAD7-459A-BC46-06BB1D4FAA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C01589C-0235-4B21-B264-777746D4D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2" name="Freeform 32">
                <a:extLst>
                  <a:ext uri="{FF2B5EF4-FFF2-40B4-BE49-F238E27FC236}">
                    <a16:creationId xmlns:a16="http://schemas.microsoft.com/office/drawing/2014/main" id="{678F5669-8CE7-445E-8D54-49C5E2013B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" name="Freeform 33">
                <a:extLst>
                  <a:ext uri="{FF2B5EF4-FFF2-40B4-BE49-F238E27FC236}">
                    <a16:creationId xmlns:a16="http://schemas.microsoft.com/office/drawing/2014/main" id="{E93A3F8E-D876-485E-9EDC-43E315DE1E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" name="Freeform 34">
                <a:extLst>
                  <a:ext uri="{FF2B5EF4-FFF2-40B4-BE49-F238E27FC236}">
                    <a16:creationId xmlns:a16="http://schemas.microsoft.com/office/drawing/2014/main" id="{B4F848A6-931A-4CC9-9B29-C7A9CEA3AC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" name="Freeform 35">
                <a:extLst>
                  <a:ext uri="{FF2B5EF4-FFF2-40B4-BE49-F238E27FC236}">
                    <a16:creationId xmlns:a16="http://schemas.microsoft.com/office/drawing/2014/main" id="{5C4204D4-6782-4DB1-8FF8-86CC698AF2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" name="Freeform 36">
                <a:extLst>
                  <a:ext uri="{FF2B5EF4-FFF2-40B4-BE49-F238E27FC236}">
                    <a16:creationId xmlns:a16="http://schemas.microsoft.com/office/drawing/2014/main" id="{3907C583-5764-43DC-8AF9-992D3472F6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" name="Freeform 37">
                <a:extLst>
                  <a:ext uri="{FF2B5EF4-FFF2-40B4-BE49-F238E27FC236}">
                    <a16:creationId xmlns:a16="http://schemas.microsoft.com/office/drawing/2014/main" id="{56CE3D6E-1121-4EF2-9DFB-7F3937FCCD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" name="Freeform 38">
                <a:extLst>
                  <a:ext uri="{FF2B5EF4-FFF2-40B4-BE49-F238E27FC236}">
                    <a16:creationId xmlns:a16="http://schemas.microsoft.com/office/drawing/2014/main" id="{3AEB7245-E197-4AE5-BCFC-7821E49EFE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9" name="Freeform 39">
                <a:extLst>
                  <a:ext uri="{FF2B5EF4-FFF2-40B4-BE49-F238E27FC236}">
                    <a16:creationId xmlns:a16="http://schemas.microsoft.com/office/drawing/2014/main" id="{801E9C76-F4FB-4C4D-9350-B526F294E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0" name="Freeform 40">
                <a:extLst>
                  <a:ext uri="{FF2B5EF4-FFF2-40B4-BE49-F238E27FC236}">
                    <a16:creationId xmlns:a16="http://schemas.microsoft.com/office/drawing/2014/main" id="{F9C0C5DE-6C8C-4CD0-9C91-6A132A06DA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" name="Rectangle 41">
                <a:extLst>
                  <a:ext uri="{FF2B5EF4-FFF2-40B4-BE49-F238E27FC236}">
                    <a16:creationId xmlns:a16="http://schemas.microsoft.com/office/drawing/2014/main" id="{955A7039-8B66-4CF0-8048-0AD0F4A5B8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5FC14DC2-4A54-40AC-8EF3-06CEBE60D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26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8EC2BBA-55E7-4DA8-AF56-7DBA1F819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7542" y="643467"/>
            <a:ext cx="3756915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4815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EC633-B5C9-8C8D-5DC3-D46C52CDF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Hepatic Encephalopathy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DC6EE-89C3-3071-60F6-F7A3A8D32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28614"/>
            <a:ext cx="9905999" cy="4608513"/>
          </a:xfrm>
        </p:spPr>
        <p:txBody>
          <a:bodyPr>
            <a:normAutofit/>
          </a:bodyPr>
          <a:lstStyle/>
          <a:p>
            <a:r>
              <a:rPr lang="en-US" dirty="0"/>
              <a:t>Diagnostics: </a:t>
            </a:r>
          </a:p>
          <a:p>
            <a:pPr lvl="1"/>
            <a:r>
              <a:rPr lang="en-US" dirty="0"/>
              <a:t>CBC with diff (WHY?)</a:t>
            </a:r>
          </a:p>
          <a:p>
            <a:pPr lvl="1"/>
            <a:r>
              <a:rPr lang="en-US" dirty="0"/>
              <a:t>CMP: elevated LFTs, hyperbilirubinemia, low albumin </a:t>
            </a:r>
          </a:p>
          <a:p>
            <a:pPr lvl="1"/>
            <a:r>
              <a:rPr lang="en-US" dirty="0"/>
              <a:t>Ammonia levels </a:t>
            </a:r>
          </a:p>
          <a:p>
            <a:pPr lvl="1"/>
            <a:r>
              <a:rPr lang="en-US" dirty="0"/>
              <a:t>Assess Kidney Function (WHY?) </a:t>
            </a:r>
          </a:p>
          <a:p>
            <a:pPr lvl="1"/>
            <a:r>
              <a:rPr lang="en-US" dirty="0"/>
              <a:t>Urine Drug Screen </a:t>
            </a:r>
          </a:p>
          <a:p>
            <a:pPr lvl="1"/>
            <a:r>
              <a:rPr lang="en-US" dirty="0"/>
              <a:t>Coagulation Studies</a:t>
            </a:r>
          </a:p>
          <a:p>
            <a:pPr lvl="1"/>
            <a:r>
              <a:rPr lang="en-US" dirty="0"/>
              <a:t>Lactic Acid/Procalcitonin/Blood cultures</a:t>
            </a:r>
          </a:p>
          <a:p>
            <a:pPr lvl="1"/>
            <a:r>
              <a:rPr lang="en-US" dirty="0"/>
              <a:t>Consider CT Head (WHY?)</a:t>
            </a:r>
          </a:p>
          <a:p>
            <a:pPr lvl="1"/>
            <a:r>
              <a:rPr lang="en-US" dirty="0"/>
              <a:t>Abd Ultrasound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7412" name="Picture 4" descr="Liver function laboratory test - Medicare">
            <a:extLst>
              <a:ext uri="{FF2B5EF4-FFF2-40B4-BE49-F238E27FC236}">
                <a16:creationId xmlns:a16="http://schemas.microsoft.com/office/drawing/2014/main" id="{EE2E404C-E23D-0EFA-2174-1627B5D55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64469" y="1665962"/>
            <a:ext cx="4302690" cy="4302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6572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995B5-8013-AFD7-0FA0-6841DCB87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45032"/>
            <a:ext cx="9905998" cy="1478570"/>
          </a:xfrm>
        </p:spPr>
        <p:txBody>
          <a:bodyPr/>
          <a:lstStyle/>
          <a:p>
            <a:r>
              <a:rPr lang="en-US" dirty="0"/>
              <a:t>Hepatic Encephalopathy: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AB7BC-5514-CF26-CBB6-7B120EAE9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1100" y="1823602"/>
            <a:ext cx="6912824" cy="441588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Lactulose or Lactitol: first line for lowering Ammonia levels – bacterial flora converts lactulose into lactic and fatty acids which neutralizes Ammonia</a:t>
            </a:r>
          </a:p>
          <a:p>
            <a:r>
              <a:rPr lang="en-US" dirty="0"/>
              <a:t>Rifaximin: alternative for patients who do not tolerate lactulose</a:t>
            </a:r>
          </a:p>
          <a:p>
            <a:r>
              <a:rPr lang="en-US" dirty="0"/>
              <a:t>Nutritional/electrolytes supplementation</a:t>
            </a:r>
          </a:p>
          <a:p>
            <a:r>
              <a:rPr lang="en-US" dirty="0"/>
              <a:t>Hydration</a:t>
            </a:r>
          </a:p>
          <a:p>
            <a:r>
              <a:rPr lang="en-US" dirty="0"/>
              <a:t>Monitor closely for recurrence and must rule out infection</a:t>
            </a:r>
          </a:p>
        </p:txBody>
      </p:sp>
      <p:pic>
        <p:nvPicPr>
          <p:cNvPr id="18434" name="Picture 2" descr="Lactulose Solution: Gentle Relief for Constipation — Mountainside Medical">
            <a:extLst>
              <a:ext uri="{FF2B5EF4-FFF2-40B4-BE49-F238E27FC236}">
                <a16:creationId xmlns:a16="http://schemas.microsoft.com/office/drawing/2014/main" id="{8BF28DE5-06D1-62A0-6E40-E44E99E31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78662" y="1823602"/>
            <a:ext cx="3749458" cy="3749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232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8BA60-81B3-2248-615B-78939466B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53525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Non-Alcoholic Fatty Liver Disease</a:t>
            </a:r>
          </a:p>
        </p:txBody>
      </p:sp>
      <p:pic>
        <p:nvPicPr>
          <p:cNvPr id="19458" name="Picture 2" descr="Fatty liver disease - Wikipedia">
            <a:extLst>
              <a:ext uri="{FF2B5EF4-FFF2-40B4-BE49-F238E27FC236}">
                <a16:creationId xmlns:a16="http://schemas.microsoft.com/office/drawing/2014/main" id="{85091E3A-43C3-CF07-5019-FA32C15F6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54332" y="2040279"/>
            <a:ext cx="3740662" cy="2777441"/>
          </a:xfrm>
          <a:prstGeom prst="round2DiagRect">
            <a:avLst>
              <a:gd name="adj1" fmla="val 5608"/>
              <a:gd name="adj2" fmla="val 9161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8F6B3-ED88-DE58-FC43-C02D8DF98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2754" y="1658142"/>
            <a:ext cx="6719960" cy="3541714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NAFLD: common cause of abnormal liver function tests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Etiologies: OBESITY MC, DM, HLD (high triglycerides), steroid usage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Most patients are asymptomatic but 75% have hepatomegaly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2 Types: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Nonalcoholic Fatty Liver: accumulation of triglycerides within hepatocytes – inhibits normal function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Nonalcoholic Steatohepatitis (NASH): liver cell injury and death, inflammation – can lead to fibrosis and eventual cirrhosis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Also can be referred to as MASH (metabolic associated steatohepatitis) </a:t>
            </a:r>
          </a:p>
        </p:txBody>
      </p:sp>
    </p:spTree>
    <p:extLst>
      <p:ext uri="{BB962C8B-B14F-4D97-AF65-F5344CB8AC3E}">
        <p14:creationId xmlns:p14="http://schemas.microsoft.com/office/powerpoint/2010/main" val="16850657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2EEEC-8F15-B87D-F464-D662BAFA7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473" y="0"/>
            <a:ext cx="9905998" cy="1478570"/>
          </a:xfrm>
        </p:spPr>
        <p:txBody>
          <a:bodyPr/>
          <a:lstStyle/>
          <a:p>
            <a:r>
              <a:rPr lang="en-US" dirty="0"/>
              <a:t>Non-Alcoholic Fatty Liver Disease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CD66F-BD03-74CC-0B1D-7E7528ABC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757" y="1073888"/>
            <a:ext cx="6887772" cy="578411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Diagnostics: </a:t>
            </a:r>
          </a:p>
          <a:p>
            <a:pPr lvl="1"/>
            <a:r>
              <a:rPr lang="en-US" sz="2400" dirty="0"/>
              <a:t>CMP/Coagulation studies/Ammonia</a:t>
            </a:r>
          </a:p>
          <a:p>
            <a:pPr lvl="1"/>
            <a:r>
              <a:rPr lang="en-US" sz="2400" dirty="0"/>
              <a:t>Liver Biopsy: definitive diagnosis – micro-vesicular fatty deposits</a:t>
            </a:r>
          </a:p>
          <a:p>
            <a:r>
              <a:rPr lang="en-US" dirty="0"/>
              <a:t>Management: </a:t>
            </a:r>
          </a:p>
          <a:p>
            <a:pPr lvl="1"/>
            <a:r>
              <a:rPr lang="en-US" sz="2400" dirty="0"/>
              <a:t>Lifestyle modification: weight loss, fat restriction, diet/exercise </a:t>
            </a:r>
          </a:p>
          <a:p>
            <a:pPr lvl="1"/>
            <a:r>
              <a:rPr lang="en-US" sz="2400" dirty="0"/>
              <a:t>May need liver transplant if cirrhosis occurs </a:t>
            </a:r>
          </a:p>
          <a:p>
            <a:pPr lvl="1"/>
            <a:r>
              <a:rPr lang="en-US" sz="2400" dirty="0"/>
              <a:t>Medical Management: reserved for patients with stage 2 or greater fibrosis </a:t>
            </a:r>
          </a:p>
          <a:p>
            <a:pPr lvl="2"/>
            <a:r>
              <a:rPr lang="en-US" sz="2400" dirty="0"/>
              <a:t>GLP-1 Based Therapies: Semaglutide, Tirzepatide, Liraglutide </a:t>
            </a:r>
          </a:p>
          <a:p>
            <a:pPr lvl="2"/>
            <a:r>
              <a:rPr lang="en-US" sz="2400" dirty="0" err="1"/>
              <a:t>Resmeritom</a:t>
            </a:r>
            <a:r>
              <a:rPr lang="en-US" sz="2400" dirty="0"/>
              <a:t>: alternative for stage 2 or 3 fibrosis who do not tolerate GLP-1 – thyroid receptor beta agonist that helps reduce liver fat and inflammation </a:t>
            </a:r>
          </a:p>
          <a:p>
            <a:pPr lvl="2"/>
            <a:r>
              <a:rPr lang="en-US" sz="2400" dirty="0"/>
              <a:t>ION224: investigational monthly injection that blocks DGAT2 liver enzyme – stops internal fat production and inflammation (currently being studied) 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20482" name="Picture 2" descr="Liver transplants are better all around when you hold the ice - Los Angeles Times">
            <a:extLst>
              <a:ext uri="{FF2B5EF4-FFF2-40B4-BE49-F238E27FC236}">
                <a16:creationId xmlns:a16="http://schemas.microsoft.com/office/drawing/2014/main" id="{A16222DC-B657-90FD-C13E-E293C93CD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89358" y="2561846"/>
            <a:ext cx="3920076" cy="219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17234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7DB65-AFA7-81F0-32FE-19C7B5D2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Portal Hypertension: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280E8-5A0F-AC90-BC38-FA2C21D78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6625201" cy="354171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Portal Hypertension: increased blood pressure in the portal vein system </a:t>
            </a:r>
          </a:p>
          <a:p>
            <a:r>
              <a:rPr lang="en-US" dirty="0"/>
              <a:t>Portal HTN develops when there is resistance to portal blood flow and is aggravated by increased collateral blood flow</a:t>
            </a:r>
          </a:p>
          <a:p>
            <a:r>
              <a:rPr lang="en-US" dirty="0"/>
              <a:t>Etiologies: MC Cirrhosis of the liver, portal vein thrombosis </a:t>
            </a:r>
          </a:p>
          <a:p>
            <a:pPr lvl="1"/>
            <a:r>
              <a:rPr lang="en-US" dirty="0"/>
              <a:t>In other countries: </a:t>
            </a:r>
            <a:r>
              <a:rPr lang="en-US" dirty="0">
                <a:effectLst/>
              </a:rPr>
              <a:t>Schistosomiasis (parasitic infection)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9698" name="Picture 2" descr="Portal hypertension: Symptoms, causes, and treatment">
            <a:extLst>
              <a:ext uri="{FF2B5EF4-FFF2-40B4-BE49-F238E27FC236}">
                <a16:creationId xmlns:a16="http://schemas.microsoft.com/office/drawing/2014/main" id="{5C0916AC-A5F2-B221-2B3B-6AE56B816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66613" y="2296460"/>
            <a:ext cx="4162816" cy="2335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55618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637D2-9835-EE64-6133-2E1C7CE9F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Portal Hypertension: Clinical Manifestations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669F0-2287-D293-5963-9428DA7A8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Most patients are asymptomatic until complications occur</a:t>
            </a:r>
          </a:p>
          <a:p>
            <a:r>
              <a:rPr lang="en-US" dirty="0"/>
              <a:t>Sign/Symptoms</a:t>
            </a:r>
          </a:p>
          <a:p>
            <a:pPr lvl="1"/>
            <a:r>
              <a:rPr lang="en-US" dirty="0"/>
              <a:t>Hepatosplenomegaly</a:t>
            </a:r>
          </a:p>
          <a:p>
            <a:pPr lvl="1"/>
            <a:r>
              <a:rPr lang="en-US" dirty="0"/>
              <a:t>Ascites</a:t>
            </a:r>
          </a:p>
          <a:p>
            <a:pPr lvl="1"/>
            <a:r>
              <a:rPr lang="en-US" dirty="0"/>
              <a:t>Jaundice</a:t>
            </a:r>
          </a:p>
          <a:p>
            <a:pPr lvl="1"/>
            <a:r>
              <a:rPr lang="en-US" dirty="0"/>
              <a:t>Abdominal Distention </a:t>
            </a:r>
          </a:p>
          <a:p>
            <a:r>
              <a:rPr lang="en-US" dirty="0"/>
              <a:t>Complications: variceal hemorrhage, portal hypertensive gastropathy, hepatic encephalopathy, spontaneous bacterial peritonitis, hepatorenal syndrome, hepatopulmonary syndrome, portal cholangiopathy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30723" name="Picture 3" descr="Portal hypertension - Symptoms and causes - Mayo Clinic">
            <a:extLst>
              <a:ext uri="{FF2B5EF4-FFF2-40B4-BE49-F238E27FC236}">
                <a16:creationId xmlns:a16="http://schemas.microsoft.com/office/drawing/2014/main" id="{B52D5CFC-4E78-FD49-79EB-C5924AF92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9378" y="618518"/>
            <a:ext cx="1790534" cy="3541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85373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14307-1B64-C558-64E7-D89808D4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Portal Hypertension: Clinical Manifestations</a:t>
            </a:r>
          </a:p>
        </p:txBody>
      </p:sp>
      <p:pic>
        <p:nvPicPr>
          <p:cNvPr id="31746" name="Picture 2" descr="Caput Medusae | New England Journal of Medicine">
            <a:extLst>
              <a:ext uri="{FF2B5EF4-FFF2-40B4-BE49-F238E27FC236}">
                <a16:creationId xmlns:a16="http://schemas.microsoft.com/office/drawing/2014/main" id="{AE8131BB-691A-CF9B-B3CA-FA8B31AE5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387330" y="2249487"/>
            <a:ext cx="4197396" cy="3549650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3B6B5-4ADB-D82B-F82E-DE7EF27B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727" y="2249487"/>
            <a:ext cx="4710683" cy="3541714"/>
          </a:xfrm>
        </p:spPr>
        <p:txBody>
          <a:bodyPr>
            <a:normAutofit/>
          </a:bodyPr>
          <a:lstStyle/>
          <a:p>
            <a:r>
              <a:rPr lang="en-US" dirty="0"/>
              <a:t>ABCDE: Classic Portal Hypertension</a:t>
            </a:r>
          </a:p>
          <a:p>
            <a:pPr lvl="1"/>
            <a:r>
              <a:rPr lang="en-US" dirty="0"/>
              <a:t>Ascites </a:t>
            </a:r>
          </a:p>
          <a:p>
            <a:pPr lvl="1"/>
            <a:r>
              <a:rPr lang="en-US" dirty="0"/>
              <a:t>Bleeding: Hematemesis/Piles </a:t>
            </a:r>
          </a:p>
          <a:p>
            <a:pPr lvl="1"/>
            <a:r>
              <a:rPr lang="en-US" dirty="0"/>
              <a:t>Caput Medusae (swollen veins from the belly button across abdomen) </a:t>
            </a:r>
          </a:p>
          <a:p>
            <a:pPr lvl="1"/>
            <a:r>
              <a:rPr lang="en-US" dirty="0"/>
              <a:t>Diminished Liver – Atrophy </a:t>
            </a:r>
          </a:p>
          <a:p>
            <a:pPr lvl="1"/>
            <a:r>
              <a:rPr lang="en-US" dirty="0"/>
              <a:t>Enlarged Spleen (Splenomegaly) (back up into spleen) </a:t>
            </a:r>
          </a:p>
        </p:txBody>
      </p:sp>
    </p:spTree>
    <p:extLst>
      <p:ext uri="{BB962C8B-B14F-4D97-AF65-F5344CB8AC3E}">
        <p14:creationId xmlns:p14="http://schemas.microsoft.com/office/powerpoint/2010/main" val="4882425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42E74-A2F5-DEE3-02D9-506A83F78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Portal Hypertension: Clinical Manifestations</a:t>
            </a:r>
          </a:p>
        </p:txBody>
      </p:sp>
      <p:pic>
        <p:nvPicPr>
          <p:cNvPr id="32770" name="Picture 2" descr="Portal pressure measurement: Have we come full circle? - Gastrointestinal  Endoscopy">
            <a:extLst>
              <a:ext uri="{FF2B5EF4-FFF2-40B4-BE49-F238E27FC236}">
                <a16:creationId xmlns:a16="http://schemas.microsoft.com/office/drawing/2014/main" id="{BB052E22-092E-53B2-48A8-91DFCD4B6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2170" y="2593926"/>
            <a:ext cx="4689234" cy="2028091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EBF07-E4C2-8514-7DC2-A5886C372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9016" y="1811439"/>
            <a:ext cx="5585197" cy="517388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Portal Hypertension can often be diagnosed clinically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Hepatic Venous Pressure Gradient (HVPG): measures the pressure between the portal vein and the inferior vena cava (normal: 1-5 mmHg)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Typically becomes clinically significant if HPVG&gt;10 mmHg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US w/Elastography: measures stiffness of the liver and can look for any other acute issues with the liver/biliary tract</a:t>
            </a:r>
          </a:p>
          <a:p>
            <a:pPr>
              <a:lnSpc>
                <a:spcPct val="110000"/>
              </a:lnSpc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9419114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FB206-2F43-B343-F193-53D0ECB95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Portal Hypertension: Management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D0CA3-4AF4-3DCC-3D5D-82B305375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6891418" cy="354171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Treatment of Portal Hypertension typically involves management of the complications (varices, encephalopathy etc.) </a:t>
            </a:r>
          </a:p>
          <a:p>
            <a:r>
              <a:rPr lang="en-US" dirty="0"/>
              <a:t>Sodium/Salt Restriction </a:t>
            </a:r>
          </a:p>
          <a:p>
            <a:r>
              <a:rPr lang="en-US" dirty="0"/>
              <a:t>Diuretics (Spironolactone, Lasix) </a:t>
            </a:r>
          </a:p>
          <a:p>
            <a:r>
              <a:rPr lang="en-US" dirty="0"/>
              <a:t>May require intermittent paracentesis</a:t>
            </a:r>
          </a:p>
          <a:p>
            <a:r>
              <a:rPr lang="en-US" dirty="0"/>
              <a:t>Beta Blockers: Carvedilol, Propranolol, Nadolol </a:t>
            </a:r>
          </a:p>
          <a:p>
            <a:r>
              <a:rPr lang="en-US" dirty="0"/>
              <a:t>TIPS (Trans jugular Intrahepatic Portosystemic Shunt: placement of a shunt between veins to help relieve pressure on portal vein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33794" name="Picture 2" descr="Transjugular Intrahepatic Portosystemic Shunt: TIPS">
            <a:extLst>
              <a:ext uri="{FF2B5EF4-FFF2-40B4-BE49-F238E27FC236}">
                <a16:creationId xmlns:a16="http://schemas.microsoft.com/office/drawing/2014/main" id="{79BA3715-0CD4-7147-311C-C1C224AB1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75824" y="2273474"/>
            <a:ext cx="3470858" cy="2311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88680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E114D-00A5-F5E6-D892-221D6CFE3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Hepatocellular Carcinoma: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3EDFB-8CDE-C7EE-1BC6-6B88DE13B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635" y="1965261"/>
            <a:ext cx="6501166" cy="4456113"/>
          </a:xfrm>
        </p:spPr>
        <p:txBody>
          <a:bodyPr>
            <a:normAutofit fontScale="92500"/>
          </a:bodyPr>
          <a:lstStyle/>
          <a:p>
            <a:r>
              <a:rPr lang="en-US" dirty="0"/>
              <a:t>Hepatocellular Carcinoma: primary neoplasm (malignancy) of the liver (MC primary liver cancer) </a:t>
            </a:r>
          </a:p>
          <a:p>
            <a:r>
              <a:rPr lang="en-US" dirty="0"/>
              <a:t>Risk Factors: Cirrhosis MC (macronodular) and other associated chronic liver disease (HBV, HCV, HDV etc.), alcoholic liver disease, men slightly higher risk </a:t>
            </a:r>
          </a:p>
          <a:p>
            <a:r>
              <a:rPr lang="en-US" dirty="0"/>
              <a:t>Chronic hepatic inflammation leads to fibrosis which progresses to cirrhosis of the liver. Eventually, causes chronic damage to cells leading to dysplasia and possible malignancy further down the road. </a:t>
            </a:r>
          </a:p>
        </p:txBody>
      </p:sp>
      <p:pic>
        <p:nvPicPr>
          <p:cNvPr id="1026" name="Picture 2" descr="Hepatocellular Carcinoma (HCC): Symptoms &amp; Treatment">
            <a:extLst>
              <a:ext uri="{FF2B5EF4-FFF2-40B4-BE49-F238E27FC236}">
                <a16:creationId xmlns:a16="http://schemas.microsoft.com/office/drawing/2014/main" id="{04B1162C-7AA3-C4B3-D3E4-12B037ED1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42579" y="1965261"/>
            <a:ext cx="3993444" cy="3993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08177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C5440-0084-144E-E59E-6EFC1411B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Hepatocellular Carcinoma: Clinical Manifestations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C708D-EFD7-1ECD-3D0D-0799BEB95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6444721" cy="354171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Sign/Symptoms: most are asymptomatic until disease more progressive and/or metastasis occurs. </a:t>
            </a:r>
          </a:p>
          <a:p>
            <a:pPr lvl="1"/>
            <a:r>
              <a:rPr lang="en-US" dirty="0"/>
              <a:t>Malaise/Weight Loss</a:t>
            </a:r>
          </a:p>
          <a:p>
            <a:pPr lvl="1"/>
            <a:r>
              <a:rPr lang="en-US" dirty="0"/>
              <a:t>Jaundice (WHY?)</a:t>
            </a:r>
          </a:p>
          <a:p>
            <a:pPr lvl="1"/>
            <a:r>
              <a:rPr lang="en-US" dirty="0"/>
              <a:t>Abdominal Pain</a:t>
            </a:r>
          </a:p>
          <a:p>
            <a:pPr lvl="1"/>
            <a:r>
              <a:rPr lang="en-US" dirty="0"/>
              <a:t>Hepatosplenomegaly </a:t>
            </a:r>
          </a:p>
          <a:p>
            <a:pPr lvl="1"/>
            <a:r>
              <a:rPr lang="en-US" dirty="0"/>
              <a:t>Ascites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Liver Cancer: Signs, Symptoms, and Complications">
            <a:extLst>
              <a:ext uri="{FF2B5EF4-FFF2-40B4-BE49-F238E27FC236}">
                <a16:creationId xmlns:a16="http://schemas.microsoft.com/office/drawing/2014/main" id="{3E516D56-7E97-F601-261C-E5A3A1EF9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70014" y="1861344"/>
            <a:ext cx="2878667" cy="431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16260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98A41-C957-BE1E-BB89-A8436FBF7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Hepatocellular Carcinoma: Clinical Manifestations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DA7FF-88E5-3F96-C93C-2C356004C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32" y="1918836"/>
            <a:ext cx="6772099" cy="4320646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/>
              <a:t>Diagnosis can be determined based on imaging alone in some cases. </a:t>
            </a:r>
          </a:p>
          <a:p>
            <a:r>
              <a:rPr lang="en-US" sz="2200" dirty="0"/>
              <a:t>For patient who are high risk (cirrhosis, HBV hx) = screening</a:t>
            </a:r>
          </a:p>
          <a:p>
            <a:pPr lvl="1"/>
            <a:r>
              <a:rPr lang="en-US" sz="2200" dirty="0"/>
              <a:t>US Abd (liver): every 6 months looking for liver lesions. </a:t>
            </a:r>
          </a:p>
          <a:p>
            <a:pPr lvl="1"/>
            <a:r>
              <a:rPr lang="en-US" sz="2200" dirty="0"/>
              <a:t>If US shows lesions &lt;1cm = ongoing surveillance every 3-6 months</a:t>
            </a:r>
          </a:p>
          <a:p>
            <a:pPr lvl="1"/>
            <a:r>
              <a:rPr lang="en-US" sz="2200" dirty="0"/>
              <a:t>If US shows lesions &gt;1cm = CT A/P w/contrast or MRI w/wo Contrast Abd (shows arterial enhancement with veinous washout) </a:t>
            </a:r>
          </a:p>
          <a:p>
            <a:r>
              <a:rPr lang="en-US" sz="2200" dirty="0"/>
              <a:t>Biopsy typically not required in patients who are at high risk for HCC with imaging criteria</a:t>
            </a:r>
          </a:p>
          <a:p>
            <a:pPr lvl="1"/>
            <a:endParaRPr lang="en-US" dirty="0"/>
          </a:p>
        </p:txBody>
      </p:sp>
      <p:pic>
        <p:nvPicPr>
          <p:cNvPr id="3074" name="Picture 2" descr="11 Hepatocellular Carcinoma | Radiology Key">
            <a:extLst>
              <a:ext uri="{FF2B5EF4-FFF2-40B4-BE49-F238E27FC236}">
                <a16:creationId xmlns:a16="http://schemas.microsoft.com/office/drawing/2014/main" id="{BAB2D71E-092C-ECF4-0697-9A311FA89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69319" y="1485590"/>
            <a:ext cx="3701544" cy="233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MRI Features of Hepatocellular Carcinoma Related to Biologic Behavior - PMC">
            <a:extLst>
              <a:ext uri="{FF2B5EF4-FFF2-40B4-BE49-F238E27FC236}">
                <a16:creationId xmlns:a16="http://schemas.microsoft.com/office/drawing/2014/main" id="{E0CA0EAA-FB09-7F3D-873A-56F6AC6AC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69319" y="4314424"/>
            <a:ext cx="3728339" cy="1648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10406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F70CE-19F8-6CE7-C980-72A12C7CB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Hepatocellular Carcinoma: Clinical Manifestations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BDD34-0724-42E4-607A-5C4CDC252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7381699" cy="4320646"/>
          </a:xfrm>
        </p:spPr>
        <p:txBody>
          <a:bodyPr>
            <a:normAutofit/>
          </a:bodyPr>
          <a:lstStyle/>
          <a:p>
            <a:r>
              <a:rPr lang="en-US" dirty="0"/>
              <a:t>Alpha-Fetoprotein (AFP): increased serum levels can be used to aid in diagnosis.</a:t>
            </a:r>
          </a:p>
          <a:p>
            <a:pPr lvl="1"/>
            <a:r>
              <a:rPr lang="en-US" dirty="0"/>
              <a:t>However, AFP (and most tumor markers for that matter), are non-specific meaning they don’t directly correlate with the specific malignancy.</a:t>
            </a:r>
          </a:p>
          <a:p>
            <a:pPr lvl="1"/>
            <a:r>
              <a:rPr lang="en-US" dirty="0"/>
              <a:t>AFP can aid with surveillance during treatment process (increasing/decreasing can direct therapies moving forward) </a:t>
            </a:r>
          </a:p>
          <a:p>
            <a:r>
              <a:rPr lang="en-US" dirty="0"/>
              <a:t>Liver Biopsy: definitive diagnosis (only for some patients – when diagnosis is not conclusive) </a:t>
            </a:r>
          </a:p>
        </p:txBody>
      </p:sp>
      <p:pic>
        <p:nvPicPr>
          <p:cNvPr id="4098" name="Picture 2" descr="Alpha-fetoprotein - Wikipedia">
            <a:extLst>
              <a:ext uri="{FF2B5EF4-FFF2-40B4-BE49-F238E27FC236}">
                <a16:creationId xmlns:a16="http://schemas.microsoft.com/office/drawing/2014/main" id="{1306D9E9-3AA3-F060-3004-36DF8B1D3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85847" y="2640169"/>
            <a:ext cx="4403121" cy="223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7168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147E7-AB7D-8623-31EC-1A42C1A60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Hepatocellular Carcinoma: Management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61FBB-D50C-75E4-0B5F-F82F8966A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580" y="2223729"/>
            <a:ext cx="7031744" cy="419646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Surgery: resection reserved for patients who do not have cirrhosis and where tumors are confined to one lobe. </a:t>
            </a:r>
          </a:p>
          <a:p>
            <a:r>
              <a:rPr lang="en-US" dirty="0"/>
              <a:t>Liver Transplant: potential curative options, but patients must meet certain criteria. Downside, patient will need donor and can’t have disease progression while waiting for transplant.</a:t>
            </a:r>
          </a:p>
          <a:p>
            <a:r>
              <a:rPr lang="en-US" dirty="0"/>
              <a:t>Patients in early stages/limited disease: radiofrequency ablation or microwave ablation </a:t>
            </a:r>
          </a:p>
          <a:p>
            <a:r>
              <a:rPr lang="en-US" dirty="0"/>
              <a:t>Intermediate Disease patients: consider </a:t>
            </a:r>
            <a:r>
              <a:rPr lang="en-US" dirty="0" err="1"/>
              <a:t>Transarterial</a:t>
            </a:r>
            <a:r>
              <a:rPr lang="en-US" dirty="0"/>
              <a:t> chemoablation (TACE) – directly administers chemotherapy to tumor region and also attempts to cut off blood supply to tumor</a:t>
            </a:r>
          </a:p>
          <a:p>
            <a:endParaRPr lang="en-US" dirty="0"/>
          </a:p>
        </p:txBody>
      </p:sp>
      <p:pic>
        <p:nvPicPr>
          <p:cNvPr id="5122" name="Picture 2" descr="Liver Cancer Treatment with Transarterial Chemoembolisation (Tace) for a  90-Year-Old Man - FV Hospital">
            <a:extLst>
              <a:ext uri="{FF2B5EF4-FFF2-40B4-BE49-F238E27FC236}">
                <a16:creationId xmlns:a16="http://schemas.microsoft.com/office/drawing/2014/main" id="{8921A04C-0A86-D641-9D2E-8CBF96012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07628" y="2659148"/>
            <a:ext cx="4124348" cy="270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9841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3EFE5-3AC2-7AA3-5BFD-E8E3A33BC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68563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Hepatocellular Carcinoma: Management </a:t>
            </a:r>
          </a:p>
        </p:txBody>
      </p:sp>
      <p:pic>
        <p:nvPicPr>
          <p:cNvPr id="6146" name="Picture 2" descr="Immunotherapy: How It Works, Types, Uses, and Risks">
            <a:extLst>
              <a:ext uri="{FF2B5EF4-FFF2-40B4-BE49-F238E27FC236}">
                <a16:creationId xmlns:a16="http://schemas.microsoft.com/office/drawing/2014/main" id="{0A633359-A2C4-265E-6AA5-42D67AD30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>
            <a:fillRect/>
          </a:stretch>
        </p:blipFill>
        <p:spPr bwMode="auto">
          <a:xfrm>
            <a:off x="1141412" y="2497720"/>
            <a:ext cx="4662140" cy="304789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61253-5105-35CC-DC5E-69483425F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3553" y="1659468"/>
            <a:ext cx="5586936" cy="5037546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For patients with progressive disease/distance metastasis: will need to proceed with systemic chemotherapy/immunotherapy +/- radiation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PET/CT scan required to monitor for metastasis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line regimen: Atezolizumab + Bevacizumab, Durvalumab + </a:t>
            </a:r>
            <a:r>
              <a:rPr lang="en-US" dirty="0" err="1"/>
              <a:t>Tremelimumab</a:t>
            </a:r>
            <a:r>
              <a:rPr lang="en-US" dirty="0"/>
              <a:t>, or Ipilimumab + Nivolumab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Other options: Lenvatinib or Sorafenib for patients who can’t tolerate immunotherapy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CAUTION: when starting Atezolizumab + Bevacizumab, you MUST screen for esophageal varices cause due to increased bleeding risk </a:t>
            </a:r>
          </a:p>
          <a:p>
            <a:pPr lvl="1">
              <a:lnSpc>
                <a:spcPct val="110000"/>
              </a:lnSpc>
            </a:pPr>
            <a:endParaRPr lang="en-US" sz="1300" dirty="0"/>
          </a:p>
          <a:p>
            <a:pPr lvl="1">
              <a:lnSpc>
                <a:spcPct val="110000"/>
              </a:lnSpc>
            </a:pPr>
            <a:endParaRPr lang="en-US" sz="1300" dirty="0"/>
          </a:p>
          <a:p>
            <a:pPr lvl="1">
              <a:lnSpc>
                <a:spcPct val="110000"/>
              </a:lnSpc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509210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8E077-30F6-026C-A7AD-224013B61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019" y="68772"/>
            <a:ext cx="6188402" cy="1478570"/>
          </a:xfrm>
        </p:spPr>
        <p:txBody>
          <a:bodyPr>
            <a:normAutofit/>
          </a:bodyPr>
          <a:lstStyle/>
          <a:p>
            <a:r>
              <a:rPr lang="en-US" dirty="0"/>
              <a:t>Biliary Disease: Cholelithiasis</a:t>
            </a:r>
          </a:p>
        </p:txBody>
      </p:sp>
      <p:sp>
        <p:nvSpPr>
          <p:cNvPr id="1031" name="Round Diagonal Corner Rectangle 6">
            <a:extLst>
              <a:ext uri="{FF2B5EF4-FFF2-40B4-BE49-F238E27FC236}">
                <a16:creationId xmlns:a16="http://schemas.microsoft.com/office/drawing/2014/main" id="{7CADF06E-666D-4233-B4C0-CB050DED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579" y="808057"/>
            <a:ext cx="3821429" cy="5234394"/>
          </a:xfrm>
          <a:prstGeom prst="round2DiagRect">
            <a:avLst>
              <a:gd name="adj1" fmla="val 11323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Gallstones - Symptoms &amp; causes - Mayo Clinic">
            <a:extLst>
              <a:ext uri="{FF2B5EF4-FFF2-40B4-BE49-F238E27FC236}">
                <a16:creationId xmlns:a16="http://schemas.microsoft.com/office/drawing/2014/main" id="{7B9D8A44-53B3-D5A0-7034-6E59B5A15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126617" y="1476184"/>
            <a:ext cx="3178638" cy="3900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2F831-D866-125E-F3F5-910AC58C2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6275" y="1547342"/>
            <a:ext cx="6188402" cy="3541714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Cholelithiasis: presence of gallstones in the biliary tract without any signs/symptoms of inflammation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Types of Gallstones: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Cholesterol: MC type (90%)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Black Stones: due to hemolysis or alcohol driven liver disease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Brown Stones: parasitic for bacterial infections (more common in Asian populations)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Risk Factors: female, pregnancy, age, HLD, OCPs, Native Americans descent, DM, HRT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Protective Factors: poly and monounsaturated fats and nuts, Coffee, vegetable protein, increased physical activity, statin usage </a:t>
            </a:r>
          </a:p>
        </p:txBody>
      </p:sp>
    </p:spTree>
    <p:extLst>
      <p:ext uri="{BB962C8B-B14F-4D97-AF65-F5344CB8AC3E}">
        <p14:creationId xmlns:p14="http://schemas.microsoft.com/office/powerpoint/2010/main" val="16266305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AFD1B-F728-7113-0038-680743751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Biliary Disease: Cholelithiasis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9DECE-1C13-BDA9-E469-66AA632E1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7776011" cy="4474994"/>
          </a:xfrm>
        </p:spPr>
        <p:txBody>
          <a:bodyPr>
            <a:normAutofit/>
          </a:bodyPr>
          <a:lstStyle/>
          <a:p>
            <a:r>
              <a:rPr lang="en-US" dirty="0"/>
              <a:t>Clinical Manifestations: </a:t>
            </a:r>
          </a:p>
          <a:p>
            <a:pPr lvl="1"/>
            <a:r>
              <a:rPr lang="en-US" dirty="0"/>
              <a:t>Majority of patients with gallstones are asymptomatic</a:t>
            </a:r>
          </a:p>
          <a:p>
            <a:pPr lvl="1"/>
            <a:r>
              <a:rPr lang="en-US" dirty="0"/>
              <a:t>Biliary Colic: episodes of RUQ or epigastric pain (with radiation to the right shoulder blade) lasting about 30 mins to a few hours. Can also have nausea and or diaphoresis. Sometimes caused after eating a large/fatty meal</a:t>
            </a:r>
          </a:p>
          <a:p>
            <a:r>
              <a:rPr lang="en-US" dirty="0"/>
              <a:t>Diagnostics: CBC with diff and CMP (WHY?), amylase/lipase</a:t>
            </a:r>
          </a:p>
          <a:p>
            <a:pPr lvl="1"/>
            <a:r>
              <a:rPr lang="en-US" dirty="0"/>
              <a:t>US Abd/Liver: 1</a:t>
            </a:r>
            <a:r>
              <a:rPr lang="en-US" baseline="30000" dirty="0"/>
              <a:t>st</a:t>
            </a:r>
            <a:r>
              <a:rPr lang="en-US" dirty="0"/>
              <a:t> diagnostic choice! – appear as echogenic foci </a:t>
            </a:r>
          </a:p>
          <a:p>
            <a:pPr lvl="1"/>
            <a:endParaRPr lang="en-US" dirty="0"/>
          </a:p>
        </p:txBody>
      </p:sp>
      <p:pic>
        <p:nvPicPr>
          <p:cNvPr id="2050" name="Picture 2" descr="Gallstones | Radiology Case | Radiopaedia.org">
            <a:extLst>
              <a:ext uri="{FF2B5EF4-FFF2-40B4-BE49-F238E27FC236}">
                <a16:creationId xmlns:a16="http://schemas.microsoft.com/office/drawing/2014/main" id="{1DAD37F1-7806-812E-B653-AD4A973D3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11409" y="275129"/>
            <a:ext cx="3301198" cy="2798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26101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08012-D663-9567-F8DD-28A983796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Biliary Disease: Cholelithiasis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3ACC5-F20A-42D6-6BE8-0EB20FF1E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6465101" cy="3541714"/>
          </a:xfrm>
        </p:spPr>
        <p:txBody>
          <a:bodyPr/>
          <a:lstStyle/>
          <a:p>
            <a:r>
              <a:rPr lang="en-US" dirty="0"/>
              <a:t>Management:</a:t>
            </a:r>
          </a:p>
          <a:p>
            <a:pPr lvl="1"/>
            <a:r>
              <a:rPr lang="en-US" dirty="0"/>
              <a:t>Gallstones are often found incidentally in patient who are asymptomatic – monitor </a:t>
            </a:r>
          </a:p>
          <a:p>
            <a:pPr lvl="1"/>
            <a:r>
              <a:rPr lang="en-US" dirty="0"/>
              <a:t>For patients with typical biliary colic symptoms – Cholecystectomy usually recommended</a:t>
            </a:r>
          </a:p>
          <a:p>
            <a:pPr lvl="1"/>
            <a:r>
              <a:rPr lang="en-US" dirty="0"/>
              <a:t>If the patient doesn’t wish to have surgery, must be educated thoroughly on the potential complications of having gallstones (which we will discuss)</a:t>
            </a:r>
          </a:p>
        </p:txBody>
      </p:sp>
      <p:pic>
        <p:nvPicPr>
          <p:cNvPr id="3074" name="Picture 2" descr="Gallstones - AGA GI Patient Center">
            <a:extLst>
              <a:ext uri="{FF2B5EF4-FFF2-40B4-BE49-F238E27FC236}">
                <a16:creationId xmlns:a16="http://schemas.microsoft.com/office/drawing/2014/main" id="{57805CEA-C7B2-F023-1A91-89C29AD1F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06513" y="1573057"/>
            <a:ext cx="3957006" cy="4587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9965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75BE7-B2C2-2A9B-EC43-3B2E4753A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Biliary Disease: Cholecystitis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680FB-BB9E-698D-40C1-37866FE47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998633"/>
            <a:ext cx="5995763" cy="4531639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Cholecystitis: inflammation of the gallbladder often caused by gallstones +/- infectious process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Gallstones block bile from leaving the gallbladder, but an infection can also propagate in the gallbladder fluid (bile)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Gram – enteric organisms (E. Coli MC, klebsiella, Enterobacter)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Develops in around 6-11% of patients with history of gallstones</a:t>
            </a:r>
          </a:p>
          <a:p>
            <a:pPr>
              <a:lnSpc>
                <a:spcPct val="110000"/>
              </a:lnSpc>
            </a:pPr>
            <a:endParaRPr lang="en-US" sz="1400" dirty="0"/>
          </a:p>
          <a:p>
            <a:pPr>
              <a:lnSpc>
                <a:spcPct val="110000"/>
              </a:lnSpc>
            </a:pPr>
            <a:endParaRPr lang="en-US" sz="1400" dirty="0"/>
          </a:p>
        </p:txBody>
      </p:sp>
      <p:pic>
        <p:nvPicPr>
          <p:cNvPr id="4098" name="Picture 2" descr="Cholecystitis in Singapore - Colorectal Care Specialists | Dr Ronnie Mathew">
            <a:extLst>
              <a:ext uri="{FF2B5EF4-FFF2-40B4-BE49-F238E27FC236}">
                <a16:creationId xmlns:a16="http://schemas.microsoft.com/office/drawing/2014/main" id="{433A843A-BD0F-B08F-02FD-97E9F0BAD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39103" y="2249487"/>
            <a:ext cx="4655075" cy="304789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48871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283C1-3391-A488-EF88-F34B5C8F3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278" y="-142134"/>
            <a:ext cx="5894387" cy="1478570"/>
          </a:xfrm>
        </p:spPr>
        <p:txBody>
          <a:bodyPr anchor="b">
            <a:normAutofit/>
          </a:bodyPr>
          <a:lstStyle/>
          <a:p>
            <a:r>
              <a:rPr lang="en-US" dirty="0"/>
              <a:t>Biliary Disease: Cholecystitis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2DFB0-00B3-74DC-789E-D959F6809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9043" y="1716762"/>
            <a:ext cx="6950623" cy="3541714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Clinical Manifestations: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Acute Cholecystitis: syndrome of RUQ pain, fever, leukocytosis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Chronic Cholecystitis: term used to describe the chronic inflammation of the gallbladder seen on histopathology</a:t>
            </a:r>
          </a:p>
          <a:p>
            <a:pPr lvl="2">
              <a:lnSpc>
                <a:spcPct val="110000"/>
              </a:lnSpc>
            </a:pPr>
            <a:r>
              <a:rPr lang="en-US" sz="2000" dirty="0"/>
              <a:t>Associated with gallstones that causes mechanical irritation leading to fibrosis and thickening of the gallbladder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Symptoms: Abd pain (RUQ or epigastric), fever, n/v, anorexia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PE: fever, tachycardia, + MURPHY SIGN, palpable gallbladder, + Boas sign (referred pain to the right shoulder/subscapular area) </a:t>
            </a:r>
          </a:p>
        </p:txBody>
      </p:sp>
      <p:pic>
        <p:nvPicPr>
          <p:cNvPr id="5122" name="Picture 2" descr="Murphy's Sign elicited by Naunyn's modified technique | Download Scientific Diagram">
            <a:extLst>
              <a:ext uri="{FF2B5EF4-FFF2-40B4-BE49-F238E27FC236}">
                <a16:creationId xmlns:a16="http://schemas.microsoft.com/office/drawing/2014/main" id="{4BDE32C0-9AAD-C7C8-2474-BA9D9AE4C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5"/>
          <a:stretch>
            <a:fillRect/>
          </a:stretch>
        </p:blipFill>
        <p:spPr bwMode="auto">
          <a:xfrm>
            <a:off x="8210716" y="1492334"/>
            <a:ext cx="3425199" cy="4840332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58640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65F6B-A132-114A-3F30-610645D9E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082" y="-32008"/>
            <a:ext cx="9905998" cy="1478570"/>
          </a:xfrm>
        </p:spPr>
        <p:txBody>
          <a:bodyPr/>
          <a:lstStyle/>
          <a:p>
            <a:r>
              <a:rPr lang="en-US" dirty="0"/>
              <a:t>Biliary Disease: Cholecystitis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8C5A6-2BA5-089B-7772-DEAA4E74D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15131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Diagnostics: </a:t>
            </a:r>
          </a:p>
          <a:p>
            <a:pPr lvl="1"/>
            <a:r>
              <a:rPr lang="en-US" dirty="0"/>
              <a:t> CBC with Diff (WHY?) </a:t>
            </a:r>
          </a:p>
          <a:p>
            <a:pPr lvl="1"/>
            <a:r>
              <a:rPr lang="en-US" dirty="0"/>
              <a:t>CMP (LFTs) </a:t>
            </a:r>
          </a:p>
          <a:p>
            <a:pPr lvl="1"/>
            <a:r>
              <a:rPr lang="en-US" dirty="0"/>
              <a:t>Amylase/Lipase</a:t>
            </a:r>
          </a:p>
          <a:p>
            <a:pPr lvl="1"/>
            <a:r>
              <a:rPr lang="en-US" dirty="0"/>
              <a:t>Lactic Acid</a:t>
            </a:r>
          </a:p>
          <a:p>
            <a:pPr lvl="1"/>
            <a:r>
              <a:rPr lang="en-US" dirty="0"/>
              <a:t>Pregnancy Test! </a:t>
            </a:r>
          </a:p>
          <a:p>
            <a:pPr lvl="1"/>
            <a:r>
              <a:rPr lang="en-US" dirty="0"/>
              <a:t>Blood cultures (x2)</a:t>
            </a:r>
          </a:p>
          <a:p>
            <a:pPr lvl="1"/>
            <a:r>
              <a:rPr lang="en-US" dirty="0"/>
              <a:t>Abd US: initial 1</a:t>
            </a:r>
            <a:r>
              <a:rPr lang="en-US" baseline="30000" dirty="0"/>
              <a:t>st</a:t>
            </a:r>
            <a:r>
              <a:rPr lang="en-US" dirty="0"/>
              <a:t> choice: shows gallbladder wall thickening or edema, gallbladder distention, presence of stones, + Murphy Sign</a:t>
            </a:r>
          </a:p>
          <a:p>
            <a:pPr lvl="1"/>
            <a:r>
              <a:rPr lang="en-US" dirty="0"/>
              <a:t>Radionuclide Cholescintigraphy (HIDA scan): used if the diagnosis is unclear, nonvisualization of the gallbladder due to a stone blocking the cystic duct</a:t>
            </a:r>
          </a:p>
          <a:p>
            <a:pPr lvl="1"/>
            <a:endParaRPr lang="en-US" dirty="0"/>
          </a:p>
        </p:txBody>
      </p:sp>
      <p:pic>
        <p:nvPicPr>
          <p:cNvPr id="6148" name="Picture 4" descr="Common clinical applications">
            <a:extLst>
              <a:ext uri="{FF2B5EF4-FFF2-40B4-BE49-F238E27FC236}">
                <a16:creationId xmlns:a16="http://schemas.microsoft.com/office/drawing/2014/main" id="{C99B6468-A1AC-A1FB-B7B2-28B51AECA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18767" y="1430278"/>
            <a:ext cx="4524347" cy="2839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1546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6B2B1-7F75-F56D-219E-6C0D03E99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12565"/>
            <a:ext cx="9905998" cy="1478570"/>
          </a:xfrm>
        </p:spPr>
        <p:txBody>
          <a:bodyPr/>
          <a:lstStyle/>
          <a:p>
            <a:r>
              <a:rPr lang="en-US" dirty="0"/>
              <a:t>Biliary Disease: Cholecystitis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6AA07-F02B-E84B-7BEB-2DC4ADABB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467" y="1691135"/>
            <a:ext cx="7387593" cy="4345523"/>
          </a:xfrm>
        </p:spPr>
        <p:txBody>
          <a:bodyPr>
            <a:normAutofit fontScale="92500"/>
          </a:bodyPr>
          <a:lstStyle/>
          <a:p>
            <a:r>
              <a:rPr lang="en-US" dirty="0"/>
              <a:t>Management: </a:t>
            </a:r>
          </a:p>
          <a:p>
            <a:pPr lvl="1"/>
            <a:r>
              <a:rPr lang="en-US" dirty="0"/>
              <a:t>IVF, electrolyte correction, pain control (NSIADS), antiemetics </a:t>
            </a:r>
          </a:p>
          <a:p>
            <a:pPr lvl="1"/>
            <a:r>
              <a:rPr lang="en-US" dirty="0"/>
              <a:t>PANC (WHY?) </a:t>
            </a:r>
          </a:p>
          <a:p>
            <a:pPr lvl="1"/>
            <a:r>
              <a:rPr lang="en-US" dirty="0"/>
              <a:t>Antibiotics (must assume infectious): Flagyl + Cephalosporin (Ceftriaxone, Cefazoline etc.). High risk patients: Zosyn vs Meropenem</a:t>
            </a:r>
          </a:p>
          <a:p>
            <a:pPr lvl="1"/>
            <a:r>
              <a:rPr lang="en-US" dirty="0"/>
              <a:t>Cholecystectomy preferred within 72 hours (ideally laparoscopic) </a:t>
            </a:r>
          </a:p>
          <a:p>
            <a:pPr lvl="2"/>
            <a:r>
              <a:rPr lang="en-US" dirty="0"/>
              <a:t>Emergent considerations if concern for perforation or gangrene (necrosis) – WATCH OUT for hemodynamic instability</a:t>
            </a:r>
          </a:p>
          <a:p>
            <a:pPr lvl="2"/>
            <a:r>
              <a:rPr lang="en-US" dirty="0"/>
              <a:t>In high surgical risk patients: gallbladder drainage via percutaneous cholecystostomy</a:t>
            </a:r>
          </a:p>
        </p:txBody>
      </p:sp>
      <p:pic>
        <p:nvPicPr>
          <p:cNvPr id="7170" name="Picture 2" descr="Cholecystostomy: What It Is, Procedure Steps, Complications">
            <a:extLst>
              <a:ext uri="{FF2B5EF4-FFF2-40B4-BE49-F238E27FC236}">
                <a16:creationId xmlns:a16="http://schemas.microsoft.com/office/drawing/2014/main" id="{457B816E-582E-3414-2344-1448309C6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0060" y="1120397"/>
            <a:ext cx="3158401" cy="4098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90401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A2649-2B5D-FB43-11F3-C281DFB83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/>
              <a:t>Biliary Disease: Choledocholithiasis </a:t>
            </a:r>
          </a:p>
        </p:txBody>
      </p:sp>
      <p:pic>
        <p:nvPicPr>
          <p:cNvPr id="1026" name="Picture 2" descr="Bile Duct Stones: What Is Choledocholithiasis &amp; Health Impact – Dr.  Jayadatt Pawar">
            <a:extLst>
              <a:ext uri="{FF2B5EF4-FFF2-40B4-BE49-F238E27FC236}">
                <a16:creationId xmlns:a16="http://schemas.microsoft.com/office/drawing/2014/main" id="{83C40B03-15BC-18F0-AE12-93695D83C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141411" y="2459281"/>
            <a:ext cx="4689234" cy="3130062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6EAB8-7639-F384-B689-F69ADCBBF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727" y="2249486"/>
            <a:ext cx="4710683" cy="436425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Choledocholithiasis: presence of gallstones in the common bile duct that have the potential to cause a blockage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Potentially cause pancreatitis or cholangitis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Risk Factors: hx of gallstones, female, pregnancy, age, HLD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Should always be considered in patients who are symptomatic with history of gallstones </a:t>
            </a:r>
          </a:p>
          <a:p>
            <a:pPr>
              <a:lnSpc>
                <a:spcPct val="110000"/>
              </a:lnSpc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7171452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9CE9F-9B8B-7373-76BB-FA9822A49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37"/>
            <a:ext cx="9905998" cy="1478570"/>
          </a:xfrm>
        </p:spPr>
        <p:txBody>
          <a:bodyPr/>
          <a:lstStyle/>
          <a:p>
            <a:r>
              <a:rPr lang="en-US" dirty="0"/>
              <a:t>Biliary Disease: Choledocholithiasis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6896E-B121-A302-9EC8-B1C6B961A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745" y="999067"/>
            <a:ext cx="8578321" cy="4526844"/>
          </a:xfrm>
        </p:spPr>
        <p:txBody>
          <a:bodyPr>
            <a:noAutofit/>
          </a:bodyPr>
          <a:lstStyle/>
          <a:p>
            <a:r>
              <a:rPr lang="en-US" sz="2000" dirty="0"/>
              <a:t>Clinical Manifestations: </a:t>
            </a:r>
          </a:p>
          <a:p>
            <a:pPr lvl="1"/>
            <a:r>
              <a:rPr lang="en-US" dirty="0"/>
              <a:t>Prolonged Biliary Colic: RUQ/Epigastric pain that sustains over 6 hours, sometime with N/V, anorexia</a:t>
            </a:r>
          </a:p>
          <a:p>
            <a:pPr lvl="1"/>
            <a:r>
              <a:rPr lang="en-US" dirty="0"/>
              <a:t>PE: RUQ or epigastric tenderness, Jaundice (sometimes, why?) </a:t>
            </a:r>
          </a:p>
          <a:p>
            <a:r>
              <a:rPr lang="en-US" sz="2000" dirty="0"/>
              <a:t>Diagnostics: </a:t>
            </a:r>
          </a:p>
          <a:p>
            <a:pPr lvl="1"/>
            <a:r>
              <a:rPr lang="en-US" dirty="0"/>
              <a:t>CBC with diff</a:t>
            </a:r>
          </a:p>
          <a:p>
            <a:pPr lvl="1"/>
            <a:r>
              <a:rPr lang="en-US" dirty="0"/>
              <a:t>CMP: elevated AST/ALT, Cholestatic pattern (elevated ALP + GGT – gamma glutamyl transpeptidase) </a:t>
            </a:r>
          </a:p>
          <a:p>
            <a:pPr lvl="1"/>
            <a:r>
              <a:rPr lang="en-US" dirty="0"/>
              <a:t>Amylase/Lipase </a:t>
            </a:r>
          </a:p>
          <a:p>
            <a:pPr lvl="1"/>
            <a:r>
              <a:rPr lang="en-US" dirty="0"/>
              <a:t>Abd US: dilate common bile duct</a:t>
            </a:r>
          </a:p>
          <a:p>
            <a:pPr lvl="1"/>
            <a:r>
              <a:rPr lang="en-US" dirty="0"/>
              <a:t>ERCP (Endoscopic Retrograde Cholangiopancreatography): Diagnostic of CHOICE! </a:t>
            </a:r>
          </a:p>
          <a:p>
            <a:pPr lvl="2"/>
            <a:r>
              <a:rPr lang="en-US" sz="2000" dirty="0"/>
              <a:t>MRCP (Magnetic Resonance Cholangiopancreatography): alternative to look at biliary tract (less invasive) </a:t>
            </a:r>
          </a:p>
        </p:txBody>
      </p:sp>
      <p:pic>
        <p:nvPicPr>
          <p:cNvPr id="2050" name="Picture 2" descr="Choledocholithiasis | Radiology Key">
            <a:extLst>
              <a:ext uri="{FF2B5EF4-FFF2-40B4-BE49-F238E27FC236}">
                <a16:creationId xmlns:a16="http://schemas.microsoft.com/office/drawing/2014/main" id="{68920579-AF2C-8327-929F-3B2A6A35B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80628" y="1320801"/>
            <a:ext cx="3234267" cy="3234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73879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1" name="Group 3080">
            <a:extLst>
              <a:ext uri="{FF2B5EF4-FFF2-40B4-BE49-F238E27FC236}">
                <a16:creationId xmlns:a16="http://schemas.microsoft.com/office/drawing/2014/main" id="{7FF5C675-8A85-433E-8B62-972333B74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3082" name="Rectangle 3081">
              <a:extLst>
                <a:ext uri="{FF2B5EF4-FFF2-40B4-BE49-F238E27FC236}">
                  <a16:creationId xmlns:a16="http://schemas.microsoft.com/office/drawing/2014/main" id="{4B4E3796-B034-4A3E-AD1A-85F6741A5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083" name="Picture 2">
              <a:extLst>
                <a:ext uri="{FF2B5EF4-FFF2-40B4-BE49-F238E27FC236}">
                  <a16:creationId xmlns:a16="http://schemas.microsoft.com/office/drawing/2014/main" id="{818E0124-72E5-411B-8319-A8F139E67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:p14="http://schemas.microsoft.com/office/powerpoint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85" name="Group 3084">
            <a:extLst>
              <a:ext uri="{FF2B5EF4-FFF2-40B4-BE49-F238E27FC236}">
                <a16:creationId xmlns:a16="http://schemas.microsoft.com/office/drawing/2014/main" id="{C785F9A1-914D-4976-B317-B340DD6F0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81779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3086" name="Rectangle 5">
              <a:extLst>
                <a:ext uri="{FF2B5EF4-FFF2-40B4-BE49-F238E27FC236}">
                  <a16:creationId xmlns:a16="http://schemas.microsoft.com/office/drawing/2014/main" id="{2AE2AA4F-0372-4B84-B7F4-F597033163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87" name="Freeform 6">
              <a:extLst>
                <a:ext uri="{FF2B5EF4-FFF2-40B4-BE49-F238E27FC236}">
                  <a16:creationId xmlns:a16="http://schemas.microsoft.com/office/drawing/2014/main" id="{9405758E-D072-4AD3-902C-6FDCE4BBB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88" name="Freeform 7">
              <a:extLst>
                <a:ext uri="{FF2B5EF4-FFF2-40B4-BE49-F238E27FC236}">
                  <a16:creationId xmlns:a16="http://schemas.microsoft.com/office/drawing/2014/main" id="{FE726456-FBB1-4CC2-BD2E-B015F8DFD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89" name="Rectangle 8">
              <a:extLst>
                <a:ext uri="{FF2B5EF4-FFF2-40B4-BE49-F238E27FC236}">
                  <a16:creationId xmlns:a16="http://schemas.microsoft.com/office/drawing/2014/main" id="{0B8E6F6A-0965-4138-AAE1-7CC815534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0" name="Freeform 9">
              <a:extLst>
                <a:ext uri="{FF2B5EF4-FFF2-40B4-BE49-F238E27FC236}">
                  <a16:creationId xmlns:a16="http://schemas.microsoft.com/office/drawing/2014/main" id="{D4A2F20A-DF8D-4C04-B2F1-5F0DB130B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1" name="Freeform 10">
              <a:extLst>
                <a:ext uri="{FF2B5EF4-FFF2-40B4-BE49-F238E27FC236}">
                  <a16:creationId xmlns:a16="http://schemas.microsoft.com/office/drawing/2014/main" id="{7AB3FC9E-4FE6-4962-AFF7-3F793F54A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2" name="Freeform 11">
              <a:extLst>
                <a:ext uri="{FF2B5EF4-FFF2-40B4-BE49-F238E27FC236}">
                  <a16:creationId xmlns:a16="http://schemas.microsoft.com/office/drawing/2014/main" id="{669BD32A-ED50-4B3E-A555-3E650F318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3" name="Freeform 12">
              <a:extLst>
                <a:ext uri="{FF2B5EF4-FFF2-40B4-BE49-F238E27FC236}">
                  <a16:creationId xmlns:a16="http://schemas.microsoft.com/office/drawing/2014/main" id="{40EC9856-B0F2-4010-84F6-57110770C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4" name="Freeform 13">
              <a:extLst>
                <a:ext uri="{FF2B5EF4-FFF2-40B4-BE49-F238E27FC236}">
                  <a16:creationId xmlns:a16="http://schemas.microsoft.com/office/drawing/2014/main" id="{595117CC-E74F-4808-9AE3-92B051D9B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5" name="Freeform 14">
              <a:extLst>
                <a:ext uri="{FF2B5EF4-FFF2-40B4-BE49-F238E27FC236}">
                  <a16:creationId xmlns:a16="http://schemas.microsoft.com/office/drawing/2014/main" id="{890B6ACC-0E70-4172-95F6-6EC69C74D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6" name="Freeform 15">
              <a:extLst>
                <a:ext uri="{FF2B5EF4-FFF2-40B4-BE49-F238E27FC236}">
                  <a16:creationId xmlns:a16="http://schemas.microsoft.com/office/drawing/2014/main" id="{D95D07C9-0BA8-45AE-A4B1-BC13B464A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7" name="Freeform 16">
              <a:extLst>
                <a:ext uri="{FF2B5EF4-FFF2-40B4-BE49-F238E27FC236}">
                  <a16:creationId xmlns:a16="http://schemas.microsoft.com/office/drawing/2014/main" id="{C74750D5-2C12-499F-8DCE-EF0C16D81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8" name="Freeform 17">
              <a:extLst>
                <a:ext uri="{FF2B5EF4-FFF2-40B4-BE49-F238E27FC236}">
                  <a16:creationId xmlns:a16="http://schemas.microsoft.com/office/drawing/2014/main" id="{9E2750D8-9F13-46E3-A129-94AEC36A7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9" name="Freeform 18">
              <a:extLst>
                <a:ext uri="{FF2B5EF4-FFF2-40B4-BE49-F238E27FC236}">
                  <a16:creationId xmlns:a16="http://schemas.microsoft.com/office/drawing/2014/main" id="{57F0E6E3-89E6-4D9C-B576-DA509892B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0" name="Freeform 19">
              <a:extLst>
                <a:ext uri="{FF2B5EF4-FFF2-40B4-BE49-F238E27FC236}">
                  <a16:creationId xmlns:a16="http://schemas.microsoft.com/office/drawing/2014/main" id="{9C0CBFCD-212D-4717-8C66-5587EE0903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1" name="Freeform 20">
              <a:extLst>
                <a:ext uri="{FF2B5EF4-FFF2-40B4-BE49-F238E27FC236}">
                  <a16:creationId xmlns:a16="http://schemas.microsoft.com/office/drawing/2014/main" id="{2D2DE3E4-763D-441B-9E18-4D80B1F25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2" name="Freeform 21">
              <a:extLst>
                <a:ext uri="{FF2B5EF4-FFF2-40B4-BE49-F238E27FC236}">
                  <a16:creationId xmlns:a16="http://schemas.microsoft.com/office/drawing/2014/main" id="{1E05A5C7-CC8E-4EB7-B3C6-5256E1DFA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3" name="Freeform 22">
              <a:extLst>
                <a:ext uri="{FF2B5EF4-FFF2-40B4-BE49-F238E27FC236}">
                  <a16:creationId xmlns:a16="http://schemas.microsoft.com/office/drawing/2014/main" id="{75197A4A-46CA-4C4D-861E-408AC37F4B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4" name="Freeform 23">
              <a:extLst>
                <a:ext uri="{FF2B5EF4-FFF2-40B4-BE49-F238E27FC236}">
                  <a16:creationId xmlns:a16="http://schemas.microsoft.com/office/drawing/2014/main" id="{608D3D40-462C-4014-8F86-29D1065FD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5" name="Freeform 24">
              <a:extLst>
                <a:ext uri="{FF2B5EF4-FFF2-40B4-BE49-F238E27FC236}">
                  <a16:creationId xmlns:a16="http://schemas.microsoft.com/office/drawing/2014/main" id="{D3229829-DD99-49CB-9EC0-78415110F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6" name="Freeform 25">
              <a:extLst>
                <a:ext uri="{FF2B5EF4-FFF2-40B4-BE49-F238E27FC236}">
                  <a16:creationId xmlns:a16="http://schemas.microsoft.com/office/drawing/2014/main" id="{6A9CB519-0CCC-43D9-8E7A-51C37E78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7" name="Freeform 26">
              <a:extLst>
                <a:ext uri="{FF2B5EF4-FFF2-40B4-BE49-F238E27FC236}">
                  <a16:creationId xmlns:a16="http://schemas.microsoft.com/office/drawing/2014/main" id="{CF3862FE-29F3-44BB-9D07-5A156B0972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8" name="Freeform 27">
              <a:extLst>
                <a:ext uri="{FF2B5EF4-FFF2-40B4-BE49-F238E27FC236}">
                  <a16:creationId xmlns:a16="http://schemas.microsoft.com/office/drawing/2014/main" id="{A979D5EA-5C9A-477B-B59F-82E2BA5CE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9" name="Freeform 28">
              <a:extLst>
                <a:ext uri="{FF2B5EF4-FFF2-40B4-BE49-F238E27FC236}">
                  <a16:creationId xmlns:a16="http://schemas.microsoft.com/office/drawing/2014/main" id="{6CD5DBAF-645E-44CB-AE3C-7D0DE26AF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0" name="Freeform 29">
              <a:extLst>
                <a:ext uri="{FF2B5EF4-FFF2-40B4-BE49-F238E27FC236}">
                  <a16:creationId xmlns:a16="http://schemas.microsoft.com/office/drawing/2014/main" id="{D1A22D1B-67EB-413A-BBEB-3FBFB1006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1" name="Freeform 30">
              <a:extLst>
                <a:ext uri="{FF2B5EF4-FFF2-40B4-BE49-F238E27FC236}">
                  <a16:creationId xmlns:a16="http://schemas.microsoft.com/office/drawing/2014/main" id="{D8E3D532-E05E-40CC-B74A-BEEA7BBED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2" name="Freeform 31">
              <a:extLst>
                <a:ext uri="{FF2B5EF4-FFF2-40B4-BE49-F238E27FC236}">
                  <a16:creationId xmlns:a16="http://schemas.microsoft.com/office/drawing/2014/main" id="{5E552923-7BD3-407F-9B12-5838050181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3" name="Freeform 32">
              <a:extLst>
                <a:ext uri="{FF2B5EF4-FFF2-40B4-BE49-F238E27FC236}">
                  <a16:creationId xmlns:a16="http://schemas.microsoft.com/office/drawing/2014/main" id="{DF381AD7-ABB7-4FB7-9B36-62C47958BF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4" name="Rectangle 33">
              <a:extLst>
                <a:ext uri="{FF2B5EF4-FFF2-40B4-BE49-F238E27FC236}">
                  <a16:creationId xmlns:a16="http://schemas.microsoft.com/office/drawing/2014/main" id="{55CA4B15-15B0-4E9E-9A25-572398B31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5" name="Freeform 34">
              <a:extLst>
                <a:ext uri="{FF2B5EF4-FFF2-40B4-BE49-F238E27FC236}">
                  <a16:creationId xmlns:a16="http://schemas.microsoft.com/office/drawing/2014/main" id="{DC618A79-2BF7-4B7D-B4D0-5704ACD1A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6" name="Freeform 35">
              <a:extLst>
                <a:ext uri="{FF2B5EF4-FFF2-40B4-BE49-F238E27FC236}">
                  <a16:creationId xmlns:a16="http://schemas.microsoft.com/office/drawing/2014/main" id="{3D6DF204-2F07-42CD-809A-9E52AC8A4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7" name="Freeform 36">
              <a:extLst>
                <a:ext uri="{FF2B5EF4-FFF2-40B4-BE49-F238E27FC236}">
                  <a16:creationId xmlns:a16="http://schemas.microsoft.com/office/drawing/2014/main" id="{91DE9D6C-34ED-40C7-9A13-8DBCAABB7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8" name="Freeform 37">
              <a:extLst>
                <a:ext uri="{FF2B5EF4-FFF2-40B4-BE49-F238E27FC236}">
                  <a16:creationId xmlns:a16="http://schemas.microsoft.com/office/drawing/2014/main" id="{1FA67630-5F58-447B-92A3-FCF6A17C77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9" name="Freeform 38">
              <a:extLst>
                <a:ext uri="{FF2B5EF4-FFF2-40B4-BE49-F238E27FC236}">
                  <a16:creationId xmlns:a16="http://schemas.microsoft.com/office/drawing/2014/main" id="{F7714E5F-8563-4441-869B-1C3A7A54F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0" name="Freeform 39">
              <a:extLst>
                <a:ext uri="{FF2B5EF4-FFF2-40B4-BE49-F238E27FC236}">
                  <a16:creationId xmlns:a16="http://schemas.microsoft.com/office/drawing/2014/main" id="{E316ABCD-A6C8-4992-BB97-86776F586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1" name="Freeform 40">
              <a:extLst>
                <a:ext uri="{FF2B5EF4-FFF2-40B4-BE49-F238E27FC236}">
                  <a16:creationId xmlns:a16="http://schemas.microsoft.com/office/drawing/2014/main" id="{C1BF4675-2ABD-42AB-BD1A-AEE1F305C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2" name="Freeform 41">
              <a:extLst>
                <a:ext uri="{FF2B5EF4-FFF2-40B4-BE49-F238E27FC236}">
                  <a16:creationId xmlns:a16="http://schemas.microsoft.com/office/drawing/2014/main" id="{3DDA76F0-835D-4F1E-A16C-2096C0A1C4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3" name="Freeform 42">
              <a:extLst>
                <a:ext uri="{FF2B5EF4-FFF2-40B4-BE49-F238E27FC236}">
                  <a16:creationId xmlns:a16="http://schemas.microsoft.com/office/drawing/2014/main" id="{5E7E7576-6EA1-4512-A61E-0101CD145C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4" name="Freeform 43">
              <a:extLst>
                <a:ext uri="{FF2B5EF4-FFF2-40B4-BE49-F238E27FC236}">
                  <a16:creationId xmlns:a16="http://schemas.microsoft.com/office/drawing/2014/main" id="{ED8BDDBB-29FD-48A3-83CB-9FA138E6D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5" name="Freeform 44">
              <a:extLst>
                <a:ext uri="{FF2B5EF4-FFF2-40B4-BE49-F238E27FC236}">
                  <a16:creationId xmlns:a16="http://schemas.microsoft.com/office/drawing/2014/main" id="{0A2D8F38-A265-46AD-A3B4-A41814275D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6" name="Rectangle 45">
              <a:extLst>
                <a:ext uri="{FF2B5EF4-FFF2-40B4-BE49-F238E27FC236}">
                  <a16:creationId xmlns:a16="http://schemas.microsoft.com/office/drawing/2014/main" id="{41EADFC9-33E0-4262-8F29-B6B30A3777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7" name="Freeform 46">
              <a:extLst>
                <a:ext uri="{FF2B5EF4-FFF2-40B4-BE49-F238E27FC236}">
                  <a16:creationId xmlns:a16="http://schemas.microsoft.com/office/drawing/2014/main" id="{D78E413D-77D6-4CC8-92A5-29759F86E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8" name="Freeform 47">
              <a:extLst>
                <a:ext uri="{FF2B5EF4-FFF2-40B4-BE49-F238E27FC236}">
                  <a16:creationId xmlns:a16="http://schemas.microsoft.com/office/drawing/2014/main" id="{902171DA-8C2A-4217-992F-B80AE5668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9" name="Freeform 48">
              <a:extLst>
                <a:ext uri="{FF2B5EF4-FFF2-40B4-BE49-F238E27FC236}">
                  <a16:creationId xmlns:a16="http://schemas.microsoft.com/office/drawing/2014/main" id="{F52A3954-9682-4B04-BA90-2287CD1F02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0" name="Freeform 49">
              <a:extLst>
                <a:ext uri="{FF2B5EF4-FFF2-40B4-BE49-F238E27FC236}">
                  <a16:creationId xmlns:a16="http://schemas.microsoft.com/office/drawing/2014/main" id="{D60C3A05-4B47-43C6-BAAB-83C06F42BB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1" name="Freeform 50">
              <a:extLst>
                <a:ext uri="{FF2B5EF4-FFF2-40B4-BE49-F238E27FC236}">
                  <a16:creationId xmlns:a16="http://schemas.microsoft.com/office/drawing/2014/main" id="{401B64E2-BA91-468B-8555-ABCA47A362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2" name="Freeform 51">
              <a:extLst>
                <a:ext uri="{FF2B5EF4-FFF2-40B4-BE49-F238E27FC236}">
                  <a16:creationId xmlns:a16="http://schemas.microsoft.com/office/drawing/2014/main" id="{8DF0C80D-9A4C-4F11-A2FD-3DB7CDA682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3" name="Freeform 52">
              <a:extLst>
                <a:ext uri="{FF2B5EF4-FFF2-40B4-BE49-F238E27FC236}">
                  <a16:creationId xmlns:a16="http://schemas.microsoft.com/office/drawing/2014/main" id="{06F64E4C-7BB2-4AFD-936F-9316A419B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4" name="Freeform 53">
              <a:extLst>
                <a:ext uri="{FF2B5EF4-FFF2-40B4-BE49-F238E27FC236}">
                  <a16:creationId xmlns:a16="http://schemas.microsoft.com/office/drawing/2014/main" id="{5BF078F4-D2A8-457E-8D90-8D4C38C8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5" name="Freeform 54">
              <a:extLst>
                <a:ext uri="{FF2B5EF4-FFF2-40B4-BE49-F238E27FC236}">
                  <a16:creationId xmlns:a16="http://schemas.microsoft.com/office/drawing/2014/main" id="{4585F3CA-FCAC-4FD0-9929-39F31E12D8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6" name="Freeform 55">
              <a:extLst>
                <a:ext uri="{FF2B5EF4-FFF2-40B4-BE49-F238E27FC236}">
                  <a16:creationId xmlns:a16="http://schemas.microsoft.com/office/drawing/2014/main" id="{F62D2833-E344-478F-B6F9-814BC27B24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7" name="Freeform 56">
              <a:extLst>
                <a:ext uri="{FF2B5EF4-FFF2-40B4-BE49-F238E27FC236}">
                  <a16:creationId xmlns:a16="http://schemas.microsoft.com/office/drawing/2014/main" id="{8C206124-341E-4954-9597-120E6E3C8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8" name="Freeform 57">
              <a:extLst>
                <a:ext uri="{FF2B5EF4-FFF2-40B4-BE49-F238E27FC236}">
                  <a16:creationId xmlns:a16="http://schemas.microsoft.com/office/drawing/2014/main" id="{0E2455E7-C7B2-43E7-845B-EDE9C8987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9" name="Freeform 58">
              <a:extLst>
                <a:ext uri="{FF2B5EF4-FFF2-40B4-BE49-F238E27FC236}">
                  <a16:creationId xmlns:a16="http://schemas.microsoft.com/office/drawing/2014/main" id="{FBB2D8D5-591D-4199-A582-1F8C2E0BA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354DDC5-6CF8-5248-F9BF-AB778E63A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1209" y="618518"/>
            <a:ext cx="5877676" cy="1478570"/>
          </a:xfrm>
        </p:spPr>
        <p:txBody>
          <a:bodyPr>
            <a:normAutofit/>
          </a:bodyPr>
          <a:lstStyle/>
          <a:p>
            <a:r>
              <a:rPr lang="en-US" dirty="0"/>
              <a:t>Biliary Disease: Choledocholithiasis </a:t>
            </a:r>
          </a:p>
        </p:txBody>
      </p:sp>
      <p:pic>
        <p:nvPicPr>
          <p:cNvPr id="3074" name="Picture 2" descr="What Happens During an ERCP Procedure? - B.P. Poddar Hospital">
            <a:extLst>
              <a:ext uri="{FF2B5EF4-FFF2-40B4-BE49-F238E27FC236}">
                <a16:creationId xmlns:a16="http://schemas.microsoft.com/office/drawing/2014/main" id="{0E6A39AD-E21D-D414-BAB4-61E016DF4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5597" y="1"/>
            <a:ext cx="4635583" cy="3427413"/>
          </a:xfrm>
          <a:custGeom>
            <a:avLst/>
            <a:gdLst/>
            <a:ahLst/>
            <a:cxnLst/>
            <a:rect l="l" t="t" r="r" b="b"/>
            <a:pathLst>
              <a:path w="4635583" h="3427413">
                <a:moveTo>
                  <a:pt x="0" y="0"/>
                </a:moveTo>
                <a:lnTo>
                  <a:pt x="4635583" y="0"/>
                </a:lnTo>
                <a:lnTo>
                  <a:pt x="4635583" y="3427413"/>
                </a:lnTo>
                <a:lnTo>
                  <a:pt x="0" y="342741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ommon Bile Duct Stones and Exploration | Oncohema Key">
            <a:extLst>
              <a:ext uri="{FF2B5EF4-FFF2-40B4-BE49-F238E27FC236}">
                <a16:creationId xmlns:a16="http://schemas.microsoft.com/office/drawing/2014/main" id="{FD650F00-980B-E6A2-CC38-07CFBD3BD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1"/>
          <a:stretch>
            <a:fillRect/>
          </a:stretch>
        </p:blipFill>
        <p:spPr bwMode="auto">
          <a:xfrm>
            <a:off x="-5597" y="3427414"/>
            <a:ext cx="4635583" cy="3430587"/>
          </a:xfrm>
          <a:custGeom>
            <a:avLst/>
            <a:gdLst/>
            <a:ahLst/>
            <a:cxnLst/>
            <a:rect l="l" t="t" r="r" b="b"/>
            <a:pathLst>
              <a:path w="4635583" h="3430587">
                <a:moveTo>
                  <a:pt x="0" y="0"/>
                </a:moveTo>
                <a:lnTo>
                  <a:pt x="4635583" y="0"/>
                </a:lnTo>
                <a:lnTo>
                  <a:pt x="4635583" y="3430587"/>
                </a:lnTo>
                <a:lnTo>
                  <a:pt x="0" y="343058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41" name="Straight Connector 3140">
            <a:extLst>
              <a:ext uri="{FF2B5EF4-FFF2-40B4-BE49-F238E27FC236}">
                <a16:creationId xmlns:a16="http://schemas.microsoft.com/office/drawing/2014/main" id="{B651A6A2-000C-408B-A971-F3DB41B1A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32483" y="-464"/>
            <a:ext cx="2646" cy="6858465"/>
          </a:xfrm>
          <a:prstGeom prst="line">
            <a:avLst/>
          </a:prstGeom>
          <a:solidFill>
            <a:schemeClr val="tx2">
              <a:alpha val="60000"/>
            </a:schemeClr>
          </a:solidFill>
          <a:ln w="19050">
            <a:solidFill>
              <a:schemeClr val="tx2">
                <a:alpha val="60000"/>
              </a:schemeClr>
            </a:solidFill>
          </a:ln>
          <a:effectLst>
            <a:outerShdw blurRad="50800" dist="38100" dir="2700000" algn="tl" rotWithShape="0">
              <a:srgbClr val="000000">
                <a:alpha val="58000"/>
              </a:srgbClr>
            </a:outerShdw>
          </a:effectLst>
        </p:spPr>
      </p:cxnSp>
      <p:cxnSp>
        <p:nvCxnSpPr>
          <p:cNvPr id="3143" name="Straight Connector 3142">
            <a:extLst>
              <a:ext uri="{FF2B5EF4-FFF2-40B4-BE49-F238E27FC236}">
                <a16:creationId xmlns:a16="http://schemas.microsoft.com/office/drawing/2014/main" id="{07ADFC46-D39A-49F8-9F1D-543E06347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5597" y="3427414"/>
            <a:ext cx="4635583" cy="0"/>
          </a:xfrm>
          <a:prstGeom prst="line">
            <a:avLst/>
          </a:prstGeom>
          <a:solidFill>
            <a:schemeClr val="tx2">
              <a:alpha val="60000"/>
            </a:schemeClr>
          </a:solidFill>
          <a:ln w="19050">
            <a:solidFill>
              <a:schemeClr val="tx2">
                <a:alpha val="60000"/>
              </a:schemeClr>
            </a:solidFill>
          </a:ln>
          <a:effectLst>
            <a:outerShdw blurRad="50800" dist="38100" dir="2700000" algn="tl" rotWithShape="0">
              <a:srgbClr val="000000">
                <a:alpha val="58000"/>
              </a:srgbClr>
            </a:outerShdw>
          </a:effectLst>
        </p:spPr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C6AA6-8B72-627D-6CDE-FD60803F8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1209" y="2249486"/>
            <a:ext cx="5877677" cy="4191001"/>
          </a:xfrm>
        </p:spPr>
        <p:txBody>
          <a:bodyPr>
            <a:normAutofit/>
          </a:bodyPr>
          <a:lstStyle/>
          <a:p>
            <a:r>
              <a:rPr lang="en-US" dirty="0"/>
              <a:t>Management:</a:t>
            </a:r>
          </a:p>
          <a:p>
            <a:pPr lvl="1"/>
            <a:r>
              <a:rPr lang="en-US" dirty="0"/>
              <a:t>ERCP is the preferred treatment (is both diagnostic and therapeutic) </a:t>
            </a:r>
          </a:p>
          <a:p>
            <a:pPr lvl="1"/>
            <a:r>
              <a:rPr lang="en-US" dirty="0"/>
              <a:t>Can consider cholecystectomy as well </a:t>
            </a:r>
          </a:p>
          <a:p>
            <a:pPr lvl="1"/>
            <a:r>
              <a:rPr lang="en-US" dirty="0"/>
              <a:t>If complications from gallstone (cholangitis/pancreatitis), additional treatment may be required. </a:t>
            </a:r>
          </a:p>
        </p:txBody>
      </p:sp>
    </p:spTree>
    <p:extLst>
      <p:ext uri="{BB962C8B-B14F-4D97-AF65-F5344CB8AC3E}">
        <p14:creationId xmlns:p14="http://schemas.microsoft.com/office/powerpoint/2010/main" val="3099650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F7C43-44C0-85C0-14D8-6DDDD2C8D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Biliary Disease: Ascending Cholangitis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CE86E-3434-5B73-FC28-90B2E3729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6"/>
            <a:ext cx="6557610" cy="3989995"/>
          </a:xfrm>
        </p:spPr>
        <p:txBody>
          <a:bodyPr/>
          <a:lstStyle/>
          <a:p>
            <a:r>
              <a:rPr lang="en-US" dirty="0"/>
              <a:t>Cholangitis: biliary tract inflammation and infection due to obstruction of the common bile duct. </a:t>
            </a:r>
          </a:p>
          <a:p>
            <a:r>
              <a:rPr lang="en-US" dirty="0"/>
              <a:t>Infectious process: MC from Gram negative organisms (E. Coli MC, Klebsiella etc.)</a:t>
            </a:r>
          </a:p>
          <a:p>
            <a:r>
              <a:rPr lang="en-US" dirty="0"/>
              <a:t>Other causes: malignancy (tumor, parasites, tapeworms) </a:t>
            </a:r>
          </a:p>
        </p:txBody>
      </p:sp>
      <p:pic>
        <p:nvPicPr>
          <p:cNvPr id="4098" name="Picture 2" descr="Cholangitis pathophysiology - wikidoc">
            <a:extLst>
              <a:ext uri="{FF2B5EF4-FFF2-40B4-BE49-F238E27FC236}">
                <a16:creationId xmlns:a16="http://schemas.microsoft.com/office/drawing/2014/main" id="{5F3955F9-B902-4F38-1F43-7F561BC9B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90727" y="1959301"/>
            <a:ext cx="3518898" cy="3901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47446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62CF6-1767-762A-9C0C-97B09EA67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80" y="614832"/>
            <a:ext cx="5985897" cy="1478570"/>
          </a:xfrm>
        </p:spPr>
        <p:txBody>
          <a:bodyPr/>
          <a:lstStyle/>
          <a:p>
            <a:r>
              <a:rPr lang="en-US" dirty="0"/>
              <a:t>Biliary Disease: Ascending Cholangitis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B3F2B-C69A-DD75-38F4-F9F0FE6D3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936" y="1823600"/>
            <a:ext cx="5451298" cy="471498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Clinical Manifestations: </a:t>
            </a:r>
          </a:p>
          <a:p>
            <a:pPr lvl="1"/>
            <a:r>
              <a:rPr lang="en-US" dirty="0"/>
              <a:t>Symptoms: fever, chills, fatigue/malaise, rigors, abdominal pain, jaundice, pale stools (lack of bile)</a:t>
            </a:r>
          </a:p>
          <a:p>
            <a:pPr lvl="1"/>
            <a:r>
              <a:rPr lang="en-US" dirty="0"/>
              <a:t>CHARCOT’S TRIAD: fever with chills, RUQ pain, and Jaundice</a:t>
            </a:r>
          </a:p>
          <a:p>
            <a:pPr lvl="1"/>
            <a:r>
              <a:rPr lang="en-US" dirty="0"/>
              <a:t>REYNOLDS PENTAD: fever with chills, RUQ pain, Jaundice, Hypotension (shock), AMS </a:t>
            </a:r>
          </a:p>
          <a:p>
            <a:pPr lvl="1"/>
            <a:r>
              <a:rPr lang="en-US" dirty="0"/>
              <a:t>PE: fever, hypotension, RUQ Pain, Abdominal distention, AMS (WHY?) 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YOU MUST KNOW THESE!  </a:t>
            </a:r>
          </a:p>
        </p:txBody>
      </p:sp>
      <p:pic>
        <p:nvPicPr>
          <p:cNvPr id="5122" name="Picture 2" descr="Cholangitis – Core EM">
            <a:extLst>
              <a:ext uri="{FF2B5EF4-FFF2-40B4-BE49-F238E27FC236}">
                <a16:creationId xmlns:a16="http://schemas.microsoft.com/office/drawing/2014/main" id="{4E00FD98-0A71-7F18-332D-1581CD3C2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74589" y="84117"/>
            <a:ext cx="5080000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Reynolds pentad expands on Charcot's triad with hypotension &amp; altered mental status – severe acute cholangitis! #ReynoldsPentad #Cholangitis #MedicalMnemonics #KingOfTheCurve">
            <a:extLst>
              <a:ext uri="{FF2B5EF4-FFF2-40B4-BE49-F238E27FC236}">
                <a16:creationId xmlns:a16="http://schemas.microsoft.com/office/drawing/2014/main" id="{73F21F81-D28F-10A2-AF1C-E1B90E577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5721" y="2776487"/>
            <a:ext cx="3579157" cy="3579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72714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57B78-29DC-BDD8-DD30-471C51070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479" y="-149126"/>
            <a:ext cx="9905998" cy="1478570"/>
          </a:xfrm>
        </p:spPr>
        <p:txBody>
          <a:bodyPr/>
          <a:lstStyle/>
          <a:p>
            <a:r>
              <a:rPr lang="en-US" dirty="0"/>
              <a:t>Biliary Disease: Ascending Cholangitis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B7183-3A7E-D08D-D7C8-F8BAF5A76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390" y="1058510"/>
            <a:ext cx="6715655" cy="560193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Diagnostics: </a:t>
            </a:r>
          </a:p>
          <a:p>
            <a:pPr lvl="1"/>
            <a:r>
              <a:rPr lang="en-US" dirty="0"/>
              <a:t>CBC with diff: leukocytosis (with left shift) </a:t>
            </a:r>
          </a:p>
          <a:p>
            <a:pPr lvl="1"/>
            <a:r>
              <a:rPr lang="en-US" dirty="0"/>
              <a:t>CMP: elevated LFTs (cholestasis elevate ALP/GGT), hyperbilirubinemia (conjugated), elevated ammonia</a:t>
            </a:r>
          </a:p>
          <a:p>
            <a:pPr lvl="1"/>
            <a:r>
              <a:rPr lang="en-US" dirty="0"/>
              <a:t>Coagulation Studies: prolonged PT/PTT/INR</a:t>
            </a:r>
          </a:p>
          <a:p>
            <a:pPr lvl="1"/>
            <a:r>
              <a:rPr lang="en-US" dirty="0"/>
              <a:t>Lactic Acid, Procalcitonin </a:t>
            </a:r>
          </a:p>
          <a:p>
            <a:pPr lvl="1"/>
            <a:r>
              <a:rPr lang="en-US" dirty="0"/>
              <a:t>Blood cultures x 2</a:t>
            </a:r>
          </a:p>
          <a:p>
            <a:pPr lvl="1"/>
            <a:r>
              <a:rPr lang="en-US" dirty="0"/>
              <a:t>Abd (RUQ) US: initial test of choice – common bule duct dilation or stones, thickening of the bile duct walls, pyogenic material</a:t>
            </a:r>
          </a:p>
          <a:p>
            <a:pPr lvl="1"/>
            <a:r>
              <a:rPr lang="en-US" dirty="0"/>
              <a:t>Consider CT Scan if US non–conclusive</a:t>
            </a:r>
          </a:p>
          <a:p>
            <a:pPr lvl="1"/>
            <a:r>
              <a:rPr lang="en-US" dirty="0"/>
              <a:t>Cholangiography: GOLD Standard – ERCP (PTC – percutaneous transhepatic cholangiography can also be considered) </a:t>
            </a:r>
          </a:p>
        </p:txBody>
      </p:sp>
      <p:pic>
        <p:nvPicPr>
          <p:cNvPr id="6146" name="Picture 2" descr="Acute cholangitis - an update">
            <a:extLst>
              <a:ext uri="{FF2B5EF4-FFF2-40B4-BE49-F238E27FC236}">
                <a16:creationId xmlns:a16="http://schemas.microsoft.com/office/drawing/2014/main" id="{7700087C-D6C3-994A-4AA4-D46D3C9ED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62298" y="876821"/>
            <a:ext cx="4163489" cy="4551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40785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9D965-9F29-1170-6A09-35C4D6B4B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6840167" cy="1478570"/>
          </a:xfrm>
        </p:spPr>
        <p:txBody>
          <a:bodyPr/>
          <a:lstStyle/>
          <a:p>
            <a:r>
              <a:rPr lang="en-US" dirty="0"/>
              <a:t>Biliary Disease: Ascending Cholangitis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A6D2A-0870-2B68-9A86-98740BB24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302" y="1854375"/>
            <a:ext cx="6681788" cy="398999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Management: </a:t>
            </a:r>
          </a:p>
          <a:p>
            <a:pPr lvl="1"/>
            <a:r>
              <a:rPr lang="en-US" dirty="0"/>
              <a:t>Start IV Antibiotics (which ones?) </a:t>
            </a:r>
          </a:p>
          <a:p>
            <a:pPr lvl="1"/>
            <a:r>
              <a:rPr lang="en-US" dirty="0"/>
              <a:t>IVF, antiemetics</a:t>
            </a:r>
          </a:p>
          <a:p>
            <a:pPr lvl="1"/>
            <a:r>
              <a:rPr lang="en-US" dirty="0"/>
              <a:t>ERCP: e</a:t>
            </a:r>
            <a:r>
              <a:rPr lang="en-US" dirty="0">
                <a:effectLst/>
              </a:rPr>
              <a:t>ndoscopic sphincterotomy with stone extraction and/or stent insertion for establishing biliary drainage in acute cholangitis </a:t>
            </a:r>
          </a:p>
          <a:p>
            <a:pPr lvl="1"/>
            <a:r>
              <a:rPr lang="en-US" dirty="0"/>
              <a:t>PCT (percutaneous cholecystostomy tube) - considered in patient who are unstable or can’t tolerate ERCP or ERCP not successful </a:t>
            </a:r>
          </a:p>
          <a:p>
            <a:pPr lvl="1"/>
            <a:r>
              <a:rPr lang="en-US" dirty="0"/>
              <a:t>Open Surgical Decompression + drain-tube insertion if other methods have failed </a:t>
            </a:r>
          </a:p>
          <a:p>
            <a:pPr lvl="1"/>
            <a:endParaRPr lang="en-US" dirty="0"/>
          </a:p>
        </p:txBody>
      </p:sp>
      <p:pic>
        <p:nvPicPr>
          <p:cNvPr id="7170" name="Picture 2" descr="Percutaneous gallbladder drainage set and postprocedural view. (A)... |  Download Scientific Diagram">
            <a:extLst>
              <a:ext uri="{FF2B5EF4-FFF2-40B4-BE49-F238E27FC236}">
                <a16:creationId xmlns:a16="http://schemas.microsoft.com/office/drawing/2014/main" id="{033529F8-FD46-8DCC-7EDA-61EBDD586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81580" y="1114817"/>
            <a:ext cx="3849513" cy="4302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69274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C9638-816B-3937-CDCB-EF02438D2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Acute Pancreatitis: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8419-EA63-F1E7-A17F-5AA2A7DFF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6"/>
            <a:ext cx="6236418" cy="4163839"/>
          </a:xfrm>
        </p:spPr>
        <p:txBody>
          <a:bodyPr>
            <a:normAutofit/>
          </a:bodyPr>
          <a:lstStyle/>
          <a:p>
            <a:r>
              <a:rPr lang="en-US" sz="2000" dirty="0"/>
              <a:t>Acute Pancreatitis: inflammation of the pancreas</a:t>
            </a:r>
          </a:p>
          <a:p>
            <a:r>
              <a:rPr lang="en-US" sz="2000" dirty="0"/>
              <a:t>Pathology caused by acinar cell injury leading to intracellular activation of the pancreatic enzymes causing autodigestion of the pancreas</a:t>
            </a:r>
          </a:p>
          <a:p>
            <a:r>
              <a:rPr lang="en-US" sz="2000" dirty="0"/>
              <a:t>Etiologies: Gallstones MC, alcohol abuse</a:t>
            </a:r>
          </a:p>
          <a:p>
            <a:pPr lvl="1"/>
            <a:r>
              <a:rPr lang="en-US" dirty="0"/>
              <a:t>Medications: Thiazides, Protease Inhibitors, Estrogens, Exenatide, Valproic Acid</a:t>
            </a:r>
          </a:p>
        </p:txBody>
      </p:sp>
      <p:pic>
        <p:nvPicPr>
          <p:cNvPr id="21506" name="Picture 2" descr="Pancreatitis: Symptoms, Causes &amp; Treatment">
            <a:extLst>
              <a:ext uri="{FF2B5EF4-FFF2-40B4-BE49-F238E27FC236}">
                <a16:creationId xmlns:a16="http://schemas.microsoft.com/office/drawing/2014/main" id="{51419AC9-A6E5-C886-9FF8-60E64CC41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71459" y="1791220"/>
            <a:ext cx="3252383" cy="3613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75486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43" name="Group 22542">
            <a:extLst>
              <a:ext uri="{FF2B5EF4-FFF2-40B4-BE49-F238E27FC236}">
                <a16:creationId xmlns:a16="http://schemas.microsoft.com/office/drawing/2014/main" id="{7FF5C675-8A85-433E-8B62-972333B74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22544" name="Rectangle 22543">
              <a:extLst>
                <a:ext uri="{FF2B5EF4-FFF2-40B4-BE49-F238E27FC236}">
                  <a16:creationId xmlns:a16="http://schemas.microsoft.com/office/drawing/2014/main" id="{4B4E3796-B034-4A3E-AD1A-85F6741A5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2545" name="Picture 2">
              <a:extLst>
                <a:ext uri="{FF2B5EF4-FFF2-40B4-BE49-F238E27FC236}">
                  <a16:creationId xmlns:a16="http://schemas.microsoft.com/office/drawing/2014/main" id="{818E0124-72E5-411B-8319-A8F139E67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:p14="http://schemas.microsoft.com/office/powerpoint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547" name="Group 22546">
            <a:extLst>
              <a:ext uri="{FF2B5EF4-FFF2-40B4-BE49-F238E27FC236}">
                <a16:creationId xmlns:a16="http://schemas.microsoft.com/office/drawing/2014/main" id="{C785F9A1-914D-4976-B317-B340DD6F0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81779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2548" name="Rectangle 5">
              <a:extLst>
                <a:ext uri="{FF2B5EF4-FFF2-40B4-BE49-F238E27FC236}">
                  <a16:creationId xmlns:a16="http://schemas.microsoft.com/office/drawing/2014/main" id="{2AE2AA4F-0372-4B84-B7F4-F597033163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49" name="Freeform 6">
              <a:extLst>
                <a:ext uri="{FF2B5EF4-FFF2-40B4-BE49-F238E27FC236}">
                  <a16:creationId xmlns:a16="http://schemas.microsoft.com/office/drawing/2014/main" id="{9405758E-D072-4AD3-902C-6FDCE4BBB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50" name="Freeform 7">
              <a:extLst>
                <a:ext uri="{FF2B5EF4-FFF2-40B4-BE49-F238E27FC236}">
                  <a16:creationId xmlns:a16="http://schemas.microsoft.com/office/drawing/2014/main" id="{FE726456-FBB1-4CC2-BD2E-B015F8DFD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51" name="Rectangle 8">
              <a:extLst>
                <a:ext uri="{FF2B5EF4-FFF2-40B4-BE49-F238E27FC236}">
                  <a16:creationId xmlns:a16="http://schemas.microsoft.com/office/drawing/2014/main" id="{0B8E6F6A-0965-4138-AAE1-7CC815534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52" name="Freeform 9">
              <a:extLst>
                <a:ext uri="{FF2B5EF4-FFF2-40B4-BE49-F238E27FC236}">
                  <a16:creationId xmlns:a16="http://schemas.microsoft.com/office/drawing/2014/main" id="{D4A2F20A-DF8D-4C04-B2F1-5F0DB130B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53" name="Freeform 10">
              <a:extLst>
                <a:ext uri="{FF2B5EF4-FFF2-40B4-BE49-F238E27FC236}">
                  <a16:creationId xmlns:a16="http://schemas.microsoft.com/office/drawing/2014/main" id="{7AB3FC9E-4FE6-4962-AFF7-3F793F54A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54" name="Freeform 11">
              <a:extLst>
                <a:ext uri="{FF2B5EF4-FFF2-40B4-BE49-F238E27FC236}">
                  <a16:creationId xmlns:a16="http://schemas.microsoft.com/office/drawing/2014/main" id="{669BD32A-ED50-4B3E-A555-3E650F318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55" name="Freeform 12">
              <a:extLst>
                <a:ext uri="{FF2B5EF4-FFF2-40B4-BE49-F238E27FC236}">
                  <a16:creationId xmlns:a16="http://schemas.microsoft.com/office/drawing/2014/main" id="{40EC9856-B0F2-4010-84F6-57110770C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56" name="Freeform 13">
              <a:extLst>
                <a:ext uri="{FF2B5EF4-FFF2-40B4-BE49-F238E27FC236}">
                  <a16:creationId xmlns:a16="http://schemas.microsoft.com/office/drawing/2014/main" id="{595117CC-E74F-4808-9AE3-92B051D9B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57" name="Freeform 14">
              <a:extLst>
                <a:ext uri="{FF2B5EF4-FFF2-40B4-BE49-F238E27FC236}">
                  <a16:creationId xmlns:a16="http://schemas.microsoft.com/office/drawing/2014/main" id="{890B6ACC-0E70-4172-95F6-6EC69C74D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58" name="Freeform 15">
              <a:extLst>
                <a:ext uri="{FF2B5EF4-FFF2-40B4-BE49-F238E27FC236}">
                  <a16:creationId xmlns:a16="http://schemas.microsoft.com/office/drawing/2014/main" id="{D95D07C9-0BA8-45AE-A4B1-BC13B464A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59" name="Freeform 16">
              <a:extLst>
                <a:ext uri="{FF2B5EF4-FFF2-40B4-BE49-F238E27FC236}">
                  <a16:creationId xmlns:a16="http://schemas.microsoft.com/office/drawing/2014/main" id="{C74750D5-2C12-499F-8DCE-EF0C16D81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60" name="Freeform 17">
              <a:extLst>
                <a:ext uri="{FF2B5EF4-FFF2-40B4-BE49-F238E27FC236}">
                  <a16:creationId xmlns:a16="http://schemas.microsoft.com/office/drawing/2014/main" id="{9E2750D8-9F13-46E3-A129-94AEC36A7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61" name="Freeform 18">
              <a:extLst>
                <a:ext uri="{FF2B5EF4-FFF2-40B4-BE49-F238E27FC236}">
                  <a16:creationId xmlns:a16="http://schemas.microsoft.com/office/drawing/2014/main" id="{57F0E6E3-89E6-4D9C-B576-DA509892B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62" name="Freeform 19">
              <a:extLst>
                <a:ext uri="{FF2B5EF4-FFF2-40B4-BE49-F238E27FC236}">
                  <a16:creationId xmlns:a16="http://schemas.microsoft.com/office/drawing/2014/main" id="{9C0CBFCD-212D-4717-8C66-5587EE0903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63" name="Freeform 20">
              <a:extLst>
                <a:ext uri="{FF2B5EF4-FFF2-40B4-BE49-F238E27FC236}">
                  <a16:creationId xmlns:a16="http://schemas.microsoft.com/office/drawing/2014/main" id="{2D2DE3E4-763D-441B-9E18-4D80B1F25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64" name="Freeform 21">
              <a:extLst>
                <a:ext uri="{FF2B5EF4-FFF2-40B4-BE49-F238E27FC236}">
                  <a16:creationId xmlns:a16="http://schemas.microsoft.com/office/drawing/2014/main" id="{1E05A5C7-CC8E-4EB7-B3C6-5256E1DFA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65" name="Freeform 22">
              <a:extLst>
                <a:ext uri="{FF2B5EF4-FFF2-40B4-BE49-F238E27FC236}">
                  <a16:creationId xmlns:a16="http://schemas.microsoft.com/office/drawing/2014/main" id="{75197A4A-46CA-4C4D-861E-408AC37F4B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66" name="Freeform 23">
              <a:extLst>
                <a:ext uri="{FF2B5EF4-FFF2-40B4-BE49-F238E27FC236}">
                  <a16:creationId xmlns:a16="http://schemas.microsoft.com/office/drawing/2014/main" id="{608D3D40-462C-4014-8F86-29D1065FD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67" name="Freeform 24">
              <a:extLst>
                <a:ext uri="{FF2B5EF4-FFF2-40B4-BE49-F238E27FC236}">
                  <a16:creationId xmlns:a16="http://schemas.microsoft.com/office/drawing/2014/main" id="{D3229829-DD99-49CB-9EC0-78415110F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68" name="Freeform 25">
              <a:extLst>
                <a:ext uri="{FF2B5EF4-FFF2-40B4-BE49-F238E27FC236}">
                  <a16:creationId xmlns:a16="http://schemas.microsoft.com/office/drawing/2014/main" id="{6A9CB519-0CCC-43D9-8E7A-51C37E78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69" name="Freeform 26">
              <a:extLst>
                <a:ext uri="{FF2B5EF4-FFF2-40B4-BE49-F238E27FC236}">
                  <a16:creationId xmlns:a16="http://schemas.microsoft.com/office/drawing/2014/main" id="{CF3862FE-29F3-44BB-9D07-5A156B0972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70" name="Freeform 27">
              <a:extLst>
                <a:ext uri="{FF2B5EF4-FFF2-40B4-BE49-F238E27FC236}">
                  <a16:creationId xmlns:a16="http://schemas.microsoft.com/office/drawing/2014/main" id="{A979D5EA-5C9A-477B-B59F-82E2BA5CE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71" name="Freeform 28">
              <a:extLst>
                <a:ext uri="{FF2B5EF4-FFF2-40B4-BE49-F238E27FC236}">
                  <a16:creationId xmlns:a16="http://schemas.microsoft.com/office/drawing/2014/main" id="{6CD5DBAF-645E-44CB-AE3C-7D0DE26AF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72" name="Freeform 29">
              <a:extLst>
                <a:ext uri="{FF2B5EF4-FFF2-40B4-BE49-F238E27FC236}">
                  <a16:creationId xmlns:a16="http://schemas.microsoft.com/office/drawing/2014/main" id="{D1A22D1B-67EB-413A-BBEB-3FBFB1006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73" name="Freeform 30">
              <a:extLst>
                <a:ext uri="{FF2B5EF4-FFF2-40B4-BE49-F238E27FC236}">
                  <a16:creationId xmlns:a16="http://schemas.microsoft.com/office/drawing/2014/main" id="{D8E3D532-E05E-40CC-B74A-BEEA7BBED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74" name="Freeform 31">
              <a:extLst>
                <a:ext uri="{FF2B5EF4-FFF2-40B4-BE49-F238E27FC236}">
                  <a16:creationId xmlns:a16="http://schemas.microsoft.com/office/drawing/2014/main" id="{5E552923-7BD3-407F-9B12-5838050181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75" name="Freeform 32">
              <a:extLst>
                <a:ext uri="{FF2B5EF4-FFF2-40B4-BE49-F238E27FC236}">
                  <a16:creationId xmlns:a16="http://schemas.microsoft.com/office/drawing/2014/main" id="{DF381AD7-ABB7-4FB7-9B36-62C47958BF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76" name="Rectangle 33">
              <a:extLst>
                <a:ext uri="{FF2B5EF4-FFF2-40B4-BE49-F238E27FC236}">
                  <a16:creationId xmlns:a16="http://schemas.microsoft.com/office/drawing/2014/main" id="{55CA4B15-15B0-4E9E-9A25-572398B31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77" name="Freeform 34">
              <a:extLst>
                <a:ext uri="{FF2B5EF4-FFF2-40B4-BE49-F238E27FC236}">
                  <a16:creationId xmlns:a16="http://schemas.microsoft.com/office/drawing/2014/main" id="{DC618A79-2BF7-4B7D-B4D0-5704ACD1A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78" name="Freeform 35">
              <a:extLst>
                <a:ext uri="{FF2B5EF4-FFF2-40B4-BE49-F238E27FC236}">
                  <a16:creationId xmlns:a16="http://schemas.microsoft.com/office/drawing/2014/main" id="{3D6DF204-2F07-42CD-809A-9E52AC8A4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79" name="Freeform 36">
              <a:extLst>
                <a:ext uri="{FF2B5EF4-FFF2-40B4-BE49-F238E27FC236}">
                  <a16:creationId xmlns:a16="http://schemas.microsoft.com/office/drawing/2014/main" id="{91DE9D6C-34ED-40C7-9A13-8DBCAABB7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80" name="Freeform 37">
              <a:extLst>
                <a:ext uri="{FF2B5EF4-FFF2-40B4-BE49-F238E27FC236}">
                  <a16:creationId xmlns:a16="http://schemas.microsoft.com/office/drawing/2014/main" id="{1FA67630-5F58-447B-92A3-FCF6A17C77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81" name="Freeform 38">
              <a:extLst>
                <a:ext uri="{FF2B5EF4-FFF2-40B4-BE49-F238E27FC236}">
                  <a16:creationId xmlns:a16="http://schemas.microsoft.com/office/drawing/2014/main" id="{F7714E5F-8563-4441-869B-1C3A7A54F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82" name="Freeform 39">
              <a:extLst>
                <a:ext uri="{FF2B5EF4-FFF2-40B4-BE49-F238E27FC236}">
                  <a16:creationId xmlns:a16="http://schemas.microsoft.com/office/drawing/2014/main" id="{E316ABCD-A6C8-4992-BB97-86776F586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83" name="Freeform 40">
              <a:extLst>
                <a:ext uri="{FF2B5EF4-FFF2-40B4-BE49-F238E27FC236}">
                  <a16:creationId xmlns:a16="http://schemas.microsoft.com/office/drawing/2014/main" id="{C1BF4675-2ABD-42AB-BD1A-AEE1F305C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84" name="Freeform 41">
              <a:extLst>
                <a:ext uri="{FF2B5EF4-FFF2-40B4-BE49-F238E27FC236}">
                  <a16:creationId xmlns:a16="http://schemas.microsoft.com/office/drawing/2014/main" id="{3DDA76F0-835D-4F1E-A16C-2096C0A1C4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85" name="Freeform 42">
              <a:extLst>
                <a:ext uri="{FF2B5EF4-FFF2-40B4-BE49-F238E27FC236}">
                  <a16:creationId xmlns:a16="http://schemas.microsoft.com/office/drawing/2014/main" id="{5E7E7576-6EA1-4512-A61E-0101CD145C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86" name="Freeform 43">
              <a:extLst>
                <a:ext uri="{FF2B5EF4-FFF2-40B4-BE49-F238E27FC236}">
                  <a16:creationId xmlns:a16="http://schemas.microsoft.com/office/drawing/2014/main" id="{ED8BDDBB-29FD-48A3-83CB-9FA138E6D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87" name="Freeform 44">
              <a:extLst>
                <a:ext uri="{FF2B5EF4-FFF2-40B4-BE49-F238E27FC236}">
                  <a16:creationId xmlns:a16="http://schemas.microsoft.com/office/drawing/2014/main" id="{0A2D8F38-A265-46AD-A3B4-A41814275D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88" name="Rectangle 45">
              <a:extLst>
                <a:ext uri="{FF2B5EF4-FFF2-40B4-BE49-F238E27FC236}">
                  <a16:creationId xmlns:a16="http://schemas.microsoft.com/office/drawing/2014/main" id="{41EADFC9-33E0-4262-8F29-B6B30A3777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89" name="Freeform 46">
              <a:extLst>
                <a:ext uri="{FF2B5EF4-FFF2-40B4-BE49-F238E27FC236}">
                  <a16:creationId xmlns:a16="http://schemas.microsoft.com/office/drawing/2014/main" id="{D78E413D-77D6-4CC8-92A5-29759F86E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90" name="Freeform 47">
              <a:extLst>
                <a:ext uri="{FF2B5EF4-FFF2-40B4-BE49-F238E27FC236}">
                  <a16:creationId xmlns:a16="http://schemas.microsoft.com/office/drawing/2014/main" id="{902171DA-8C2A-4217-992F-B80AE5668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91" name="Freeform 48">
              <a:extLst>
                <a:ext uri="{FF2B5EF4-FFF2-40B4-BE49-F238E27FC236}">
                  <a16:creationId xmlns:a16="http://schemas.microsoft.com/office/drawing/2014/main" id="{F52A3954-9682-4B04-BA90-2287CD1F02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92" name="Freeform 49">
              <a:extLst>
                <a:ext uri="{FF2B5EF4-FFF2-40B4-BE49-F238E27FC236}">
                  <a16:creationId xmlns:a16="http://schemas.microsoft.com/office/drawing/2014/main" id="{D60C3A05-4B47-43C6-BAAB-83C06F42BB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93" name="Freeform 50">
              <a:extLst>
                <a:ext uri="{FF2B5EF4-FFF2-40B4-BE49-F238E27FC236}">
                  <a16:creationId xmlns:a16="http://schemas.microsoft.com/office/drawing/2014/main" id="{401B64E2-BA91-468B-8555-ABCA47A362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94" name="Freeform 51">
              <a:extLst>
                <a:ext uri="{FF2B5EF4-FFF2-40B4-BE49-F238E27FC236}">
                  <a16:creationId xmlns:a16="http://schemas.microsoft.com/office/drawing/2014/main" id="{8DF0C80D-9A4C-4F11-A2FD-3DB7CDA682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95" name="Freeform 52">
              <a:extLst>
                <a:ext uri="{FF2B5EF4-FFF2-40B4-BE49-F238E27FC236}">
                  <a16:creationId xmlns:a16="http://schemas.microsoft.com/office/drawing/2014/main" id="{06F64E4C-7BB2-4AFD-936F-9316A419B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96" name="Freeform 53">
              <a:extLst>
                <a:ext uri="{FF2B5EF4-FFF2-40B4-BE49-F238E27FC236}">
                  <a16:creationId xmlns:a16="http://schemas.microsoft.com/office/drawing/2014/main" id="{5BF078F4-D2A8-457E-8D90-8D4C38C8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97" name="Freeform 54">
              <a:extLst>
                <a:ext uri="{FF2B5EF4-FFF2-40B4-BE49-F238E27FC236}">
                  <a16:creationId xmlns:a16="http://schemas.microsoft.com/office/drawing/2014/main" id="{4585F3CA-FCAC-4FD0-9929-39F31E12D8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98" name="Freeform 55">
              <a:extLst>
                <a:ext uri="{FF2B5EF4-FFF2-40B4-BE49-F238E27FC236}">
                  <a16:creationId xmlns:a16="http://schemas.microsoft.com/office/drawing/2014/main" id="{F62D2833-E344-478F-B6F9-814BC27B24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99" name="Freeform 56">
              <a:extLst>
                <a:ext uri="{FF2B5EF4-FFF2-40B4-BE49-F238E27FC236}">
                  <a16:creationId xmlns:a16="http://schemas.microsoft.com/office/drawing/2014/main" id="{8C206124-341E-4954-9597-120E6E3C8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600" name="Freeform 57">
              <a:extLst>
                <a:ext uri="{FF2B5EF4-FFF2-40B4-BE49-F238E27FC236}">
                  <a16:creationId xmlns:a16="http://schemas.microsoft.com/office/drawing/2014/main" id="{0E2455E7-C7B2-43E7-845B-EDE9C8987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601" name="Freeform 58">
              <a:extLst>
                <a:ext uri="{FF2B5EF4-FFF2-40B4-BE49-F238E27FC236}">
                  <a16:creationId xmlns:a16="http://schemas.microsoft.com/office/drawing/2014/main" id="{FBB2D8D5-591D-4199-A582-1F8C2E0BA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E728FBF-06F5-54DD-F128-457D16AE2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1209" y="618518"/>
            <a:ext cx="5877676" cy="1478570"/>
          </a:xfrm>
        </p:spPr>
        <p:txBody>
          <a:bodyPr>
            <a:normAutofit/>
          </a:bodyPr>
          <a:lstStyle/>
          <a:p>
            <a:r>
              <a:rPr lang="en-US" dirty="0"/>
              <a:t>Acute Pancreatitis: Clinical Manifestations</a:t>
            </a:r>
          </a:p>
        </p:txBody>
      </p:sp>
      <p:pic>
        <p:nvPicPr>
          <p:cNvPr id="22536" name="Picture 8" descr="Grey Turner's sign - Wikipedia">
            <a:extLst>
              <a:ext uri="{FF2B5EF4-FFF2-40B4-BE49-F238E27FC236}">
                <a16:creationId xmlns:a16="http://schemas.microsoft.com/office/drawing/2014/main" id="{93E5A879-7AD4-8451-215D-BFE98EF5D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5597" y="1"/>
            <a:ext cx="4635583" cy="3427413"/>
          </a:xfrm>
          <a:custGeom>
            <a:avLst/>
            <a:gdLst/>
            <a:ahLst/>
            <a:cxnLst/>
            <a:rect l="l" t="t" r="r" b="b"/>
            <a:pathLst>
              <a:path w="4635583" h="3427413">
                <a:moveTo>
                  <a:pt x="0" y="0"/>
                </a:moveTo>
                <a:lnTo>
                  <a:pt x="4635583" y="0"/>
                </a:lnTo>
                <a:lnTo>
                  <a:pt x="4635583" y="3427413"/>
                </a:lnTo>
                <a:lnTo>
                  <a:pt x="0" y="342741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8" name="Picture 10" descr="Cullen's Sign: Not Always Acute Pancreatitis - Gastroenterology">
            <a:extLst>
              <a:ext uri="{FF2B5EF4-FFF2-40B4-BE49-F238E27FC236}">
                <a16:creationId xmlns:a16="http://schemas.microsoft.com/office/drawing/2014/main" id="{A4576EEE-AA85-3AE4-F5A2-9E3855375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5597" y="3427414"/>
            <a:ext cx="4635583" cy="3430587"/>
          </a:xfrm>
          <a:custGeom>
            <a:avLst/>
            <a:gdLst/>
            <a:ahLst/>
            <a:cxnLst/>
            <a:rect l="l" t="t" r="r" b="b"/>
            <a:pathLst>
              <a:path w="4635583" h="3430587">
                <a:moveTo>
                  <a:pt x="0" y="0"/>
                </a:moveTo>
                <a:lnTo>
                  <a:pt x="4635583" y="0"/>
                </a:lnTo>
                <a:lnTo>
                  <a:pt x="4635583" y="3430587"/>
                </a:lnTo>
                <a:lnTo>
                  <a:pt x="0" y="343058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603" name="Straight Connector 22602">
            <a:extLst>
              <a:ext uri="{FF2B5EF4-FFF2-40B4-BE49-F238E27FC236}">
                <a16:creationId xmlns:a16="http://schemas.microsoft.com/office/drawing/2014/main" id="{B651A6A2-000C-408B-A971-F3DB41B1A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32483" y="-464"/>
            <a:ext cx="2646" cy="6858465"/>
          </a:xfrm>
          <a:prstGeom prst="line">
            <a:avLst/>
          </a:prstGeom>
          <a:solidFill>
            <a:schemeClr val="tx2">
              <a:alpha val="60000"/>
            </a:schemeClr>
          </a:solidFill>
          <a:ln w="19050">
            <a:solidFill>
              <a:schemeClr val="tx2">
                <a:alpha val="60000"/>
              </a:schemeClr>
            </a:solidFill>
          </a:ln>
          <a:effectLst>
            <a:outerShdw blurRad="50800" dist="38100" dir="2700000" algn="tl" rotWithShape="0">
              <a:srgbClr val="000000">
                <a:alpha val="58000"/>
              </a:srgbClr>
            </a:outerShdw>
          </a:effectLst>
        </p:spPr>
      </p:cxnSp>
      <p:cxnSp>
        <p:nvCxnSpPr>
          <p:cNvPr id="22605" name="Straight Connector 22604">
            <a:extLst>
              <a:ext uri="{FF2B5EF4-FFF2-40B4-BE49-F238E27FC236}">
                <a16:creationId xmlns:a16="http://schemas.microsoft.com/office/drawing/2014/main" id="{07ADFC46-D39A-49F8-9F1D-543E06347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5597" y="3427414"/>
            <a:ext cx="4635583" cy="0"/>
          </a:xfrm>
          <a:prstGeom prst="line">
            <a:avLst/>
          </a:prstGeom>
          <a:solidFill>
            <a:schemeClr val="tx2">
              <a:alpha val="60000"/>
            </a:schemeClr>
          </a:solidFill>
          <a:ln w="19050">
            <a:solidFill>
              <a:schemeClr val="tx2">
                <a:alpha val="60000"/>
              </a:schemeClr>
            </a:solidFill>
          </a:ln>
          <a:effectLst>
            <a:outerShdw blurRad="50800" dist="38100" dir="2700000" algn="tl" rotWithShape="0">
              <a:srgbClr val="000000">
                <a:alpha val="58000"/>
              </a:srgbClr>
            </a:outerShdw>
          </a:effectLst>
        </p:spPr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3919F-CF00-0A01-B3E6-B46AFC511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8238" y="2011646"/>
            <a:ext cx="5877677" cy="458946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Symptoms: epigastric pain that radiates to the back (or other quadrant) – pain can be exacerbated if supine and with eating. Relieved with leaning forward, sitting, and fetal position.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Fever, N/V, abdominal distention, SHOCK symptoms if severe.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Physical Exam: epigastric tenderness, tachycardia, abdominal distention, fever, dehydration, anorexia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Necrotizing (hemorrhagic): Cullen’s sign (periumbilical ecchymosis) and Grey Turner Sign (flank ecchymosis) </a:t>
            </a:r>
          </a:p>
        </p:txBody>
      </p:sp>
    </p:spTree>
    <p:extLst>
      <p:ext uri="{BB962C8B-B14F-4D97-AF65-F5344CB8AC3E}">
        <p14:creationId xmlns:p14="http://schemas.microsoft.com/office/powerpoint/2010/main" val="12243482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B51E0-D55B-9825-41E9-9CB286ED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r>
              <a:rPr lang="en-US" dirty="0"/>
              <a:t>Acute Pancreatitis: Clinical Manifestations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6CCEE-4C42-BBCF-28F1-637143E5C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527" y="1139869"/>
            <a:ext cx="7088187" cy="5561556"/>
          </a:xfrm>
        </p:spPr>
        <p:txBody>
          <a:bodyPr>
            <a:normAutofit/>
          </a:bodyPr>
          <a:lstStyle/>
          <a:p>
            <a:r>
              <a:rPr lang="en-US" sz="2000" dirty="0"/>
              <a:t>Diagnostics: </a:t>
            </a:r>
          </a:p>
          <a:p>
            <a:pPr lvl="1"/>
            <a:r>
              <a:rPr lang="en-US" dirty="0"/>
              <a:t>Lipase/Amylase elevated 3x ULN (lipase more specific) </a:t>
            </a:r>
          </a:p>
          <a:p>
            <a:pPr lvl="1"/>
            <a:r>
              <a:rPr lang="en-US" dirty="0"/>
              <a:t>CBC with Diff (leukocytosis)</a:t>
            </a:r>
          </a:p>
          <a:p>
            <a:pPr lvl="1"/>
            <a:r>
              <a:rPr lang="en-US" dirty="0"/>
              <a:t>CMP: renal function (ALT 3x ULN – gallstone pancreatitis), liver function </a:t>
            </a:r>
          </a:p>
          <a:p>
            <a:pPr lvl="2"/>
            <a:r>
              <a:rPr lang="en-US" sz="2000" dirty="0"/>
              <a:t>Hypocalcemia: necrotic fat binds to calcium</a:t>
            </a:r>
          </a:p>
          <a:p>
            <a:pPr lvl="2"/>
            <a:r>
              <a:rPr lang="en-US" sz="2000" dirty="0"/>
              <a:t>Hyperglycemia (Why?) </a:t>
            </a:r>
          </a:p>
          <a:p>
            <a:pPr lvl="1"/>
            <a:r>
              <a:rPr lang="en-US" dirty="0"/>
              <a:t>Lactic acid/Procalcitonin</a:t>
            </a:r>
          </a:p>
          <a:p>
            <a:pPr lvl="1"/>
            <a:r>
              <a:rPr lang="en-US" dirty="0"/>
              <a:t>Radiology: </a:t>
            </a:r>
          </a:p>
          <a:p>
            <a:pPr lvl="2"/>
            <a:r>
              <a:rPr lang="en-US" sz="2000" dirty="0"/>
              <a:t>CT A/P w/Contrast: diagnostic of choice – enlarged pancreas, indistinct margins </a:t>
            </a:r>
          </a:p>
          <a:p>
            <a:pPr lvl="2"/>
            <a:r>
              <a:rPr lang="en-US" sz="2000" dirty="0"/>
              <a:t>Abd US: to assess for gallstones and bile duct dilation 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23554" name="Picture 2" descr="The Radiology Assistant : Acute Pancreatitis">
            <a:extLst>
              <a:ext uri="{FF2B5EF4-FFF2-40B4-BE49-F238E27FC236}">
                <a16:creationId xmlns:a16="http://schemas.microsoft.com/office/drawing/2014/main" id="{44F1C5A6-04CA-61CE-0D71-C3416C008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66987" y="1628384"/>
            <a:ext cx="4458718" cy="3175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34979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BF56D-6B13-21B4-F6B0-247A2EAB0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Acute Pancreatitis: Clinical Manifestations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6EF5A-0FD8-F4DB-FFD4-EA414A160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5735377" cy="3541714"/>
          </a:xfrm>
        </p:spPr>
        <p:txBody>
          <a:bodyPr/>
          <a:lstStyle/>
          <a:p>
            <a:r>
              <a:rPr lang="en-US" dirty="0"/>
              <a:t>Diagnostic Criteria for Acute Pancreatitis: </a:t>
            </a:r>
          </a:p>
          <a:p>
            <a:pPr lvl="1"/>
            <a:r>
              <a:rPr lang="en-US" dirty="0"/>
              <a:t>Acute onset of sever epigastric pain (radiation to the back) </a:t>
            </a:r>
          </a:p>
          <a:p>
            <a:pPr lvl="1"/>
            <a:r>
              <a:rPr lang="en-US" dirty="0"/>
              <a:t>Elevation in serum lipase/amylase 3x ULN or greater </a:t>
            </a:r>
          </a:p>
          <a:p>
            <a:pPr lvl="1"/>
            <a:r>
              <a:rPr lang="en-US" dirty="0"/>
              <a:t>Characteristics of pancreatitis on imaging</a:t>
            </a:r>
          </a:p>
          <a:p>
            <a:r>
              <a:rPr lang="en-US" dirty="0"/>
              <a:t>Imaging may not be required based if patient meets first two criteria</a:t>
            </a:r>
          </a:p>
        </p:txBody>
      </p:sp>
      <p:pic>
        <p:nvPicPr>
          <p:cNvPr id="24578" name="Picture 2" descr="Pancreatitis - Dr Gert Du Toit - Specialist Surgeon">
            <a:extLst>
              <a:ext uri="{FF2B5EF4-FFF2-40B4-BE49-F238E27FC236}">
                <a16:creationId xmlns:a16="http://schemas.microsoft.com/office/drawing/2014/main" id="{D4367EE7-C5EC-A801-29A9-9E5A2E7CC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40251" y="2051148"/>
            <a:ext cx="3938392" cy="393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6437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EA8ADA9F-99E3-4964-8962-1118D1439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66C3164-AA9F-47E3-913A-4F002BC0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3FFBAC2-26D2-48B6-B2AA-34AEA0E79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2" name="Rectangle 5">
                <a:extLst>
                  <a:ext uri="{FF2B5EF4-FFF2-40B4-BE49-F238E27FC236}">
                    <a16:creationId xmlns:a16="http://schemas.microsoft.com/office/drawing/2014/main" id="{9B164BCB-27D3-4B8C-AC13-0A6F461082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3" name="Freeform 6">
                <a:extLst>
                  <a:ext uri="{FF2B5EF4-FFF2-40B4-BE49-F238E27FC236}">
                    <a16:creationId xmlns:a16="http://schemas.microsoft.com/office/drawing/2014/main" id="{10B247BE-F4A2-4259-9B20-FB9A555D2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4" name="Freeform 7">
                <a:extLst>
                  <a:ext uri="{FF2B5EF4-FFF2-40B4-BE49-F238E27FC236}">
                    <a16:creationId xmlns:a16="http://schemas.microsoft.com/office/drawing/2014/main" id="{39322C5A-DB6D-4B28-8C1C-1B1E896789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5" name="Freeform 8">
                <a:extLst>
                  <a:ext uri="{FF2B5EF4-FFF2-40B4-BE49-F238E27FC236}">
                    <a16:creationId xmlns:a16="http://schemas.microsoft.com/office/drawing/2014/main" id="{67009B08-E345-4516-96EC-ED0AB1F30B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6" name="Freeform 9">
                <a:extLst>
                  <a:ext uri="{FF2B5EF4-FFF2-40B4-BE49-F238E27FC236}">
                    <a16:creationId xmlns:a16="http://schemas.microsoft.com/office/drawing/2014/main" id="{DFE2793C-165C-4635-A26E-C569C8E0C5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7" name="Freeform 10">
                <a:extLst>
                  <a:ext uri="{FF2B5EF4-FFF2-40B4-BE49-F238E27FC236}">
                    <a16:creationId xmlns:a16="http://schemas.microsoft.com/office/drawing/2014/main" id="{ECDFEF2C-7B0A-41A1-BB61-C92CB3E3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0012A396-1946-4B40-AA39-0790157CE9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9" name="Freeform 12">
                <a:extLst>
                  <a:ext uri="{FF2B5EF4-FFF2-40B4-BE49-F238E27FC236}">
                    <a16:creationId xmlns:a16="http://schemas.microsoft.com/office/drawing/2014/main" id="{CD6C6024-F73D-4991-97B9-BE53FF24E3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0" name="Freeform 13">
                <a:extLst>
                  <a:ext uri="{FF2B5EF4-FFF2-40B4-BE49-F238E27FC236}">
                    <a16:creationId xmlns:a16="http://schemas.microsoft.com/office/drawing/2014/main" id="{5977EDD1-3D10-43FA-B800-7A7C8112B7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1" name="Freeform 14">
                <a:extLst>
                  <a:ext uri="{FF2B5EF4-FFF2-40B4-BE49-F238E27FC236}">
                    <a16:creationId xmlns:a16="http://schemas.microsoft.com/office/drawing/2014/main" id="{D37988CF-9FC6-48F5-82F8-D2EB0178A3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2" name="Freeform 15">
                <a:extLst>
                  <a:ext uri="{FF2B5EF4-FFF2-40B4-BE49-F238E27FC236}">
                    <a16:creationId xmlns:a16="http://schemas.microsoft.com/office/drawing/2014/main" id="{EC5BB05B-491C-414A-91C3-B1CAB785A8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3" name="Line 16">
                <a:extLst>
                  <a:ext uri="{FF2B5EF4-FFF2-40B4-BE49-F238E27FC236}">
                    <a16:creationId xmlns:a16="http://schemas.microsoft.com/office/drawing/2014/main" id="{F3180CB6-F8D2-4596-B6CB-F9CEF5D38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4" name="Freeform 17">
                <a:extLst>
                  <a:ext uri="{FF2B5EF4-FFF2-40B4-BE49-F238E27FC236}">
                    <a16:creationId xmlns:a16="http://schemas.microsoft.com/office/drawing/2014/main" id="{DF338DD3-80F8-4F68-AC7C-361ABF2A9B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5" name="Freeform 18">
                <a:extLst>
                  <a:ext uri="{FF2B5EF4-FFF2-40B4-BE49-F238E27FC236}">
                    <a16:creationId xmlns:a16="http://schemas.microsoft.com/office/drawing/2014/main" id="{9666E4DB-B855-4A4E-BB50-1880738C11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6" name="Freeform 19">
                <a:extLst>
                  <a:ext uri="{FF2B5EF4-FFF2-40B4-BE49-F238E27FC236}">
                    <a16:creationId xmlns:a16="http://schemas.microsoft.com/office/drawing/2014/main" id="{F570FD9C-B435-4EF1-962C-621F1261AA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7" name="Freeform 20">
                <a:extLst>
                  <a:ext uri="{FF2B5EF4-FFF2-40B4-BE49-F238E27FC236}">
                    <a16:creationId xmlns:a16="http://schemas.microsoft.com/office/drawing/2014/main" id="{E236AF0B-3BDC-43C3-8FFC-2A94121E94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8" name="Rectangle 21">
                <a:extLst>
                  <a:ext uri="{FF2B5EF4-FFF2-40B4-BE49-F238E27FC236}">
                    <a16:creationId xmlns:a16="http://schemas.microsoft.com/office/drawing/2014/main" id="{3BA2C208-5097-4497-AA2C-ADDDAB48B6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9" name="Freeform 22">
                <a:extLst>
                  <a:ext uri="{FF2B5EF4-FFF2-40B4-BE49-F238E27FC236}">
                    <a16:creationId xmlns:a16="http://schemas.microsoft.com/office/drawing/2014/main" id="{6A45DD96-8D07-43CA-B036-6FDA880A17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0" name="Freeform 23">
                <a:extLst>
                  <a:ext uri="{FF2B5EF4-FFF2-40B4-BE49-F238E27FC236}">
                    <a16:creationId xmlns:a16="http://schemas.microsoft.com/office/drawing/2014/main" id="{AF7F7CBB-E154-4CD5-9ED0-D5DDC1DFEA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1" name="Freeform 24">
                <a:extLst>
                  <a:ext uri="{FF2B5EF4-FFF2-40B4-BE49-F238E27FC236}">
                    <a16:creationId xmlns:a16="http://schemas.microsoft.com/office/drawing/2014/main" id="{EFF4AB16-41DD-4877-8C28-ED78F4CA7F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2" name="Freeform 25">
                <a:extLst>
                  <a:ext uri="{FF2B5EF4-FFF2-40B4-BE49-F238E27FC236}">
                    <a16:creationId xmlns:a16="http://schemas.microsoft.com/office/drawing/2014/main" id="{30BCBD5D-92EB-487E-B1D0-F9000D45D1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3" name="Freeform 26">
                <a:extLst>
                  <a:ext uri="{FF2B5EF4-FFF2-40B4-BE49-F238E27FC236}">
                    <a16:creationId xmlns:a16="http://schemas.microsoft.com/office/drawing/2014/main" id="{DA07BDB8-9827-4EBF-9B99-6C503EA0BC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" name="Freeform 27">
                <a:extLst>
                  <a:ext uri="{FF2B5EF4-FFF2-40B4-BE49-F238E27FC236}">
                    <a16:creationId xmlns:a16="http://schemas.microsoft.com/office/drawing/2014/main" id="{7F41FB05-1B3F-450A-A1A7-8C8BD182A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5" name="Freeform 28">
                <a:extLst>
                  <a:ext uri="{FF2B5EF4-FFF2-40B4-BE49-F238E27FC236}">
                    <a16:creationId xmlns:a16="http://schemas.microsoft.com/office/drawing/2014/main" id="{0629E219-1F32-41C1-B921-05E4561179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6" name="Freeform 29">
                <a:extLst>
                  <a:ext uri="{FF2B5EF4-FFF2-40B4-BE49-F238E27FC236}">
                    <a16:creationId xmlns:a16="http://schemas.microsoft.com/office/drawing/2014/main" id="{8081FB28-486E-4C09-9D15-0B2657B56F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7" name="Freeform 30">
                <a:extLst>
                  <a:ext uri="{FF2B5EF4-FFF2-40B4-BE49-F238E27FC236}">
                    <a16:creationId xmlns:a16="http://schemas.microsoft.com/office/drawing/2014/main" id="{CB547EFB-F29D-4336-9644-0AE7A94EA4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8" name="Freeform 31">
                <a:extLst>
                  <a:ext uri="{FF2B5EF4-FFF2-40B4-BE49-F238E27FC236}">
                    <a16:creationId xmlns:a16="http://schemas.microsoft.com/office/drawing/2014/main" id="{BB2793F4-FAD7-459A-BC46-06BB1D4FAA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C01589C-0235-4B21-B264-777746D4D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2" name="Freeform 32">
                <a:extLst>
                  <a:ext uri="{FF2B5EF4-FFF2-40B4-BE49-F238E27FC236}">
                    <a16:creationId xmlns:a16="http://schemas.microsoft.com/office/drawing/2014/main" id="{678F5669-8CE7-445E-8D54-49C5E2013B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" name="Freeform 33">
                <a:extLst>
                  <a:ext uri="{FF2B5EF4-FFF2-40B4-BE49-F238E27FC236}">
                    <a16:creationId xmlns:a16="http://schemas.microsoft.com/office/drawing/2014/main" id="{E93A3F8E-D876-485E-9EDC-43E315DE1E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" name="Freeform 34">
                <a:extLst>
                  <a:ext uri="{FF2B5EF4-FFF2-40B4-BE49-F238E27FC236}">
                    <a16:creationId xmlns:a16="http://schemas.microsoft.com/office/drawing/2014/main" id="{B4F848A6-931A-4CC9-9B29-C7A9CEA3AC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" name="Freeform 35">
                <a:extLst>
                  <a:ext uri="{FF2B5EF4-FFF2-40B4-BE49-F238E27FC236}">
                    <a16:creationId xmlns:a16="http://schemas.microsoft.com/office/drawing/2014/main" id="{5C4204D4-6782-4DB1-8FF8-86CC698AF2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" name="Freeform 36">
                <a:extLst>
                  <a:ext uri="{FF2B5EF4-FFF2-40B4-BE49-F238E27FC236}">
                    <a16:creationId xmlns:a16="http://schemas.microsoft.com/office/drawing/2014/main" id="{3907C583-5764-43DC-8AF9-992D3472F6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7" name="Freeform 37">
                <a:extLst>
                  <a:ext uri="{FF2B5EF4-FFF2-40B4-BE49-F238E27FC236}">
                    <a16:creationId xmlns:a16="http://schemas.microsoft.com/office/drawing/2014/main" id="{56CE3D6E-1121-4EF2-9DFB-7F3937FCCD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8" name="Freeform 38">
                <a:extLst>
                  <a:ext uri="{FF2B5EF4-FFF2-40B4-BE49-F238E27FC236}">
                    <a16:creationId xmlns:a16="http://schemas.microsoft.com/office/drawing/2014/main" id="{3AEB7245-E197-4AE5-BCFC-7821E49EFE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9" name="Freeform 39">
                <a:extLst>
                  <a:ext uri="{FF2B5EF4-FFF2-40B4-BE49-F238E27FC236}">
                    <a16:creationId xmlns:a16="http://schemas.microsoft.com/office/drawing/2014/main" id="{801E9C76-F4FB-4C4D-9350-B526F294E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0" name="Freeform 40">
                <a:extLst>
                  <a:ext uri="{FF2B5EF4-FFF2-40B4-BE49-F238E27FC236}">
                    <a16:creationId xmlns:a16="http://schemas.microsoft.com/office/drawing/2014/main" id="{F9C0C5DE-6C8C-4CD0-9C91-6A132A06DA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" name="Rectangle 41">
                <a:extLst>
                  <a:ext uri="{FF2B5EF4-FFF2-40B4-BE49-F238E27FC236}">
                    <a16:creationId xmlns:a16="http://schemas.microsoft.com/office/drawing/2014/main" id="{955A7039-8B66-4CF0-8048-0AD0F4A5B8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sp>
        <p:nvSpPr>
          <p:cNvPr id="50" name="Rectangle 49">
            <a:extLst>
              <a:ext uri="{FF2B5EF4-FFF2-40B4-BE49-F238E27FC236}">
                <a16:creationId xmlns:a16="http://schemas.microsoft.com/office/drawing/2014/main" id="{C068D0EE-C6C8-484A-AFB7-3602BA27F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DE5FB8C-CC3F-4C24-BF4F-1B5999DE6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0447" y="643467"/>
            <a:ext cx="3831105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7350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46F24-48A1-6856-0FCC-942DA59C2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17894"/>
            <a:ext cx="9905998" cy="1478570"/>
          </a:xfrm>
        </p:spPr>
        <p:txBody>
          <a:bodyPr/>
          <a:lstStyle/>
          <a:p>
            <a:r>
              <a:rPr lang="en-US" dirty="0"/>
              <a:t>Acute Pancreatitis: Management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A54C7-D6C3-35EA-954C-AD8553E8A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73289"/>
            <a:ext cx="5985898" cy="50531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“REST THE PANCREAS” </a:t>
            </a:r>
          </a:p>
          <a:p>
            <a:pPr lvl="1"/>
            <a:r>
              <a:rPr lang="en-US" dirty="0"/>
              <a:t>NPO! </a:t>
            </a:r>
          </a:p>
          <a:p>
            <a:pPr lvl="1"/>
            <a:r>
              <a:rPr lang="en-US" dirty="0"/>
              <a:t>IVF (aggressive hydration -10ml/kg bolus)/electrolytes </a:t>
            </a:r>
          </a:p>
          <a:p>
            <a:pPr lvl="1"/>
            <a:r>
              <a:rPr lang="en-US" dirty="0"/>
              <a:t>Pain Control (opioids etc.)</a:t>
            </a:r>
          </a:p>
          <a:p>
            <a:pPr lvl="1"/>
            <a:r>
              <a:rPr lang="en-US" dirty="0"/>
              <a:t>Insulin (WHY?)</a:t>
            </a:r>
          </a:p>
          <a:p>
            <a:pPr lvl="1"/>
            <a:r>
              <a:rPr lang="en-US" dirty="0"/>
              <a:t>Antiemetics (Zofran etc.) </a:t>
            </a:r>
          </a:p>
          <a:p>
            <a:pPr lvl="1"/>
            <a:r>
              <a:rPr lang="en-US" dirty="0"/>
              <a:t>Consider TPN (total parenteral nutrition)</a:t>
            </a:r>
          </a:p>
          <a:p>
            <a:pPr lvl="1"/>
            <a:r>
              <a:rPr lang="en-US" dirty="0"/>
              <a:t>Antibiotics are typically not needed unless infection also suspected</a:t>
            </a:r>
          </a:p>
          <a:p>
            <a:pPr lvl="1"/>
            <a:r>
              <a:rPr lang="en-US" dirty="0"/>
              <a:t>Advance diet as tolerated over the next 2-3 days</a:t>
            </a:r>
          </a:p>
          <a:p>
            <a:pPr lvl="1"/>
            <a:r>
              <a:rPr lang="en-US" dirty="0"/>
              <a:t>ERCP if indicated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25602" name="Picture 2" descr="What Is Acute Pancreatitis &amp; What Happens In Acute Pancreatitis?LPC">
            <a:extLst>
              <a:ext uri="{FF2B5EF4-FFF2-40B4-BE49-F238E27FC236}">
                <a16:creationId xmlns:a16="http://schemas.microsoft.com/office/drawing/2014/main" id="{709A9783-2562-F503-E704-5EBF92C62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40669" y="1796464"/>
            <a:ext cx="3963444" cy="3963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9440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25960-CA41-8B83-D2A0-473C9DA60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Chronic Pancreatitis: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1DF50-F58E-C26F-3E10-58A65CC58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6800089" cy="4264047"/>
          </a:xfrm>
        </p:spPr>
        <p:txBody>
          <a:bodyPr>
            <a:normAutofit/>
          </a:bodyPr>
          <a:lstStyle/>
          <a:p>
            <a:r>
              <a:rPr lang="en-US" dirty="0"/>
              <a:t>Chronic Pancreatitis: progressive inflammatory changes to the pancreas leading to loss of endocrine/exocrine function </a:t>
            </a:r>
          </a:p>
          <a:p>
            <a:r>
              <a:rPr lang="en-US" dirty="0"/>
              <a:t>Etiologies: alcohol abuse MC, cystic fibrosis most common cause in children</a:t>
            </a:r>
          </a:p>
          <a:p>
            <a:pPr lvl="1"/>
            <a:r>
              <a:rPr lang="en-US" dirty="0"/>
              <a:t>Familial, gallstones, tumors, idiopathic </a:t>
            </a:r>
          </a:p>
          <a:p>
            <a:r>
              <a:rPr lang="en-US" dirty="0"/>
              <a:t>Signs/symptoms can take time to become apparent in patients with chronic pancreatitis</a:t>
            </a:r>
          </a:p>
        </p:txBody>
      </p:sp>
      <p:pic>
        <p:nvPicPr>
          <p:cNvPr id="26626" name="Picture 2" descr="Chronic pancreatitis: Overview, Investigation, and Treatment">
            <a:extLst>
              <a:ext uri="{FF2B5EF4-FFF2-40B4-BE49-F238E27FC236}">
                <a16:creationId xmlns:a16="http://schemas.microsoft.com/office/drawing/2014/main" id="{C6A69DF9-D626-933B-3D3D-8F4023FD0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27933" y="1960124"/>
            <a:ext cx="4607143" cy="239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53608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FFD06-9D99-68B0-2C46-B23118121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67581"/>
            <a:ext cx="9905998" cy="1478570"/>
          </a:xfrm>
        </p:spPr>
        <p:txBody>
          <a:bodyPr/>
          <a:lstStyle/>
          <a:p>
            <a:r>
              <a:rPr lang="en-US" dirty="0"/>
              <a:t>Chronic Pancreatitis: Clinical Manifestations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62A9A-BA56-5EB6-347F-032FCF43E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9199" y="1812596"/>
            <a:ext cx="6186314" cy="442688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Symptoms: abdominal pain – epigastric/back pain, n/v, anorexia, steatorrhea (excess fat in stool – causes floating)</a:t>
            </a:r>
          </a:p>
          <a:p>
            <a:r>
              <a:rPr lang="en-US" dirty="0"/>
              <a:t>Diagnostics: </a:t>
            </a:r>
          </a:p>
          <a:p>
            <a:pPr lvl="1"/>
            <a:r>
              <a:rPr lang="en-US" dirty="0"/>
              <a:t>Amylase/Lipase may be normal, even low </a:t>
            </a:r>
          </a:p>
          <a:p>
            <a:pPr lvl="1"/>
            <a:r>
              <a:rPr lang="en-US" dirty="0"/>
              <a:t>CBC with diff</a:t>
            </a:r>
          </a:p>
          <a:p>
            <a:pPr lvl="1"/>
            <a:r>
              <a:rPr lang="en-US" dirty="0"/>
              <a:t>CMP: hyperglycemia </a:t>
            </a:r>
          </a:p>
          <a:p>
            <a:pPr lvl="1"/>
            <a:r>
              <a:rPr lang="en-US" dirty="0"/>
              <a:t>Consider cardiac (especially in what populations?) </a:t>
            </a:r>
          </a:p>
          <a:p>
            <a:pPr lvl="1"/>
            <a:r>
              <a:rPr lang="en-US" dirty="0"/>
              <a:t>CT A/P w/contrast: modality of choice – calcifications of the pancreas with dilated pancreatic or biliary ducts</a:t>
            </a:r>
          </a:p>
          <a:p>
            <a:pPr lvl="1"/>
            <a:r>
              <a:rPr lang="en-US" dirty="0"/>
              <a:t>Abd. X-ray: calcified pancreas</a:t>
            </a:r>
          </a:p>
          <a:p>
            <a:r>
              <a:rPr lang="en-US" dirty="0"/>
              <a:t>Classic Triad: Calcifications + Steatorrhea + DM </a:t>
            </a:r>
          </a:p>
        </p:txBody>
      </p:sp>
      <p:pic>
        <p:nvPicPr>
          <p:cNvPr id="27650" name="Picture 2" descr="Pancreas Calcification - an overview | ScienceDirect Topics">
            <a:extLst>
              <a:ext uri="{FF2B5EF4-FFF2-40B4-BE49-F238E27FC236}">
                <a16:creationId xmlns:a16="http://schemas.microsoft.com/office/drawing/2014/main" id="{5C941E11-19DE-466A-07AE-2183561F7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84555" y="167581"/>
            <a:ext cx="3878632" cy="2782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2" name="Picture 4" descr="Learning Radiology - Imaging Findings in Chronic Pancreatitis">
            <a:extLst>
              <a:ext uri="{FF2B5EF4-FFF2-40B4-BE49-F238E27FC236}">
                <a16:creationId xmlns:a16="http://schemas.microsoft.com/office/drawing/2014/main" id="{636D6C49-92D4-0619-41A1-EDAC19528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84555" y="3315191"/>
            <a:ext cx="3878632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20060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81" name="Group 28680">
            <a:extLst>
              <a:ext uri="{FF2B5EF4-FFF2-40B4-BE49-F238E27FC236}">
                <a16:creationId xmlns:a16="http://schemas.microsoft.com/office/drawing/2014/main" id="{7FF5C675-8A85-433E-8B62-972333B74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28682" name="Rectangle 28681">
              <a:extLst>
                <a:ext uri="{FF2B5EF4-FFF2-40B4-BE49-F238E27FC236}">
                  <a16:creationId xmlns:a16="http://schemas.microsoft.com/office/drawing/2014/main" id="{4B4E3796-B034-4A3E-AD1A-85F6741A5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683" name="Picture 2">
              <a:extLst>
                <a:ext uri="{FF2B5EF4-FFF2-40B4-BE49-F238E27FC236}">
                  <a16:creationId xmlns:a16="http://schemas.microsoft.com/office/drawing/2014/main" id="{818E0124-72E5-411B-8319-A8F139E67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:p14="http://schemas.microsoft.com/office/powerpoint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8685" name="Group 28684">
            <a:extLst>
              <a:ext uri="{FF2B5EF4-FFF2-40B4-BE49-F238E27FC236}">
                <a16:creationId xmlns:a16="http://schemas.microsoft.com/office/drawing/2014/main" id="{C785F9A1-914D-4976-B317-B340DD6F0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81779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8686" name="Rectangle 5">
              <a:extLst>
                <a:ext uri="{FF2B5EF4-FFF2-40B4-BE49-F238E27FC236}">
                  <a16:creationId xmlns:a16="http://schemas.microsoft.com/office/drawing/2014/main" id="{2AE2AA4F-0372-4B84-B7F4-F597033163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687" name="Freeform 6">
              <a:extLst>
                <a:ext uri="{FF2B5EF4-FFF2-40B4-BE49-F238E27FC236}">
                  <a16:creationId xmlns:a16="http://schemas.microsoft.com/office/drawing/2014/main" id="{9405758E-D072-4AD3-902C-6FDCE4BBB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688" name="Freeform 7">
              <a:extLst>
                <a:ext uri="{FF2B5EF4-FFF2-40B4-BE49-F238E27FC236}">
                  <a16:creationId xmlns:a16="http://schemas.microsoft.com/office/drawing/2014/main" id="{FE726456-FBB1-4CC2-BD2E-B015F8DFD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689" name="Rectangle 8">
              <a:extLst>
                <a:ext uri="{FF2B5EF4-FFF2-40B4-BE49-F238E27FC236}">
                  <a16:creationId xmlns:a16="http://schemas.microsoft.com/office/drawing/2014/main" id="{0B8E6F6A-0965-4138-AAE1-7CC815534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690" name="Freeform 9">
              <a:extLst>
                <a:ext uri="{FF2B5EF4-FFF2-40B4-BE49-F238E27FC236}">
                  <a16:creationId xmlns:a16="http://schemas.microsoft.com/office/drawing/2014/main" id="{D4A2F20A-DF8D-4C04-B2F1-5F0DB130B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691" name="Freeform 10">
              <a:extLst>
                <a:ext uri="{FF2B5EF4-FFF2-40B4-BE49-F238E27FC236}">
                  <a16:creationId xmlns:a16="http://schemas.microsoft.com/office/drawing/2014/main" id="{7AB3FC9E-4FE6-4962-AFF7-3F793F54A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692" name="Freeform 11">
              <a:extLst>
                <a:ext uri="{FF2B5EF4-FFF2-40B4-BE49-F238E27FC236}">
                  <a16:creationId xmlns:a16="http://schemas.microsoft.com/office/drawing/2014/main" id="{669BD32A-ED50-4B3E-A555-3E650F318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693" name="Freeform 12">
              <a:extLst>
                <a:ext uri="{FF2B5EF4-FFF2-40B4-BE49-F238E27FC236}">
                  <a16:creationId xmlns:a16="http://schemas.microsoft.com/office/drawing/2014/main" id="{40EC9856-B0F2-4010-84F6-57110770C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694" name="Freeform 13">
              <a:extLst>
                <a:ext uri="{FF2B5EF4-FFF2-40B4-BE49-F238E27FC236}">
                  <a16:creationId xmlns:a16="http://schemas.microsoft.com/office/drawing/2014/main" id="{595117CC-E74F-4808-9AE3-92B051D9B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695" name="Freeform 14">
              <a:extLst>
                <a:ext uri="{FF2B5EF4-FFF2-40B4-BE49-F238E27FC236}">
                  <a16:creationId xmlns:a16="http://schemas.microsoft.com/office/drawing/2014/main" id="{890B6ACC-0E70-4172-95F6-6EC69C74D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696" name="Freeform 15">
              <a:extLst>
                <a:ext uri="{FF2B5EF4-FFF2-40B4-BE49-F238E27FC236}">
                  <a16:creationId xmlns:a16="http://schemas.microsoft.com/office/drawing/2014/main" id="{D95D07C9-0BA8-45AE-A4B1-BC13B464A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697" name="Freeform 16">
              <a:extLst>
                <a:ext uri="{FF2B5EF4-FFF2-40B4-BE49-F238E27FC236}">
                  <a16:creationId xmlns:a16="http://schemas.microsoft.com/office/drawing/2014/main" id="{C74750D5-2C12-499F-8DCE-EF0C16D81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698" name="Freeform 17">
              <a:extLst>
                <a:ext uri="{FF2B5EF4-FFF2-40B4-BE49-F238E27FC236}">
                  <a16:creationId xmlns:a16="http://schemas.microsoft.com/office/drawing/2014/main" id="{9E2750D8-9F13-46E3-A129-94AEC36A7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699" name="Freeform 18">
              <a:extLst>
                <a:ext uri="{FF2B5EF4-FFF2-40B4-BE49-F238E27FC236}">
                  <a16:creationId xmlns:a16="http://schemas.microsoft.com/office/drawing/2014/main" id="{57F0E6E3-89E6-4D9C-B576-DA509892B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00" name="Freeform 19">
              <a:extLst>
                <a:ext uri="{FF2B5EF4-FFF2-40B4-BE49-F238E27FC236}">
                  <a16:creationId xmlns:a16="http://schemas.microsoft.com/office/drawing/2014/main" id="{9C0CBFCD-212D-4717-8C66-5587EE0903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01" name="Freeform 20">
              <a:extLst>
                <a:ext uri="{FF2B5EF4-FFF2-40B4-BE49-F238E27FC236}">
                  <a16:creationId xmlns:a16="http://schemas.microsoft.com/office/drawing/2014/main" id="{2D2DE3E4-763D-441B-9E18-4D80B1F25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02" name="Freeform 21">
              <a:extLst>
                <a:ext uri="{FF2B5EF4-FFF2-40B4-BE49-F238E27FC236}">
                  <a16:creationId xmlns:a16="http://schemas.microsoft.com/office/drawing/2014/main" id="{1E05A5C7-CC8E-4EB7-B3C6-5256E1DFA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03" name="Freeform 22">
              <a:extLst>
                <a:ext uri="{FF2B5EF4-FFF2-40B4-BE49-F238E27FC236}">
                  <a16:creationId xmlns:a16="http://schemas.microsoft.com/office/drawing/2014/main" id="{75197A4A-46CA-4C4D-861E-408AC37F4B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04" name="Freeform 23">
              <a:extLst>
                <a:ext uri="{FF2B5EF4-FFF2-40B4-BE49-F238E27FC236}">
                  <a16:creationId xmlns:a16="http://schemas.microsoft.com/office/drawing/2014/main" id="{608D3D40-462C-4014-8F86-29D1065FD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05" name="Freeform 24">
              <a:extLst>
                <a:ext uri="{FF2B5EF4-FFF2-40B4-BE49-F238E27FC236}">
                  <a16:creationId xmlns:a16="http://schemas.microsoft.com/office/drawing/2014/main" id="{D3229829-DD99-49CB-9EC0-78415110F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06" name="Freeform 25">
              <a:extLst>
                <a:ext uri="{FF2B5EF4-FFF2-40B4-BE49-F238E27FC236}">
                  <a16:creationId xmlns:a16="http://schemas.microsoft.com/office/drawing/2014/main" id="{6A9CB519-0CCC-43D9-8E7A-51C37E78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07" name="Freeform 26">
              <a:extLst>
                <a:ext uri="{FF2B5EF4-FFF2-40B4-BE49-F238E27FC236}">
                  <a16:creationId xmlns:a16="http://schemas.microsoft.com/office/drawing/2014/main" id="{CF3862FE-29F3-44BB-9D07-5A156B0972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08" name="Freeform 27">
              <a:extLst>
                <a:ext uri="{FF2B5EF4-FFF2-40B4-BE49-F238E27FC236}">
                  <a16:creationId xmlns:a16="http://schemas.microsoft.com/office/drawing/2014/main" id="{A979D5EA-5C9A-477B-B59F-82E2BA5CE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09" name="Freeform 28">
              <a:extLst>
                <a:ext uri="{FF2B5EF4-FFF2-40B4-BE49-F238E27FC236}">
                  <a16:creationId xmlns:a16="http://schemas.microsoft.com/office/drawing/2014/main" id="{6CD5DBAF-645E-44CB-AE3C-7D0DE26AF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10" name="Freeform 29">
              <a:extLst>
                <a:ext uri="{FF2B5EF4-FFF2-40B4-BE49-F238E27FC236}">
                  <a16:creationId xmlns:a16="http://schemas.microsoft.com/office/drawing/2014/main" id="{D1A22D1B-67EB-413A-BBEB-3FBFB1006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11" name="Freeform 30">
              <a:extLst>
                <a:ext uri="{FF2B5EF4-FFF2-40B4-BE49-F238E27FC236}">
                  <a16:creationId xmlns:a16="http://schemas.microsoft.com/office/drawing/2014/main" id="{D8E3D532-E05E-40CC-B74A-BEEA7BBED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12" name="Freeform 31">
              <a:extLst>
                <a:ext uri="{FF2B5EF4-FFF2-40B4-BE49-F238E27FC236}">
                  <a16:creationId xmlns:a16="http://schemas.microsoft.com/office/drawing/2014/main" id="{5E552923-7BD3-407F-9B12-5838050181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13" name="Freeform 32">
              <a:extLst>
                <a:ext uri="{FF2B5EF4-FFF2-40B4-BE49-F238E27FC236}">
                  <a16:creationId xmlns:a16="http://schemas.microsoft.com/office/drawing/2014/main" id="{DF381AD7-ABB7-4FB7-9B36-62C47958BF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14" name="Rectangle 33">
              <a:extLst>
                <a:ext uri="{FF2B5EF4-FFF2-40B4-BE49-F238E27FC236}">
                  <a16:creationId xmlns:a16="http://schemas.microsoft.com/office/drawing/2014/main" id="{55CA4B15-15B0-4E9E-9A25-572398B31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15" name="Freeform 34">
              <a:extLst>
                <a:ext uri="{FF2B5EF4-FFF2-40B4-BE49-F238E27FC236}">
                  <a16:creationId xmlns:a16="http://schemas.microsoft.com/office/drawing/2014/main" id="{DC618A79-2BF7-4B7D-B4D0-5704ACD1A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16" name="Freeform 35">
              <a:extLst>
                <a:ext uri="{FF2B5EF4-FFF2-40B4-BE49-F238E27FC236}">
                  <a16:creationId xmlns:a16="http://schemas.microsoft.com/office/drawing/2014/main" id="{3D6DF204-2F07-42CD-809A-9E52AC8A4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17" name="Freeform 36">
              <a:extLst>
                <a:ext uri="{FF2B5EF4-FFF2-40B4-BE49-F238E27FC236}">
                  <a16:creationId xmlns:a16="http://schemas.microsoft.com/office/drawing/2014/main" id="{91DE9D6C-34ED-40C7-9A13-8DBCAABB7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18" name="Freeform 37">
              <a:extLst>
                <a:ext uri="{FF2B5EF4-FFF2-40B4-BE49-F238E27FC236}">
                  <a16:creationId xmlns:a16="http://schemas.microsoft.com/office/drawing/2014/main" id="{1FA67630-5F58-447B-92A3-FCF6A17C77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19" name="Freeform 38">
              <a:extLst>
                <a:ext uri="{FF2B5EF4-FFF2-40B4-BE49-F238E27FC236}">
                  <a16:creationId xmlns:a16="http://schemas.microsoft.com/office/drawing/2014/main" id="{F7714E5F-8563-4441-869B-1C3A7A54F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20" name="Freeform 39">
              <a:extLst>
                <a:ext uri="{FF2B5EF4-FFF2-40B4-BE49-F238E27FC236}">
                  <a16:creationId xmlns:a16="http://schemas.microsoft.com/office/drawing/2014/main" id="{E316ABCD-A6C8-4992-BB97-86776F586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21" name="Freeform 40">
              <a:extLst>
                <a:ext uri="{FF2B5EF4-FFF2-40B4-BE49-F238E27FC236}">
                  <a16:creationId xmlns:a16="http://schemas.microsoft.com/office/drawing/2014/main" id="{C1BF4675-2ABD-42AB-BD1A-AEE1F305C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22" name="Freeform 41">
              <a:extLst>
                <a:ext uri="{FF2B5EF4-FFF2-40B4-BE49-F238E27FC236}">
                  <a16:creationId xmlns:a16="http://schemas.microsoft.com/office/drawing/2014/main" id="{3DDA76F0-835D-4F1E-A16C-2096C0A1C4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23" name="Freeform 42">
              <a:extLst>
                <a:ext uri="{FF2B5EF4-FFF2-40B4-BE49-F238E27FC236}">
                  <a16:creationId xmlns:a16="http://schemas.microsoft.com/office/drawing/2014/main" id="{5E7E7576-6EA1-4512-A61E-0101CD145C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24" name="Freeform 43">
              <a:extLst>
                <a:ext uri="{FF2B5EF4-FFF2-40B4-BE49-F238E27FC236}">
                  <a16:creationId xmlns:a16="http://schemas.microsoft.com/office/drawing/2014/main" id="{ED8BDDBB-29FD-48A3-83CB-9FA138E6D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25" name="Freeform 44">
              <a:extLst>
                <a:ext uri="{FF2B5EF4-FFF2-40B4-BE49-F238E27FC236}">
                  <a16:creationId xmlns:a16="http://schemas.microsoft.com/office/drawing/2014/main" id="{0A2D8F38-A265-46AD-A3B4-A41814275D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26" name="Rectangle 45">
              <a:extLst>
                <a:ext uri="{FF2B5EF4-FFF2-40B4-BE49-F238E27FC236}">
                  <a16:creationId xmlns:a16="http://schemas.microsoft.com/office/drawing/2014/main" id="{41EADFC9-33E0-4262-8F29-B6B30A3777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27" name="Freeform 46">
              <a:extLst>
                <a:ext uri="{FF2B5EF4-FFF2-40B4-BE49-F238E27FC236}">
                  <a16:creationId xmlns:a16="http://schemas.microsoft.com/office/drawing/2014/main" id="{D78E413D-77D6-4CC8-92A5-29759F86E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28" name="Freeform 47">
              <a:extLst>
                <a:ext uri="{FF2B5EF4-FFF2-40B4-BE49-F238E27FC236}">
                  <a16:creationId xmlns:a16="http://schemas.microsoft.com/office/drawing/2014/main" id="{902171DA-8C2A-4217-992F-B80AE5668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29" name="Freeform 48">
              <a:extLst>
                <a:ext uri="{FF2B5EF4-FFF2-40B4-BE49-F238E27FC236}">
                  <a16:creationId xmlns:a16="http://schemas.microsoft.com/office/drawing/2014/main" id="{F52A3954-9682-4B04-BA90-2287CD1F02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30" name="Freeform 49">
              <a:extLst>
                <a:ext uri="{FF2B5EF4-FFF2-40B4-BE49-F238E27FC236}">
                  <a16:creationId xmlns:a16="http://schemas.microsoft.com/office/drawing/2014/main" id="{D60C3A05-4B47-43C6-BAAB-83C06F42BB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31" name="Freeform 50">
              <a:extLst>
                <a:ext uri="{FF2B5EF4-FFF2-40B4-BE49-F238E27FC236}">
                  <a16:creationId xmlns:a16="http://schemas.microsoft.com/office/drawing/2014/main" id="{401B64E2-BA91-468B-8555-ABCA47A362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32" name="Freeform 51">
              <a:extLst>
                <a:ext uri="{FF2B5EF4-FFF2-40B4-BE49-F238E27FC236}">
                  <a16:creationId xmlns:a16="http://schemas.microsoft.com/office/drawing/2014/main" id="{8DF0C80D-9A4C-4F11-A2FD-3DB7CDA682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33" name="Freeform 52">
              <a:extLst>
                <a:ext uri="{FF2B5EF4-FFF2-40B4-BE49-F238E27FC236}">
                  <a16:creationId xmlns:a16="http://schemas.microsoft.com/office/drawing/2014/main" id="{06F64E4C-7BB2-4AFD-936F-9316A419B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34" name="Freeform 53">
              <a:extLst>
                <a:ext uri="{FF2B5EF4-FFF2-40B4-BE49-F238E27FC236}">
                  <a16:creationId xmlns:a16="http://schemas.microsoft.com/office/drawing/2014/main" id="{5BF078F4-D2A8-457E-8D90-8D4C38C8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35" name="Freeform 54">
              <a:extLst>
                <a:ext uri="{FF2B5EF4-FFF2-40B4-BE49-F238E27FC236}">
                  <a16:creationId xmlns:a16="http://schemas.microsoft.com/office/drawing/2014/main" id="{4585F3CA-FCAC-4FD0-9929-39F31E12D8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36" name="Freeform 55">
              <a:extLst>
                <a:ext uri="{FF2B5EF4-FFF2-40B4-BE49-F238E27FC236}">
                  <a16:creationId xmlns:a16="http://schemas.microsoft.com/office/drawing/2014/main" id="{F62D2833-E344-478F-B6F9-814BC27B24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37" name="Freeform 56">
              <a:extLst>
                <a:ext uri="{FF2B5EF4-FFF2-40B4-BE49-F238E27FC236}">
                  <a16:creationId xmlns:a16="http://schemas.microsoft.com/office/drawing/2014/main" id="{8C206124-341E-4954-9597-120E6E3C8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38" name="Freeform 57">
              <a:extLst>
                <a:ext uri="{FF2B5EF4-FFF2-40B4-BE49-F238E27FC236}">
                  <a16:creationId xmlns:a16="http://schemas.microsoft.com/office/drawing/2014/main" id="{0E2455E7-C7B2-43E7-845B-EDE9C8987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39" name="Freeform 58">
              <a:extLst>
                <a:ext uri="{FF2B5EF4-FFF2-40B4-BE49-F238E27FC236}">
                  <a16:creationId xmlns:a16="http://schemas.microsoft.com/office/drawing/2014/main" id="{FBB2D8D5-591D-4199-A582-1F8C2E0BA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0226795-ACF1-7211-7D3D-50EE5B59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1209" y="618518"/>
            <a:ext cx="5877676" cy="1478570"/>
          </a:xfrm>
        </p:spPr>
        <p:txBody>
          <a:bodyPr>
            <a:normAutofit/>
          </a:bodyPr>
          <a:lstStyle/>
          <a:p>
            <a:r>
              <a:rPr lang="en-US" dirty="0"/>
              <a:t>Chronic Pancreatitis: Management</a:t>
            </a:r>
          </a:p>
        </p:txBody>
      </p:sp>
      <p:pic>
        <p:nvPicPr>
          <p:cNvPr id="28676" name="Picture 4" descr="Administering Insulin: Injections, Inhalers, and Pumps - Breakthrough T1D">
            <a:extLst>
              <a:ext uri="{FF2B5EF4-FFF2-40B4-BE49-F238E27FC236}">
                <a16:creationId xmlns:a16="http://schemas.microsoft.com/office/drawing/2014/main" id="{0BD7E431-516B-B64C-CC11-2B738C7B4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5597" y="1"/>
            <a:ext cx="4635583" cy="3427413"/>
          </a:xfrm>
          <a:custGeom>
            <a:avLst/>
            <a:gdLst/>
            <a:ahLst/>
            <a:cxnLst/>
            <a:rect l="l" t="t" r="r" b="b"/>
            <a:pathLst>
              <a:path w="4635583" h="3427413">
                <a:moveTo>
                  <a:pt x="0" y="0"/>
                </a:moveTo>
                <a:lnTo>
                  <a:pt x="4635583" y="0"/>
                </a:lnTo>
                <a:lnTo>
                  <a:pt x="4635583" y="3427413"/>
                </a:lnTo>
                <a:lnTo>
                  <a:pt x="0" y="342741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4" name="Picture 2" descr="Creon DR (Pancrelipase) Capsules 6000 USP Units 100/Bottle (RX)">
            <a:extLst>
              <a:ext uri="{FF2B5EF4-FFF2-40B4-BE49-F238E27FC236}">
                <a16:creationId xmlns:a16="http://schemas.microsoft.com/office/drawing/2014/main" id="{3F40E6DE-D7F8-3E77-928C-D1AF42365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6" b="-8"/>
          <a:stretch>
            <a:fillRect/>
          </a:stretch>
        </p:blipFill>
        <p:spPr bwMode="auto">
          <a:xfrm>
            <a:off x="-5597" y="3427414"/>
            <a:ext cx="4635583" cy="3430587"/>
          </a:xfrm>
          <a:custGeom>
            <a:avLst/>
            <a:gdLst/>
            <a:ahLst/>
            <a:cxnLst/>
            <a:rect l="l" t="t" r="r" b="b"/>
            <a:pathLst>
              <a:path w="4635583" h="3430587">
                <a:moveTo>
                  <a:pt x="0" y="0"/>
                </a:moveTo>
                <a:lnTo>
                  <a:pt x="4635583" y="0"/>
                </a:lnTo>
                <a:lnTo>
                  <a:pt x="4635583" y="3430587"/>
                </a:lnTo>
                <a:lnTo>
                  <a:pt x="0" y="343058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741" name="Straight Connector 28740">
            <a:extLst>
              <a:ext uri="{FF2B5EF4-FFF2-40B4-BE49-F238E27FC236}">
                <a16:creationId xmlns:a16="http://schemas.microsoft.com/office/drawing/2014/main" id="{B651A6A2-000C-408B-A971-F3DB41B1A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32483" y="-464"/>
            <a:ext cx="2646" cy="6858465"/>
          </a:xfrm>
          <a:prstGeom prst="line">
            <a:avLst/>
          </a:prstGeom>
          <a:solidFill>
            <a:schemeClr val="tx2">
              <a:alpha val="60000"/>
            </a:schemeClr>
          </a:solidFill>
          <a:ln w="19050">
            <a:solidFill>
              <a:schemeClr val="tx2">
                <a:alpha val="60000"/>
              </a:schemeClr>
            </a:solidFill>
          </a:ln>
          <a:effectLst>
            <a:outerShdw blurRad="50800" dist="38100" dir="2700000" algn="tl" rotWithShape="0">
              <a:srgbClr val="000000">
                <a:alpha val="58000"/>
              </a:srgbClr>
            </a:outerShdw>
          </a:effectLst>
        </p:spPr>
      </p:cxnSp>
      <p:cxnSp>
        <p:nvCxnSpPr>
          <p:cNvPr id="28743" name="Straight Connector 28742">
            <a:extLst>
              <a:ext uri="{FF2B5EF4-FFF2-40B4-BE49-F238E27FC236}">
                <a16:creationId xmlns:a16="http://schemas.microsoft.com/office/drawing/2014/main" id="{07ADFC46-D39A-49F8-9F1D-543E06347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5597" y="3427414"/>
            <a:ext cx="4635583" cy="0"/>
          </a:xfrm>
          <a:prstGeom prst="line">
            <a:avLst/>
          </a:prstGeom>
          <a:solidFill>
            <a:schemeClr val="tx2">
              <a:alpha val="60000"/>
            </a:schemeClr>
          </a:solidFill>
          <a:ln w="19050">
            <a:solidFill>
              <a:schemeClr val="tx2">
                <a:alpha val="60000"/>
              </a:schemeClr>
            </a:solidFill>
          </a:ln>
          <a:effectLst>
            <a:outerShdw blurRad="50800" dist="38100" dir="2700000" algn="tl" rotWithShape="0">
              <a:srgbClr val="000000">
                <a:alpha val="58000"/>
              </a:srgbClr>
            </a:outerShdw>
          </a:effectLst>
        </p:spPr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8E4EF-54B7-399C-5D71-0E3679F17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1209" y="2249486"/>
            <a:ext cx="5877677" cy="436086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/>
              <a:t>Pain Control: NSAIDS, Tylenol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Lifestyle Modifications: no alcohol, low fat diet, vitamins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Pancreatic Enzyme Supplementation (Creon)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Pancreatitis – DMII (Metformin, Insulin etc.)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Complications: DM, Osteoporosis/Osteopenia, increased risk of adenocarcinoma  </a:t>
            </a:r>
          </a:p>
          <a:p>
            <a:pPr>
              <a:lnSpc>
                <a:spcPct val="110000"/>
              </a:lnSpc>
            </a:pPr>
            <a:r>
              <a:rPr lang="en-US" sz="2000" dirty="0"/>
              <a:t>Always a risk for an acute flare – acute pancreatitis-like symptoms </a:t>
            </a:r>
          </a:p>
        </p:txBody>
      </p:sp>
    </p:spTree>
    <p:extLst>
      <p:ext uri="{BB962C8B-B14F-4D97-AF65-F5344CB8AC3E}">
        <p14:creationId xmlns:p14="http://schemas.microsoft.com/office/powerpoint/2010/main" val="38506761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287AE-2C52-D14A-8263-8A5AED069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Pancreatic Malignancies: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FDC3B-9403-0144-9FD5-31AFB4369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2574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Highly lethal malignancy: third leading cause of cancer related death in the U.S. </a:t>
            </a:r>
          </a:p>
          <a:p>
            <a:r>
              <a:rPr lang="en-US" dirty="0"/>
              <a:t>Five-year survival rate is 30% for node-negative and 10% for node positive patients</a:t>
            </a:r>
          </a:p>
          <a:p>
            <a:r>
              <a:rPr lang="en-US" dirty="0"/>
              <a:t>Histological Types: Exocrine Neoplasms</a:t>
            </a:r>
          </a:p>
          <a:p>
            <a:pPr lvl="1"/>
            <a:r>
              <a:rPr lang="en-US" dirty="0"/>
              <a:t>Adenocarcinomas: MC (85%) rising from the ductal epithelium (avg 6 month survival rate) </a:t>
            </a:r>
          </a:p>
          <a:p>
            <a:pPr lvl="1"/>
            <a:r>
              <a:rPr lang="en-US" dirty="0"/>
              <a:t>Ampullary/Duodenal Carcinoma</a:t>
            </a:r>
          </a:p>
          <a:p>
            <a:pPr lvl="1"/>
            <a:r>
              <a:rPr lang="en-US" dirty="0"/>
              <a:t>Cystadenoma/Cystocarcinoma: typically have a better prognosis overall </a:t>
            </a:r>
          </a:p>
          <a:p>
            <a:pPr lvl="1"/>
            <a:r>
              <a:rPr lang="en-US" dirty="0"/>
              <a:t>More inclusive term for most pancreatic malignancies is usually referred to as “exocrine” pancreatic neoplasms</a:t>
            </a:r>
          </a:p>
          <a:p>
            <a:pPr lvl="1"/>
            <a:r>
              <a:rPr lang="en-US" dirty="0"/>
              <a:t>60-70% of all pancreatic neoplasms occur in the head of the pancreas</a:t>
            </a:r>
          </a:p>
          <a:p>
            <a:r>
              <a:rPr lang="en-US" dirty="0"/>
              <a:t>Typically progresses from intraepithelial neoplasia (</a:t>
            </a:r>
            <a:r>
              <a:rPr lang="en-US" dirty="0" err="1"/>
              <a:t>PanIN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42094728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90B07-EB98-6E4F-AEB1-396BC3B17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Pancreatic Malignancies: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F4D40-5D2F-5C43-87E6-C4FE9E1DA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3581058" cy="3734624"/>
          </a:xfrm>
        </p:spPr>
        <p:txBody>
          <a:bodyPr/>
          <a:lstStyle/>
          <a:p>
            <a:r>
              <a:rPr lang="en-US" dirty="0"/>
              <a:t>Histological Types: Endocrine Neoplasms </a:t>
            </a:r>
          </a:p>
          <a:p>
            <a:pPr lvl="1"/>
            <a:r>
              <a:rPr lang="en-US" dirty="0"/>
              <a:t>Account for only about 5% of all pancreatic neoplasms </a:t>
            </a:r>
          </a:p>
          <a:p>
            <a:pPr lvl="1"/>
            <a:r>
              <a:rPr lang="en-US" dirty="0"/>
              <a:t>Referred to as Pancreatic Neuroendocrine Tumors (NETs)</a:t>
            </a:r>
          </a:p>
        </p:txBody>
      </p:sp>
      <p:pic>
        <p:nvPicPr>
          <p:cNvPr id="1032" name="Picture 8" descr="Types of Pancreatic Cancer">
            <a:extLst>
              <a:ext uri="{FF2B5EF4-FFF2-40B4-BE49-F238E27FC236}">
                <a16:creationId xmlns:a16="http://schemas.microsoft.com/office/drawing/2014/main" id="{A3D1BFD3-FCAD-2949-80D3-4D20B1A4F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55387" y="2025569"/>
            <a:ext cx="5937813" cy="3958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329535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6A33A-8C99-8E4F-BB83-9905E4233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PANCREATIC MALIGNANCIES: RISK FACTORS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764FC-C5E7-6D43-B587-69E102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7470153" cy="3541714"/>
          </a:xfrm>
        </p:spPr>
        <p:txBody>
          <a:bodyPr/>
          <a:lstStyle/>
          <a:p>
            <a:r>
              <a:rPr lang="en-US" dirty="0"/>
              <a:t>Smoking Hx: twice as high for smokers </a:t>
            </a:r>
          </a:p>
          <a:p>
            <a:r>
              <a:rPr lang="en-US" dirty="0"/>
              <a:t>Obesity: BMI&gt;30 (increased risk by 20%) </a:t>
            </a:r>
          </a:p>
          <a:p>
            <a:r>
              <a:rPr lang="en-US" dirty="0"/>
              <a:t>Diabetes: reason not fully understood</a:t>
            </a:r>
          </a:p>
          <a:p>
            <a:r>
              <a:rPr lang="en-US" dirty="0"/>
              <a:t>Hx of Chronic Pancreatitis </a:t>
            </a:r>
          </a:p>
          <a:p>
            <a:r>
              <a:rPr lang="en-US" dirty="0"/>
              <a:t>Men slightly more at risk than women </a:t>
            </a:r>
          </a:p>
          <a:p>
            <a:r>
              <a:rPr lang="en-US" dirty="0"/>
              <a:t>Family hx of pancreatic cancer </a:t>
            </a:r>
          </a:p>
        </p:txBody>
      </p:sp>
      <p:pic>
        <p:nvPicPr>
          <p:cNvPr id="2050" name="Picture 2" descr="Pancreatic Cancer Risk Factors - Sky Foundation Inc">
            <a:extLst>
              <a:ext uri="{FF2B5EF4-FFF2-40B4-BE49-F238E27FC236}">
                <a16:creationId xmlns:a16="http://schemas.microsoft.com/office/drawing/2014/main" id="{4D89EFC9-8D44-BE4C-9AA5-B4E2FE3EE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90363" y="2097088"/>
            <a:ext cx="4333624" cy="386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318592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19B13-4ABF-E04E-BECD-08D4B44EA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Pancreatic Malignancies: Clinical Manifestations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E5E55-8A24-044D-AF36-A55D01FDC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31080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Symptoms Include: </a:t>
            </a:r>
          </a:p>
          <a:p>
            <a:pPr lvl="1"/>
            <a:r>
              <a:rPr lang="en-US" dirty="0"/>
              <a:t>Asthenia (abnormal weakness)</a:t>
            </a:r>
          </a:p>
          <a:p>
            <a:pPr lvl="1"/>
            <a:r>
              <a:rPr lang="en-US" dirty="0"/>
              <a:t>Weight Loss </a:t>
            </a:r>
          </a:p>
          <a:p>
            <a:pPr lvl="1"/>
            <a:r>
              <a:rPr lang="en-US" dirty="0"/>
              <a:t>Anorexia </a:t>
            </a:r>
          </a:p>
          <a:p>
            <a:pPr lvl="1"/>
            <a:r>
              <a:rPr lang="en-US" dirty="0"/>
              <a:t>Abdominal Pain </a:t>
            </a:r>
          </a:p>
          <a:p>
            <a:pPr lvl="1"/>
            <a:r>
              <a:rPr lang="en-US" dirty="0"/>
              <a:t>Epigastric Pain </a:t>
            </a:r>
          </a:p>
          <a:p>
            <a:pPr lvl="1"/>
            <a:r>
              <a:rPr lang="en-US" dirty="0"/>
              <a:t>Dark Urine (can be first sign of jaundice)</a:t>
            </a:r>
          </a:p>
          <a:p>
            <a:pPr lvl="1"/>
            <a:r>
              <a:rPr lang="en-US" dirty="0"/>
              <a:t>Nausea</a:t>
            </a:r>
          </a:p>
          <a:p>
            <a:pPr lvl="1"/>
            <a:r>
              <a:rPr lang="en-US" dirty="0"/>
              <a:t>Back Pain </a:t>
            </a:r>
          </a:p>
          <a:p>
            <a:pPr lvl="1"/>
            <a:r>
              <a:rPr lang="en-US" dirty="0"/>
              <a:t>Diarrhea </a:t>
            </a:r>
          </a:p>
          <a:p>
            <a:pPr lvl="1"/>
            <a:r>
              <a:rPr lang="en-US" dirty="0"/>
              <a:t>Vomiting </a:t>
            </a:r>
          </a:p>
          <a:p>
            <a:pPr lvl="1"/>
            <a:r>
              <a:rPr lang="en-US" dirty="0"/>
              <a:t>Steatorrhea </a:t>
            </a:r>
          </a:p>
          <a:p>
            <a:pPr lvl="1"/>
            <a:endParaRPr lang="en-US" dirty="0"/>
          </a:p>
        </p:txBody>
      </p:sp>
      <p:pic>
        <p:nvPicPr>
          <p:cNvPr id="3074" name="Picture 2" descr="Symptoms of Pancreatic Cancer - Managing Pancreatic Cancer - Let's Win">
            <a:extLst>
              <a:ext uri="{FF2B5EF4-FFF2-40B4-BE49-F238E27FC236}">
                <a16:creationId xmlns:a16="http://schemas.microsoft.com/office/drawing/2014/main" id="{C49BFBA3-1960-4946-9433-2D977D68C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05552" y="1679272"/>
            <a:ext cx="4369007" cy="4682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65392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E6126-71E0-8A42-BF70-5544C72A7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PANCREATIC MALIGNANCIES: CLINICAL MANIFESTATIONS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B74FF-1290-5F4C-A590-CB3F85D40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6"/>
            <a:ext cx="6845300" cy="4608514"/>
          </a:xfrm>
        </p:spPr>
        <p:txBody>
          <a:bodyPr>
            <a:normAutofit/>
          </a:bodyPr>
          <a:lstStyle/>
          <a:p>
            <a:r>
              <a:rPr lang="en-US" dirty="0"/>
              <a:t>Clinical Signs: </a:t>
            </a:r>
          </a:p>
          <a:p>
            <a:pPr lvl="1"/>
            <a:r>
              <a:rPr lang="en-US" dirty="0"/>
              <a:t>Jaundice (55%) – “Painless Jaundice” </a:t>
            </a:r>
          </a:p>
          <a:p>
            <a:pPr lvl="1"/>
            <a:r>
              <a:rPr lang="en-US" dirty="0"/>
              <a:t>Hepatomegaly (39%) </a:t>
            </a:r>
          </a:p>
          <a:p>
            <a:pPr lvl="1"/>
            <a:r>
              <a:rPr lang="en-US" dirty="0"/>
              <a:t>RUQ Mass </a:t>
            </a:r>
          </a:p>
          <a:p>
            <a:pPr lvl="1"/>
            <a:r>
              <a:rPr lang="en-US" dirty="0"/>
              <a:t>Cachexia (wasting)</a:t>
            </a:r>
          </a:p>
          <a:p>
            <a:pPr lvl="1"/>
            <a:r>
              <a:rPr lang="en-US" dirty="0"/>
              <a:t>Courvoisier's sign ( nontender but palpable distended gallbladder at the right costal margin )</a:t>
            </a:r>
          </a:p>
          <a:p>
            <a:pPr lvl="1"/>
            <a:r>
              <a:rPr lang="en-US" dirty="0"/>
              <a:t>Epigastric Mass </a:t>
            </a:r>
          </a:p>
          <a:p>
            <a:pPr lvl="1"/>
            <a:r>
              <a:rPr lang="en-US" dirty="0"/>
              <a:t>Ascites </a:t>
            </a:r>
          </a:p>
        </p:txBody>
      </p:sp>
      <p:pic>
        <p:nvPicPr>
          <p:cNvPr id="4098" name="Picture 2" descr="Jaundice: Symptoms, Treatment, Causes, and Types">
            <a:extLst>
              <a:ext uri="{FF2B5EF4-FFF2-40B4-BE49-F238E27FC236}">
                <a16:creationId xmlns:a16="http://schemas.microsoft.com/office/drawing/2014/main" id="{D81933F9-9F36-9647-84C3-0C9F4B8DF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86713" y="1357803"/>
            <a:ext cx="35687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urgical Diseases - Signs You'll Remember | Quizlet">
            <a:extLst>
              <a:ext uri="{FF2B5EF4-FFF2-40B4-BE49-F238E27FC236}">
                <a16:creationId xmlns:a16="http://schemas.microsoft.com/office/drawing/2014/main" id="{528FFE53-07CF-C141-98CD-E89C0B7EB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86713" y="3923506"/>
            <a:ext cx="3055571" cy="264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827634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7ABFD-8B21-3144-AA74-10A188DD0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Pancreatic Malignancies: Clinical Manifestations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E6294-B798-AA44-AAD4-CE22C0850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6468597" cy="4321435"/>
          </a:xfrm>
        </p:spPr>
        <p:txBody>
          <a:bodyPr>
            <a:normAutofit fontScale="92500"/>
          </a:bodyPr>
          <a:lstStyle/>
          <a:p>
            <a:r>
              <a:rPr lang="en-US" dirty="0"/>
              <a:t>Clinical Signs: Associated with Metastasis </a:t>
            </a:r>
          </a:p>
          <a:p>
            <a:pPr lvl="1"/>
            <a:r>
              <a:rPr lang="en-US" dirty="0"/>
              <a:t>Abdominal mass: late finding </a:t>
            </a:r>
          </a:p>
          <a:p>
            <a:pPr lvl="1"/>
            <a:r>
              <a:rPr lang="en-US" dirty="0"/>
              <a:t>Abdominal Ascites </a:t>
            </a:r>
          </a:p>
          <a:p>
            <a:pPr lvl="1"/>
            <a:r>
              <a:rPr lang="en-US" dirty="0"/>
              <a:t>Left Supraclavicular Lymphadenopathy (Virchow’s node) </a:t>
            </a:r>
          </a:p>
          <a:p>
            <a:pPr lvl="1"/>
            <a:r>
              <a:rPr lang="en-US" dirty="0"/>
              <a:t>Palpable periumbilical mass (Sister Mary Joseph’s Node) </a:t>
            </a:r>
          </a:p>
          <a:p>
            <a:pPr lvl="1"/>
            <a:r>
              <a:rPr lang="en-US" dirty="0"/>
              <a:t>Migratory Thrombophlebitis (Trousseau syndrome) </a:t>
            </a:r>
          </a:p>
          <a:p>
            <a:r>
              <a:rPr lang="en-US" dirty="0"/>
              <a:t>Most common sites of metastatic disease include the liver, peritoneum, lungs, and less frequently, bone</a:t>
            </a:r>
          </a:p>
        </p:txBody>
      </p:sp>
      <p:pic>
        <p:nvPicPr>
          <p:cNvPr id="5122" name="Picture 2" descr="Ascites: side view of distended abdomen - Stock Image - M108/0290 - Science  Photo Library">
            <a:extLst>
              <a:ext uri="{FF2B5EF4-FFF2-40B4-BE49-F238E27FC236}">
                <a16:creationId xmlns:a16="http://schemas.microsoft.com/office/drawing/2014/main" id="{CE70B8BA-6CD8-1A43-BB3B-84AFAD4FC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29963" y="427777"/>
            <a:ext cx="2015430" cy="2643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Lymphadenopathy &amp; splenomegaly">
            <a:extLst>
              <a:ext uri="{FF2B5EF4-FFF2-40B4-BE49-F238E27FC236}">
                <a16:creationId xmlns:a16="http://schemas.microsoft.com/office/drawing/2014/main" id="{83DF9FDF-1552-DD44-9BB7-1AF4D6C68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12028" y="3388573"/>
            <a:ext cx="4051300" cy="304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962512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5F329-B70C-D442-B566-7FD03F277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Pancreatic Malignancies: Diagnostics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5FF96-D999-5A49-ABCE-7BC3AD606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538" y="2097088"/>
            <a:ext cx="6130925" cy="3817937"/>
          </a:xfrm>
        </p:spPr>
        <p:txBody>
          <a:bodyPr>
            <a:normAutofit/>
          </a:bodyPr>
          <a:lstStyle/>
          <a:p>
            <a:r>
              <a:rPr lang="en-US" dirty="0"/>
              <a:t>Patients who present with jaundice, epigastric pain, and weight loss will initially start with an US: </a:t>
            </a:r>
          </a:p>
          <a:p>
            <a:pPr lvl="1"/>
            <a:r>
              <a:rPr lang="en-US" dirty="0"/>
              <a:t>Abd US: to rule out masses, possible bile duct obstruction, or liver abnormalities</a:t>
            </a:r>
          </a:p>
          <a:p>
            <a:r>
              <a:rPr lang="en-US" dirty="0"/>
              <a:t>CT scan w/contrast: best initial diagnostic of choice in patients (also r/o pancreatitis) </a:t>
            </a:r>
          </a:p>
        </p:txBody>
      </p:sp>
      <p:pic>
        <p:nvPicPr>
          <p:cNvPr id="6146" name="Picture 2" descr="Computed Axial Tomography (CAT or CT) Scan – Pancreatic Cancer Action  Network">
            <a:extLst>
              <a:ext uri="{FF2B5EF4-FFF2-40B4-BE49-F238E27FC236}">
                <a16:creationId xmlns:a16="http://schemas.microsoft.com/office/drawing/2014/main" id="{DD04C949-C217-9F4D-92AF-9D0F3998F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29462" y="1949449"/>
            <a:ext cx="4060823" cy="402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16718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24E9C-9075-B745-91C4-FB4B0B4E9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060" y="0"/>
            <a:ext cx="9905998" cy="1806084"/>
          </a:xfrm>
        </p:spPr>
        <p:txBody>
          <a:bodyPr/>
          <a:lstStyle/>
          <a:p>
            <a:r>
              <a:rPr lang="en-US" dirty="0"/>
              <a:t>Pancreatic Malignancies: diagnostics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5832D-A98E-1F48-9AD2-798616267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22401"/>
            <a:ext cx="9905999" cy="4368800"/>
          </a:xfrm>
        </p:spPr>
        <p:txBody>
          <a:bodyPr/>
          <a:lstStyle/>
          <a:p>
            <a:r>
              <a:rPr lang="en-US" dirty="0"/>
              <a:t>Endoscopic Retrograde Cholangiopancreatography (ERCP) </a:t>
            </a:r>
          </a:p>
          <a:p>
            <a:pPr lvl="1"/>
            <a:r>
              <a:rPr lang="en-US" dirty="0"/>
              <a:t>usually diagnostic and therapeutic as well</a:t>
            </a:r>
          </a:p>
          <a:p>
            <a:pPr lvl="1"/>
            <a:endParaRPr lang="en-US" dirty="0"/>
          </a:p>
        </p:txBody>
      </p:sp>
      <p:pic>
        <p:nvPicPr>
          <p:cNvPr id="7170" name="Picture 2" descr="ERCP (Endoscopic Retrograde Cholangiopancreatography) | Articles | Mount  Nittany Health System">
            <a:extLst>
              <a:ext uri="{FF2B5EF4-FFF2-40B4-BE49-F238E27FC236}">
                <a16:creationId xmlns:a16="http://schemas.microsoft.com/office/drawing/2014/main" id="{A5BDD888-BC69-8B4D-902F-E23A26D64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41412" y="2700338"/>
            <a:ext cx="3937000" cy="383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Current Diagnostic Tools for Pancreatic Cancer - YouTube">
            <a:extLst>
              <a:ext uri="{FF2B5EF4-FFF2-40B4-BE49-F238E27FC236}">
                <a16:creationId xmlns:a16="http://schemas.microsoft.com/office/drawing/2014/main" id="{2B3A41D8-8046-9846-A2A4-2ECEFA388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00685" y="2700338"/>
            <a:ext cx="6477001" cy="3643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87966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F9483-CE2D-824D-A4CF-0E0B2583D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Pancreatic Malignancies: Diagnostics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8C64B-7936-6741-B966-97F4E9251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242" y="2249486"/>
            <a:ext cx="7532171" cy="4608514"/>
          </a:xfrm>
        </p:spPr>
        <p:txBody>
          <a:bodyPr>
            <a:normAutofit/>
          </a:bodyPr>
          <a:lstStyle/>
          <a:p>
            <a:r>
              <a:rPr lang="en-US" dirty="0"/>
              <a:t>Other diagnostic tools: </a:t>
            </a:r>
          </a:p>
          <a:p>
            <a:pPr lvl="1"/>
            <a:r>
              <a:rPr lang="en-US" dirty="0"/>
              <a:t>Magnetic resonance cholangiopancreatography (MRCP): alternative to ERCP, doesn’t require contrast material to be injected into ductal system (less morbidity associated with contrast administration)</a:t>
            </a:r>
          </a:p>
          <a:p>
            <a:pPr lvl="1"/>
            <a:r>
              <a:rPr lang="en-US" dirty="0"/>
              <a:t>Tumor Markers: CA19-9</a:t>
            </a:r>
          </a:p>
          <a:p>
            <a:pPr lvl="2"/>
            <a:r>
              <a:rPr lang="en-US" dirty="0"/>
              <a:t>Specificity and Sensitivity isn’t the best for pancreatic cancer </a:t>
            </a:r>
          </a:p>
          <a:p>
            <a:pPr lvl="2"/>
            <a:r>
              <a:rPr lang="en-US" dirty="0"/>
              <a:t>Can also be elevated in other benign disorders of the hepatobiliary system </a:t>
            </a:r>
          </a:p>
          <a:p>
            <a:pPr lvl="2"/>
            <a:r>
              <a:rPr lang="en-US" dirty="0"/>
              <a:t>Often used for staging and postoperative evaluation </a:t>
            </a:r>
          </a:p>
          <a:p>
            <a:pPr lvl="2"/>
            <a:endParaRPr lang="en-US" dirty="0"/>
          </a:p>
        </p:txBody>
      </p:sp>
      <p:pic>
        <p:nvPicPr>
          <p:cNvPr id="9218" name="Picture 2" descr="Untitled Document">
            <a:extLst>
              <a:ext uri="{FF2B5EF4-FFF2-40B4-BE49-F238E27FC236}">
                <a16:creationId xmlns:a16="http://schemas.microsoft.com/office/drawing/2014/main" id="{CA8CD831-B5AF-4F49-BAAA-88261A297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43375" y="2396142"/>
            <a:ext cx="3899240" cy="369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831620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991DF-3703-0A45-93BC-F02F4243E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99541"/>
            <a:ext cx="9905998" cy="1478570"/>
          </a:xfrm>
        </p:spPr>
        <p:txBody>
          <a:bodyPr/>
          <a:lstStyle/>
          <a:p>
            <a:r>
              <a:rPr lang="en-US" dirty="0"/>
              <a:t>Pancreatic Malignancies: Diagnostics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C53B3-BD88-7A4F-B169-79EBBCD30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7105" y="1521618"/>
            <a:ext cx="9905999" cy="2700337"/>
          </a:xfrm>
        </p:spPr>
        <p:txBody>
          <a:bodyPr/>
          <a:lstStyle/>
          <a:p>
            <a:r>
              <a:rPr lang="en-US" dirty="0"/>
              <a:t>Biopsy is required to confirm the diagnosis! </a:t>
            </a:r>
          </a:p>
          <a:p>
            <a:pPr lvl="1"/>
            <a:r>
              <a:rPr lang="en-US" dirty="0"/>
              <a:t>Percutaneous biopsy (FNA) either US or CT guided: although can be done with small tumors, there is a risk of spreading cells during procedure, thus making surgery less effective </a:t>
            </a:r>
          </a:p>
          <a:p>
            <a:pPr lvl="1"/>
            <a:r>
              <a:rPr lang="en-US" dirty="0"/>
              <a:t>Endoscopic US Guided Biopsy (EUS Guided FNA): best modality for obtaining sample of suspected tissue</a:t>
            </a:r>
          </a:p>
        </p:txBody>
      </p:sp>
      <p:pic>
        <p:nvPicPr>
          <p:cNvPr id="8194" name="Picture 2" descr="Endoscopic Ultrasound with Fine Needle Aspiration Biopsy.mp4 - YouTube">
            <a:extLst>
              <a:ext uri="{FF2B5EF4-FFF2-40B4-BE49-F238E27FC236}">
                <a16:creationId xmlns:a16="http://schemas.microsoft.com/office/drawing/2014/main" id="{46B2DFEC-7C98-7741-9683-344300E8F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14787" y="3986213"/>
            <a:ext cx="4557713" cy="270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346064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D1AB5-4A50-AD4E-B0AE-A8A331BE3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Pancreatic Malignancies: Staging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C8970-D05B-8441-B7A9-62B0CC626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129" y="2099744"/>
            <a:ext cx="5305687" cy="4139738"/>
          </a:xfrm>
        </p:spPr>
        <p:txBody>
          <a:bodyPr/>
          <a:lstStyle/>
          <a:p>
            <a:r>
              <a:rPr lang="en-US" dirty="0"/>
              <a:t>Staging typically uses the TNM system</a:t>
            </a:r>
          </a:p>
          <a:p>
            <a:r>
              <a:rPr lang="en-US" dirty="0"/>
              <a:t>CT scan/PET scan usually indicated to determine metastasis </a:t>
            </a:r>
          </a:p>
          <a:p>
            <a:pPr lvl="1"/>
            <a:r>
              <a:rPr lang="en-US" dirty="0"/>
              <a:t>Most patient who present with symptoms related to pancreatic cancer have advanced disease, often with mets </a:t>
            </a:r>
          </a:p>
          <a:p>
            <a:r>
              <a:rPr lang="en-US" dirty="0"/>
              <a:t>Staging very important in determining whether the tumor is resectable or not </a:t>
            </a:r>
          </a:p>
        </p:txBody>
      </p:sp>
      <p:pic>
        <p:nvPicPr>
          <p:cNvPr id="1026" name="Picture 2" descr="Pancreatic Cancer | Geeky Medics">
            <a:extLst>
              <a:ext uri="{FF2B5EF4-FFF2-40B4-BE49-F238E27FC236}">
                <a16:creationId xmlns:a16="http://schemas.microsoft.com/office/drawing/2014/main" id="{57038247-C99B-094B-A8EE-3FFB57446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19776" y="2686171"/>
            <a:ext cx="5513408" cy="2472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233571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ADC68-B046-5A4F-84AF-A31955E1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08344"/>
            <a:ext cx="9905998" cy="1307940"/>
          </a:xfrm>
        </p:spPr>
        <p:txBody>
          <a:bodyPr/>
          <a:lstStyle/>
          <a:p>
            <a:r>
              <a:rPr lang="en-US" dirty="0"/>
              <a:t>Pancreatic Malignancies: Treatment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AC33C-9FF9-294F-B037-BBCC4E001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354238"/>
            <a:ext cx="6016626" cy="5085631"/>
          </a:xfrm>
        </p:spPr>
        <p:txBody>
          <a:bodyPr/>
          <a:lstStyle/>
          <a:p>
            <a:r>
              <a:rPr lang="en-US" dirty="0"/>
              <a:t>Treatment determined by how advanced the tumor is and whether there is evidence of metastasis </a:t>
            </a:r>
          </a:p>
          <a:p>
            <a:r>
              <a:rPr lang="en-US" dirty="0"/>
              <a:t>If the tumor is confined to head/duodenal region of the pancreas, the usual first treatment, WHIPPLE PROCEDURE! (pancreaticoduodenectomy)</a:t>
            </a:r>
          </a:p>
          <a:p>
            <a:r>
              <a:rPr lang="en-US" dirty="0"/>
              <a:t>Avg 5-year survival rate s/p Whipple is about 20-25% </a:t>
            </a:r>
          </a:p>
          <a:p>
            <a:endParaRPr lang="en-US" dirty="0"/>
          </a:p>
        </p:txBody>
      </p:sp>
      <p:pic>
        <p:nvPicPr>
          <p:cNvPr id="2052" name="Picture 4" descr="Whipple procedure: Effectiveness, risks, and preparation">
            <a:extLst>
              <a:ext uri="{FF2B5EF4-FFF2-40B4-BE49-F238E27FC236}">
                <a16:creationId xmlns:a16="http://schemas.microsoft.com/office/drawing/2014/main" id="{6E2594CD-2214-3E46-9903-32AD80955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58039" y="1516284"/>
            <a:ext cx="4465135" cy="3987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648278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DB1FA-8E7D-4D46-A5CC-BB15B17E0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Pancreatic Malignancies: Treatment</a:t>
            </a:r>
          </a:p>
        </p:txBody>
      </p:sp>
      <p:pic>
        <p:nvPicPr>
          <p:cNvPr id="3080" name="Picture 8" descr="Whipple procedure - Mayo Clinic">
            <a:extLst>
              <a:ext uri="{FF2B5EF4-FFF2-40B4-BE49-F238E27FC236}">
                <a16:creationId xmlns:a16="http://schemas.microsoft.com/office/drawing/2014/main" id="{73E1910F-320E-4448-B6B1-F2B6DEE252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71875" y="1848644"/>
            <a:ext cx="5643563" cy="4179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D8CE8E8-D0D0-8149-930B-D8D607156EE5}"/>
              </a:ext>
            </a:extLst>
          </p:cNvPr>
          <p:cNvSpPr/>
          <p:nvPr/>
        </p:nvSpPr>
        <p:spPr>
          <a:xfrm>
            <a:off x="3837153" y="6027738"/>
            <a:ext cx="49098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https://www.youtube.com/watch?v=4Zxvm3MSb8k</a:t>
            </a:r>
          </a:p>
        </p:txBody>
      </p:sp>
    </p:spTree>
    <p:extLst>
      <p:ext uri="{BB962C8B-B14F-4D97-AF65-F5344CB8AC3E}">
        <p14:creationId xmlns:p14="http://schemas.microsoft.com/office/powerpoint/2010/main" val="95646179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C9D29-FD63-7E40-87CA-4A59C9D90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Pancreatic Malignancies: 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F98DC-EA80-7444-9376-C51F69C21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6"/>
            <a:ext cx="6116638" cy="4494213"/>
          </a:xfrm>
        </p:spPr>
        <p:txBody>
          <a:bodyPr/>
          <a:lstStyle/>
          <a:p>
            <a:r>
              <a:rPr lang="en-US" dirty="0"/>
              <a:t>Surgery can also be performed in some cases</a:t>
            </a:r>
          </a:p>
          <a:p>
            <a:pPr lvl="1"/>
            <a:r>
              <a:rPr lang="en-US" dirty="0"/>
              <a:t>Tail end tumors: distal pancreatectomy </a:t>
            </a:r>
          </a:p>
          <a:p>
            <a:pPr lvl="1"/>
            <a:r>
              <a:rPr lang="en-US" dirty="0"/>
              <a:t>Total Pancreatectomy: requires patients to be on insulin/enzyme replacement for the rest of their lives </a:t>
            </a:r>
          </a:p>
          <a:p>
            <a:pPr lvl="1"/>
            <a:r>
              <a:rPr lang="en-US" dirty="0"/>
              <a:t>Blood vessel resection if there is active tumor involvement</a:t>
            </a:r>
          </a:p>
          <a:p>
            <a:r>
              <a:rPr lang="en-US" dirty="0"/>
              <a:t>If surgery is not applicable, patient will then require systemic chemotherapy +/- radiation </a:t>
            </a:r>
          </a:p>
          <a:p>
            <a:endParaRPr lang="en-US" dirty="0"/>
          </a:p>
        </p:txBody>
      </p:sp>
      <p:pic>
        <p:nvPicPr>
          <p:cNvPr id="4100" name="Picture 4" descr="Olaparib for Pancreatic Cancer with BRCA Mutations - National Cancer  Institute">
            <a:extLst>
              <a:ext uri="{FF2B5EF4-FFF2-40B4-BE49-F238E27FC236}">
                <a16:creationId xmlns:a16="http://schemas.microsoft.com/office/drawing/2014/main" id="{527F75D7-3672-BE42-85FA-7D6CF02C3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58051" y="2249486"/>
            <a:ext cx="4072970" cy="354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569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5D1EA-31BB-8E4B-BDF8-BA2315F95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1478570"/>
          </a:xfrm>
        </p:spPr>
        <p:txBody>
          <a:bodyPr/>
          <a:lstStyle/>
          <a:p>
            <a:r>
              <a:rPr lang="en-US" dirty="0"/>
              <a:t>Pancreatic Malignancies: Treatment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8795C-4EFF-4E4D-9E01-B8234A4AB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442" y="1244009"/>
            <a:ext cx="6496494" cy="533754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patients who are not surgical candidates, usually undergo chemotherapy/radiation treatments </a:t>
            </a:r>
          </a:p>
          <a:p>
            <a:pPr lvl="1"/>
            <a:r>
              <a:rPr lang="en-US" dirty="0"/>
              <a:t>Approximately 40% of patients with pancreatic cancer present with unresectable tumors </a:t>
            </a:r>
          </a:p>
          <a:p>
            <a:pPr lvl="1"/>
            <a:r>
              <a:rPr lang="en-US" dirty="0"/>
              <a:t>Treatment is going to depend on staging and how advanced tumor involvement is</a:t>
            </a:r>
          </a:p>
          <a:p>
            <a:pPr lvl="1"/>
            <a:r>
              <a:rPr lang="en-US" dirty="0"/>
              <a:t>Systemic chemotherapy indicated if distance metastasis has already occurred</a:t>
            </a:r>
          </a:p>
          <a:p>
            <a:pPr lvl="1"/>
            <a:r>
              <a:rPr lang="en-US" dirty="0"/>
              <a:t>A lot of patient opt for clinical trials since the commonly used therapies have not had long term success </a:t>
            </a:r>
          </a:p>
          <a:p>
            <a:pPr lvl="1"/>
            <a:r>
              <a:rPr lang="en-US" dirty="0"/>
              <a:t>Some patients successfully become surgical candidates after chemotherapy has been initiated due to reduction in tumor size (patients who are deemed borderline resectable) </a:t>
            </a:r>
          </a:p>
        </p:txBody>
      </p:sp>
      <p:pic>
        <p:nvPicPr>
          <p:cNvPr id="5122" name="Picture 2" descr="Recent advances in chemotherapy for pancreatic cancer: evidence from Japan  and recommendations in guidelines | SpringerLink">
            <a:extLst>
              <a:ext uri="{FF2B5EF4-FFF2-40B4-BE49-F238E27FC236}">
                <a16:creationId xmlns:a16="http://schemas.microsoft.com/office/drawing/2014/main" id="{C4CCC403-F829-6C43-A648-8269C484F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38753" y="2399025"/>
            <a:ext cx="5067081" cy="1913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38319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1175</TotalTime>
  <Words>5193</Words>
  <Application>Microsoft Macintosh PowerPoint</Application>
  <PresentationFormat>Widescreen</PresentationFormat>
  <Paragraphs>590</Paragraphs>
  <Slides>76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0" baseType="lpstr">
      <vt:lpstr>Aptos</vt:lpstr>
      <vt:lpstr>Arial</vt:lpstr>
      <vt:lpstr>Tw Cen MT</vt:lpstr>
      <vt:lpstr>Circuit</vt:lpstr>
      <vt:lpstr>GI Lecture: Liver, Pancreatic, and Biliary Conditions</vt:lpstr>
      <vt:lpstr>Course Objectives</vt:lpstr>
      <vt:lpstr>Course Objectives</vt:lpstr>
      <vt:lpstr>Hepatitis: overview</vt:lpstr>
      <vt:lpstr>Hepatitis: Clinical Manifestations</vt:lpstr>
      <vt:lpstr>Hepatitis: Diagnostics</vt:lpstr>
      <vt:lpstr>Hepatitis: Etiologies – Hep A </vt:lpstr>
      <vt:lpstr>Hepatitis: Etiologies – Hep E </vt:lpstr>
      <vt:lpstr>Hepatitis: Etiologies – Hep D</vt:lpstr>
      <vt:lpstr>Hepatitis: Etiologies – Hep B</vt:lpstr>
      <vt:lpstr>Hepatitis: Etiologies – Hep B</vt:lpstr>
      <vt:lpstr>Hepatitis: Etiologies – Hep B</vt:lpstr>
      <vt:lpstr>Hepatitis C: Overview </vt:lpstr>
      <vt:lpstr>Hep C: Clinical Manifestations</vt:lpstr>
      <vt:lpstr>Hep C: Clinical Manifestations</vt:lpstr>
      <vt:lpstr>Hep C: Management</vt:lpstr>
      <vt:lpstr>Cirrhosis: Overview</vt:lpstr>
      <vt:lpstr>Cirrhosis: Clinical Manifestations</vt:lpstr>
      <vt:lpstr>Cirrhosis: Clinical Manifestations</vt:lpstr>
      <vt:lpstr>PowerPoint Presentation</vt:lpstr>
      <vt:lpstr>Cirrhosis: Management</vt:lpstr>
      <vt:lpstr>Hepatic Encephalopathy</vt:lpstr>
      <vt:lpstr>PowerPoint Presentation</vt:lpstr>
      <vt:lpstr>Hepatic Encephalopathy</vt:lpstr>
      <vt:lpstr>Hepatic Encephalopathy: Management</vt:lpstr>
      <vt:lpstr>Non-Alcoholic Fatty Liver Disease</vt:lpstr>
      <vt:lpstr>Non-Alcoholic Fatty Liver Disease</vt:lpstr>
      <vt:lpstr>Portal Hypertension: Overview</vt:lpstr>
      <vt:lpstr>Portal Hypertension: Clinical Manifestations</vt:lpstr>
      <vt:lpstr>Portal Hypertension: Clinical Manifestations</vt:lpstr>
      <vt:lpstr>Portal Hypertension: Clinical Manifestations</vt:lpstr>
      <vt:lpstr>Portal Hypertension: Management </vt:lpstr>
      <vt:lpstr>Hepatocellular Carcinoma: Overview </vt:lpstr>
      <vt:lpstr>Hepatocellular Carcinoma: Clinical Manifestations</vt:lpstr>
      <vt:lpstr>Hepatocellular Carcinoma: Clinical Manifestations</vt:lpstr>
      <vt:lpstr>Hepatocellular Carcinoma: Clinical Manifestations</vt:lpstr>
      <vt:lpstr>Hepatocellular Carcinoma: Management </vt:lpstr>
      <vt:lpstr>Hepatocellular Carcinoma: Management </vt:lpstr>
      <vt:lpstr>Biliary Disease: Cholelithiasis</vt:lpstr>
      <vt:lpstr>Biliary Disease: Cholelithiasis</vt:lpstr>
      <vt:lpstr>Biliary Disease: Cholelithiasis</vt:lpstr>
      <vt:lpstr>Biliary Disease: Cholecystitis</vt:lpstr>
      <vt:lpstr>Biliary Disease: Cholecystitis</vt:lpstr>
      <vt:lpstr>Biliary Disease: Cholecystitis</vt:lpstr>
      <vt:lpstr>Biliary Disease: Cholecystitis</vt:lpstr>
      <vt:lpstr>Biliary Disease: Choledocholithiasis </vt:lpstr>
      <vt:lpstr>Biliary Disease: Choledocholithiasis </vt:lpstr>
      <vt:lpstr>Biliary Disease: Choledocholithiasis </vt:lpstr>
      <vt:lpstr>Biliary Disease: Ascending Cholangitis </vt:lpstr>
      <vt:lpstr>Biliary Disease: Ascending Cholangitis </vt:lpstr>
      <vt:lpstr>Biliary Disease: Ascending Cholangitis </vt:lpstr>
      <vt:lpstr>Biliary Disease: Ascending Cholangitis </vt:lpstr>
      <vt:lpstr>Acute Pancreatitis: Overview </vt:lpstr>
      <vt:lpstr>Acute Pancreatitis: Clinical Manifestations</vt:lpstr>
      <vt:lpstr>Acute Pancreatitis: Clinical Manifestations</vt:lpstr>
      <vt:lpstr>Acute Pancreatitis: Clinical Manifestations</vt:lpstr>
      <vt:lpstr>PowerPoint Presentation</vt:lpstr>
      <vt:lpstr>Acute Pancreatitis: Management </vt:lpstr>
      <vt:lpstr>Chronic Pancreatitis: Overview </vt:lpstr>
      <vt:lpstr>Chronic Pancreatitis: Clinical Manifestations </vt:lpstr>
      <vt:lpstr>Chronic Pancreatitis: Management</vt:lpstr>
      <vt:lpstr>Pancreatic Malignancies: Overview </vt:lpstr>
      <vt:lpstr>Pancreatic Malignancies: overview</vt:lpstr>
      <vt:lpstr>PANCREATIC MALIGNANCIES: RISK FACTORS </vt:lpstr>
      <vt:lpstr>Pancreatic Malignancies: Clinical Manifestations </vt:lpstr>
      <vt:lpstr>PANCREATIC MALIGNANCIES: CLINICAL MANIFESTATIONS</vt:lpstr>
      <vt:lpstr>Pancreatic Malignancies: Clinical Manifestations </vt:lpstr>
      <vt:lpstr>Pancreatic Malignancies: Diagnostics </vt:lpstr>
      <vt:lpstr>Pancreatic Malignancies: diagnostics </vt:lpstr>
      <vt:lpstr>Pancreatic Malignancies: Diagnostics</vt:lpstr>
      <vt:lpstr>Pancreatic Malignancies: Diagnostics</vt:lpstr>
      <vt:lpstr>Pancreatic Malignancies: Staging</vt:lpstr>
      <vt:lpstr>Pancreatic Malignancies: Treatment </vt:lpstr>
      <vt:lpstr>Pancreatic Malignancies: Treatment</vt:lpstr>
      <vt:lpstr>Pancreatic Malignancies: Treatment</vt:lpstr>
      <vt:lpstr>Pancreatic Malignancies: Treatment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Hollers</dc:creator>
  <cp:lastModifiedBy>Erik Hollers</cp:lastModifiedBy>
  <cp:revision>57</cp:revision>
  <dcterms:created xsi:type="dcterms:W3CDTF">2026-07-12T19:04:10Z</dcterms:created>
  <dcterms:modified xsi:type="dcterms:W3CDTF">2026-08-03T23:58:39Z</dcterms:modified>
</cp:coreProperties>
</file>