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6"/>
  </p:notesMasterIdLst>
  <p:sldIdLst>
    <p:sldId id="256" r:id="rId3"/>
    <p:sldId id="258" r:id="rId4"/>
    <p:sldId id="259" r:id="rId5"/>
    <p:sldId id="273" r:id="rId6"/>
    <p:sldId id="274" r:id="rId7"/>
    <p:sldId id="276" r:id="rId8"/>
    <p:sldId id="275" r:id="rId9"/>
    <p:sldId id="277" r:id="rId10"/>
    <p:sldId id="278" r:id="rId11"/>
    <p:sldId id="279" r:id="rId12"/>
    <p:sldId id="280" r:id="rId13"/>
    <p:sldId id="281" r:id="rId14"/>
    <p:sldId id="353" r:id="rId15"/>
    <p:sldId id="349" r:id="rId16"/>
    <p:sldId id="350" r:id="rId17"/>
    <p:sldId id="351" r:id="rId18"/>
    <p:sldId id="352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82" r:id="rId30"/>
    <p:sldId id="283" r:id="rId31"/>
    <p:sldId id="284" r:id="rId32"/>
    <p:sldId id="285" r:id="rId33"/>
    <p:sldId id="338" r:id="rId34"/>
    <p:sldId id="339" r:id="rId35"/>
    <p:sldId id="340" r:id="rId36"/>
    <p:sldId id="341" r:id="rId37"/>
    <p:sldId id="342" r:id="rId38"/>
    <p:sldId id="343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45" r:id="rId69"/>
    <p:sldId id="346" r:id="rId70"/>
    <p:sldId id="347" r:id="rId71"/>
    <p:sldId id="348" r:id="rId72"/>
    <p:sldId id="344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91"/>
    <p:restoredTop sz="94622"/>
  </p:normalViewPr>
  <p:slideViewPr>
    <p:cSldViewPr snapToGrid="0">
      <p:cViewPr varScale="1">
        <p:scale>
          <a:sx n="113" d="100"/>
          <a:sy n="113" d="100"/>
        </p:scale>
        <p:origin x="10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751C3-CC3B-044C-88D8-D72511E6397F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78B10-A831-B842-87AB-0A3406E7A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78B10-A831-B842-87AB-0A3406E7AEA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8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78B10-A831-B842-87AB-0A3406E7AEA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07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78B10-A831-B842-87AB-0A3406E7AEAA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4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A564-0D3B-70E6-71F9-6FDEB7D8D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3BA73-7A7A-B68F-354C-D6B267E30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76286-0030-A952-17A0-0EC32A57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5DE3-7210-FDA6-374F-F0383F17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91149-15E4-7FCC-9CF9-796643A9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E7EB-E7DF-F55C-E024-00CB3394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3A88-95FE-40F7-A7B9-6FB8586C5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CBAE7-DC51-7949-08B1-AB71CB1E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66DC-4C02-DCAF-5E07-89B516D6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0F6B4-C0B9-7548-91C5-ADDC647E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BDEF-4C84-18A7-E1DB-91C48FA7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99719-0D4B-6DBB-8B80-8FA6A6375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BADCD-367A-9156-DB51-EA1242DF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421E-299E-E312-CF7A-EE2ABA51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696A-ABFC-0C5B-B2BB-18A93240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5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CD21-8F68-8063-F664-ED9538B1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81F2B-44A1-9ED7-C640-5B6DD54A2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6705-CC66-0D93-B633-C421E73B7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22F17-4639-87CE-1066-A225906D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E6408-100E-7034-05BB-49529907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DA067-8E5B-C319-F225-9B419425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4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D5CA-EBCB-3653-2ABD-08B637DF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2414B-BEA5-D2BA-5D2D-14DA30B85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1F765-DC2D-F9FF-D108-FD699D8F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97D1C-D23E-9D17-BE79-FEBD73C6A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58F78-1DB2-9344-6BBD-D3C299296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1A5E6-AF6D-3B3A-CB4F-D562AE66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6CD85-F225-97D7-71AA-133FFEB1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8C4C1-8A6D-E98E-E280-6981FB65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1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59CC-6ED4-362D-07F5-B372E74A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96011-D6A6-B7E1-2C94-7D1F0B09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5FEE3-21E6-BE40-1CB4-5409BFB0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475BB-1041-B25B-B9F7-30EBCD3F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3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4A41D9-9998-3717-825B-A080C5AC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475A4-B587-99EC-EE61-0943584A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1397-BCBD-175A-F0E9-799334F1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8D29-5088-57E6-B97E-6A129BDC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BB1C-DE83-F26B-9CE2-661A6945E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A89C0-7AE5-24A9-0429-33177294C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A1998-1DA4-44FA-D387-34AA81F3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57C69-D147-10ED-F35E-5CADDAE3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DD87-78AC-4979-5F4A-7066E0A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86A0-2653-85E2-E278-00FC6DD0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55676-4713-E4A8-01F3-A25130B4E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96BE-6A83-6966-051F-06E923F38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BBADF-80D1-BE92-AC6D-AEDA65ED7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86BB5-B690-938C-0204-C81B8A99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86FDE-7C8B-38FD-D75E-D96EBE50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5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7FFF-2650-3C8F-A036-4CBE92B4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00349-A4FC-72C7-B60C-B948A26E6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8735-A0B5-B901-DF60-7B5CDA39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30897-44C1-F396-4BAF-1460D516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0A80-D58F-87DE-CA5B-A9BD40A1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3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15FF2-B59C-B9BC-ADCF-6C95D3300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9A63C-7CDF-D841-E06A-AEE231A7D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5108C-E6BA-862C-6DE0-512CE9B2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EE7C-45DF-E56F-F4D8-89786BC7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5F434-ACF9-EDC8-FFE8-24435D00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25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16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50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0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66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38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488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09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349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5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72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99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6217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44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918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794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95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5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ED566-CA5D-C55B-7295-1001DD818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F7026-8E58-EB2F-BF4A-6F941818B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0DCB7-BE2E-083E-3879-6892C2A93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DE2E6-0D37-2C49-9AC4-AFC345195C1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760BC-8687-5F69-94C7-E5394A540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88906-1D48-1C3C-3997-F1CA204F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12D5A-4353-7A44-9D02-4930A1400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6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0731-7D5F-484B-825D-455B7D50EFE6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78BED-5FF4-2D40-B974-D6BF5FC91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01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2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8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1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8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3E97-47FB-FA50-DF6B-8EAACFBC6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 Lecture: Colon and Rectal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3BAA9-3895-D19E-7B19-2D3FF1A7C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Erik Hollers, PA-C – Moffitt Cancer and Research Center</a:t>
            </a:r>
          </a:p>
          <a:p>
            <a:r>
              <a:rPr lang="en-US" dirty="0"/>
              <a:t>Lincoln Memorial University - Tampa</a:t>
            </a:r>
          </a:p>
          <a:p>
            <a:r>
              <a:rPr lang="en-US" dirty="0"/>
              <a:t>Clinical Medicine II 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394297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CFE1-3E14-0004-4697-492F45EA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9C77-8FA6-39E0-2578-F2B49C27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Colon and Rectum.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Anorectum including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Liver 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Biliary Tract 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Pancreas </a:t>
            </a:r>
          </a:p>
        </p:txBody>
      </p:sp>
    </p:spTree>
    <p:extLst>
      <p:ext uri="{BB962C8B-B14F-4D97-AF65-F5344CB8AC3E}">
        <p14:creationId xmlns:p14="http://schemas.microsoft.com/office/powerpoint/2010/main" val="111064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0F8C-7F00-1AF8-1FF5-C460B8A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4A0E-B1D8-7A8B-552D-706F4773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effectLst/>
              </a:rPr>
              <a:t>Apply knowledge of GI anatomy and physiology when taking a patient’s history, performing a physical examination, and developing a treatment plan, considering age-related changes</a:t>
            </a:r>
          </a:p>
          <a:p>
            <a:r>
              <a:rPr lang="en-US" dirty="0">
                <a:effectLst/>
              </a:rPr>
              <a:t>Differentiate between normal and abnormal gastrointestinal exam findings to guide and support medical decisions and treatment plans.</a:t>
            </a:r>
          </a:p>
          <a:p>
            <a:r>
              <a:rPr lang="en-US" dirty="0">
                <a:effectLst/>
              </a:rPr>
              <a:t>Analyze abnormal findings to develop a relevant differential diagnosis utilizing a system based pathophysiological model.</a:t>
            </a:r>
          </a:p>
          <a:p>
            <a:r>
              <a:rPr lang="en-US" dirty="0">
                <a:effectLst/>
              </a:rPr>
              <a:t>Interpret common GI laboratory and diagnostic tests/screenings (including selection of appropriate tests and interpretation of age-appropriate reference ranges).</a:t>
            </a:r>
          </a:p>
          <a:p>
            <a:r>
              <a:rPr lang="en-US" dirty="0">
                <a:effectLst/>
              </a:rPr>
              <a:t>Select appropriate patient-centered treatment plans for gastroenterology disorders that incorporate evidence-based non-pharmacologic and pharmacologic interventions, considering patient preferences, values, and cultural beliefs.</a:t>
            </a:r>
          </a:p>
          <a:p>
            <a:r>
              <a:rPr lang="en-US" dirty="0">
                <a:effectLst/>
              </a:rPr>
              <a:t>Develop professional, culturally sensitive, empathetic, comprehensive acute and chronic care plans for patients of all ages, incorporating preventive care, education, referrals, and rehabilitation coordination.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7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D16C-ED8E-DE72-1335-34BB9D14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Constipation: Overview/Clinical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A0A2-A9FF-8013-CB0B-36CD8AF55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45" y="2097088"/>
            <a:ext cx="4844521" cy="4667854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Constipation: usually refers to passing less than 3 stools per week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Can also include difficulty passing stools, hard stools, and/or incomplete evacuation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Always remember, everyone has different bowel habits</a:t>
            </a:r>
          </a:p>
          <a:p>
            <a:pPr>
              <a:lnSpc>
                <a:spcPct val="110000"/>
              </a:lnSpc>
            </a:pPr>
            <a:r>
              <a:rPr lang="en-US" dirty="0"/>
              <a:t>Etiologies: multi-variable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Dietary habits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Motor Disorders: DM, hypothyroid, Colorectal Ca, Celiac Disease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MEDS: many medications cause constipation (OPIOIDS, Zofran, Verapamil etc.) </a:t>
            </a:r>
          </a:p>
          <a:p>
            <a:pPr>
              <a:lnSpc>
                <a:spcPct val="110000"/>
              </a:lnSpc>
            </a:pPr>
            <a:endParaRPr lang="en-US" sz="1300" dirty="0"/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  <p:pic>
        <p:nvPicPr>
          <p:cNvPr id="1026" name="Picture 2" descr="Constipation | Johns Hopkins Medicine">
            <a:extLst>
              <a:ext uri="{FF2B5EF4-FFF2-40B4-BE49-F238E27FC236}">
                <a16:creationId xmlns:a16="http://schemas.microsoft.com/office/drawing/2014/main" id="{963ED64A-56E6-58A1-E6D5-244E6EDB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98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3AFC-DC50-28FA-33B0-AFADB10A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425" y="-157487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Constipation: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5BF9-47CE-5347-5841-AFA298CD0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400" y="1321083"/>
            <a:ext cx="9540074" cy="501467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800" dirty="0"/>
              <a:t>First line is always diet modifications: High Fiber diet – helps retain water and forms more bulky stools</a:t>
            </a:r>
          </a:p>
          <a:p>
            <a:pPr>
              <a:lnSpc>
                <a:spcPct val="110000"/>
              </a:lnSpc>
            </a:pPr>
            <a:r>
              <a:rPr lang="en-US" sz="3800" dirty="0"/>
              <a:t>Medical Management: 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Bulk Forming Laxatives: absorbs water and increases fecal matter (Psyllium, Methylcellulose, Polycarbophil, Wheat Dextron) </a:t>
            </a:r>
          </a:p>
          <a:p>
            <a:pPr lvl="2">
              <a:lnSpc>
                <a:spcPct val="110000"/>
              </a:lnSpc>
            </a:pPr>
            <a:r>
              <a:rPr lang="en-US" sz="3800" dirty="0"/>
              <a:t>Usually used in combination with high fiber diet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Osmotic Laxatives: causes water retention in stool (synthetic sugars – Lactulose, Sorbitol) </a:t>
            </a:r>
          </a:p>
          <a:p>
            <a:pPr lvl="2">
              <a:lnSpc>
                <a:spcPct val="110000"/>
              </a:lnSpc>
            </a:pPr>
            <a:r>
              <a:rPr lang="en-US" sz="3800" dirty="0"/>
              <a:t>PEG (Polyethylene Glycol) – MiraLAX</a:t>
            </a:r>
          </a:p>
          <a:p>
            <a:pPr lvl="2">
              <a:lnSpc>
                <a:spcPct val="110000"/>
              </a:lnSpc>
            </a:pPr>
            <a:r>
              <a:rPr lang="en-US" sz="3800" dirty="0"/>
              <a:t>Synthetic Sugars: Lactulose, Sorbitol </a:t>
            </a:r>
          </a:p>
          <a:p>
            <a:pPr lvl="2">
              <a:lnSpc>
                <a:spcPct val="110000"/>
              </a:lnSpc>
            </a:pPr>
            <a:r>
              <a:rPr lang="en-US" sz="3800" dirty="0"/>
              <a:t>Saline Laxatives: Milk of Magnesia, Magnesium Citrate 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Stimulant Laxatives: increases acetylcholine-regulated GI motility (increases peristalsis) include Senna and Bisacodyl </a:t>
            </a:r>
          </a:p>
          <a:p>
            <a:pPr>
              <a:lnSpc>
                <a:spcPct val="110000"/>
              </a:lnSpc>
            </a:pPr>
            <a:r>
              <a:rPr lang="en-US" sz="3800" dirty="0"/>
              <a:t>All medications have the potential for side effects: diarrhea, abdominal cramping, and or increased gas pressure</a:t>
            </a:r>
          </a:p>
          <a:p>
            <a:pPr>
              <a:lnSpc>
                <a:spcPct val="110000"/>
              </a:lnSpc>
            </a:pPr>
            <a:r>
              <a:rPr lang="en-US" sz="3800" dirty="0"/>
              <a:t>Use a step-wise approach. Never add multiple lines of medications all oat once. </a:t>
            </a:r>
          </a:p>
          <a:p>
            <a:pPr>
              <a:lnSpc>
                <a:spcPct val="110000"/>
              </a:lnSpc>
            </a:pPr>
            <a:r>
              <a:rPr lang="en-US" sz="3800" dirty="0"/>
              <a:t>Same caution for tapering: never taper all at once, can cause refractory constipation issues.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>
              <a:lnSpc>
                <a:spcPct val="110000"/>
              </a:lnSpc>
            </a:pPr>
            <a:endParaRPr lang="en-US" sz="900" dirty="0"/>
          </a:p>
        </p:txBody>
      </p:sp>
      <p:pic>
        <p:nvPicPr>
          <p:cNvPr id="2050" name="Picture 2" descr="Polyethylene glycol (PEG) | Description, History, &amp; Uses | Britannica">
            <a:extLst>
              <a:ext uri="{FF2B5EF4-FFF2-40B4-BE49-F238E27FC236}">
                <a16:creationId xmlns:a16="http://schemas.microsoft.com/office/drawing/2014/main" id="{7C3F20DA-9DE5-7508-F864-7B973BA4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5760" y="522245"/>
            <a:ext cx="1647680" cy="2328425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76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082" name="Rectangle 3081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83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086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7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8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9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0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1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2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3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4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5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6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7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8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9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0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1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2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3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4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5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6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7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8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9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0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1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2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3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4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5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6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7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8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9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0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1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2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3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4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5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6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7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8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9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0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1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2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3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4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5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6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7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8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9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54DEAB-7F6C-CBC0-5589-73DE69DB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408" y="85118"/>
            <a:ext cx="5877676" cy="1478570"/>
          </a:xfrm>
        </p:spPr>
        <p:txBody>
          <a:bodyPr>
            <a:normAutofit/>
          </a:bodyPr>
          <a:lstStyle/>
          <a:p>
            <a:r>
              <a:rPr lang="en-US" dirty="0"/>
              <a:t>Constipation: Management</a:t>
            </a:r>
          </a:p>
        </p:txBody>
      </p:sp>
      <p:pic>
        <p:nvPicPr>
          <p:cNvPr id="3074" name="Picture 2" descr="How do suppositories work? Uses, instructions, and pictures">
            <a:extLst>
              <a:ext uri="{FF2B5EF4-FFF2-40B4-BE49-F238E27FC236}">
                <a16:creationId xmlns:a16="http://schemas.microsoft.com/office/drawing/2014/main" id="{0A93FE83-83FA-064E-5388-B2A531582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nema: What It Is, How It Works, Procedure, Benefits">
            <a:extLst>
              <a:ext uri="{FF2B5EF4-FFF2-40B4-BE49-F238E27FC236}">
                <a16:creationId xmlns:a16="http://schemas.microsoft.com/office/drawing/2014/main" id="{4E9956A3-70BD-2AA8-DDD3-C6D7FAB5A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41" name="Straight Connector 3140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3143" name="Straight Connector 3142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DE6A-0FB0-6DA9-CC87-BCD68232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820" y="1443831"/>
            <a:ext cx="5877677" cy="45894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Other modalities for management include: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Surfactant/Stool Softeners (Docusate sodium – typically combined with Senna). Used to lower surface tension of stool causing water to enter stool easily.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Enemas and Suppositories: generally reserved with patient with severe symptoms and/or have had a recent fecal impaction to prevent recurrence.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Glycerin or Bisacodyl Suppositories (osmotic effect)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 Enemas: favor tap water or sodium phosphate (correlation with electrolyte abnormalities and volume depletion) </a:t>
            </a:r>
          </a:p>
        </p:txBody>
      </p:sp>
    </p:spTree>
    <p:extLst>
      <p:ext uri="{BB962C8B-B14F-4D97-AF65-F5344CB8AC3E}">
        <p14:creationId xmlns:p14="http://schemas.microsoft.com/office/powerpoint/2010/main" val="311525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2959-63B0-D2CA-F316-539C8AA2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211" y="157272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Constipation: Fecal Impaction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ACF14-84B1-98E8-510E-D1ED458D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16106"/>
            <a:ext cx="10025597" cy="513459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Fecal Impaction: a solid immobile bulk of stool in the rectum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Typically caused by decreased mobility of fecal matter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Severe abdominal pain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Heavy stool burden via x-ray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First Line Treatment: Fecal </a:t>
            </a:r>
            <a:r>
              <a:rPr lang="en-US" sz="2000" dirty="0" err="1"/>
              <a:t>Disimpaction</a:t>
            </a:r>
            <a:endParaRPr lang="en-US" sz="2000" dirty="0"/>
          </a:p>
          <a:p>
            <a:pPr lvl="1">
              <a:lnSpc>
                <a:spcPct val="110000"/>
              </a:lnSpc>
            </a:pPr>
            <a:r>
              <a:rPr lang="en-US" dirty="0"/>
              <a:t> Manual </a:t>
            </a:r>
            <a:r>
              <a:rPr lang="en-US" dirty="0" err="1"/>
              <a:t>disimpaction</a:t>
            </a:r>
            <a:r>
              <a:rPr lang="en-US" dirty="0"/>
              <a:t> followed by colon evacuation with enemas (using PEG electrolytes solution)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unsuccessful, will need to proceed water contrast enema (</a:t>
            </a:r>
            <a:r>
              <a:rPr lang="en-US" dirty="0" err="1"/>
              <a:t>Gastrografin</a:t>
            </a:r>
            <a:r>
              <a:rPr lang="en-US" dirty="0"/>
              <a:t> or </a:t>
            </a:r>
            <a:r>
              <a:rPr lang="en-US" dirty="0" err="1"/>
              <a:t>Hypaquue</a:t>
            </a:r>
            <a:r>
              <a:rPr lang="en-US" dirty="0"/>
              <a:t>) to be administered under fluoroscopy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After </a:t>
            </a:r>
            <a:r>
              <a:rPr lang="en-US" dirty="0" err="1"/>
              <a:t>disimpaction</a:t>
            </a:r>
            <a:r>
              <a:rPr lang="en-US" dirty="0"/>
              <a:t>: colon evacuation recommended. Daily MiraLAX or using warm enemas for up to 3 days.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 Prevent Recurrence: add Sorbitol, Lactulose, and or MiraLAX with goal of having at least one stool every other day </a:t>
            </a:r>
          </a:p>
          <a:p>
            <a:pPr lvl="1">
              <a:lnSpc>
                <a:spcPct val="110000"/>
              </a:lnSpc>
            </a:pPr>
            <a:endParaRPr lang="en-US" sz="1000" dirty="0"/>
          </a:p>
        </p:txBody>
      </p:sp>
      <p:pic>
        <p:nvPicPr>
          <p:cNvPr id="4098" name="Picture 2" descr="Definition of fecal impaction - NCI Dictionary of Cancer Terms - NCI">
            <a:extLst>
              <a:ext uri="{FF2B5EF4-FFF2-40B4-BE49-F238E27FC236}">
                <a16:creationId xmlns:a16="http://schemas.microsoft.com/office/drawing/2014/main" id="{3558B232-5963-BA6F-77B1-167A4FB5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7988213" y="1122447"/>
            <a:ext cx="3238595" cy="212045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26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Picture 2">
            <a:extLst>
              <a:ext uri="{FF2B5EF4-FFF2-40B4-BE49-F238E27FC236}">
                <a16:creationId xmlns:a16="http://schemas.microsoft.com/office/drawing/2014/main" id="{2BB924AE-81B3-4B6F-B504-506833356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1B628BA2-E5ED-4770-A187-3E5C6C5A4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156" name="Rectangle 5">
              <a:extLst>
                <a:ext uri="{FF2B5EF4-FFF2-40B4-BE49-F238E27FC236}">
                  <a16:creationId xmlns:a16="http://schemas.microsoft.com/office/drawing/2014/main" id="{7BE9A0B3-F7B1-4FD6-BC24-E34F34997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" name="Freeform 6">
              <a:extLst>
                <a:ext uri="{FF2B5EF4-FFF2-40B4-BE49-F238E27FC236}">
                  <a16:creationId xmlns:a16="http://schemas.microsoft.com/office/drawing/2014/main" id="{A4A49BB4-2748-4A3F-AEC9-2E5BAC646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Freeform 7">
              <a:extLst>
                <a:ext uri="{FF2B5EF4-FFF2-40B4-BE49-F238E27FC236}">
                  <a16:creationId xmlns:a16="http://schemas.microsoft.com/office/drawing/2014/main" id="{04931CCF-9EFA-4E43-A4AF-FF27F8295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Rectangle 8">
              <a:extLst>
                <a:ext uri="{FF2B5EF4-FFF2-40B4-BE49-F238E27FC236}">
                  <a16:creationId xmlns:a16="http://schemas.microsoft.com/office/drawing/2014/main" id="{FE9EF3FA-F291-4D52-9F35-15E7FD9FF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Freeform 9">
              <a:extLst>
                <a:ext uri="{FF2B5EF4-FFF2-40B4-BE49-F238E27FC236}">
                  <a16:creationId xmlns:a16="http://schemas.microsoft.com/office/drawing/2014/main" id="{90D733ED-9AA7-4C9E-8216-B0F8B36A1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10">
              <a:extLst>
                <a:ext uri="{FF2B5EF4-FFF2-40B4-BE49-F238E27FC236}">
                  <a16:creationId xmlns:a16="http://schemas.microsoft.com/office/drawing/2014/main" id="{11EEE7B3-A8D1-45A2-8EA1-E80316F62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Freeform 11">
              <a:extLst>
                <a:ext uri="{FF2B5EF4-FFF2-40B4-BE49-F238E27FC236}">
                  <a16:creationId xmlns:a16="http://schemas.microsoft.com/office/drawing/2014/main" id="{355C172C-14D3-4DCA-B4AB-B94B12A77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12">
              <a:extLst>
                <a:ext uri="{FF2B5EF4-FFF2-40B4-BE49-F238E27FC236}">
                  <a16:creationId xmlns:a16="http://schemas.microsoft.com/office/drawing/2014/main" id="{516A4269-4D3F-4C9F-B1A2-E66D1EB35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Freeform 13">
              <a:extLst>
                <a:ext uri="{FF2B5EF4-FFF2-40B4-BE49-F238E27FC236}">
                  <a16:creationId xmlns:a16="http://schemas.microsoft.com/office/drawing/2014/main" id="{304ADEB1-E05E-4C1D-8710-D547B8F64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14">
              <a:extLst>
                <a:ext uri="{FF2B5EF4-FFF2-40B4-BE49-F238E27FC236}">
                  <a16:creationId xmlns:a16="http://schemas.microsoft.com/office/drawing/2014/main" id="{A261EBD1-921C-4811-B666-EAC737840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Freeform 15">
              <a:extLst>
                <a:ext uri="{FF2B5EF4-FFF2-40B4-BE49-F238E27FC236}">
                  <a16:creationId xmlns:a16="http://schemas.microsoft.com/office/drawing/2014/main" id="{371D69D1-C2FE-46F5-9469-45D0B0EF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16">
              <a:extLst>
                <a:ext uri="{FF2B5EF4-FFF2-40B4-BE49-F238E27FC236}">
                  <a16:creationId xmlns:a16="http://schemas.microsoft.com/office/drawing/2014/main" id="{18A2A06B-D855-4E58-B701-5C71852E7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Freeform 17">
              <a:extLst>
                <a:ext uri="{FF2B5EF4-FFF2-40B4-BE49-F238E27FC236}">
                  <a16:creationId xmlns:a16="http://schemas.microsoft.com/office/drawing/2014/main" id="{1493AEBB-E235-4591-8D00-6CD1B5208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Freeform 18">
              <a:extLst>
                <a:ext uri="{FF2B5EF4-FFF2-40B4-BE49-F238E27FC236}">
                  <a16:creationId xmlns:a16="http://schemas.microsoft.com/office/drawing/2014/main" id="{846802DE-899D-4101-B323-586349B5F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Freeform 19">
              <a:extLst>
                <a:ext uri="{FF2B5EF4-FFF2-40B4-BE49-F238E27FC236}">
                  <a16:creationId xmlns:a16="http://schemas.microsoft.com/office/drawing/2014/main" id="{774663B2-7273-49B1-B892-B4DF7FB38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Freeform 20">
              <a:extLst>
                <a:ext uri="{FF2B5EF4-FFF2-40B4-BE49-F238E27FC236}">
                  <a16:creationId xmlns:a16="http://schemas.microsoft.com/office/drawing/2014/main" id="{4FD96A70-8039-4D4D-8F6E-8B0A14F54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Freeform 21">
              <a:extLst>
                <a:ext uri="{FF2B5EF4-FFF2-40B4-BE49-F238E27FC236}">
                  <a16:creationId xmlns:a16="http://schemas.microsoft.com/office/drawing/2014/main" id="{009B386E-FC6A-4243-B82A-FE804F247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3" name="Freeform 22">
              <a:extLst>
                <a:ext uri="{FF2B5EF4-FFF2-40B4-BE49-F238E27FC236}">
                  <a16:creationId xmlns:a16="http://schemas.microsoft.com/office/drawing/2014/main" id="{9A2D2ECF-1B4F-4946-946E-7906A7664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" name="Freeform 23">
              <a:extLst>
                <a:ext uri="{FF2B5EF4-FFF2-40B4-BE49-F238E27FC236}">
                  <a16:creationId xmlns:a16="http://schemas.microsoft.com/office/drawing/2014/main" id="{9EF8BC14-2DF1-4785-9CA3-00182D800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" name="Freeform 24">
              <a:extLst>
                <a:ext uri="{FF2B5EF4-FFF2-40B4-BE49-F238E27FC236}">
                  <a16:creationId xmlns:a16="http://schemas.microsoft.com/office/drawing/2014/main" id="{A2AEBA90-6DB9-425D-867F-180DE6E11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Freeform 25">
              <a:extLst>
                <a:ext uri="{FF2B5EF4-FFF2-40B4-BE49-F238E27FC236}">
                  <a16:creationId xmlns:a16="http://schemas.microsoft.com/office/drawing/2014/main" id="{34AC0A1C-3A2E-4F3A-8EB7-F70C01B8E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Freeform 26">
              <a:extLst>
                <a:ext uri="{FF2B5EF4-FFF2-40B4-BE49-F238E27FC236}">
                  <a16:creationId xmlns:a16="http://schemas.microsoft.com/office/drawing/2014/main" id="{3EF2C606-D120-4613-974F-56E0E7447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Freeform 27">
              <a:extLst>
                <a:ext uri="{FF2B5EF4-FFF2-40B4-BE49-F238E27FC236}">
                  <a16:creationId xmlns:a16="http://schemas.microsoft.com/office/drawing/2014/main" id="{2A4A8A51-147E-4C1D-AC45-A35BE175E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Freeform 28">
              <a:extLst>
                <a:ext uri="{FF2B5EF4-FFF2-40B4-BE49-F238E27FC236}">
                  <a16:creationId xmlns:a16="http://schemas.microsoft.com/office/drawing/2014/main" id="{AD665416-3CE3-4E1E-BD8C-7AADC3E4F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Freeform 29">
              <a:extLst>
                <a:ext uri="{FF2B5EF4-FFF2-40B4-BE49-F238E27FC236}">
                  <a16:creationId xmlns:a16="http://schemas.microsoft.com/office/drawing/2014/main" id="{D039AE23-5218-4944-8C3D-53925FB24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Freeform 30">
              <a:extLst>
                <a:ext uri="{FF2B5EF4-FFF2-40B4-BE49-F238E27FC236}">
                  <a16:creationId xmlns:a16="http://schemas.microsoft.com/office/drawing/2014/main" id="{F62C8E6A-F160-48F7-B8E0-C789F2EF4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Freeform 31">
              <a:extLst>
                <a:ext uri="{FF2B5EF4-FFF2-40B4-BE49-F238E27FC236}">
                  <a16:creationId xmlns:a16="http://schemas.microsoft.com/office/drawing/2014/main" id="{88EFF490-2BB0-46A8-955D-BBCBA3397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3" name="Freeform 32">
              <a:extLst>
                <a:ext uri="{FF2B5EF4-FFF2-40B4-BE49-F238E27FC236}">
                  <a16:creationId xmlns:a16="http://schemas.microsoft.com/office/drawing/2014/main" id="{601B02D5-6287-4152-9014-1D17F72BE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4" name="Rectangle 33">
              <a:extLst>
                <a:ext uri="{FF2B5EF4-FFF2-40B4-BE49-F238E27FC236}">
                  <a16:creationId xmlns:a16="http://schemas.microsoft.com/office/drawing/2014/main" id="{830BBC8B-3DE3-4181-9319-F94B94C5D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5" name="Freeform 34">
              <a:extLst>
                <a:ext uri="{FF2B5EF4-FFF2-40B4-BE49-F238E27FC236}">
                  <a16:creationId xmlns:a16="http://schemas.microsoft.com/office/drawing/2014/main" id="{B1F43489-4CF8-4547-A3C9-049F3F4DE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6" name="Freeform 35">
              <a:extLst>
                <a:ext uri="{FF2B5EF4-FFF2-40B4-BE49-F238E27FC236}">
                  <a16:creationId xmlns:a16="http://schemas.microsoft.com/office/drawing/2014/main" id="{97006463-25BA-479F-AE79-9E4BE8E7D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Freeform 36">
              <a:extLst>
                <a:ext uri="{FF2B5EF4-FFF2-40B4-BE49-F238E27FC236}">
                  <a16:creationId xmlns:a16="http://schemas.microsoft.com/office/drawing/2014/main" id="{14402FA0-EC1F-4D7A-A578-8F252C808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Freeform 37">
              <a:extLst>
                <a:ext uri="{FF2B5EF4-FFF2-40B4-BE49-F238E27FC236}">
                  <a16:creationId xmlns:a16="http://schemas.microsoft.com/office/drawing/2014/main" id="{A0B2078C-CD1A-4CF6-BA5C-D402DDBA1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Freeform 38">
              <a:extLst>
                <a:ext uri="{FF2B5EF4-FFF2-40B4-BE49-F238E27FC236}">
                  <a16:creationId xmlns:a16="http://schemas.microsoft.com/office/drawing/2014/main" id="{7458F49B-6120-4D63-8C24-48BD3CDAE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Freeform 39">
              <a:extLst>
                <a:ext uri="{FF2B5EF4-FFF2-40B4-BE49-F238E27FC236}">
                  <a16:creationId xmlns:a16="http://schemas.microsoft.com/office/drawing/2014/main" id="{E3AD9B76-83CF-405B-A83B-433336B47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Freeform 40">
              <a:extLst>
                <a:ext uri="{FF2B5EF4-FFF2-40B4-BE49-F238E27FC236}">
                  <a16:creationId xmlns:a16="http://schemas.microsoft.com/office/drawing/2014/main" id="{FE3712BB-C8C5-4DDB-A407-91147FB84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Freeform 41">
              <a:extLst>
                <a:ext uri="{FF2B5EF4-FFF2-40B4-BE49-F238E27FC236}">
                  <a16:creationId xmlns:a16="http://schemas.microsoft.com/office/drawing/2014/main" id="{6073691C-0748-4D83-8674-37A452DA8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Freeform 42">
              <a:extLst>
                <a:ext uri="{FF2B5EF4-FFF2-40B4-BE49-F238E27FC236}">
                  <a16:creationId xmlns:a16="http://schemas.microsoft.com/office/drawing/2014/main" id="{D750EDA3-31BF-4BA5-BE2C-2DA74B7EC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4" name="Freeform 43">
              <a:extLst>
                <a:ext uri="{FF2B5EF4-FFF2-40B4-BE49-F238E27FC236}">
                  <a16:creationId xmlns:a16="http://schemas.microsoft.com/office/drawing/2014/main" id="{FA843D6C-9596-4E4E-96E4-4C704AD16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5" name="Freeform 44">
              <a:extLst>
                <a:ext uri="{FF2B5EF4-FFF2-40B4-BE49-F238E27FC236}">
                  <a16:creationId xmlns:a16="http://schemas.microsoft.com/office/drawing/2014/main" id="{D899B60C-B13B-48C7-8F78-AB3F422F9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6" name="Rectangle 45">
              <a:extLst>
                <a:ext uri="{FF2B5EF4-FFF2-40B4-BE49-F238E27FC236}">
                  <a16:creationId xmlns:a16="http://schemas.microsoft.com/office/drawing/2014/main" id="{FDFDD672-3495-4732-BC8B-6C4848FB2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7" name="Freeform 46">
              <a:extLst>
                <a:ext uri="{FF2B5EF4-FFF2-40B4-BE49-F238E27FC236}">
                  <a16:creationId xmlns:a16="http://schemas.microsoft.com/office/drawing/2014/main" id="{25E50E26-2DB0-4137-8386-72EC57833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8" name="Freeform 47">
              <a:extLst>
                <a:ext uri="{FF2B5EF4-FFF2-40B4-BE49-F238E27FC236}">
                  <a16:creationId xmlns:a16="http://schemas.microsoft.com/office/drawing/2014/main" id="{1BB3B39E-5880-41B8-A4AF-5A6340F4D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9" name="Freeform 48">
              <a:extLst>
                <a:ext uri="{FF2B5EF4-FFF2-40B4-BE49-F238E27FC236}">
                  <a16:creationId xmlns:a16="http://schemas.microsoft.com/office/drawing/2014/main" id="{829F6EB8-AC2A-4FF3-855E-D16A1AE17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0" name="Freeform 49">
              <a:extLst>
                <a:ext uri="{FF2B5EF4-FFF2-40B4-BE49-F238E27FC236}">
                  <a16:creationId xmlns:a16="http://schemas.microsoft.com/office/drawing/2014/main" id="{BC469894-2C0C-4EA5-A01B-B7112972B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Freeform 50">
              <a:extLst>
                <a:ext uri="{FF2B5EF4-FFF2-40B4-BE49-F238E27FC236}">
                  <a16:creationId xmlns:a16="http://schemas.microsoft.com/office/drawing/2014/main" id="{E1E8B0BF-D7B2-4462-B935-61420AF20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Freeform 51">
              <a:extLst>
                <a:ext uri="{FF2B5EF4-FFF2-40B4-BE49-F238E27FC236}">
                  <a16:creationId xmlns:a16="http://schemas.microsoft.com/office/drawing/2014/main" id="{76C89EE0-659E-40C7-832D-08E459A92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Freeform 52">
              <a:extLst>
                <a:ext uri="{FF2B5EF4-FFF2-40B4-BE49-F238E27FC236}">
                  <a16:creationId xmlns:a16="http://schemas.microsoft.com/office/drawing/2014/main" id="{EE966E77-6A40-4A6E-9404-98C2325B2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4" name="Freeform 53">
              <a:extLst>
                <a:ext uri="{FF2B5EF4-FFF2-40B4-BE49-F238E27FC236}">
                  <a16:creationId xmlns:a16="http://schemas.microsoft.com/office/drawing/2014/main" id="{D011C64B-B2CD-47EB-A61A-C7F32C34F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5" name="Freeform 54">
              <a:extLst>
                <a:ext uri="{FF2B5EF4-FFF2-40B4-BE49-F238E27FC236}">
                  <a16:creationId xmlns:a16="http://schemas.microsoft.com/office/drawing/2014/main" id="{F9DC22BF-19CB-42D3-B3A4-57229FC24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6" name="Freeform 55">
              <a:extLst>
                <a:ext uri="{FF2B5EF4-FFF2-40B4-BE49-F238E27FC236}">
                  <a16:creationId xmlns:a16="http://schemas.microsoft.com/office/drawing/2014/main" id="{5D2EE0E3-16E1-40B3-B558-D18C27813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7" name="Freeform 56">
              <a:extLst>
                <a:ext uri="{FF2B5EF4-FFF2-40B4-BE49-F238E27FC236}">
                  <a16:creationId xmlns:a16="http://schemas.microsoft.com/office/drawing/2014/main" id="{DBDDF07D-147D-4F51-A724-3BECBD615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8" name="Freeform 57">
              <a:extLst>
                <a:ext uri="{FF2B5EF4-FFF2-40B4-BE49-F238E27FC236}">
                  <a16:creationId xmlns:a16="http://schemas.microsoft.com/office/drawing/2014/main" id="{56A68B21-79FB-4A16-9FF7-9898DBA0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9" name="Freeform 58">
              <a:extLst>
                <a:ext uri="{FF2B5EF4-FFF2-40B4-BE49-F238E27FC236}">
                  <a16:creationId xmlns:a16="http://schemas.microsoft.com/office/drawing/2014/main" id="{BD5B583F-ABF5-45F3-923C-5590A790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ABF9B5-376A-2905-1DDF-AC187F3D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Constipation: Fecal Impaction</a:t>
            </a:r>
          </a:p>
        </p:txBody>
      </p:sp>
      <p:sp>
        <p:nvSpPr>
          <p:cNvPr id="6211" name="Round Diagonal Corner Rectangle 6">
            <a:extLst>
              <a:ext uri="{FF2B5EF4-FFF2-40B4-BE49-F238E27FC236}">
                <a16:creationId xmlns:a16="http://schemas.microsoft.com/office/drawing/2014/main" id="{5A87DFDA-B076-40F3-964C-BDC882869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The Abdominal XRay: A relic or a reliable tool? — Taming the SRU">
            <a:extLst>
              <a:ext uri="{FF2B5EF4-FFF2-40B4-BE49-F238E27FC236}">
                <a16:creationId xmlns:a16="http://schemas.microsoft.com/office/drawing/2014/main" id="{124D7BE8-1C31-2A56-91B1-7A050C3B0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18988" y="1442369"/>
            <a:ext cx="2974328" cy="396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elvic CT scan showing a huge fecal impaction with thickened and... |  Download Scientific Diagram">
            <a:extLst>
              <a:ext uri="{FF2B5EF4-FFF2-40B4-BE49-F238E27FC236}">
                <a16:creationId xmlns:a16="http://schemas.microsoft.com/office/drawing/2014/main" id="{A6238732-06AE-D7BE-C65F-4C029ED9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257042" y="1975270"/>
            <a:ext cx="2974328" cy="289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17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CA4BA62A-90C3-46AC-ABF1-DB38976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176" name="Rectangle 7175">
              <a:extLst>
                <a:ext uri="{FF2B5EF4-FFF2-40B4-BE49-F238E27FC236}">
                  <a16:creationId xmlns:a16="http://schemas.microsoft.com/office/drawing/2014/main" id="{8308F883-1FF9-4FB4-B09D-354C5819A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77" name="Picture 2">
              <a:extLst>
                <a:ext uri="{FF2B5EF4-FFF2-40B4-BE49-F238E27FC236}">
                  <a16:creationId xmlns:a16="http://schemas.microsoft.com/office/drawing/2014/main" id="{247AA389-59A7-40B9-9A8D-BD7594E8B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6E0560-044D-C62D-4E7F-8F6482561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612" y="-53975"/>
            <a:ext cx="6050713" cy="1608138"/>
          </a:xfrm>
        </p:spPr>
        <p:txBody>
          <a:bodyPr>
            <a:normAutofit/>
          </a:bodyPr>
          <a:lstStyle/>
          <a:p>
            <a:r>
              <a:rPr lang="en-US" dirty="0"/>
              <a:t>Fecal Incontinence: Overview</a:t>
            </a:r>
          </a:p>
        </p:txBody>
      </p:sp>
      <p:pic>
        <p:nvPicPr>
          <p:cNvPr id="7170" name="Picture 2" descr="Bowel or Fecal Incontinence Types, Causes, Treatment, Symptoms">
            <a:extLst>
              <a:ext uri="{FF2B5EF4-FFF2-40B4-BE49-F238E27FC236}">
                <a16:creationId xmlns:a16="http://schemas.microsoft.com/office/drawing/2014/main" id="{43E9E246-A90A-7052-A1D1-56EC28030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 bwMode="auto">
          <a:xfrm>
            <a:off x="-5597" y="10"/>
            <a:ext cx="463558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9" name="Group 7178">
            <a:extLst>
              <a:ext uri="{FF2B5EF4-FFF2-40B4-BE49-F238E27FC236}">
                <a16:creationId xmlns:a16="http://schemas.microsoft.com/office/drawing/2014/main" id="{799BB957-1ECA-4DD2-AF2D-84C4D94B6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7180" name="Rectangle 7179">
              <a:extLst>
                <a:ext uri="{FF2B5EF4-FFF2-40B4-BE49-F238E27FC236}">
                  <a16:creationId xmlns:a16="http://schemas.microsoft.com/office/drawing/2014/main" id="{70116985-07B6-4432-A7C6-129152D1B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Freeform 6">
              <a:extLst>
                <a:ext uri="{FF2B5EF4-FFF2-40B4-BE49-F238E27FC236}">
                  <a16:creationId xmlns:a16="http://schemas.microsoft.com/office/drawing/2014/main" id="{3FF5C267-0D36-47E2-AF2A-8ADDA0A0C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Freeform 7">
              <a:extLst>
                <a:ext uri="{FF2B5EF4-FFF2-40B4-BE49-F238E27FC236}">
                  <a16:creationId xmlns:a16="http://schemas.microsoft.com/office/drawing/2014/main" id="{AC0A8A87-09EE-4153-ACBA-34BCD738F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Rectangle 7182">
              <a:extLst>
                <a:ext uri="{FF2B5EF4-FFF2-40B4-BE49-F238E27FC236}">
                  <a16:creationId xmlns:a16="http://schemas.microsoft.com/office/drawing/2014/main" id="{E28845CA-636E-4D43-982F-60A69EBC5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4" name="Freeform 9">
              <a:extLst>
                <a:ext uri="{FF2B5EF4-FFF2-40B4-BE49-F238E27FC236}">
                  <a16:creationId xmlns:a16="http://schemas.microsoft.com/office/drawing/2014/main" id="{46E2981B-3779-4C07-B094-022D36D78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Freeform 10">
              <a:extLst>
                <a:ext uri="{FF2B5EF4-FFF2-40B4-BE49-F238E27FC236}">
                  <a16:creationId xmlns:a16="http://schemas.microsoft.com/office/drawing/2014/main" id="{CF68AF7A-09BB-405A-97E2-54B636424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Freeform 11">
              <a:extLst>
                <a:ext uri="{FF2B5EF4-FFF2-40B4-BE49-F238E27FC236}">
                  <a16:creationId xmlns:a16="http://schemas.microsoft.com/office/drawing/2014/main" id="{B0B046C9-B134-4B2D-A72D-EE8726713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Freeform 12">
              <a:extLst>
                <a:ext uri="{FF2B5EF4-FFF2-40B4-BE49-F238E27FC236}">
                  <a16:creationId xmlns:a16="http://schemas.microsoft.com/office/drawing/2014/main" id="{7BDCF20A-0928-4450-A706-38EC67A43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13">
              <a:extLst>
                <a:ext uri="{FF2B5EF4-FFF2-40B4-BE49-F238E27FC236}">
                  <a16:creationId xmlns:a16="http://schemas.microsoft.com/office/drawing/2014/main" id="{0A9B8658-6A08-43AE-90A6-6DC58EE90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Freeform 14">
              <a:extLst>
                <a:ext uri="{FF2B5EF4-FFF2-40B4-BE49-F238E27FC236}">
                  <a16:creationId xmlns:a16="http://schemas.microsoft.com/office/drawing/2014/main" id="{0E09D33C-4BEF-4E3D-9D05-7C3E204A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Freeform 15">
              <a:extLst>
                <a:ext uri="{FF2B5EF4-FFF2-40B4-BE49-F238E27FC236}">
                  <a16:creationId xmlns:a16="http://schemas.microsoft.com/office/drawing/2014/main" id="{BC144127-0703-4638-BA33-F27F2746E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Freeform 16">
              <a:extLst>
                <a:ext uri="{FF2B5EF4-FFF2-40B4-BE49-F238E27FC236}">
                  <a16:creationId xmlns:a16="http://schemas.microsoft.com/office/drawing/2014/main" id="{34BA113B-51FC-4ACC-B554-442D60138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Freeform 17">
              <a:extLst>
                <a:ext uri="{FF2B5EF4-FFF2-40B4-BE49-F238E27FC236}">
                  <a16:creationId xmlns:a16="http://schemas.microsoft.com/office/drawing/2014/main" id="{185614A2-022E-4370-8387-439F35108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Freeform 18">
              <a:extLst>
                <a:ext uri="{FF2B5EF4-FFF2-40B4-BE49-F238E27FC236}">
                  <a16:creationId xmlns:a16="http://schemas.microsoft.com/office/drawing/2014/main" id="{655F15B6-A731-4942-9BF5-E84042263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Freeform 19">
              <a:extLst>
                <a:ext uri="{FF2B5EF4-FFF2-40B4-BE49-F238E27FC236}">
                  <a16:creationId xmlns:a16="http://schemas.microsoft.com/office/drawing/2014/main" id="{2637AC00-EDD0-4AB2-BB46-92261D4CF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Freeform 20">
              <a:extLst>
                <a:ext uri="{FF2B5EF4-FFF2-40B4-BE49-F238E27FC236}">
                  <a16:creationId xmlns:a16="http://schemas.microsoft.com/office/drawing/2014/main" id="{49CA14E2-2ACD-4C73-B26C-17681580F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6" name="Freeform 21">
              <a:extLst>
                <a:ext uri="{FF2B5EF4-FFF2-40B4-BE49-F238E27FC236}">
                  <a16:creationId xmlns:a16="http://schemas.microsoft.com/office/drawing/2014/main" id="{7BE7C3D8-CC9A-43FB-938C-8125D25B1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Freeform 22">
              <a:extLst>
                <a:ext uri="{FF2B5EF4-FFF2-40B4-BE49-F238E27FC236}">
                  <a16:creationId xmlns:a16="http://schemas.microsoft.com/office/drawing/2014/main" id="{41ECB971-ADF8-48CB-A78C-166DDF6D9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Freeform 23">
              <a:extLst>
                <a:ext uri="{FF2B5EF4-FFF2-40B4-BE49-F238E27FC236}">
                  <a16:creationId xmlns:a16="http://schemas.microsoft.com/office/drawing/2014/main" id="{2B8D398E-DB17-415A-B93E-DA60EE00E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9" name="Freeform 24">
              <a:extLst>
                <a:ext uri="{FF2B5EF4-FFF2-40B4-BE49-F238E27FC236}">
                  <a16:creationId xmlns:a16="http://schemas.microsoft.com/office/drawing/2014/main" id="{0A2B49D3-85EC-4DEA-BBB9-0CE7A2D16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Freeform 25">
              <a:extLst>
                <a:ext uri="{FF2B5EF4-FFF2-40B4-BE49-F238E27FC236}">
                  <a16:creationId xmlns:a16="http://schemas.microsoft.com/office/drawing/2014/main" id="{E9F6B8E8-A133-4250-A247-BD827119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Freeform 26">
              <a:extLst>
                <a:ext uri="{FF2B5EF4-FFF2-40B4-BE49-F238E27FC236}">
                  <a16:creationId xmlns:a16="http://schemas.microsoft.com/office/drawing/2014/main" id="{8C5D839A-A5A2-4B72-80E4-ADB4F2F47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2" name="Freeform 27">
              <a:extLst>
                <a:ext uri="{FF2B5EF4-FFF2-40B4-BE49-F238E27FC236}">
                  <a16:creationId xmlns:a16="http://schemas.microsoft.com/office/drawing/2014/main" id="{1E66DD74-C5E3-4762-8F37-C7981591E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3" name="Freeform 28">
              <a:extLst>
                <a:ext uri="{FF2B5EF4-FFF2-40B4-BE49-F238E27FC236}">
                  <a16:creationId xmlns:a16="http://schemas.microsoft.com/office/drawing/2014/main" id="{42CBFCFF-60D3-49AD-8F8D-634480B7A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4" name="Freeform 29">
              <a:extLst>
                <a:ext uri="{FF2B5EF4-FFF2-40B4-BE49-F238E27FC236}">
                  <a16:creationId xmlns:a16="http://schemas.microsoft.com/office/drawing/2014/main" id="{04E9448D-8796-4687-B7F3-B669D8284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5" name="Freeform 30">
              <a:extLst>
                <a:ext uri="{FF2B5EF4-FFF2-40B4-BE49-F238E27FC236}">
                  <a16:creationId xmlns:a16="http://schemas.microsoft.com/office/drawing/2014/main" id="{C6D7D4E7-1C3B-488A-891B-B278DE0A0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6" name="Freeform 31">
              <a:extLst>
                <a:ext uri="{FF2B5EF4-FFF2-40B4-BE49-F238E27FC236}">
                  <a16:creationId xmlns:a16="http://schemas.microsoft.com/office/drawing/2014/main" id="{9A361889-2948-4D64-8FF8-69586FC72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7" name="Freeform 32">
              <a:extLst>
                <a:ext uri="{FF2B5EF4-FFF2-40B4-BE49-F238E27FC236}">
                  <a16:creationId xmlns:a16="http://schemas.microsoft.com/office/drawing/2014/main" id="{502D653C-475F-42DD-B57D-A91633AA7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8" name="Rectangle 7207">
              <a:extLst>
                <a:ext uri="{FF2B5EF4-FFF2-40B4-BE49-F238E27FC236}">
                  <a16:creationId xmlns:a16="http://schemas.microsoft.com/office/drawing/2014/main" id="{AE41F9AF-C366-462E-BCA3-AB9B3BB21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9" name="Freeform 34">
              <a:extLst>
                <a:ext uri="{FF2B5EF4-FFF2-40B4-BE49-F238E27FC236}">
                  <a16:creationId xmlns:a16="http://schemas.microsoft.com/office/drawing/2014/main" id="{DE7FA82A-E66F-46F3-BE37-61D6BA9ED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0" name="Freeform 35">
              <a:extLst>
                <a:ext uri="{FF2B5EF4-FFF2-40B4-BE49-F238E27FC236}">
                  <a16:creationId xmlns:a16="http://schemas.microsoft.com/office/drawing/2014/main" id="{10646D37-C2A3-4F20-8F6E-2D2A54B7C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1" name="Freeform 36">
              <a:extLst>
                <a:ext uri="{FF2B5EF4-FFF2-40B4-BE49-F238E27FC236}">
                  <a16:creationId xmlns:a16="http://schemas.microsoft.com/office/drawing/2014/main" id="{F0B484D8-05F9-4BB7-97D5-FF4ED4BE2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2" name="Freeform 37">
              <a:extLst>
                <a:ext uri="{FF2B5EF4-FFF2-40B4-BE49-F238E27FC236}">
                  <a16:creationId xmlns:a16="http://schemas.microsoft.com/office/drawing/2014/main" id="{03F14E50-F3C1-4EFB-9251-BDEF30E05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3" name="Freeform 38">
              <a:extLst>
                <a:ext uri="{FF2B5EF4-FFF2-40B4-BE49-F238E27FC236}">
                  <a16:creationId xmlns:a16="http://schemas.microsoft.com/office/drawing/2014/main" id="{B96CF9CA-5C40-428E-B9C1-CE897046B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4" name="Freeform 39">
              <a:extLst>
                <a:ext uri="{FF2B5EF4-FFF2-40B4-BE49-F238E27FC236}">
                  <a16:creationId xmlns:a16="http://schemas.microsoft.com/office/drawing/2014/main" id="{9C38B4E1-B1E5-4C84-AA06-E00827331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Freeform 40">
              <a:extLst>
                <a:ext uri="{FF2B5EF4-FFF2-40B4-BE49-F238E27FC236}">
                  <a16:creationId xmlns:a16="http://schemas.microsoft.com/office/drawing/2014/main" id="{05D173AA-5B2D-4244-8430-44CD01EDA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Freeform 41">
              <a:extLst>
                <a:ext uri="{FF2B5EF4-FFF2-40B4-BE49-F238E27FC236}">
                  <a16:creationId xmlns:a16="http://schemas.microsoft.com/office/drawing/2014/main" id="{82D98822-894A-496C-B32F-06DB6014D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7" name="Freeform 42">
              <a:extLst>
                <a:ext uri="{FF2B5EF4-FFF2-40B4-BE49-F238E27FC236}">
                  <a16:creationId xmlns:a16="http://schemas.microsoft.com/office/drawing/2014/main" id="{1B432746-B63F-4BF0-871B-B482FFADA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8" name="Freeform 43">
              <a:extLst>
                <a:ext uri="{FF2B5EF4-FFF2-40B4-BE49-F238E27FC236}">
                  <a16:creationId xmlns:a16="http://schemas.microsoft.com/office/drawing/2014/main" id="{AFD61CC4-F10D-4243-8F2C-EDBEDC63B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9" name="Freeform 44">
              <a:extLst>
                <a:ext uri="{FF2B5EF4-FFF2-40B4-BE49-F238E27FC236}">
                  <a16:creationId xmlns:a16="http://schemas.microsoft.com/office/drawing/2014/main" id="{A9D33800-5C44-4D40-A048-3A7A5D1D5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0" name="Rectangle 7219">
              <a:extLst>
                <a:ext uri="{FF2B5EF4-FFF2-40B4-BE49-F238E27FC236}">
                  <a16:creationId xmlns:a16="http://schemas.microsoft.com/office/drawing/2014/main" id="{7B0FE60E-0643-4AB3-B009-8B857A9B2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1" name="Freeform 46">
              <a:extLst>
                <a:ext uri="{FF2B5EF4-FFF2-40B4-BE49-F238E27FC236}">
                  <a16:creationId xmlns:a16="http://schemas.microsoft.com/office/drawing/2014/main" id="{D4F681A9-E543-490E-8CD3-E87A823B6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2" name="Freeform 47">
              <a:extLst>
                <a:ext uri="{FF2B5EF4-FFF2-40B4-BE49-F238E27FC236}">
                  <a16:creationId xmlns:a16="http://schemas.microsoft.com/office/drawing/2014/main" id="{49283399-4EE4-4FD7-B3F0-F0CD376A6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3" name="Freeform 48">
              <a:extLst>
                <a:ext uri="{FF2B5EF4-FFF2-40B4-BE49-F238E27FC236}">
                  <a16:creationId xmlns:a16="http://schemas.microsoft.com/office/drawing/2014/main" id="{338C3E08-CA77-4D8D-8271-7B0D5DA54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4" name="Freeform 49">
              <a:extLst>
                <a:ext uri="{FF2B5EF4-FFF2-40B4-BE49-F238E27FC236}">
                  <a16:creationId xmlns:a16="http://schemas.microsoft.com/office/drawing/2014/main" id="{BCEE46AD-ABD8-42D2-A88E-6C9B009BB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5" name="Freeform 50">
              <a:extLst>
                <a:ext uri="{FF2B5EF4-FFF2-40B4-BE49-F238E27FC236}">
                  <a16:creationId xmlns:a16="http://schemas.microsoft.com/office/drawing/2014/main" id="{76F66B20-4D5D-49D7-A33A-46749A156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6" name="Freeform 51">
              <a:extLst>
                <a:ext uri="{FF2B5EF4-FFF2-40B4-BE49-F238E27FC236}">
                  <a16:creationId xmlns:a16="http://schemas.microsoft.com/office/drawing/2014/main" id="{3246E8BC-BF6E-4E1B-B6DE-7834CE5CA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Freeform 52">
              <a:extLst>
                <a:ext uri="{FF2B5EF4-FFF2-40B4-BE49-F238E27FC236}">
                  <a16:creationId xmlns:a16="http://schemas.microsoft.com/office/drawing/2014/main" id="{D61636B0-9E03-4DDB-956A-57929A4D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8" name="Freeform 53">
              <a:extLst>
                <a:ext uri="{FF2B5EF4-FFF2-40B4-BE49-F238E27FC236}">
                  <a16:creationId xmlns:a16="http://schemas.microsoft.com/office/drawing/2014/main" id="{150D2B7B-FD5D-4108-8637-D69673762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Freeform 54">
              <a:extLst>
                <a:ext uri="{FF2B5EF4-FFF2-40B4-BE49-F238E27FC236}">
                  <a16:creationId xmlns:a16="http://schemas.microsoft.com/office/drawing/2014/main" id="{0A56D9FF-4177-416F-A8A5-B8C8B33CE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Freeform 55">
              <a:extLst>
                <a:ext uri="{FF2B5EF4-FFF2-40B4-BE49-F238E27FC236}">
                  <a16:creationId xmlns:a16="http://schemas.microsoft.com/office/drawing/2014/main" id="{E7FFBC9E-D28A-4C56-8489-77CBC051C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Freeform 56">
              <a:extLst>
                <a:ext uri="{FF2B5EF4-FFF2-40B4-BE49-F238E27FC236}">
                  <a16:creationId xmlns:a16="http://schemas.microsoft.com/office/drawing/2014/main" id="{9D33B26A-F967-4863-AC3C-9972CD4D0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Freeform 57">
              <a:extLst>
                <a:ext uri="{FF2B5EF4-FFF2-40B4-BE49-F238E27FC236}">
                  <a16:creationId xmlns:a16="http://schemas.microsoft.com/office/drawing/2014/main" id="{73ECA63D-D3C2-460B-A352-58A4B0718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3" name="Freeform 58">
              <a:extLst>
                <a:ext uri="{FF2B5EF4-FFF2-40B4-BE49-F238E27FC236}">
                  <a16:creationId xmlns:a16="http://schemas.microsoft.com/office/drawing/2014/main" id="{E6108A80-2A55-473F-8197-E21F1A2A2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6B25-0F53-9986-8C69-0807CE5F3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348" y="1382713"/>
            <a:ext cx="6078453" cy="4986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Fecal Incontinence: involuntary loss of solid or liquid feces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Common Risk Factors: age, diarrhea, fecal urgency, urinary incontinence, DM, and central adiposity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Etiologies: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Acute Diarrhea (most common) – caused by illness from infection or new medications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Neurological: sudden loss of sphincter control (spinal cord injuries – cauda equina)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Anorectal Trauma: recent childbirth or anorectal surgery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Other Medical Conditions: IBS, Neurological disease (Parkinsons, MS etc.), Diabates Mellitus 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5295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EA92-2298-1253-B8FC-D79B0DAE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41" y="-134042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FECAL INCONTINENCE: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C8C2-0990-F7F8-B3C1-C13F0CCD1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651" y="1189529"/>
            <a:ext cx="6758546" cy="534883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History very important: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Onset/Duration/Frequency/Amount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Associated symptoms (diarrhea)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Categorizing Incontinence: urge vs passive – urge characterized by the desire to defecate, but incontinence occurs despite efforts to retain stool. Passive is lack of awareness of the need to defecate.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Recognize potential patterns: nocturnal vs daytime (nocturnal suggest underlying bowel disorder of DM)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Medications/Dietary Factors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Neurological Symptoms: BE AWARE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Sudden onset of incontinence without change of bowel habits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Low back or perineal pain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Motor/Sensory symptoms in lower extremities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Urinary Incontinence </a:t>
            </a:r>
          </a:p>
          <a:p>
            <a:pPr>
              <a:lnSpc>
                <a:spcPct val="110000"/>
              </a:lnSpc>
            </a:pPr>
            <a:endParaRPr lang="en-US" sz="1000" dirty="0"/>
          </a:p>
          <a:p>
            <a:pPr>
              <a:lnSpc>
                <a:spcPct val="110000"/>
              </a:lnSpc>
            </a:pPr>
            <a:endParaRPr lang="en-US" sz="1000" dirty="0"/>
          </a:p>
          <a:p>
            <a:pPr marL="457200" lvl="1" indent="0">
              <a:lnSpc>
                <a:spcPct val="110000"/>
              </a:lnSpc>
              <a:buNone/>
            </a:pPr>
            <a:endParaRPr lang="en-US" sz="1000" dirty="0"/>
          </a:p>
        </p:txBody>
      </p:sp>
      <p:pic>
        <p:nvPicPr>
          <p:cNvPr id="8194" name="Picture 2" descr="Cauda equina syndrome diagnosis guidelines">
            <a:extLst>
              <a:ext uri="{FF2B5EF4-FFF2-40B4-BE49-F238E27FC236}">
                <a16:creationId xmlns:a16="http://schemas.microsoft.com/office/drawing/2014/main" id="{9C13D455-AB32-F9C4-04DF-9B83DD6B3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7428" y="537474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35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AC37-1B03-073A-F13A-CC3A1A4D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5948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Fecal Incontinence: Clinical Manifestations</a:t>
            </a:r>
          </a:p>
        </p:txBody>
      </p:sp>
      <p:pic>
        <p:nvPicPr>
          <p:cNvPr id="9218" name="Picture 2" descr="Abdominal Pain: Types, Causes, Treatment &amp; Home Remedies">
            <a:extLst>
              <a:ext uri="{FF2B5EF4-FFF2-40B4-BE49-F238E27FC236}">
                <a16:creationId xmlns:a16="http://schemas.microsoft.com/office/drawing/2014/main" id="{A07F53B8-E1F5-0563-AA2E-0D9D3BDFD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 bwMode="auto">
          <a:xfrm>
            <a:off x="877552" y="1931003"/>
            <a:ext cx="3613528" cy="2362358"/>
          </a:xfrm>
          <a:prstGeom prst="round2DiagRect">
            <a:avLst>
              <a:gd name="adj1" fmla="val 4860"/>
              <a:gd name="adj2" fmla="val 22036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48391-C837-AD96-9C2C-9F58F032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114" y="1424010"/>
            <a:ext cx="7326994" cy="5039833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Physical Exam Findings: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Inspection of perianal area: signs of hemorrhoids, fistula, rectal prolapse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Anal Wink Sign: perianal sensation trigger anal wink reflex (absence suggest neurological process). Typically done with a cotton swab gently stroking the perianal skin towards the anus and observing contraction of anal sphincter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DRE (Digital Rectal Exam): looking for fecal impaction, tumors, assessing anal tone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Labs usually not required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Persistent incontinence usually warrants Endoscopic Procedure (Flex/Sigmoidoscopy) </a:t>
            </a:r>
          </a:p>
        </p:txBody>
      </p:sp>
    </p:spTree>
    <p:extLst>
      <p:ext uri="{BB962C8B-B14F-4D97-AF65-F5344CB8AC3E}">
        <p14:creationId xmlns:p14="http://schemas.microsoft.com/office/powerpoint/2010/main" val="219375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16477-EA05-E55F-E48B-118CB74E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425" y="-69305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Fecal Incontinence: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01D1-0D4C-2BE9-82F6-89279CD8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577" y="1409265"/>
            <a:ext cx="4844521" cy="4620651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Initial Management: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Supportive therapy first line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Avoid foods/activities that worsen symptoms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Bulking agents and antidiarrheals (Imodium)  if having diarrhea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Refer to Gastroenterologist if no response to initial management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Next steps include: Biofeedback, injectable anal bulking, sacral nerve testing, anal sphincteroplasty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Refractory to above therapies, patients may required colostomy or ileostomy </a:t>
            </a:r>
          </a:p>
        </p:txBody>
      </p:sp>
      <p:pic>
        <p:nvPicPr>
          <p:cNvPr id="10242" name="Picture 2" descr="IMODIUM® for Diarrhea Relief">
            <a:extLst>
              <a:ext uri="{FF2B5EF4-FFF2-40B4-BE49-F238E27FC236}">
                <a16:creationId xmlns:a16="http://schemas.microsoft.com/office/drawing/2014/main" id="{65293C28-5195-490B-7C00-60C1061AE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3424" y="2343971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57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E7B1-F522-EB3F-A920-2768073C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Paralytic (Adynamic) Ileus: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C6C2-0A13-0AF4-2F5D-74E29BFA1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844521" cy="354171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Ileus: functional obstruction – paralytic (adynamic) ileus due to neurogenic failure of peristalsis inhibiting propel of intestinal contents 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Etiologies: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Post Operative MC: this is why we tell people to get up and walk after surgery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Medications: OPIOIDS, antidiarrheals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Electrolyte Abnormalities: hypokalemia, hypercalcemia, hypomagnesemia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Other Illnesses: hypothyroidism (severe), DM </a:t>
            </a:r>
          </a:p>
        </p:txBody>
      </p:sp>
      <p:pic>
        <p:nvPicPr>
          <p:cNvPr id="5122" name="Picture 2" descr="Paralytic Ileus - Gastro Girl">
            <a:extLst>
              <a:ext uri="{FF2B5EF4-FFF2-40B4-BE49-F238E27FC236}">
                <a16:creationId xmlns:a16="http://schemas.microsoft.com/office/drawing/2014/main" id="{3A7B9404-FB16-F60B-A2D5-E6C897AC7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>
            <a:fillRect/>
          </a:stretch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10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67EB-6451-F2B2-4EDA-78FEF48E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Paralytic (Adynamic) Ileus: Clinical Manifestations </a:t>
            </a:r>
          </a:p>
        </p:txBody>
      </p:sp>
      <p:pic>
        <p:nvPicPr>
          <p:cNvPr id="6146" name="Picture 2" descr="Abdominal Pain: What's Normal and When to See a Doctor">
            <a:extLst>
              <a:ext uri="{FF2B5EF4-FFF2-40B4-BE49-F238E27FC236}">
                <a16:creationId xmlns:a16="http://schemas.microsoft.com/office/drawing/2014/main" id="{FE7E3FE3-B5A2-A537-A2A1-12C4E14BD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2C3AA-07C6-29C0-79F8-E126DBD77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479" y="2249487"/>
            <a:ext cx="4844521" cy="354171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Symptoms similar SBO but usually have a slower onset: abdominal pain, n/v, obstipation, distention, difficulty eating (fullness) 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Physical Exam: 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Decreased or absent bowel sounds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Abdominal distention and tympany 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Mild tenderness to palpation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78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56C5-0BDB-0EA5-4DEB-7C0F7D23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Paralytic (Adynamic) Ileus: Clinical Manifestations </a:t>
            </a:r>
          </a:p>
        </p:txBody>
      </p:sp>
      <p:pic>
        <p:nvPicPr>
          <p:cNvPr id="7170" name="Picture 2" descr="Ileus | Radiology Key">
            <a:extLst>
              <a:ext uri="{FF2B5EF4-FFF2-40B4-BE49-F238E27FC236}">
                <a16:creationId xmlns:a16="http://schemas.microsoft.com/office/drawing/2014/main" id="{6F524886-CA5F-999A-77E1-FFA904FCC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>
            <a:fillRect/>
          </a:stretch>
        </p:blipFill>
        <p:spPr bwMode="auto"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0A8D-B7D4-A5AB-3F6B-6BE832F1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479" y="2249487"/>
            <a:ext cx="4844521" cy="354171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Diagnostics: 	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Labs: CBC, electrolytes, LFTs, Amylase/Lipase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Abd X-ray: diffuse dilated bowel loops WITHOUT transition zone, paucity of air (gas) in the colon and rectum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dirty="0"/>
              <a:t>CT A/P: CONFIRMS diagnosis - differentiates between mechanical obstruction vs ileus</a:t>
            </a:r>
            <a:endParaRPr lang="en-US"/>
          </a:p>
          <a:p>
            <a:pPr lvl="1"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6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805E-BF7E-DACB-D759-45479E95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/>
              <a:t>Paralytic (Adynamic) Ileus: Clinical Manifestations </a:t>
            </a:r>
          </a:p>
        </p:txBody>
      </p:sp>
      <p:pic>
        <p:nvPicPr>
          <p:cNvPr id="9218" name="Picture 2" descr="Small bowel obstruction | Radiology Case | Radiopaedia.org">
            <a:extLst>
              <a:ext uri="{FF2B5EF4-FFF2-40B4-BE49-F238E27FC236}">
                <a16:creationId xmlns:a16="http://schemas.microsoft.com/office/drawing/2014/main" id="{AAA882E7-840C-AB84-686C-959EF67F4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18988" y="1572091"/>
            <a:ext cx="2974328" cy="370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Ileus and small bowel obstruction - Cancer Therapy Advisor">
            <a:extLst>
              <a:ext uri="{FF2B5EF4-FFF2-40B4-BE49-F238E27FC236}">
                <a16:creationId xmlns:a16="http://schemas.microsoft.com/office/drawing/2014/main" id="{309BF5AF-7EE5-65EF-C871-E20077192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57042" y="1406836"/>
            <a:ext cx="2974328" cy="403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409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AE2E-F7F8-9D59-A42C-6F87F091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Paralytic (Adynamic) Ileus: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4C7DD-513A-AE28-19D4-AD4887E7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591" y="2097088"/>
            <a:ext cx="7347832" cy="3891669"/>
          </a:xfrm>
        </p:spPr>
        <p:txBody>
          <a:bodyPr>
            <a:normAutofit lnSpcReduction="10000"/>
          </a:bodyPr>
          <a:lstStyle/>
          <a:p>
            <a:r>
              <a:rPr lang="en-US"/>
              <a:t>Supportive Care: </a:t>
            </a:r>
          </a:p>
          <a:p>
            <a:pPr lvl="1"/>
            <a:r>
              <a:rPr lang="en-US"/>
              <a:t>NPO (Bowel rest) – can advance diet as tolerated (usually start with clear liquid diet) </a:t>
            </a:r>
          </a:p>
          <a:p>
            <a:pPr lvl="1"/>
            <a:r>
              <a:rPr lang="en-US"/>
              <a:t>IVF, electrolyte replacement</a:t>
            </a:r>
          </a:p>
          <a:p>
            <a:pPr lvl="1"/>
            <a:r>
              <a:rPr lang="en-US"/>
              <a:t>Serial Abd Films, daily abdominal girths, symptom monitoring </a:t>
            </a:r>
          </a:p>
          <a:p>
            <a:pPr lvl="1"/>
            <a:r>
              <a:rPr lang="en-US"/>
              <a:t>NGT placement: decompression </a:t>
            </a:r>
          </a:p>
          <a:p>
            <a:r>
              <a:rPr lang="en-US"/>
              <a:t>Most post-operative Ileus resolve within 1-3 days</a:t>
            </a:r>
          </a:p>
          <a:p>
            <a:r>
              <a:rPr lang="en-US"/>
              <a:t>If persistent/worsening symptoms – perforation – peritonitis – SEPSIS! </a:t>
            </a:r>
            <a:endParaRPr lang="en-US" dirty="0"/>
          </a:p>
        </p:txBody>
      </p:sp>
      <p:pic>
        <p:nvPicPr>
          <p:cNvPr id="10244" name="Picture 4" descr="Post-Operative Ileus - TeachMeSurgery">
            <a:extLst>
              <a:ext uri="{FF2B5EF4-FFF2-40B4-BE49-F238E27FC236}">
                <a16:creationId xmlns:a16="http://schemas.microsoft.com/office/drawing/2014/main" id="{ABDB1041-B32D-4098-EADD-4B2E87B49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73467" y="3022945"/>
            <a:ext cx="3405900" cy="296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967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8923-31F4-6DAF-37A5-69206920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Anal Fissures: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82F86-029E-17BB-056A-4BA547A4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891" y="2025206"/>
            <a:ext cx="4844521" cy="4302266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Most common benign anorectal disease and one of the most common causes of anal bleeding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Often observed in infants and middle-aged adults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Etiology: local trauma d/t constipation (hard stools) most commonly. Can also be caused by diarrhea, vaginal delivery, and anal intercourse.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Typically start with tearing of the anoderm within the distal half of the anal canal. Often leads to cycle of recurring anal pain/bleeding. </a:t>
            </a:r>
          </a:p>
        </p:txBody>
      </p:sp>
      <p:pic>
        <p:nvPicPr>
          <p:cNvPr id="1026" name="Picture 2" descr="Anal Fisssure – Brisbane Colorectal Surgeon">
            <a:extLst>
              <a:ext uri="{FF2B5EF4-FFF2-40B4-BE49-F238E27FC236}">
                <a16:creationId xmlns:a16="http://schemas.microsoft.com/office/drawing/2014/main" id="{1D51B628-8A5E-DA61-38D5-9B8289108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02728" y="2243691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503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E833-7924-6833-23CB-B44C1B44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68" y="0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Anal Fissures: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07E3-0E70-E362-D49C-1B76A1F9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124" y="1553571"/>
            <a:ext cx="5894388" cy="47905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Anal pain exacerbated with defection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Bleeding (BRBPR/hematochezia)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Longitudinal tear in the anoderm that usually extends no more proximally than the dentate line.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90% of anal fissures located in the posterior midline of anal canal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Can be Acute or Chronic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Acute: fissure is superficial laceration (like a paper cut)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Chronic: raised edges, exposing the white/horizontally oriented fibers the internal anal sphincter muscles at the base of the fissure</a:t>
            </a:r>
          </a:p>
        </p:txBody>
      </p:sp>
      <p:pic>
        <p:nvPicPr>
          <p:cNvPr id="2050" name="Picture 2" descr="Anal Fissure - Clinical Features - Management - TeachMeSurgery">
            <a:extLst>
              <a:ext uri="{FF2B5EF4-FFF2-40B4-BE49-F238E27FC236}">
                <a16:creationId xmlns:a16="http://schemas.microsoft.com/office/drawing/2014/main" id="{641B8EAC-EBF0-0433-B824-E8472A3AA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9997" y="3282697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166465" y="0"/>
                </a:moveTo>
                <a:lnTo>
                  <a:pt x="3425199" y="0"/>
                </a:lnTo>
                <a:lnTo>
                  <a:pt x="3425199" y="2337870"/>
                </a:lnTo>
                <a:lnTo>
                  <a:pt x="0" y="2337870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cute anal fissure dorsal, erosions perianal &amp; ventral, erosions dorsal |  Download Scientific Diagram">
            <a:extLst>
              <a:ext uri="{FF2B5EF4-FFF2-40B4-BE49-F238E27FC236}">
                <a16:creationId xmlns:a16="http://schemas.microsoft.com/office/drawing/2014/main" id="{DD643102-B3D9-D3E7-04C2-B6E01F2F7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9997" y="815268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0" y="0"/>
                </a:moveTo>
                <a:lnTo>
                  <a:pt x="3425199" y="0"/>
                </a:lnTo>
                <a:lnTo>
                  <a:pt x="3425199" y="2171405"/>
                </a:lnTo>
                <a:cubicBezTo>
                  <a:pt x="3425199" y="2263341"/>
                  <a:pt x="3350670" y="2337870"/>
                  <a:pt x="3258734" y="2337870"/>
                </a:cubicBezTo>
                <a:lnTo>
                  <a:pt x="0" y="2337870"/>
                </a:ln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667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D8AF-50EE-B184-0790-869ACB21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01" y="254899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Anal Fissures: Management </a:t>
            </a:r>
          </a:p>
        </p:txBody>
      </p:sp>
      <p:pic>
        <p:nvPicPr>
          <p:cNvPr id="3074" name="Picture 2" descr="About Anal Fissures | Memorial Sloan Kettering Cancer Center">
            <a:extLst>
              <a:ext uri="{FF2B5EF4-FFF2-40B4-BE49-F238E27FC236}">
                <a16:creationId xmlns:a16="http://schemas.microsoft.com/office/drawing/2014/main" id="{D10A488D-20B6-9D1F-CFA2-89E1238D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8767" y="2338598"/>
            <a:ext cx="3680507" cy="232792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22775-7B4A-7F48-263C-AF173A99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0485" y="1359462"/>
            <a:ext cx="6425075" cy="52436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Conservative Treatment: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Increased fiber diet/stool softeners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Sitz baths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Topical analgesics (lidocaine topical)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Medical Treatment: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Vasodilators (nifedipine/nitroglycerine topical ointments)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Relaxes internal anal sphincter and increases blood flow to promote healing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Typically given for about a month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Surgical Treatment: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Reserved for those who fail treatment for over two months or who have chronic changes to fissure such as fibrosis, sentinel pile, or rolled edges.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Lateral internal sphincterotomy (LIS) </a:t>
            </a:r>
          </a:p>
          <a:p>
            <a:pPr lvl="1">
              <a:lnSpc>
                <a:spcPct val="110000"/>
              </a:lnSpc>
            </a:pPr>
            <a:endParaRPr lang="en-US" sz="1000" dirty="0"/>
          </a:p>
          <a:p>
            <a:pPr>
              <a:lnSpc>
                <a:spcPct val="110000"/>
              </a:lnSpc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2041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74AA-6D20-E86B-4B4C-9AF613DF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Hemorrhoids: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36CF-4036-63E8-ABFA-2BD7A0E11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18307"/>
            <a:ext cx="5894388" cy="443453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Hemorrhoids are abnormal progression of anal cushions (normal vascular structures in the anal canal that arise of the arteriovenous connective tissues that drains into the superior and inferior hemorrhoidal veins)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Three Types: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Internal: proximal to the dentate line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External: distal/below the dentate line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Mixed: straddle dentate line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 Factors: age, diarrhea, pregnancy, pelvic tumors, prolonged sitting, straining, chronic constipation </a:t>
            </a:r>
          </a:p>
        </p:txBody>
      </p:sp>
      <p:pic>
        <p:nvPicPr>
          <p:cNvPr id="4098" name="Picture 2" descr="Internal Hemorrhoids | Overview Of Stages &amp; Signs">
            <a:extLst>
              <a:ext uri="{FF2B5EF4-FFF2-40B4-BE49-F238E27FC236}">
                <a16:creationId xmlns:a16="http://schemas.microsoft.com/office/drawing/2014/main" id="{435AB8FD-CC52-C22A-0930-6C411425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0593" y="1415408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931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5C267-D412-0C55-A492-25346A5A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657" y="0"/>
            <a:ext cx="4747088" cy="1478570"/>
          </a:xfrm>
        </p:spPr>
        <p:txBody>
          <a:bodyPr>
            <a:normAutofit/>
          </a:bodyPr>
          <a:lstStyle/>
          <a:p>
            <a:r>
              <a:rPr lang="en-US"/>
              <a:t>Hemorrhoids: Classifications </a:t>
            </a:r>
          </a:p>
        </p:txBody>
      </p:sp>
      <p:sp>
        <p:nvSpPr>
          <p:cNvPr id="5127" name="Round Diagonal Corner Rectangle 9">
            <a:extLst>
              <a:ext uri="{FF2B5EF4-FFF2-40B4-BE49-F238E27FC236}">
                <a16:creationId xmlns:a16="http://schemas.microsoft.com/office/drawing/2014/main" id="{B17B89E9-0A60-4DE1-97F8-2E81D4CCE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HEMORRHOID BANDING | AMD CLINIC | Johor Bahru">
            <a:extLst>
              <a:ext uri="{FF2B5EF4-FFF2-40B4-BE49-F238E27FC236}">
                <a16:creationId xmlns:a16="http://schemas.microsoft.com/office/drawing/2014/main" id="{2947ED19-16A4-4CEE-99E3-4DCACF043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18988" y="1652127"/>
            <a:ext cx="4635583" cy="355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51645-4921-B74D-DFB9-71053841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364" y="1478570"/>
            <a:ext cx="5286376" cy="354171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Internal Hemorrhoids: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Grade I: visualized on anoscopy and may bulge into the lumen but do not prolapse below dentate line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Grade II: prolapse out of the anal canal with defecation or with straining but reduce spontaneously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Grade III: prolapse out of the anal canal with defecation or straining and require manual reduction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Grade IV: are irreducible and may strangulate</a:t>
            </a:r>
          </a:p>
        </p:txBody>
      </p:sp>
    </p:spTree>
    <p:extLst>
      <p:ext uri="{BB962C8B-B14F-4D97-AF65-F5344CB8AC3E}">
        <p14:creationId xmlns:p14="http://schemas.microsoft.com/office/powerpoint/2010/main" val="624338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0E51-E88D-3A0E-1028-78062926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639" y="0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Hemorrhoids: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8DAA-3A6C-E88E-3E05-13AB3BB97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216" y="1658143"/>
            <a:ext cx="5894388" cy="3541714"/>
          </a:xfrm>
        </p:spPr>
        <p:txBody>
          <a:bodyPr>
            <a:normAutofit/>
          </a:bodyPr>
          <a:lstStyle/>
          <a:p>
            <a:r>
              <a:rPr lang="en-US" dirty="0"/>
              <a:t>External Hemorrhoids: </a:t>
            </a:r>
          </a:p>
          <a:p>
            <a:pPr lvl="1"/>
            <a:r>
              <a:rPr lang="en-US" dirty="0"/>
              <a:t>Distal or below dentate line</a:t>
            </a:r>
          </a:p>
          <a:p>
            <a:pPr lvl="1"/>
            <a:r>
              <a:rPr lang="en-US" dirty="0"/>
              <a:t>Close proximity to tissues innervated by spinal nerves - leads to more pain</a:t>
            </a:r>
          </a:p>
          <a:p>
            <a:pPr lvl="1"/>
            <a:r>
              <a:rPr lang="en-US" dirty="0"/>
              <a:t>Extremely painful when thrombosed</a:t>
            </a:r>
          </a:p>
          <a:p>
            <a:r>
              <a:rPr lang="en-US" dirty="0"/>
              <a:t>Mixed Internal and External </a:t>
            </a:r>
          </a:p>
          <a:p>
            <a:pPr lvl="1"/>
            <a:r>
              <a:rPr lang="en-US" dirty="0"/>
              <a:t>Straddle dentate line</a:t>
            </a:r>
          </a:p>
        </p:txBody>
      </p:sp>
      <p:pic>
        <p:nvPicPr>
          <p:cNvPr id="6148" name="Picture 4" descr="Hemorrhoids | AFP">
            <a:extLst>
              <a:ext uri="{FF2B5EF4-FFF2-40B4-BE49-F238E27FC236}">
                <a16:creationId xmlns:a16="http://schemas.microsoft.com/office/drawing/2014/main" id="{FCAB9D57-615F-2EAF-45F4-1395B1967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1026" y="1008834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710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02D9-A5FD-21A5-4145-444330F4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192" y="0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Hemorrhoids: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8A65-1DAF-49D6-FE9E-BC3757BE1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65" y="1294726"/>
            <a:ext cx="5955074" cy="53083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900" dirty="0"/>
              <a:t>40% of patients are asymptomatic 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Perianal skin irritation and pruritus (internal)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Leakage of rectal contents (internal) 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Painless Bleeding (BRBPR – hematochezia) 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Thrombosis:</a:t>
            </a:r>
          </a:p>
          <a:p>
            <a:pPr lvl="1">
              <a:lnSpc>
                <a:spcPct val="110000"/>
              </a:lnSpc>
            </a:pPr>
            <a:r>
              <a:rPr lang="en-US" sz="2900" dirty="0"/>
              <a:t>Acute perianal pain and a palpable ”lump” </a:t>
            </a:r>
          </a:p>
          <a:p>
            <a:pPr lvl="1">
              <a:lnSpc>
                <a:spcPct val="110000"/>
              </a:lnSpc>
            </a:pPr>
            <a:r>
              <a:rPr lang="en-US" sz="2900" dirty="0"/>
              <a:t>More common in external hemorrhoids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Physical Exam: </a:t>
            </a:r>
          </a:p>
          <a:p>
            <a:pPr lvl="1">
              <a:lnSpc>
                <a:spcPct val="110000"/>
              </a:lnSpc>
            </a:pPr>
            <a:r>
              <a:rPr lang="en-US" sz="2900" dirty="0"/>
              <a:t>DRE: internal hemorrhoids usually not palpable on exam</a:t>
            </a:r>
          </a:p>
          <a:p>
            <a:pPr lvl="1">
              <a:lnSpc>
                <a:spcPct val="110000"/>
              </a:lnSpc>
            </a:pPr>
            <a:r>
              <a:rPr lang="en-US" sz="2900" dirty="0"/>
              <a:t>Thrombosed hemorrhoid = extreme tenderness to palpation</a:t>
            </a:r>
          </a:p>
          <a:p>
            <a:pPr lvl="1">
              <a:lnSpc>
                <a:spcPct val="110000"/>
              </a:lnSpc>
            </a:pPr>
            <a:r>
              <a:rPr lang="en-US" sz="2900" dirty="0"/>
              <a:t>Anoscopy: internal hemorrhoids are bulging purplish-blue veins.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7172" name="Picture 4" descr="Thrombosed Hemorrhoids: Symptoms, Causes &amp; Treatment">
            <a:extLst>
              <a:ext uri="{FF2B5EF4-FFF2-40B4-BE49-F238E27FC236}">
                <a16:creationId xmlns:a16="http://schemas.microsoft.com/office/drawing/2014/main" id="{7F0CD354-9413-FE84-E09A-4F2A9DDB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5192" y="1546193"/>
            <a:ext cx="3776811" cy="419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648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3D67-FE60-E807-E956-D21520761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08125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Hemorrhoids: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35B0-8C58-F36E-BD41-69A2B5CFA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672123"/>
            <a:ext cx="4844521" cy="4574927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Management dependent on severity/grading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Asymptomatic patients: conservative treatment with diet management including high fiber/fluid intake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Grade I or II Internal Hemorrhoids: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Conservative treatment first: diet management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Topical Analgesics/Steroids: topical lidocaine-hydrocortisone ointment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Prep H: phenylephrine (vasoconstrictor), </a:t>
            </a:r>
            <a:r>
              <a:rPr lang="en-US" dirty="0">
                <a:effectLst/>
              </a:rPr>
              <a:t>petrolatum, mineral oil</a:t>
            </a:r>
            <a:r>
              <a:rPr lang="en-US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Sitz bath</a:t>
            </a:r>
          </a:p>
        </p:txBody>
      </p:sp>
      <p:pic>
        <p:nvPicPr>
          <p:cNvPr id="8196" name="Picture 4" descr="Sitz Bath">
            <a:extLst>
              <a:ext uri="{FF2B5EF4-FFF2-40B4-BE49-F238E27FC236}">
                <a16:creationId xmlns:a16="http://schemas.microsoft.com/office/drawing/2014/main" id="{5FF0EC09-E968-C12A-C7E1-6A638C191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335" y="2497720"/>
            <a:ext cx="2245675" cy="3047892"/>
          </a:xfrm>
          <a:custGeom>
            <a:avLst/>
            <a:gdLst/>
            <a:ahLst/>
            <a:cxnLst/>
            <a:rect l="l" t="t" r="r" b="b"/>
            <a:pathLst>
              <a:path w="2245675" h="3047892">
                <a:moveTo>
                  <a:pt x="148128" y="0"/>
                </a:moveTo>
                <a:lnTo>
                  <a:pt x="2245675" y="0"/>
                </a:lnTo>
                <a:lnTo>
                  <a:pt x="2245675" y="3047892"/>
                </a:lnTo>
                <a:lnTo>
                  <a:pt x="0" y="3047892"/>
                </a:lnTo>
                <a:lnTo>
                  <a:pt x="0" y="148128"/>
                </a:lnTo>
                <a:cubicBezTo>
                  <a:pt x="0" y="66319"/>
                  <a:pt x="66319" y="0"/>
                  <a:pt x="148128" y="0"/>
                </a:cubicBez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Preparation H Hemorrhoid Symptom Treatment Cream">
            <a:extLst>
              <a:ext uri="{FF2B5EF4-FFF2-40B4-BE49-F238E27FC236}">
                <a16:creationId xmlns:a16="http://schemas.microsoft.com/office/drawing/2014/main" id="{8527478F-3223-B7F7-3C00-106811AB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01736" y="2497720"/>
            <a:ext cx="2245674" cy="3047892"/>
          </a:xfrm>
          <a:custGeom>
            <a:avLst/>
            <a:gdLst/>
            <a:ahLst/>
            <a:cxnLst/>
            <a:rect l="l" t="t" r="r" b="b"/>
            <a:pathLst>
              <a:path w="2245674" h="3047892">
                <a:moveTo>
                  <a:pt x="0" y="0"/>
                </a:moveTo>
                <a:lnTo>
                  <a:pt x="2245674" y="0"/>
                </a:lnTo>
                <a:lnTo>
                  <a:pt x="2245674" y="2899764"/>
                </a:lnTo>
                <a:cubicBezTo>
                  <a:pt x="2245674" y="2981573"/>
                  <a:pt x="2179355" y="3047892"/>
                  <a:pt x="2097546" y="3047892"/>
                </a:cubicBezTo>
                <a:lnTo>
                  <a:pt x="0" y="3047892"/>
                </a:ln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738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580F-8D55-B341-47D3-44B62F82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330" y="11801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Hemorrhoids: management</a:t>
            </a:r>
          </a:p>
        </p:txBody>
      </p:sp>
      <p:pic>
        <p:nvPicPr>
          <p:cNvPr id="9218" name="Picture 2" descr="Hemorrhoid Banding (Rubber Band Ligation): Procedure &amp; Recovery">
            <a:extLst>
              <a:ext uri="{FF2B5EF4-FFF2-40B4-BE49-F238E27FC236}">
                <a16:creationId xmlns:a16="http://schemas.microsoft.com/office/drawing/2014/main" id="{DDFFB855-600E-AB16-68D3-7010D16F6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212330" y="2249487"/>
            <a:ext cx="2120915" cy="354965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nfrared Coagulation (IRC) Hemorrhoid Treatment">
            <a:extLst>
              <a:ext uri="{FF2B5EF4-FFF2-40B4-BE49-F238E27FC236}">
                <a16:creationId xmlns:a16="http://schemas.microsoft.com/office/drawing/2014/main" id="{47E526DB-3A76-06E9-A4E3-DF2B3C375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639442" y="2249487"/>
            <a:ext cx="2119652" cy="169042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clerotherapy Hemorrhoid Doctor in Denver and Colorado Springs">
            <a:extLst>
              <a:ext uri="{FF2B5EF4-FFF2-40B4-BE49-F238E27FC236}">
                <a16:creationId xmlns:a16="http://schemas.microsoft.com/office/drawing/2014/main" id="{96717FB6-A58F-107E-DDF7-77150B0C4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638333" y="4092309"/>
            <a:ext cx="2121869" cy="169042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A81E-5201-3910-0966-AEABD2C3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093" y="1223792"/>
            <a:ext cx="5941989" cy="484192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Grade II or III: Refractory to conservative treatment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Rubber Band Ligation: most common (internal only). Contraindicated in patients with coagulopathies, on AC, or patients with a history of portal hypertension.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Sclerotherapy: process of injecting sclerosant solutions (phenol, polidocanol etc.) to treat internal hemorrhoids. High rate of recurrence with this method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Infrared coagulation: direct application of infrared light waves (heat) to the hemorrhoidal tissues. Has more recurrences compared to rubber band ligation, but less complications from procedure. </a:t>
            </a:r>
          </a:p>
        </p:txBody>
      </p:sp>
    </p:spTree>
    <p:extLst>
      <p:ext uri="{BB962C8B-B14F-4D97-AF65-F5344CB8AC3E}">
        <p14:creationId xmlns:p14="http://schemas.microsoft.com/office/powerpoint/2010/main" val="3790281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0324-1474-0AEF-3003-4A39E0D9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/>
              <a:t>Hemorrhoids: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73D2-EB01-1274-6273-10079F217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039617"/>
            <a:ext cx="4844521" cy="419986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Grade IV: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Surgery when conservative management fails: surgical hemorrhoidectomy required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External Hemorrhoids: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Acute Thrombosed: office-based excision (if within the first three days of symptoms)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extensive bleeding or severe pain may require OR excision. </a:t>
            </a:r>
          </a:p>
          <a:p>
            <a:pPr lvl="1">
              <a:lnSpc>
                <a:spcPct val="110000"/>
              </a:lnSpc>
            </a:pPr>
            <a:endParaRPr lang="en-US" sz="1700" dirty="0"/>
          </a:p>
        </p:txBody>
      </p:sp>
      <p:pic>
        <p:nvPicPr>
          <p:cNvPr id="10242" name="Picture 2" descr="Hemorrhoidectomy Surgery Los Angeles: Recovery and Benefits">
            <a:extLst>
              <a:ext uri="{FF2B5EF4-FFF2-40B4-BE49-F238E27FC236}">
                <a16:creationId xmlns:a16="http://schemas.microsoft.com/office/drawing/2014/main" id="{C07266AE-A863-0A0C-1942-BAB2C2BB8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6069" y="2541774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54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342B-8053-7F5B-10A3-5CE81654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516" y="40950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Anorectal Abscess/Fistula: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2E0D9-A02C-0D41-2A6F-17565EDA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03" y="1658142"/>
            <a:ext cx="5894388" cy="484033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Anorectal abscess and fistulas are two different types of anorectal infections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Typically originates from an obstructed anal duct or crypt gland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Two Phases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Abscess: acute phase infection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Fistula: chronic phase of suppuration and fistulization (small tunnel connecting an infected gland inside the anal canal to the outer skin area)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50% of anorectal abscesses will result into a chronic fistula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Etiologies: infectious – Staph aureus (MC), E.coli, Proteus, Strep etc</a:t>
            </a:r>
            <a:r>
              <a:rPr lang="en-US" sz="1600" dirty="0"/>
              <a:t>. </a:t>
            </a:r>
          </a:p>
        </p:txBody>
      </p:sp>
      <p:pic>
        <p:nvPicPr>
          <p:cNvPr id="11266" name="Picture 2" descr="Anal Fistula: What It Is, Symptoms, Treatment &amp; Surgery">
            <a:extLst>
              <a:ext uri="{FF2B5EF4-FFF2-40B4-BE49-F238E27FC236}">
                <a16:creationId xmlns:a16="http://schemas.microsoft.com/office/drawing/2014/main" id="{FA87F36C-13E9-364E-EBE9-BA4F991D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9998" y="1519520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883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5" name="Group 12294">
            <a:extLst>
              <a:ext uri="{FF2B5EF4-FFF2-40B4-BE49-F238E27FC236}">
                <a16:creationId xmlns:a16="http://schemas.microsoft.com/office/drawing/2014/main" id="{CA4BA62A-90C3-46AC-ABF1-DB38976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296" name="Rectangle 12295">
              <a:extLst>
                <a:ext uri="{FF2B5EF4-FFF2-40B4-BE49-F238E27FC236}">
                  <a16:creationId xmlns:a16="http://schemas.microsoft.com/office/drawing/2014/main" id="{8308F883-1FF9-4FB4-B09D-354C5819A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297" name="Picture 2">
              <a:extLst>
                <a:ext uri="{FF2B5EF4-FFF2-40B4-BE49-F238E27FC236}">
                  <a16:creationId xmlns:a16="http://schemas.microsoft.com/office/drawing/2014/main" id="{247AA389-59A7-40B9-9A8D-BD7594E8B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7CBD0B-F0FD-4656-81A0-E8574E59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0974" y="-102697"/>
            <a:ext cx="6050713" cy="1478570"/>
          </a:xfrm>
        </p:spPr>
        <p:txBody>
          <a:bodyPr>
            <a:normAutofit/>
          </a:bodyPr>
          <a:lstStyle/>
          <a:p>
            <a:r>
              <a:rPr lang="en-US" dirty="0"/>
              <a:t>Anorectal Abscess/Fistula: Clinical Manifestations</a:t>
            </a:r>
          </a:p>
        </p:txBody>
      </p:sp>
      <p:pic>
        <p:nvPicPr>
          <p:cNvPr id="12290" name="Picture 2" descr="Perianal abscess - Stock Image - C011/1664 - Science Photo Library">
            <a:extLst>
              <a:ext uri="{FF2B5EF4-FFF2-40B4-BE49-F238E27FC236}">
                <a16:creationId xmlns:a16="http://schemas.microsoft.com/office/drawing/2014/main" id="{36160DE4-9D32-BB22-E583-75ED0B199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0"/>
            <a:ext cx="463558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99" name="Group 12298">
            <a:extLst>
              <a:ext uri="{FF2B5EF4-FFF2-40B4-BE49-F238E27FC236}">
                <a16:creationId xmlns:a16="http://schemas.microsoft.com/office/drawing/2014/main" id="{799BB957-1ECA-4DD2-AF2D-84C4D94B6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2300" name="Rectangle 12299">
              <a:extLst>
                <a:ext uri="{FF2B5EF4-FFF2-40B4-BE49-F238E27FC236}">
                  <a16:creationId xmlns:a16="http://schemas.microsoft.com/office/drawing/2014/main" id="{70116985-07B6-4432-A7C6-129152D1B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6">
              <a:extLst>
                <a:ext uri="{FF2B5EF4-FFF2-40B4-BE49-F238E27FC236}">
                  <a16:creationId xmlns:a16="http://schemas.microsoft.com/office/drawing/2014/main" id="{3FF5C267-0D36-47E2-AF2A-8ADDA0A0C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7">
              <a:extLst>
                <a:ext uri="{FF2B5EF4-FFF2-40B4-BE49-F238E27FC236}">
                  <a16:creationId xmlns:a16="http://schemas.microsoft.com/office/drawing/2014/main" id="{AC0A8A87-09EE-4153-ACBA-34BCD738F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Rectangle 12302">
              <a:extLst>
                <a:ext uri="{FF2B5EF4-FFF2-40B4-BE49-F238E27FC236}">
                  <a16:creationId xmlns:a16="http://schemas.microsoft.com/office/drawing/2014/main" id="{E28845CA-636E-4D43-982F-60A69EBC5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9">
              <a:extLst>
                <a:ext uri="{FF2B5EF4-FFF2-40B4-BE49-F238E27FC236}">
                  <a16:creationId xmlns:a16="http://schemas.microsoft.com/office/drawing/2014/main" id="{46E2981B-3779-4C07-B094-022D36D78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10">
              <a:extLst>
                <a:ext uri="{FF2B5EF4-FFF2-40B4-BE49-F238E27FC236}">
                  <a16:creationId xmlns:a16="http://schemas.microsoft.com/office/drawing/2014/main" id="{CF68AF7A-09BB-405A-97E2-54B636424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11">
              <a:extLst>
                <a:ext uri="{FF2B5EF4-FFF2-40B4-BE49-F238E27FC236}">
                  <a16:creationId xmlns:a16="http://schemas.microsoft.com/office/drawing/2014/main" id="{B0B046C9-B134-4B2D-A72D-EE8726713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12">
              <a:extLst>
                <a:ext uri="{FF2B5EF4-FFF2-40B4-BE49-F238E27FC236}">
                  <a16:creationId xmlns:a16="http://schemas.microsoft.com/office/drawing/2014/main" id="{7BDCF20A-0928-4450-A706-38EC67A43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13">
              <a:extLst>
                <a:ext uri="{FF2B5EF4-FFF2-40B4-BE49-F238E27FC236}">
                  <a16:creationId xmlns:a16="http://schemas.microsoft.com/office/drawing/2014/main" id="{0A9B8658-6A08-43AE-90A6-6DC58EE90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14">
              <a:extLst>
                <a:ext uri="{FF2B5EF4-FFF2-40B4-BE49-F238E27FC236}">
                  <a16:creationId xmlns:a16="http://schemas.microsoft.com/office/drawing/2014/main" id="{0E09D33C-4BEF-4E3D-9D05-7C3E204A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15">
              <a:extLst>
                <a:ext uri="{FF2B5EF4-FFF2-40B4-BE49-F238E27FC236}">
                  <a16:creationId xmlns:a16="http://schemas.microsoft.com/office/drawing/2014/main" id="{BC144127-0703-4638-BA33-F27F2746E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16">
              <a:extLst>
                <a:ext uri="{FF2B5EF4-FFF2-40B4-BE49-F238E27FC236}">
                  <a16:creationId xmlns:a16="http://schemas.microsoft.com/office/drawing/2014/main" id="{34BA113B-51FC-4ACC-B554-442D60138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17">
              <a:extLst>
                <a:ext uri="{FF2B5EF4-FFF2-40B4-BE49-F238E27FC236}">
                  <a16:creationId xmlns:a16="http://schemas.microsoft.com/office/drawing/2014/main" id="{185614A2-022E-4370-8387-439F35108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18">
              <a:extLst>
                <a:ext uri="{FF2B5EF4-FFF2-40B4-BE49-F238E27FC236}">
                  <a16:creationId xmlns:a16="http://schemas.microsoft.com/office/drawing/2014/main" id="{655F15B6-A731-4942-9BF5-E84042263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19">
              <a:extLst>
                <a:ext uri="{FF2B5EF4-FFF2-40B4-BE49-F238E27FC236}">
                  <a16:creationId xmlns:a16="http://schemas.microsoft.com/office/drawing/2014/main" id="{2637AC00-EDD0-4AB2-BB46-92261D4CF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0">
              <a:extLst>
                <a:ext uri="{FF2B5EF4-FFF2-40B4-BE49-F238E27FC236}">
                  <a16:creationId xmlns:a16="http://schemas.microsoft.com/office/drawing/2014/main" id="{49CA14E2-2ACD-4C73-B26C-17681580F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1">
              <a:extLst>
                <a:ext uri="{FF2B5EF4-FFF2-40B4-BE49-F238E27FC236}">
                  <a16:creationId xmlns:a16="http://schemas.microsoft.com/office/drawing/2014/main" id="{7BE7C3D8-CC9A-43FB-938C-8125D25B1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22">
              <a:extLst>
                <a:ext uri="{FF2B5EF4-FFF2-40B4-BE49-F238E27FC236}">
                  <a16:creationId xmlns:a16="http://schemas.microsoft.com/office/drawing/2014/main" id="{41ECB971-ADF8-48CB-A78C-166DDF6D9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23">
              <a:extLst>
                <a:ext uri="{FF2B5EF4-FFF2-40B4-BE49-F238E27FC236}">
                  <a16:creationId xmlns:a16="http://schemas.microsoft.com/office/drawing/2014/main" id="{2B8D398E-DB17-415A-B93E-DA60EE00E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24">
              <a:extLst>
                <a:ext uri="{FF2B5EF4-FFF2-40B4-BE49-F238E27FC236}">
                  <a16:creationId xmlns:a16="http://schemas.microsoft.com/office/drawing/2014/main" id="{0A2B49D3-85EC-4DEA-BBB9-0CE7A2D16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25">
              <a:extLst>
                <a:ext uri="{FF2B5EF4-FFF2-40B4-BE49-F238E27FC236}">
                  <a16:creationId xmlns:a16="http://schemas.microsoft.com/office/drawing/2014/main" id="{E9F6B8E8-A133-4250-A247-BD827119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26">
              <a:extLst>
                <a:ext uri="{FF2B5EF4-FFF2-40B4-BE49-F238E27FC236}">
                  <a16:creationId xmlns:a16="http://schemas.microsoft.com/office/drawing/2014/main" id="{8C5D839A-A5A2-4B72-80E4-ADB4F2F47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27">
              <a:extLst>
                <a:ext uri="{FF2B5EF4-FFF2-40B4-BE49-F238E27FC236}">
                  <a16:creationId xmlns:a16="http://schemas.microsoft.com/office/drawing/2014/main" id="{1E66DD74-C5E3-4762-8F37-C7981591E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28">
              <a:extLst>
                <a:ext uri="{FF2B5EF4-FFF2-40B4-BE49-F238E27FC236}">
                  <a16:creationId xmlns:a16="http://schemas.microsoft.com/office/drawing/2014/main" id="{42CBFCFF-60D3-49AD-8F8D-634480B7A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29">
              <a:extLst>
                <a:ext uri="{FF2B5EF4-FFF2-40B4-BE49-F238E27FC236}">
                  <a16:creationId xmlns:a16="http://schemas.microsoft.com/office/drawing/2014/main" id="{04E9448D-8796-4687-B7F3-B669D8284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30">
              <a:extLst>
                <a:ext uri="{FF2B5EF4-FFF2-40B4-BE49-F238E27FC236}">
                  <a16:creationId xmlns:a16="http://schemas.microsoft.com/office/drawing/2014/main" id="{C6D7D4E7-1C3B-488A-891B-B278DE0A0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31">
              <a:extLst>
                <a:ext uri="{FF2B5EF4-FFF2-40B4-BE49-F238E27FC236}">
                  <a16:creationId xmlns:a16="http://schemas.microsoft.com/office/drawing/2014/main" id="{9A361889-2948-4D64-8FF8-69586FC72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32">
              <a:extLst>
                <a:ext uri="{FF2B5EF4-FFF2-40B4-BE49-F238E27FC236}">
                  <a16:creationId xmlns:a16="http://schemas.microsoft.com/office/drawing/2014/main" id="{502D653C-475F-42DD-B57D-A91633AA7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Rectangle 12327">
              <a:extLst>
                <a:ext uri="{FF2B5EF4-FFF2-40B4-BE49-F238E27FC236}">
                  <a16:creationId xmlns:a16="http://schemas.microsoft.com/office/drawing/2014/main" id="{AE41F9AF-C366-462E-BCA3-AB9B3BB21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34">
              <a:extLst>
                <a:ext uri="{FF2B5EF4-FFF2-40B4-BE49-F238E27FC236}">
                  <a16:creationId xmlns:a16="http://schemas.microsoft.com/office/drawing/2014/main" id="{DE7FA82A-E66F-46F3-BE37-61D6BA9ED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35">
              <a:extLst>
                <a:ext uri="{FF2B5EF4-FFF2-40B4-BE49-F238E27FC236}">
                  <a16:creationId xmlns:a16="http://schemas.microsoft.com/office/drawing/2014/main" id="{10646D37-C2A3-4F20-8F6E-2D2A54B7C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36">
              <a:extLst>
                <a:ext uri="{FF2B5EF4-FFF2-40B4-BE49-F238E27FC236}">
                  <a16:creationId xmlns:a16="http://schemas.microsoft.com/office/drawing/2014/main" id="{F0B484D8-05F9-4BB7-97D5-FF4ED4BE2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37">
              <a:extLst>
                <a:ext uri="{FF2B5EF4-FFF2-40B4-BE49-F238E27FC236}">
                  <a16:creationId xmlns:a16="http://schemas.microsoft.com/office/drawing/2014/main" id="{03F14E50-F3C1-4EFB-9251-BDEF30E05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38">
              <a:extLst>
                <a:ext uri="{FF2B5EF4-FFF2-40B4-BE49-F238E27FC236}">
                  <a16:creationId xmlns:a16="http://schemas.microsoft.com/office/drawing/2014/main" id="{B96CF9CA-5C40-428E-B9C1-CE897046B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39">
              <a:extLst>
                <a:ext uri="{FF2B5EF4-FFF2-40B4-BE49-F238E27FC236}">
                  <a16:creationId xmlns:a16="http://schemas.microsoft.com/office/drawing/2014/main" id="{9C38B4E1-B1E5-4C84-AA06-E00827331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0">
              <a:extLst>
                <a:ext uri="{FF2B5EF4-FFF2-40B4-BE49-F238E27FC236}">
                  <a16:creationId xmlns:a16="http://schemas.microsoft.com/office/drawing/2014/main" id="{05D173AA-5B2D-4244-8430-44CD01EDA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1">
              <a:extLst>
                <a:ext uri="{FF2B5EF4-FFF2-40B4-BE49-F238E27FC236}">
                  <a16:creationId xmlns:a16="http://schemas.microsoft.com/office/drawing/2014/main" id="{82D98822-894A-496C-B32F-06DB6014D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42">
              <a:extLst>
                <a:ext uri="{FF2B5EF4-FFF2-40B4-BE49-F238E27FC236}">
                  <a16:creationId xmlns:a16="http://schemas.microsoft.com/office/drawing/2014/main" id="{1B432746-B63F-4BF0-871B-B482FFADA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43">
              <a:extLst>
                <a:ext uri="{FF2B5EF4-FFF2-40B4-BE49-F238E27FC236}">
                  <a16:creationId xmlns:a16="http://schemas.microsoft.com/office/drawing/2014/main" id="{AFD61CC4-F10D-4243-8F2C-EDBEDC63B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44">
              <a:extLst>
                <a:ext uri="{FF2B5EF4-FFF2-40B4-BE49-F238E27FC236}">
                  <a16:creationId xmlns:a16="http://schemas.microsoft.com/office/drawing/2014/main" id="{A9D33800-5C44-4D40-A048-3A7A5D1D5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Rectangle 12339">
              <a:extLst>
                <a:ext uri="{FF2B5EF4-FFF2-40B4-BE49-F238E27FC236}">
                  <a16:creationId xmlns:a16="http://schemas.microsoft.com/office/drawing/2014/main" id="{7B0FE60E-0643-4AB3-B009-8B857A9B2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46">
              <a:extLst>
                <a:ext uri="{FF2B5EF4-FFF2-40B4-BE49-F238E27FC236}">
                  <a16:creationId xmlns:a16="http://schemas.microsoft.com/office/drawing/2014/main" id="{D4F681A9-E543-490E-8CD3-E87A823B6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47">
              <a:extLst>
                <a:ext uri="{FF2B5EF4-FFF2-40B4-BE49-F238E27FC236}">
                  <a16:creationId xmlns:a16="http://schemas.microsoft.com/office/drawing/2014/main" id="{49283399-4EE4-4FD7-B3F0-F0CD376A6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48">
              <a:extLst>
                <a:ext uri="{FF2B5EF4-FFF2-40B4-BE49-F238E27FC236}">
                  <a16:creationId xmlns:a16="http://schemas.microsoft.com/office/drawing/2014/main" id="{338C3E08-CA77-4D8D-8271-7B0D5DA54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49">
              <a:extLst>
                <a:ext uri="{FF2B5EF4-FFF2-40B4-BE49-F238E27FC236}">
                  <a16:creationId xmlns:a16="http://schemas.microsoft.com/office/drawing/2014/main" id="{BCEE46AD-ABD8-42D2-A88E-6C9B009BB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0">
              <a:extLst>
                <a:ext uri="{FF2B5EF4-FFF2-40B4-BE49-F238E27FC236}">
                  <a16:creationId xmlns:a16="http://schemas.microsoft.com/office/drawing/2014/main" id="{76F66B20-4D5D-49D7-A33A-46749A156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1">
              <a:extLst>
                <a:ext uri="{FF2B5EF4-FFF2-40B4-BE49-F238E27FC236}">
                  <a16:creationId xmlns:a16="http://schemas.microsoft.com/office/drawing/2014/main" id="{3246E8BC-BF6E-4E1B-B6DE-7834CE5CA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52">
              <a:extLst>
                <a:ext uri="{FF2B5EF4-FFF2-40B4-BE49-F238E27FC236}">
                  <a16:creationId xmlns:a16="http://schemas.microsoft.com/office/drawing/2014/main" id="{D61636B0-9E03-4DDB-956A-57929A4D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53">
              <a:extLst>
                <a:ext uri="{FF2B5EF4-FFF2-40B4-BE49-F238E27FC236}">
                  <a16:creationId xmlns:a16="http://schemas.microsoft.com/office/drawing/2014/main" id="{150D2B7B-FD5D-4108-8637-D69673762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54">
              <a:extLst>
                <a:ext uri="{FF2B5EF4-FFF2-40B4-BE49-F238E27FC236}">
                  <a16:creationId xmlns:a16="http://schemas.microsoft.com/office/drawing/2014/main" id="{0A56D9FF-4177-416F-A8A5-B8C8B33CE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55">
              <a:extLst>
                <a:ext uri="{FF2B5EF4-FFF2-40B4-BE49-F238E27FC236}">
                  <a16:creationId xmlns:a16="http://schemas.microsoft.com/office/drawing/2014/main" id="{E7FFBC9E-D28A-4C56-8489-77CBC051C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56">
              <a:extLst>
                <a:ext uri="{FF2B5EF4-FFF2-40B4-BE49-F238E27FC236}">
                  <a16:creationId xmlns:a16="http://schemas.microsoft.com/office/drawing/2014/main" id="{9D33B26A-F967-4863-AC3C-9972CD4D0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57">
              <a:extLst>
                <a:ext uri="{FF2B5EF4-FFF2-40B4-BE49-F238E27FC236}">
                  <a16:creationId xmlns:a16="http://schemas.microsoft.com/office/drawing/2014/main" id="{73ECA63D-D3C2-460B-A352-58A4B0718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58">
              <a:extLst>
                <a:ext uri="{FF2B5EF4-FFF2-40B4-BE49-F238E27FC236}">
                  <a16:creationId xmlns:a16="http://schemas.microsoft.com/office/drawing/2014/main" id="{E6108A80-2A55-473F-8197-E21F1A2A2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55FE-1408-4CC3-507A-5C1A2C026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211" y="1252536"/>
            <a:ext cx="7219114" cy="54314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Abscess: severe/constant anal pain that is often worsened with sitting, coughing, and/or defecation. Posterior wall abscess MC site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Fistula: may cause anal discharge and pain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serious infection/systemic: may have fever and or generalized malaise.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Physical Exam: 	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Area of fluctuance or a patch of erythematous, indurate skin overlying perianal skin. Patients with deeper abscess (</a:t>
            </a:r>
            <a:r>
              <a:rPr lang="en-US" dirty="0" err="1"/>
              <a:t>eg</a:t>
            </a:r>
            <a:r>
              <a:rPr lang="en-US" dirty="0"/>
              <a:t>, </a:t>
            </a:r>
            <a:r>
              <a:rPr lang="en-US" dirty="0" err="1"/>
              <a:t>supralevator</a:t>
            </a:r>
            <a:r>
              <a:rPr lang="en-US" dirty="0"/>
              <a:t>) may not have any PE findings and can only be observed via DRE/imaging (CT scan or MRI)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Purulent rectal drainage may be observed if abscess draining spontaneously. </a:t>
            </a:r>
          </a:p>
        </p:txBody>
      </p:sp>
    </p:spTree>
    <p:extLst>
      <p:ext uri="{BB962C8B-B14F-4D97-AF65-F5344CB8AC3E}">
        <p14:creationId xmlns:p14="http://schemas.microsoft.com/office/powerpoint/2010/main" val="2544745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2" name="Picture 2">
            <a:extLst>
              <a:ext uri="{FF2B5EF4-FFF2-40B4-BE49-F238E27FC236}">
                <a16:creationId xmlns:a16="http://schemas.microsoft.com/office/drawing/2014/main" id="{33D44672-E0E3-4674-950D-BD508BE4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423" name="Group 13422">
            <a:extLst>
              <a:ext uri="{FF2B5EF4-FFF2-40B4-BE49-F238E27FC236}">
                <a16:creationId xmlns:a16="http://schemas.microsoft.com/office/drawing/2014/main" id="{C320E816-B393-45A7-B72E-0E7957C1F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424" name="Rectangle 5">
              <a:extLst>
                <a:ext uri="{FF2B5EF4-FFF2-40B4-BE49-F238E27FC236}">
                  <a16:creationId xmlns:a16="http://schemas.microsoft.com/office/drawing/2014/main" id="{FA8BF52E-F01E-4F10-AD3E-209E65611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6">
              <a:extLst>
                <a:ext uri="{FF2B5EF4-FFF2-40B4-BE49-F238E27FC236}">
                  <a16:creationId xmlns:a16="http://schemas.microsoft.com/office/drawing/2014/main" id="{5CCD0569-C62E-48FB-A8BB-6BC8387F1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7">
              <a:extLst>
                <a:ext uri="{FF2B5EF4-FFF2-40B4-BE49-F238E27FC236}">
                  <a16:creationId xmlns:a16="http://schemas.microsoft.com/office/drawing/2014/main" id="{174BD00C-33C4-4671-B4FE-160539C7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Rectangle 8">
              <a:extLst>
                <a:ext uri="{FF2B5EF4-FFF2-40B4-BE49-F238E27FC236}">
                  <a16:creationId xmlns:a16="http://schemas.microsoft.com/office/drawing/2014/main" id="{FBA088E6-2B20-422C-B1A4-FC1D5C83B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9">
              <a:extLst>
                <a:ext uri="{FF2B5EF4-FFF2-40B4-BE49-F238E27FC236}">
                  <a16:creationId xmlns:a16="http://schemas.microsoft.com/office/drawing/2014/main" id="{59E0759F-8BBC-4BFB-BFC8-88089196B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10">
              <a:extLst>
                <a:ext uri="{FF2B5EF4-FFF2-40B4-BE49-F238E27FC236}">
                  <a16:creationId xmlns:a16="http://schemas.microsoft.com/office/drawing/2014/main" id="{841556E7-C3FA-4293-BC40-79A114184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11">
              <a:extLst>
                <a:ext uri="{FF2B5EF4-FFF2-40B4-BE49-F238E27FC236}">
                  <a16:creationId xmlns:a16="http://schemas.microsoft.com/office/drawing/2014/main" id="{5776AD70-B265-4282-9F6D-A6FF2968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12">
              <a:extLst>
                <a:ext uri="{FF2B5EF4-FFF2-40B4-BE49-F238E27FC236}">
                  <a16:creationId xmlns:a16="http://schemas.microsoft.com/office/drawing/2014/main" id="{8B4764B4-C673-4421-9691-45A236FA5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13">
              <a:extLst>
                <a:ext uri="{FF2B5EF4-FFF2-40B4-BE49-F238E27FC236}">
                  <a16:creationId xmlns:a16="http://schemas.microsoft.com/office/drawing/2014/main" id="{820C4B27-9DCA-4BE7-8DA2-F0CEDA29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14">
              <a:extLst>
                <a:ext uri="{FF2B5EF4-FFF2-40B4-BE49-F238E27FC236}">
                  <a16:creationId xmlns:a16="http://schemas.microsoft.com/office/drawing/2014/main" id="{10228B76-9508-4406-9511-086A595AA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15">
              <a:extLst>
                <a:ext uri="{FF2B5EF4-FFF2-40B4-BE49-F238E27FC236}">
                  <a16:creationId xmlns:a16="http://schemas.microsoft.com/office/drawing/2014/main" id="{CB09C001-F04E-43E0-B05A-ED31B2EA1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16">
              <a:extLst>
                <a:ext uri="{FF2B5EF4-FFF2-40B4-BE49-F238E27FC236}">
                  <a16:creationId xmlns:a16="http://schemas.microsoft.com/office/drawing/2014/main" id="{015DC477-AE9B-4344-B43E-7C294BEA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7">
              <a:extLst>
                <a:ext uri="{FF2B5EF4-FFF2-40B4-BE49-F238E27FC236}">
                  <a16:creationId xmlns:a16="http://schemas.microsoft.com/office/drawing/2014/main" id="{230F46F5-5693-4D4E-BE6D-B4721D636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8">
              <a:extLst>
                <a:ext uri="{FF2B5EF4-FFF2-40B4-BE49-F238E27FC236}">
                  <a16:creationId xmlns:a16="http://schemas.microsoft.com/office/drawing/2014/main" id="{C5037ACC-178A-49DD-94AD-8B2842E64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9">
              <a:extLst>
                <a:ext uri="{FF2B5EF4-FFF2-40B4-BE49-F238E27FC236}">
                  <a16:creationId xmlns:a16="http://schemas.microsoft.com/office/drawing/2014/main" id="{B57FC6E7-5636-4B0D-BCEF-F0FF4CF63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20">
              <a:extLst>
                <a:ext uri="{FF2B5EF4-FFF2-40B4-BE49-F238E27FC236}">
                  <a16:creationId xmlns:a16="http://schemas.microsoft.com/office/drawing/2014/main" id="{AEAF7536-4FD5-40B2-A47E-12701FBF6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21">
              <a:extLst>
                <a:ext uri="{FF2B5EF4-FFF2-40B4-BE49-F238E27FC236}">
                  <a16:creationId xmlns:a16="http://schemas.microsoft.com/office/drawing/2014/main" id="{492EE95C-CA9E-4C04-8904-AD4E3CF12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22">
              <a:extLst>
                <a:ext uri="{FF2B5EF4-FFF2-40B4-BE49-F238E27FC236}">
                  <a16:creationId xmlns:a16="http://schemas.microsoft.com/office/drawing/2014/main" id="{4176F3CC-BEC5-48D6-9EC4-FE53B35A5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23">
              <a:extLst>
                <a:ext uri="{FF2B5EF4-FFF2-40B4-BE49-F238E27FC236}">
                  <a16:creationId xmlns:a16="http://schemas.microsoft.com/office/drawing/2014/main" id="{1843132F-2E68-467D-8203-4734ED67E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24">
              <a:extLst>
                <a:ext uri="{FF2B5EF4-FFF2-40B4-BE49-F238E27FC236}">
                  <a16:creationId xmlns:a16="http://schemas.microsoft.com/office/drawing/2014/main" id="{2BB3C725-0DC0-42C7-8DE6-1759523EC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25">
              <a:extLst>
                <a:ext uri="{FF2B5EF4-FFF2-40B4-BE49-F238E27FC236}">
                  <a16:creationId xmlns:a16="http://schemas.microsoft.com/office/drawing/2014/main" id="{B6DD478C-18EF-4E12-8F25-30385944F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Freeform 26">
              <a:extLst>
                <a:ext uri="{FF2B5EF4-FFF2-40B4-BE49-F238E27FC236}">
                  <a16:creationId xmlns:a16="http://schemas.microsoft.com/office/drawing/2014/main" id="{9BF402B3-6657-427D-8B4C-4D183AE18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27">
              <a:extLst>
                <a:ext uri="{FF2B5EF4-FFF2-40B4-BE49-F238E27FC236}">
                  <a16:creationId xmlns:a16="http://schemas.microsoft.com/office/drawing/2014/main" id="{8B9AD51E-B681-4AB6-8328-020F97F0E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28">
              <a:extLst>
                <a:ext uri="{FF2B5EF4-FFF2-40B4-BE49-F238E27FC236}">
                  <a16:creationId xmlns:a16="http://schemas.microsoft.com/office/drawing/2014/main" id="{965C3DF4-5EE2-438F-BAD8-1263AA5DB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29">
              <a:extLst>
                <a:ext uri="{FF2B5EF4-FFF2-40B4-BE49-F238E27FC236}">
                  <a16:creationId xmlns:a16="http://schemas.microsoft.com/office/drawing/2014/main" id="{13FD4F16-837E-4B6E-A8BF-52FE99722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Freeform 30">
              <a:extLst>
                <a:ext uri="{FF2B5EF4-FFF2-40B4-BE49-F238E27FC236}">
                  <a16:creationId xmlns:a16="http://schemas.microsoft.com/office/drawing/2014/main" id="{E8347121-B702-41AD-9A01-4681E8E6C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Freeform 31">
              <a:extLst>
                <a:ext uri="{FF2B5EF4-FFF2-40B4-BE49-F238E27FC236}">
                  <a16:creationId xmlns:a16="http://schemas.microsoft.com/office/drawing/2014/main" id="{AA0FA0CD-862B-4345-BD18-63E860E7F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Freeform 32">
              <a:extLst>
                <a:ext uri="{FF2B5EF4-FFF2-40B4-BE49-F238E27FC236}">
                  <a16:creationId xmlns:a16="http://schemas.microsoft.com/office/drawing/2014/main" id="{474EBBAA-B729-410A-98FD-9B25F6459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Rectangle 33">
              <a:extLst>
                <a:ext uri="{FF2B5EF4-FFF2-40B4-BE49-F238E27FC236}">
                  <a16:creationId xmlns:a16="http://schemas.microsoft.com/office/drawing/2014/main" id="{2735A1B4-E9C7-457E-BA06-ECA0E8803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34">
              <a:extLst>
                <a:ext uri="{FF2B5EF4-FFF2-40B4-BE49-F238E27FC236}">
                  <a16:creationId xmlns:a16="http://schemas.microsoft.com/office/drawing/2014/main" id="{43B5A362-F1A0-4795-94D2-1EDCDBC0D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35">
              <a:extLst>
                <a:ext uri="{FF2B5EF4-FFF2-40B4-BE49-F238E27FC236}">
                  <a16:creationId xmlns:a16="http://schemas.microsoft.com/office/drawing/2014/main" id="{DD59E06C-0307-4B04-A013-C304E597B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36">
              <a:extLst>
                <a:ext uri="{FF2B5EF4-FFF2-40B4-BE49-F238E27FC236}">
                  <a16:creationId xmlns:a16="http://schemas.microsoft.com/office/drawing/2014/main" id="{36BC7AF8-4554-46B6-8C29-E7FDD0FD7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37">
              <a:extLst>
                <a:ext uri="{FF2B5EF4-FFF2-40B4-BE49-F238E27FC236}">
                  <a16:creationId xmlns:a16="http://schemas.microsoft.com/office/drawing/2014/main" id="{73044F3B-8920-4F7E-BBE7-1562D8EB9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38">
              <a:extLst>
                <a:ext uri="{FF2B5EF4-FFF2-40B4-BE49-F238E27FC236}">
                  <a16:creationId xmlns:a16="http://schemas.microsoft.com/office/drawing/2014/main" id="{BD875300-3AEC-46E8-A480-D3A90EE3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39">
              <a:extLst>
                <a:ext uri="{FF2B5EF4-FFF2-40B4-BE49-F238E27FC236}">
                  <a16:creationId xmlns:a16="http://schemas.microsoft.com/office/drawing/2014/main" id="{C6D2D370-CE1A-4D88-A5AA-ADF03133B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40">
              <a:extLst>
                <a:ext uri="{FF2B5EF4-FFF2-40B4-BE49-F238E27FC236}">
                  <a16:creationId xmlns:a16="http://schemas.microsoft.com/office/drawing/2014/main" id="{626C097A-E038-4964-B469-C38E44BB9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41">
              <a:extLst>
                <a:ext uri="{FF2B5EF4-FFF2-40B4-BE49-F238E27FC236}">
                  <a16:creationId xmlns:a16="http://schemas.microsoft.com/office/drawing/2014/main" id="{C18F279C-F6DE-4705-B473-5804BF614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42">
              <a:extLst>
                <a:ext uri="{FF2B5EF4-FFF2-40B4-BE49-F238E27FC236}">
                  <a16:creationId xmlns:a16="http://schemas.microsoft.com/office/drawing/2014/main" id="{2A52CC64-02CD-443F-B158-E1AFFBB1D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43">
              <a:extLst>
                <a:ext uri="{FF2B5EF4-FFF2-40B4-BE49-F238E27FC236}">
                  <a16:creationId xmlns:a16="http://schemas.microsoft.com/office/drawing/2014/main" id="{62DFE5BE-9D50-440B-B721-C0986EC05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44">
              <a:extLst>
                <a:ext uri="{FF2B5EF4-FFF2-40B4-BE49-F238E27FC236}">
                  <a16:creationId xmlns:a16="http://schemas.microsoft.com/office/drawing/2014/main" id="{50FCDEE9-3395-471D-8202-A47345FED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Rectangle 45">
              <a:extLst>
                <a:ext uri="{FF2B5EF4-FFF2-40B4-BE49-F238E27FC236}">
                  <a16:creationId xmlns:a16="http://schemas.microsoft.com/office/drawing/2014/main" id="{702E07B4-588B-46D9-8D79-7C1CBCFB2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46">
              <a:extLst>
                <a:ext uri="{FF2B5EF4-FFF2-40B4-BE49-F238E27FC236}">
                  <a16:creationId xmlns:a16="http://schemas.microsoft.com/office/drawing/2014/main" id="{7857BDA2-0EB8-4A46-86CC-64BA98DF4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47">
              <a:extLst>
                <a:ext uri="{FF2B5EF4-FFF2-40B4-BE49-F238E27FC236}">
                  <a16:creationId xmlns:a16="http://schemas.microsoft.com/office/drawing/2014/main" id="{5B15FA3D-3641-430F-90AD-63F5A50E4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48">
              <a:extLst>
                <a:ext uri="{FF2B5EF4-FFF2-40B4-BE49-F238E27FC236}">
                  <a16:creationId xmlns:a16="http://schemas.microsoft.com/office/drawing/2014/main" id="{A3A6D048-F3EC-4C4B-9F14-877821D2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49">
              <a:extLst>
                <a:ext uri="{FF2B5EF4-FFF2-40B4-BE49-F238E27FC236}">
                  <a16:creationId xmlns:a16="http://schemas.microsoft.com/office/drawing/2014/main" id="{9A62FA7A-B423-4E71-A853-21DEEA051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50">
              <a:extLst>
                <a:ext uri="{FF2B5EF4-FFF2-40B4-BE49-F238E27FC236}">
                  <a16:creationId xmlns:a16="http://schemas.microsoft.com/office/drawing/2014/main" id="{4FA8E7C9-FF45-4B91-976D-1D7B5BE0C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51">
              <a:extLst>
                <a:ext uri="{FF2B5EF4-FFF2-40B4-BE49-F238E27FC236}">
                  <a16:creationId xmlns:a16="http://schemas.microsoft.com/office/drawing/2014/main" id="{2F563A0A-EFDC-4681-BF8D-1C442B4E25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52">
              <a:extLst>
                <a:ext uri="{FF2B5EF4-FFF2-40B4-BE49-F238E27FC236}">
                  <a16:creationId xmlns:a16="http://schemas.microsoft.com/office/drawing/2014/main" id="{478A5624-D8BD-4F2C-9660-2E2BBF487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53">
              <a:extLst>
                <a:ext uri="{FF2B5EF4-FFF2-40B4-BE49-F238E27FC236}">
                  <a16:creationId xmlns:a16="http://schemas.microsoft.com/office/drawing/2014/main" id="{5974B6BD-6FBA-49FD-8858-BA17926FB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54">
              <a:extLst>
                <a:ext uri="{FF2B5EF4-FFF2-40B4-BE49-F238E27FC236}">
                  <a16:creationId xmlns:a16="http://schemas.microsoft.com/office/drawing/2014/main" id="{5C02FA29-BFBF-420E-B179-99DEAC571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55">
              <a:extLst>
                <a:ext uri="{FF2B5EF4-FFF2-40B4-BE49-F238E27FC236}">
                  <a16:creationId xmlns:a16="http://schemas.microsoft.com/office/drawing/2014/main" id="{B3165781-435B-4B36-B90A-EEF0CC160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56">
              <a:extLst>
                <a:ext uri="{FF2B5EF4-FFF2-40B4-BE49-F238E27FC236}">
                  <a16:creationId xmlns:a16="http://schemas.microsoft.com/office/drawing/2014/main" id="{1EAD39FE-DF4A-472E-BF18-35DC0C1D8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57">
              <a:extLst>
                <a:ext uri="{FF2B5EF4-FFF2-40B4-BE49-F238E27FC236}">
                  <a16:creationId xmlns:a16="http://schemas.microsoft.com/office/drawing/2014/main" id="{A28CFFD1-1AA5-4840-9322-F54994B53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58">
              <a:extLst>
                <a:ext uri="{FF2B5EF4-FFF2-40B4-BE49-F238E27FC236}">
                  <a16:creationId xmlns:a16="http://schemas.microsoft.com/office/drawing/2014/main" id="{416BAD59-23C0-4E04-AA3B-6EFDE9DA6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B5A3DF-B793-9C37-A65E-902B0FC4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Perianal Abscess/Fistula: Clinical Manifestations</a:t>
            </a:r>
          </a:p>
        </p:txBody>
      </p:sp>
      <p:sp>
        <p:nvSpPr>
          <p:cNvPr id="13478" name="Round Diagonal Corner Rectangle 6">
            <a:extLst>
              <a:ext uri="{FF2B5EF4-FFF2-40B4-BE49-F238E27FC236}">
                <a16:creationId xmlns:a16="http://schemas.microsoft.com/office/drawing/2014/main" id="{0B142C9E-13D9-46C1-A50C-04BE8DA18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Perianal Abscess Surgical Drainage Singapore | Ark Surgical">
            <a:extLst>
              <a:ext uri="{FF2B5EF4-FFF2-40B4-BE49-F238E27FC236}">
                <a16:creationId xmlns:a16="http://schemas.microsoft.com/office/drawing/2014/main" id="{0AFC4714-BDEB-7256-1927-E44332CA7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>
            <a:fillRect/>
          </a:stretch>
        </p:blipFill>
        <p:spPr bwMode="auto">
          <a:xfrm>
            <a:off x="6421396" y="1136606"/>
            <a:ext cx="4635583" cy="45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511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3" name="Group 14342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344" name="Rectangle 14343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345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61F85B-2045-146A-3B1A-307E1268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0312" y="-19980"/>
            <a:ext cx="4598985" cy="1478570"/>
          </a:xfrm>
        </p:spPr>
        <p:txBody>
          <a:bodyPr>
            <a:normAutofit/>
          </a:bodyPr>
          <a:lstStyle/>
          <a:p>
            <a:r>
              <a:rPr lang="en-US" sz="3300" dirty="0"/>
              <a:t>Anorectal Abscess/Fistula: Management</a:t>
            </a:r>
          </a:p>
        </p:txBody>
      </p:sp>
      <p:pic>
        <p:nvPicPr>
          <p:cNvPr id="14338" name="Picture 2" descr="CT of acute perianal abscesses and infected fistulae: a pictorial essay |  Emergency Radiology | Springer Nature Link">
            <a:extLst>
              <a:ext uri="{FF2B5EF4-FFF2-40B4-BE49-F238E27FC236}">
                <a16:creationId xmlns:a16="http://schemas.microsoft.com/office/drawing/2014/main" id="{E127DEB4-37D0-8B19-47C3-DB7D4F8B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347" name="Group 14346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348" name="Rectangle 14347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Rectangle 14350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Rectangle 14375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Rectangle 14387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DFC1-78D5-5790-BE4C-F58346831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8" y="1524849"/>
            <a:ext cx="5848352" cy="50135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Surgical Drainage First Line!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not drained, can lead to systemic infection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Antibiotics post surgical drainage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5-day course of Amoxicillin-Clavulanate (Augmentin) 875/125 every 8-12 </a:t>
            </a:r>
            <a:r>
              <a:rPr lang="en-US" dirty="0" err="1"/>
              <a:t>hrs</a:t>
            </a:r>
            <a:r>
              <a:rPr lang="en-US" dirty="0"/>
              <a:t> or Ciprofloxacin 500 mg BID + Metronidazole (Flagyl) 500mg every 8 hours.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WASH post-op: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Warm Water Cleansing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Analgesics (topical lidocaine)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Sitz Baths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High Fiber diet 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28686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BA90-6300-6EF5-4F99-7536B60A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93" y="338839"/>
            <a:ext cx="5894387" cy="727960"/>
          </a:xfrm>
        </p:spPr>
        <p:txBody>
          <a:bodyPr anchor="b">
            <a:normAutofit/>
          </a:bodyPr>
          <a:lstStyle/>
          <a:p>
            <a:r>
              <a:rPr lang="en-US" dirty="0"/>
              <a:t>Rectal Prolapse: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82DD3-7213-F3EA-FAD3-626B25F88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228" y="1942088"/>
            <a:ext cx="6048572" cy="497660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Rectal Procidentia (prolapse): is a pelvic floor disorder most observed in women (can also occur in men)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Different Types: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Complete Rectal Prolapse: protrusion of all layers of the rectum through anus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Partial Rectal Prolapse: involves prolapse of the mucosa only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Occult Rectal Prolapse (rectal intussusception): telescoping of the bowel on itself without protruding through the anal verge (not a true prolapse)  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pic>
        <p:nvPicPr>
          <p:cNvPr id="21506" name="Picture 2" descr="Rectal Prolapse: Symptoms, Causes, Treatment, &amp; More">
            <a:extLst>
              <a:ext uri="{FF2B5EF4-FFF2-40B4-BE49-F238E27FC236}">
                <a16:creationId xmlns:a16="http://schemas.microsoft.com/office/drawing/2014/main" id="{EA0A7DBD-A29E-1964-5ED8-4B59C0E29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>
            <a:fillRect/>
          </a:stretch>
        </p:blipFill>
        <p:spPr bwMode="auto">
          <a:xfrm>
            <a:off x="7619996" y="1585390"/>
            <a:ext cx="3425199" cy="2420166"/>
          </a:xfrm>
          <a:custGeom>
            <a:avLst/>
            <a:gdLst/>
            <a:ahLst/>
            <a:cxnLst/>
            <a:rect l="l" t="t" r="r" b="b"/>
            <a:pathLst>
              <a:path w="3425199" h="2420166">
                <a:moveTo>
                  <a:pt x="166465" y="0"/>
                </a:moveTo>
                <a:lnTo>
                  <a:pt x="3425199" y="0"/>
                </a:lnTo>
                <a:lnTo>
                  <a:pt x="3425199" y="2420166"/>
                </a:lnTo>
                <a:lnTo>
                  <a:pt x="0" y="2420166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Rectal prolapse | University of Iowa Health Care">
            <a:extLst>
              <a:ext uri="{FF2B5EF4-FFF2-40B4-BE49-F238E27FC236}">
                <a16:creationId xmlns:a16="http://schemas.microsoft.com/office/drawing/2014/main" id="{5BF64F3C-DA6E-4DDE-C54C-4843A20BC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9997" y="4037925"/>
            <a:ext cx="3425199" cy="2420166"/>
          </a:xfrm>
          <a:custGeom>
            <a:avLst/>
            <a:gdLst/>
            <a:ahLst/>
            <a:cxnLst/>
            <a:rect l="l" t="t" r="r" b="b"/>
            <a:pathLst>
              <a:path w="3425199" h="2420166">
                <a:moveTo>
                  <a:pt x="0" y="0"/>
                </a:moveTo>
                <a:lnTo>
                  <a:pt x="3425199" y="0"/>
                </a:lnTo>
                <a:lnTo>
                  <a:pt x="3425199" y="2253701"/>
                </a:lnTo>
                <a:cubicBezTo>
                  <a:pt x="3425199" y="2345637"/>
                  <a:pt x="3350670" y="2420166"/>
                  <a:pt x="3258734" y="2420166"/>
                </a:cubicBezTo>
                <a:lnTo>
                  <a:pt x="0" y="2420166"/>
                </a:ln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103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AD7F-8B1B-419D-DAB4-3BFFD908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5090"/>
            <a:ext cx="5894387" cy="1030289"/>
          </a:xfrm>
        </p:spPr>
        <p:txBody>
          <a:bodyPr anchor="b">
            <a:normAutofit/>
          </a:bodyPr>
          <a:lstStyle/>
          <a:p>
            <a:r>
              <a:rPr lang="en-US" sz="3100" dirty="0"/>
              <a:t>Rectal Prolapse: Clinical Manifestations/Management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F918-985D-C4D9-BAB4-41D0163A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517" y="1658142"/>
            <a:ext cx="5894388" cy="475884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abdominal discomfort, incomplete bowel evacuation, rectal wall protrusion, altered bowel habits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PE: MC sign is full-thickness protrusion of the rectum through the anus (must be differentiated from hemorrhoids etc.)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colonoscopy (screen), Defecography (x-ray/MRI looking at pelvic floor muscles during defecation), anorectal physiological studies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Management: Surgical Repair (Rectopexy) – recurrence and enlargement over time common if not repaired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Can also utilize pelvic floor exercises 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  <p:pic>
        <p:nvPicPr>
          <p:cNvPr id="22532" name="Picture 4" descr="MR defecography in ano-rectal dysfunction: a clinical-radiological  correlation study | Egyptian Journal of Radiology and Nuclear Medicine |  Springer Nature Link">
            <a:extLst>
              <a:ext uri="{FF2B5EF4-FFF2-40B4-BE49-F238E27FC236}">
                <a16:creationId xmlns:a16="http://schemas.microsoft.com/office/drawing/2014/main" id="{DB79F3A5-672E-DB0B-87B9-19A80220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442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6354-89C8-BB80-9CA5-D4A80EC5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IRRITABLE BOWEL SYNDROME: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BC27-0BB0-C66C-B96E-C238102AF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5947211" cy="4070393"/>
          </a:xfrm>
        </p:spPr>
        <p:txBody>
          <a:bodyPr/>
          <a:lstStyle/>
          <a:p>
            <a:r>
              <a:rPr lang="en-US" dirty="0"/>
              <a:t>IBS: disorder of brain-gut interaction resulting in abdominal pain and altered bowel habits. </a:t>
            </a:r>
          </a:p>
          <a:p>
            <a:r>
              <a:rPr lang="en-US" dirty="0"/>
              <a:t>Associated with other conditions: fibromyalgia, chronic fatigue syndrome, GERD, psychiatric disorders etc. </a:t>
            </a:r>
          </a:p>
          <a:p>
            <a:r>
              <a:rPr lang="en-US" dirty="0"/>
              <a:t>Symptoms usually begin between teens to early 20s. More common in woman than men. </a:t>
            </a:r>
          </a:p>
        </p:txBody>
      </p:sp>
      <p:pic>
        <p:nvPicPr>
          <p:cNvPr id="1026" name="Picture 2" descr="Irritable Bowel Syndrome (IBS) - Indianapolis Gastroenterology and  Hepatology">
            <a:extLst>
              <a:ext uri="{FF2B5EF4-FFF2-40B4-BE49-F238E27FC236}">
                <a16:creationId xmlns:a16="http://schemas.microsoft.com/office/drawing/2014/main" id="{2E6F68C7-A40C-50B5-108C-5F12BCF4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8623" y="2751293"/>
            <a:ext cx="4179086" cy="235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431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A752-1213-D311-C124-98B718F8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Irritable Bowel Syndrome: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4BB2-5425-C417-1050-C08D84951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217" y="1917712"/>
            <a:ext cx="6991084" cy="44992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There are four different subtypes of IBS: </a:t>
            </a:r>
          </a:p>
          <a:p>
            <a:pPr lvl="1"/>
            <a:r>
              <a:rPr lang="en-US" dirty="0"/>
              <a:t>IBS-C: patient reports abnormal bowel movements are usually constipation</a:t>
            </a:r>
          </a:p>
          <a:p>
            <a:pPr lvl="1"/>
            <a:r>
              <a:rPr lang="en-US" dirty="0"/>
              <a:t>IBC-D: patient reports abnormal bowel movements are usually diarrhea</a:t>
            </a:r>
          </a:p>
          <a:p>
            <a:pPr lvl="1"/>
            <a:r>
              <a:rPr lang="en-US" dirty="0"/>
              <a:t>IBS-M: patient reports abnormal bowel movements are usually both constipation and diarrhea </a:t>
            </a:r>
          </a:p>
          <a:p>
            <a:pPr lvl="1"/>
            <a:r>
              <a:rPr lang="en-US" dirty="0"/>
              <a:t>IBS-U (unclassified): patient meets criteria for IBS, but doesn’t fit into the other subtypes</a:t>
            </a:r>
          </a:p>
          <a:p>
            <a:r>
              <a:rPr lang="en-US" dirty="0"/>
              <a:t>Symptoms: abdominal pain (cramping) – location varies, pain is usually associated with defecation (sometimes relieved with defecation). Can be exacerbated by stress and/or certain foods. </a:t>
            </a:r>
          </a:p>
        </p:txBody>
      </p:sp>
      <p:pic>
        <p:nvPicPr>
          <p:cNvPr id="2050" name="Picture 2" descr="How is IBS diagnosed? A step-by-step look at the 3-month rule | Mindset  Health">
            <a:extLst>
              <a:ext uri="{FF2B5EF4-FFF2-40B4-BE49-F238E27FC236}">
                <a16:creationId xmlns:a16="http://schemas.microsoft.com/office/drawing/2014/main" id="{3C38F36F-2847-219D-EF2F-82414934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6773" y="2233403"/>
            <a:ext cx="3779148" cy="302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30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8630-9D92-D897-AC42-DB1A2E7B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Irritable Bowel Syndrome: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E77E1-77D6-2D89-2769-A7E0B1639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831387" cy="3541714"/>
          </a:xfrm>
        </p:spPr>
        <p:txBody>
          <a:bodyPr>
            <a:noAutofit/>
          </a:bodyPr>
          <a:lstStyle/>
          <a:p>
            <a:r>
              <a:rPr lang="en-US" sz="2000" dirty="0"/>
              <a:t>PE is usually benign – no major findings. </a:t>
            </a:r>
          </a:p>
          <a:p>
            <a:r>
              <a:rPr lang="en-US" sz="2000" dirty="0"/>
              <a:t>Diagnosis of exclusion: after other causes have been ruled (infection, celiac disease etc.) </a:t>
            </a:r>
          </a:p>
          <a:p>
            <a:r>
              <a:rPr lang="en-US" sz="2000" dirty="0"/>
              <a:t>Diagnostic Criteria: Rome V Criteria – IBS defined as recurrent abdominal pain on average at least 3 days per month in the past 3 months and associated with two or more of the following: </a:t>
            </a:r>
          </a:p>
          <a:p>
            <a:pPr lvl="1"/>
            <a:r>
              <a:rPr lang="en-US" dirty="0"/>
              <a:t>Related to defecation</a:t>
            </a:r>
          </a:p>
          <a:p>
            <a:pPr lvl="1"/>
            <a:r>
              <a:rPr lang="en-US" dirty="0"/>
              <a:t>Associated with a change in stool frequency </a:t>
            </a:r>
          </a:p>
          <a:p>
            <a:pPr lvl="1"/>
            <a:r>
              <a:rPr lang="en-US" dirty="0"/>
              <a:t>Associated with a change in stool form (appearance) </a:t>
            </a:r>
          </a:p>
        </p:txBody>
      </p:sp>
    </p:spTree>
    <p:extLst>
      <p:ext uri="{BB962C8B-B14F-4D97-AF65-F5344CB8AC3E}">
        <p14:creationId xmlns:p14="http://schemas.microsoft.com/office/powerpoint/2010/main" val="1023613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B66E-1399-DDC9-9341-A70862B2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Irritable Bowel Syndrome: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BFF19-1166-FE56-A9A9-E912F1EA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7015360" cy="42160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First step is lifestyle modifications: low fat, high fiber diet. Avoid processed foods and spicy/foods that contain sorbitol or fructose. </a:t>
            </a:r>
          </a:p>
          <a:p>
            <a:r>
              <a:rPr lang="en-US" dirty="0"/>
              <a:t>Therapy dependent on which type of IBS: </a:t>
            </a:r>
          </a:p>
          <a:p>
            <a:pPr lvl="1"/>
            <a:r>
              <a:rPr lang="en-US" dirty="0"/>
              <a:t>IBS-C: Polyethylene Glycol (PEG), fiber, can add an osmotic laxative if no improvement. If no response, can proceed with Linaclotide or </a:t>
            </a:r>
            <a:r>
              <a:rPr lang="en-US" dirty="0" err="1"/>
              <a:t>Lubiprostone</a:t>
            </a:r>
            <a:r>
              <a:rPr lang="en-US" dirty="0"/>
              <a:t> if no response (increases intestinal chloride and fluid secretion) </a:t>
            </a:r>
          </a:p>
          <a:p>
            <a:pPr lvl="1"/>
            <a:r>
              <a:rPr lang="en-US" dirty="0"/>
              <a:t>IBS-D: Imodium, can add a bile acid sequestrant if no response (Cholestyramine). If still no response, can add an anticholinergic (Dicyclomine, </a:t>
            </a:r>
            <a:r>
              <a:rPr lang="en-US" dirty="0" err="1"/>
              <a:t>Methscopolamine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For other subtypes: based on what symptoms are present</a:t>
            </a:r>
          </a:p>
        </p:txBody>
      </p:sp>
      <p:pic>
        <p:nvPicPr>
          <p:cNvPr id="3074" name="Picture 2" descr="Fiber • The Nutrition Source">
            <a:extLst>
              <a:ext uri="{FF2B5EF4-FFF2-40B4-BE49-F238E27FC236}">
                <a16:creationId xmlns:a16="http://schemas.microsoft.com/office/drawing/2014/main" id="{03F98EF2-F382-20C8-9AE8-EA7C6A393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2035" y="2613577"/>
            <a:ext cx="3694548" cy="246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15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88D2B-E056-8397-AA73-2B8B7A57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Diverticular Disease: Diverticulosis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BBAB-2100-8CED-67B1-C462DC0B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844521" cy="3541714"/>
          </a:xfrm>
        </p:spPr>
        <p:txBody>
          <a:bodyPr anchor="ctr">
            <a:normAutofit/>
          </a:bodyPr>
          <a:lstStyle/>
          <a:p>
            <a:r>
              <a:rPr lang="en-US" sz="2200" dirty="0"/>
              <a:t>Diverticula: sac-like protrusion of the colonic wall. </a:t>
            </a:r>
            <a:r>
              <a:rPr lang="en-US" sz="2200" u="sng" dirty="0"/>
              <a:t>Diverticulosis</a:t>
            </a:r>
            <a:r>
              <a:rPr lang="en-US" sz="2200" dirty="0"/>
              <a:t> – presence of diverticular.</a:t>
            </a:r>
          </a:p>
          <a:p>
            <a:r>
              <a:rPr lang="en-US" sz="2200" dirty="0"/>
              <a:t>MC in the left colon. Right colon most common location for bleeding (has thinner walls) </a:t>
            </a:r>
          </a:p>
          <a:p>
            <a:r>
              <a:rPr lang="en-US" sz="2200" dirty="0"/>
              <a:t>Risk Factors: male sex, smoking, obesity, constipation, low fiber, increasing age. </a:t>
            </a:r>
          </a:p>
        </p:txBody>
      </p:sp>
      <p:pic>
        <p:nvPicPr>
          <p:cNvPr id="15362" name="Picture 2" descr="Diverticulosis and Diverticulitis – Evergreen Family Health">
            <a:extLst>
              <a:ext uri="{FF2B5EF4-FFF2-40B4-BE49-F238E27FC236}">
                <a16:creationId xmlns:a16="http://schemas.microsoft.com/office/drawing/2014/main" id="{A70A09BF-61C2-5244-DD03-ED1949D63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877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3" name="Group 16392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6394" name="Rectangle 16393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395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397" name="Group 16396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398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123D85-2012-EC09-B908-A8D57E4C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6264" y="9525"/>
            <a:ext cx="5877676" cy="1314448"/>
          </a:xfrm>
        </p:spPr>
        <p:txBody>
          <a:bodyPr>
            <a:normAutofit/>
          </a:bodyPr>
          <a:lstStyle/>
          <a:p>
            <a:r>
              <a:rPr lang="en-US" dirty="0"/>
              <a:t>Diverticular Disease: diverticulosis</a:t>
            </a:r>
          </a:p>
        </p:txBody>
      </p:sp>
      <p:pic>
        <p:nvPicPr>
          <p:cNvPr id="16388" name="Picture 4" descr="Abdominal CT: diverticulitis • LITFL • Radiology Library">
            <a:extLst>
              <a:ext uri="{FF2B5EF4-FFF2-40B4-BE49-F238E27FC236}">
                <a16:creationId xmlns:a16="http://schemas.microsoft.com/office/drawing/2014/main" id="{7229E3CB-CA8A-2C22-12AB-8493E5902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Understanding Diverticulosis: Symptoms, Causes, &amp; Treatme">
            <a:extLst>
              <a:ext uri="{FF2B5EF4-FFF2-40B4-BE49-F238E27FC236}">
                <a16:creationId xmlns:a16="http://schemas.microsoft.com/office/drawing/2014/main" id="{5CC039D8-3B3B-156E-22D0-AAF01D203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453" name="Straight Connector 16452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16455" name="Straight Connector 16454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7593-37B8-0DC7-71D2-E979F007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077" y="1252208"/>
            <a:ext cx="6564119" cy="536766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Clinical Manifestations: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Diverticulosis MC cause of ACUTE lower GI Bleeding (painless hematochezia)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Increased risk for patients with history of NSAIDS/Aspirin usage (WHY?)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Colonoscopy 1</a:t>
            </a:r>
            <a:r>
              <a:rPr lang="en-US" baseline="30000" dirty="0"/>
              <a:t>st</a:t>
            </a:r>
            <a:r>
              <a:rPr lang="en-US" dirty="0"/>
              <a:t> Line (after upper GI bleed is r/o)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Radionuclide imaging (tagged RBC scan) - determines source of bleeding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Management: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Bleeding stops spontaneously most of the time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Lifestyle modifications: high fiber diet, psyllium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Endoscopic therapy if significant bleeding: utilize epinephrine injections </a:t>
            </a:r>
          </a:p>
        </p:txBody>
      </p:sp>
    </p:spTree>
    <p:extLst>
      <p:ext uri="{BB962C8B-B14F-4D97-AF65-F5344CB8AC3E}">
        <p14:creationId xmlns:p14="http://schemas.microsoft.com/office/powerpoint/2010/main" val="3718152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24A7-C703-21DE-BEAD-D8AEE308D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Diverticular Disease: Diverticulitis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73655-7839-D959-F558-C44D78405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85" y="1688906"/>
            <a:ext cx="6526555" cy="4687618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Diverticulitis: inflammation/necrosis of the diverticula typically caused by micro/</a:t>
            </a:r>
            <a:r>
              <a:rPr lang="en-US" sz="2000" dirty="0" err="1"/>
              <a:t>macroperforation</a:t>
            </a:r>
            <a:r>
              <a:rPr lang="en-US" sz="20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Sigmoid Colon MC location (high intraluminal pressure)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Clinical Manifestations: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LLQ Abd Pain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Nausea/Vomiting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Constipation or Diarrhea (change in bowel habit)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PE: LLQ tenderness, rebound tenderness, guarding, palpable if abscess has formed.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perforation occurs: SEPSIS signs due to peritonitis</a:t>
            </a:r>
          </a:p>
        </p:txBody>
      </p:sp>
      <p:pic>
        <p:nvPicPr>
          <p:cNvPr id="17410" name="Picture 2" descr="Treatment for Diverticulitis | Charleston GI | Schedule Appointment">
            <a:extLst>
              <a:ext uri="{FF2B5EF4-FFF2-40B4-BE49-F238E27FC236}">
                <a16:creationId xmlns:a16="http://schemas.microsoft.com/office/drawing/2014/main" id="{56D1D452-EBE8-3874-7309-6931DD433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5839" y="2121202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269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6779-CC13-22CE-D309-2EF59E86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Diverticular Disease: Diverticulitis </a:t>
            </a:r>
          </a:p>
        </p:txBody>
      </p:sp>
      <p:pic>
        <p:nvPicPr>
          <p:cNvPr id="18434" name="Picture 2" descr="CT abdomen general">
            <a:extLst>
              <a:ext uri="{FF2B5EF4-FFF2-40B4-BE49-F238E27FC236}">
                <a16:creationId xmlns:a16="http://schemas.microsoft.com/office/drawing/2014/main" id="{F25A1129-E13A-1A9B-B543-3DFD180CF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41411" y="2687880"/>
            <a:ext cx="4689234" cy="267286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4AD8-9CFF-3654-506F-FECE8962A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436979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Diagnostics: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CBC w/diff: Leukocytosis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CT SCAN w/Contrast 1</a:t>
            </a:r>
            <a:r>
              <a:rPr lang="en-US" baseline="30000" dirty="0"/>
              <a:t>st</a:t>
            </a:r>
            <a:r>
              <a:rPr lang="en-US" dirty="0"/>
              <a:t> line Imaging: localized wall bowel wall thickening (&gt;4mm), peri-</a:t>
            </a:r>
            <a:r>
              <a:rPr lang="en-US" dirty="0" err="1"/>
              <a:t>clonic</a:t>
            </a:r>
            <a:r>
              <a:rPr lang="en-US" dirty="0"/>
              <a:t> fat stranding d/t inflammation with presence of diverticula.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Stool studies r/o infection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Colonoscopy CONTRAINDICATED due to risk of perforation</a:t>
            </a:r>
          </a:p>
          <a:p>
            <a:pPr lvl="1">
              <a:lnSpc>
                <a:spcPct val="11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14382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4B91-F114-BF96-0E6B-2F59AD32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9383"/>
            <a:ext cx="5894387" cy="1111330"/>
          </a:xfrm>
        </p:spPr>
        <p:txBody>
          <a:bodyPr anchor="b">
            <a:normAutofit/>
          </a:bodyPr>
          <a:lstStyle/>
          <a:p>
            <a:r>
              <a:rPr lang="en-US" sz="3300" dirty="0"/>
              <a:t>Diverticular Disease: Diverticulitis -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35D-6438-9BA7-C8CC-74085BE99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49" y="1630445"/>
            <a:ext cx="9839481" cy="52275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Most diverticulitis cases (around 70%) can be treated without medical management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Inpatient management meets following criteria: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CT shows COMPLICATED Diverticulitis: abscess, perforation, obstruction, fistula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CT shows UNCOMPLICATED Diverticulitis but the patient has 1 of the following: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Sepsis Criteria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Uncontrolled Abd Pain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&gt;70 years old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Significant Comorbidities (DM, recent Cardio event, chronic liver disease, ESRD)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Immunosuppression (HIV, cancer patient, organ transplant etc.)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Intolerance of oral intake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Compliance Issues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Failed OP Treatment </a:t>
            </a:r>
          </a:p>
        </p:txBody>
      </p:sp>
      <p:pic>
        <p:nvPicPr>
          <p:cNvPr id="19458" name="Picture 2" descr="Is Diverticulitis Serious?">
            <a:extLst>
              <a:ext uri="{FF2B5EF4-FFF2-40B4-BE49-F238E27FC236}">
                <a16:creationId xmlns:a16="http://schemas.microsoft.com/office/drawing/2014/main" id="{E8E73CF1-E3C0-4B38-58FA-A41AF1E08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78172" y="679729"/>
            <a:ext cx="2289517" cy="3235439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926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24D8-E68E-29F4-EB39-C4F8826D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57" y="221259"/>
            <a:ext cx="5894387" cy="1117952"/>
          </a:xfrm>
        </p:spPr>
        <p:txBody>
          <a:bodyPr anchor="b">
            <a:normAutofit/>
          </a:bodyPr>
          <a:lstStyle/>
          <a:p>
            <a:r>
              <a:rPr lang="en-US" sz="3300" dirty="0"/>
              <a:t>Diverticular Disease: Diverticulitis -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A995-C13C-F741-7DD1-F4BA8344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24198"/>
            <a:ext cx="5894388" cy="513035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Uncomplicated Diverticulitis: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Can be treated outpatient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Antibiotics: PO Metronidazole (Flagyl) + Ciprofloxacin/Levofloxacin for 7-10 days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Recommend clear liquid diet and advance diet as tolerated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Complicated Diverticulitis: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Admit to inpatient.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abscess present and &gt;3-4cm, may need surgical drainage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IV Antibiotics: Metronidazole + Cipro/Levo or Zosyn (Piperacillin/Tazobactam) is an alternative.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Surgery indicated if refractory to medical treatment, recurrence, and or perforation</a:t>
            </a:r>
          </a:p>
          <a:p>
            <a:pPr lvl="1">
              <a:lnSpc>
                <a:spcPct val="110000"/>
              </a:lnSpc>
            </a:pPr>
            <a:endParaRPr lang="en-US" sz="1100" dirty="0"/>
          </a:p>
        </p:txBody>
      </p:sp>
      <p:pic>
        <p:nvPicPr>
          <p:cNvPr id="20482" name="Picture 2" descr="Can Diverticulitis Be Hereditary? GI Doctor Explains | Charleston GI">
            <a:extLst>
              <a:ext uri="{FF2B5EF4-FFF2-40B4-BE49-F238E27FC236}">
                <a16:creationId xmlns:a16="http://schemas.microsoft.com/office/drawing/2014/main" id="{A114945B-E757-837A-DD30-BD27C01C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5389" y="1424198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4261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B9F6-7F8C-B274-1934-6453F391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Toxic Megacolon: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D766E-640B-C188-D8A7-D367AAEC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79821"/>
            <a:ext cx="4844521" cy="4760912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Toxic Megacolon: total or segmented non-obstructive colonic dilation that occurs in the context of systemic toxicity.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Etiologies: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IBS Complication/Ulcerative Colitis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Infectious colitis: CMV, C. difficile, Salmonella, Shigella, Campylobacter etc.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Radiation therapy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Colorectal Cancer</a:t>
            </a:r>
          </a:p>
        </p:txBody>
      </p:sp>
      <p:pic>
        <p:nvPicPr>
          <p:cNvPr id="21506" name="Picture 2" descr="Toxic Megacolon - UF Health">
            <a:extLst>
              <a:ext uri="{FF2B5EF4-FFF2-40B4-BE49-F238E27FC236}">
                <a16:creationId xmlns:a16="http://schemas.microsoft.com/office/drawing/2014/main" id="{EEA8F4E1-1940-30A5-BA02-72BFEB1DC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3054" y="2097088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348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72F5-C621-FA74-5E98-A7ED914E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978" y="50726"/>
            <a:ext cx="9905998" cy="1478570"/>
          </a:xfrm>
        </p:spPr>
        <p:txBody>
          <a:bodyPr/>
          <a:lstStyle/>
          <a:p>
            <a:r>
              <a:rPr lang="en-US" dirty="0"/>
              <a:t>Toxic Megacolon: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FA82-3A6B-E44C-878F-D9D44FE0A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71" y="1140977"/>
            <a:ext cx="7905483" cy="4321246"/>
          </a:xfrm>
        </p:spPr>
        <p:txBody>
          <a:bodyPr>
            <a:noAutofit/>
          </a:bodyPr>
          <a:lstStyle/>
          <a:p>
            <a:r>
              <a:rPr lang="en-US" sz="2000" dirty="0"/>
              <a:t>Symptoms: </a:t>
            </a:r>
          </a:p>
          <a:p>
            <a:pPr lvl="1"/>
            <a:r>
              <a:rPr lang="en-US" dirty="0"/>
              <a:t>Severe blood diarrhea</a:t>
            </a:r>
          </a:p>
          <a:p>
            <a:pPr lvl="1"/>
            <a:r>
              <a:rPr lang="en-US" dirty="0"/>
              <a:t>Abdominal Pain </a:t>
            </a:r>
          </a:p>
          <a:p>
            <a:pPr lvl="1"/>
            <a:r>
              <a:rPr lang="en-US" dirty="0"/>
              <a:t>Nausea/Vomiting</a:t>
            </a:r>
          </a:p>
          <a:p>
            <a:pPr lvl="1"/>
            <a:r>
              <a:rPr lang="en-US" dirty="0"/>
              <a:t>Tenesmus: strong, painful feeling that you need to empty your bowels</a:t>
            </a:r>
          </a:p>
          <a:p>
            <a:r>
              <a:rPr lang="en-US" sz="2000" dirty="0"/>
              <a:t>PE: lower abdominal tenderness with distention with additional signs of acute toxicity</a:t>
            </a:r>
          </a:p>
          <a:p>
            <a:pPr lvl="1"/>
            <a:r>
              <a:rPr lang="en-US" dirty="0"/>
              <a:t>Fever</a:t>
            </a:r>
          </a:p>
          <a:p>
            <a:pPr lvl="1"/>
            <a:r>
              <a:rPr lang="en-US" dirty="0"/>
              <a:t>Tachycardia</a:t>
            </a:r>
          </a:p>
          <a:p>
            <a:pPr lvl="1"/>
            <a:r>
              <a:rPr lang="en-US" dirty="0"/>
              <a:t>Hypotension</a:t>
            </a:r>
          </a:p>
          <a:p>
            <a:pPr lvl="1"/>
            <a:r>
              <a:rPr lang="en-US" dirty="0"/>
              <a:t>Dehydration</a:t>
            </a:r>
          </a:p>
          <a:p>
            <a:pPr lvl="1"/>
            <a:r>
              <a:rPr lang="en-US" dirty="0"/>
              <a:t>AMS </a:t>
            </a:r>
          </a:p>
          <a:p>
            <a:pPr lvl="1"/>
            <a:r>
              <a:rPr lang="en-US" dirty="0"/>
              <a:t>Peritonitis Signs: rigidity, guarding, rebound tenderness </a:t>
            </a:r>
          </a:p>
        </p:txBody>
      </p:sp>
      <p:pic>
        <p:nvPicPr>
          <p:cNvPr id="1026" name="Picture 2" descr="Toxic megacolon - ScienceDirect">
            <a:extLst>
              <a:ext uri="{FF2B5EF4-FFF2-40B4-BE49-F238E27FC236}">
                <a16:creationId xmlns:a16="http://schemas.microsoft.com/office/drawing/2014/main" id="{CAA331FF-3B43-CA2B-B305-B228AAB7D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83438" y="1140977"/>
            <a:ext cx="3152859" cy="482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805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5D6D-3029-889A-26BB-B439F24F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46" y="0"/>
            <a:ext cx="9905998" cy="1142228"/>
          </a:xfrm>
        </p:spPr>
        <p:txBody>
          <a:bodyPr/>
          <a:lstStyle/>
          <a:p>
            <a:r>
              <a:rPr lang="en-US" dirty="0"/>
              <a:t>Toxic Megacolon: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6D89-5B8A-0D1A-28AB-9848E5FAF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656" y="1045584"/>
            <a:ext cx="6926348" cy="3989995"/>
          </a:xfrm>
        </p:spPr>
        <p:txBody>
          <a:bodyPr>
            <a:noAutofit/>
          </a:bodyPr>
          <a:lstStyle/>
          <a:p>
            <a:r>
              <a:rPr lang="en-US" sz="2000" dirty="0"/>
              <a:t>Diagnosis made with the following criteria: </a:t>
            </a:r>
          </a:p>
          <a:p>
            <a:pPr lvl="1"/>
            <a:r>
              <a:rPr lang="en-US" dirty="0"/>
              <a:t>Radiographic evidence of colonic dilation (diameter &gt; 6cm) – can be observed on Abd X-ray and/or CT Scan A/P </a:t>
            </a:r>
          </a:p>
          <a:p>
            <a:pPr lvl="1"/>
            <a:r>
              <a:rPr lang="en-US" dirty="0"/>
              <a:t>Plus at least 3 of the following: </a:t>
            </a:r>
          </a:p>
          <a:p>
            <a:pPr lvl="2"/>
            <a:r>
              <a:rPr lang="en-US" sz="2000" dirty="0"/>
              <a:t>Fever &gt; 38C</a:t>
            </a:r>
          </a:p>
          <a:p>
            <a:pPr lvl="2"/>
            <a:r>
              <a:rPr lang="en-US" sz="2000" dirty="0"/>
              <a:t>HR &gt; 120 BPM</a:t>
            </a:r>
          </a:p>
          <a:p>
            <a:pPr lvl="2"/>
            <a:r>
              <a:rPr lang="en-US" sz="2000" dirty="0"/>
              <a:t>Neutrophilic Leukocytosis &gt;10K </a:t>
            </a:r>
          </a:p>
          <a:p>
            <a:pPr lvl="2"/>
            <a:r>
              <a:rPr lang="en-US" sz="2000" dirty="0"/>
              <a:t>Anemia</a:t>
            </a:r>
          </a:p>
          <a:p>
            <a:pPr lvl="1"/>
            <a:r>
              <a:rPr lang="en-US" dirty="0"/>
              <a:t>Plus at least one of the following: </a:t>
            </a:r>
          </a:p>
          <a:p>
            <a:pPr lvl="2"/>
            <a:r>
              <a:rPr lang="en-US" sz="2000" dirty="0"/>
              <a:t>Dehydration</a:t>
            </a:r>
          </a:p>
          <a:p>
            <a:pPr lvl="2"/>
            <a:r>
              <a:rPr lang="en-US" sz="2000" dirty="0"/>
              <a:t>AMS </a:t>
            </a:r>
          </a:p>
          <a:p>
            <a:pPr lvl="2"/>
            <a:r>
              <a:rPr lang="en-US" sz="2000" dirty="0"/>
              <a:t>Electrolyte Disturbance </a:t>
            </a:r>
          </a:p>
          <a:p>
            <a:pPr lvl="2"/>
            <a:r>
              <a:rPr lang="en-US" sz="2000" dirty="0"/>
              <a:t>Hypotension </a:t>
            </a:r>
          </a:p>
        </p:txBody>
      </p:sp>
      <p:pic>
        <p:nvPicPr>
          <p:cNvPr id="2052" name="Picture 4" descr="Toxic megacolon | Radiology Case | Radiopaedia.org">
            <a:extLst>
              <a:ext uri="{FF2B5EF4-FFF2-40B4-BE49-F238E27FC236}">
                <a16:creationId xmlns:a16="http://schemas.microsoft.com/office/drawing/2014/main" id="{E3129FE5-8313-F655-A00C-7244949A6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4925" y="1737764"/>
            <a:ext cx="3677538" cy="456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2821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AC6B-2E68-30D0-FF4D-00BCAF57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Toxic Megacolon: Clinical Manifestations</a:t>
            </a:r>
          </a:p>
        </p:txBody>
      </p:sp>
      <p:pic>
        <p:nvPicPr>
          <p:cNvPr id="3074" name="Picture 2" descr="Sigmoid megacolon appearance on plain x-ray graph. | Download Scientific  Diagram">
            <a:extLst>
              <a:ext uri="{FF2B5EF4-FFF2-40B4-BE49-F238E27FC236}">
                <a16:creationId xmlns:a16="http://schemas.microsoft.com/office/drawing/2014/main" id="{255418AE-F6DE-16E6-859C-AD07389B3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394" y="1721426"/>
            <a:ext cx="3826912" cy="414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oxic megacolon | Radiology Reference Article | Radiopaedia.org">
            <a:extLst>
              <a:ext uri="{FF2B5EF4-FFF2-40B4-BE49-F238E27FC236}">
                <a16:creationId xmlns:a16="http://schemas.microsoft.com/office/drawing/2014/main" id="{F0CFD47B-4940-F9A2-B1B1-7E759F6F3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330179" y="1721425"/>
            <a:ext cx="3607960" cy="413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oxic megacolon | Radiology Case | Radshare.net">
            <a:extLst>
              <a:ext uri="{FF2B5EF4-FFF2-40B4-BE49-F238E27FC236}">
                <a16:creationId xmlns:a16="http://schemas.microsoft.com/office/drawing/2014/main" id="{1B578E03-3030-A91B-624C-CD7BACDA7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0897" y="1721426"/>
            <a:ext cx="3387691" cy="408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34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EF68-35B2-AE4D-2678-54041EC5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608" y="0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/>
              <a:t>Toxic Megacolon: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0751-661D-9210-01AC-6A39F7B6D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5579"/>
            <a:ext cx="7185292" cy="507370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Supportive Therapy: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IV Fluids/Electrolyte Replacement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Bowel Rest (NPO)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Broad spectrum IV Antibiotics (Ceftriaxone + Flagyl)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NGT Placement (Bowel Decompression)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Avoid antimotility agents (opioids, </a:t>
            </a:r>
            <a:r>
              <a:rPr lang="en-US" dirty="0" err="1"/>
              <a:t>anticholingergics</a:t>
            </a:r>
            <a:r>
              <a:rPr lang="en-US" dirty="0"/>
              <a:t> etc.)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Treat Underlying Cause: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Ulcerative Colitis: IV Steroids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CMV Colitis: IV Ganciclovir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C-diff Colitis: Oral Vancomycin/Fidaxomicin 3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If colonic perforation (Peritonitis/SEPSIS!): emergent surgery – partial or total colectomy </a:t>
            </a:r>
          </a:p>
        </p:txBody>
      </p:sp>
      <p:pic>
        <p:nvPicPr>
          <p:cNvPr id="4098" name="Picture 2" descr="Nasogastric (NG) Tube Placement - Oxford Medical Education">
            <a:extLst>
              <a:ext uri="{FF2B5EF4-FFF2-40B4-BE49-F238E27FC236}">
                <a16:creationId xmlns:a16="http://schemas.microsoft.com/office/drawing/2014/main" id="{C8155309-CDE8-7E01-BE7D-CF93E68D2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99924" y="1144376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6015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B6EE-F927-020A-3F97-CFA7B9C1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Toxic Megacolon: Management</a:t>
            </a:r>
          </a:p>
        </p:txBody>
      </p:sp>
      <p:pic>
        <p:nvPicPr>
          <p:cNvPr id="5124" name="Picture 4" descr="Experimental and Therapeutic Medicine">
            <a:extLst>
              <a:ext uri="{FF2B5EF4-FFF2-40B4-BE49-F238E27FC236}">
                <a16:creationId xmlns:a16="http://schemas.microsoft.com/office/drawing/2014/main" id="{42D1E901-6AB1-5E13-03EE-24F7031D6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42623" y="2419517"/>
            <a:ext cx="4069641" cy="286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egabowel and Giant Fecaloma: a Surgical Condition? - Journal of  Gastrointestinal Surgery">
            <a:extLst>
              <a:ext uri="{FF2B5EF4-FFF2-40B4-BE49-F238E27FC236}">
                <a16:creationId xmlns:a16="http://schemas.microsoft.com/office/drawing/2014/main" id="{FAEFF188-B9B1-A6B8-0070-6AB96FAFB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9316" y="1720079"/>
            <a:ext cx="2899398" cy="443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197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082A-D9B7-AD67-58C9-38685658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US" dirty="0"/>
              <a:t>Inflammatory Bowel Disease: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C8AA-3D5F-32CD-1798-F36821A5E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149" y="1165153"/>
            <a:ext cx="6843838" cy="5381304"/>
          </a:xfrm>
        </p:spPr>
        <p:txBody>
          <a:bodyPr>
            <a:noAutofit/>
          </a:bodyPr>
          <a:lstStyle/>
          <a:p>
            <a:r>
              <a:rPr lang="en-US" sz="2000" dirty="0"/>
              <a:t>Inflammatory Bowel Disease is comprised of two major disorders including Ulcerative Colitis and Crohn Disease </a:t>
            </a:r>
          </a:p>
          <a:p>
            <a:r>
              <a:rPr lang="en-US" sz="2000" dirty="0"/>
              <a:t>Risk Factors</a:t>
            </a:r>
          </a:p>
          <a:p>
            <a:pPr lvl="1"/>
            <a:r>
              <a:rPr lang="en-US" dirty="0"/>
              <a:t>Race/Ethnicity: more common in Jewish population, increased in Caucasians vs Hispanics/African population</a:t>
            </a:r>
          </a:p>
          <a:p>
            <a:pPr lvl="1"/>
            <a:r>
              <a:rPr lang="en-US" dirty="0"/>
              <a:t>Onset: 15-35 years old (UC more common in males, CD more common in females) </a:t>
            </a:r>
          </a:p>
          <a:p>
            <a:pPr lvl="1"/>
            <a:r>
              <a:rPr lang="en-US" dirty="0"/>
              <a:t>Genetics: 10-30% have family history (1</a:t>
            </a:r>
            <a:r>
              <a:rPr lang="en-US" baseline="30000" dirty="0"/>
              <a:t>st</a:t>
            </a:r>
            <a:r>
              <a:rPr lang="en-US" dirty="0"/>
              <a:t> degree) </a:t>
            </a:r>
          </a:p>
          <a:p>
            <a:pPr lvl="1"/>
            <a:r>
              <a:rPr lang="en-US" dirty="0"/>
              <a:t>Smoking history higher risk for Crohn’s </a:t>
            </a:r>
          </a:p>
          <a:p>
            <a:pPr lvl="1"/>
            <a:r>
              <a:rPr lang="en-US" dirty="0"/>
              <a:t>Dietary factors: low fiber diet</a:t>
            </a:r>
          </a:p>
          <a:p>
            <a:pPr lvl="1"/>
            <a:r>
              <a:rPr lang="en-US" dirty="0"/>
              <a:t>History of GI infections</a:t>
            </a:r>
          </a:p>
          <a:p>
            <a:pPr lvl="1"/>
            <a:r>
              <a:rPr lang="en-US" dirty="0"/>
              <a:t>Medications: NSAIDs, oral contraceptives, HRT</a:t>
            </a:r>
          </a:p>
        </p:txBody>
      </p:sp>
      <p:pic>
        <p:nvPicPr>
          <p:cNvPr id="6146" name="Picture 2" descr="Inflammatory Bowel Disease (IBD): Symptoms, Causes, Treatment">
            <a:extLst>
              <a:ext uri="{FF2B5EF4-FFF2-40B4-BE49-F238E27FC236}">
                <a16:creationId xmlns:a16="http://schemas.microsoft.com/office/drawing/2014/main" id="{ACEBC959-3339-8AFF-597B-089463F70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7009" y="1478570"/>
            <a:ext cx="2999012" cy="477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2792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4BA4-0685-730B-CC3E-17A1A6C4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Inflammatory Bowel Disease: Overview </a:t>
            </a:r>
          </a:p>
        </p:txBody>
      </p:sp>
      <p:pic>
        <p:nvPicPr>
          <p:cNvPr id="7170" name="Picture 2" descr="Ulcerative Colitis vs. Crohn's Disease">
            <a:extLst>
              <a:ext uri="{FF2B5EF4-FFF2-40B4-BE49-F238E27FC236}">
                <a16:creationId xmlns:a16="http://schemas.microsoft.com/office/drawing/2014/main" id="{F399A693-AC2A-C967-FF1C-23A30603D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94048" y="2057181"/>
            <a:ext cx="4110320" cy="2743638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9C93-83D0-E837-BC6A-D1B179F07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603" y="1147046"/>
            <a:ext cx="6509128" cy="493614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Crohn Disease: idiopathic inflammatory bowel disease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Transmural (entire wall) Inflammation that can affect any part of GI tract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Inflammation can lead to fistulas, bowel strictures, abscesses, fibrosis, bowel obstruction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Characterized by segments of normal-appearing bowel with areas of disease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Terminal Ileum MC segment involved (Rectum is usually spared)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Ulcerative Colitis: chronic inflammation of the colon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Inflammation limited to the mucosal/submucosal layers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Involves the rectum and extends proximally to the colon in a continuous circumferential pattern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40-50% are limited to the rectum/rectosigmoid areas</a:t>
            </a:r>
          </a:p>
        </p:txBody>
      </p:sp>
    </p:spTree>
    <p:extLst>
      <p:ext uri="{BB962C8B-B14F-4D97-AF65-F5344CB8AC3E}">
        <p14:creationId xmlns:p14="http://schemas.microsoft.com/office/powerpoint/2010/main" val="1384249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22DB-BC07-D006-8D3B-24B57D8E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Inflammatory Bowel Disease: Clinical Manifestations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D6773-2644-4ECB-0820-CB63EBC85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6817" y="1672532"/>
            <a:ext cx="4649783" cy="823912"/>
          </a:xfrm>
        </p:spPr>
        <p:txBody>
          <a:bodyPr/>
          <a:lstStyle/>
          <a:p>
            <a:r>
              <a:rPr lang="en-US" dirty="0"/>
              <a:t>Crohn Disease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EEE76-0F8C-06CF-2F33-C2DED27CE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6020" y="2496444"/>
            <a:ext cx="4878391" cy="3400231"/>
          </a:xfrm>
        </p:spPr>
        <p:txBody>
          <a:bodyPr>
            <a:noAutofit/>
          </a:bodyPr>
          <a:lstStyle/>
          <a:p>
            <a:r>
              <a:rPr lang="en-US" sz="2000" dirty="0"/>
              <a:t>Crampy Abd. Pain </a:t>
            </a:r>
          </a:p>
          <a:p>
            <a:r>
              <a:rPr lang="en-US" sz="2000" dirty="0"/>
              <a:t>Chronic/Persistent Diarrhea without gross blood </a:t>
            </a:r>
          </a:p>
          <a:p>
            <a:r>
              <a:rPr lang="en-US" sz="2000" dirty="0"/>
              <a:t>Fatigue/Weight Loss (Malabsorption) </a:t>
            </a:r>
          </a:p>
          <a:p>
            <a:r>
              <a:rPr lang="en-US" sz="2000" dirty="0"/>
              <a:t>Electrolyte Abnormalities (vitamin b12 deficiency, hypocalcemia etc.) </a:t>
            </a:r>
          </a:p>
          <a:p>
            <a:r>
              <a:rPr lang="en-US" sz="2000" dirty="0" err="1"/>
              <a:t>Ileocolitis</a:t>
            </a:r>
            <a:r>
              <a:rPr lang="en-US" sz="2000" dirty="0"/>
              <a:t>: RLQ pain, diarrhea, fatigue, weight loss, fever, anorexia</a:t>
            </a:r>
          </a:p>
          <a:p>
            <a:r>
              <a:rPr lang="en-US" sz="2000" dirty="0"/>
              <a:t>Severe cases: perianal disease, abscess, fistula etc.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7D380-7E6F-9754-EF44-004075D10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45398" y="1672532"/>
            <a:ext cx="4646602" cy="823912"/>
          </a:xfrm>
        </p:spPr>
        <p:txBody>
          <a:bodyPr/>
          <a:lstStyle/>
          <a:p>
            <a:r>
              <a:rPr lang="en-US" dirty="0"/>
              <a:t>Ulcerative Colitis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BF22F-05F4-B975-A4F0-CEEF0DB22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4040" y="2585242"/>
            <a:ext cx="5156649" cy="3920754"/>
          </a:xfrm>
        </p:spPr>
        <p:txBody>
          <a:bodyPr>
            <a:noAutofit/>
          </a:bodyPr>
          <a:lstStyle/>
          <a:p>
            <a:r>
              <a:rPr lang="en-US" sz="2000" dirty="0"/>
              <a:t>Hematochezia (gross bright red/marron blood)</a:t>
            </a:r>
          </a:p>
          <a:p>
            <a:r>
              <a:rPr lang="en-US" sz="2000" dirty="0"/>
              <a:t>Diarrhea with blood</a:t>
            </a:r>
          </a:p>
          <a:p>
            <a:r>
              <a:rPr lang="en-US" sz="2000" dirty="0"/>
              <a:t>Abd. Pain (LLQ)</a:t>
            </a:r>
          </a:p>
          <a:p>
            <a:r>
              <a:rPr lang="en-US" sz="2000" dirty="0"/>
              <a:t>Increased Urgency </a:t>
            </a:r>
          </a:p>
          <a:p>
            <a:r>
              <a:rPr lang="en-US" sz="2000" dirty="0"/>
              <a:t>Tenesmus </a:t>
            </a:r>
          </a:p>
          <a:p>
            <a:r>
              <a:rPr lang="en-US" sz="2000" dirty="0"/>
              <a:t>Systemic symptoms if infectious: fever, fatigue, malaise,  weight loss etc. </a:t>
            </a:r>
          </a:p>
        </p:txBody>
      </p:sp>
    </p:spTree>
    <p:extLst>
      <p:ext uri="{BB962C8B-B14F-4D97-AF65-F5344CB8AC3E}">
        <p14:creationId xmlns:p14="http://schemas.microsoft.com/office/powerpoint/2010/main" val="1834847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D8C84AD2-B33F-490D-BF2D-E70D251BC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D8E6E98-D5AE-4FF0-ABF6-B6B08F482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25016678-F061-4CDB-8D2E-9BB23CF29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F977FE0-43E5-40E1-9557-1769EF0FC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2A35B29-7FC2-43A0-8E9D-6EAC64CA8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62FA10A2-9F1A-44AC-A180-9DD1A6261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597CBA1-5AC7-4A6D-B3BD-2E2854081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05FD527-79EB-43FE-99C4-DC858F4C3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B61741F5-B72E-48B0-B7CB-6D0AE506A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FA97DCE-EF57-4F09-81AB-0A7B70D47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0A69359-0B3B-4343-A332-D79E39F3A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F767C1C-3044-4287-A7DC-CDE99E2B2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8B382D5D-CDFB-4E6A-8B92-D00D417E7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EC735E7D-D06D-486A-992A-CFFC25AE5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AA04D837-E161-41B4-8C04-47A6F0EDC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C49A735-A691-4798-8898-5EDD11061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815803F3-2E80-4C97-93F5-1B673055D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D1FF530-1442-4BBB-9796-929E007F9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22703C0F-DD80-448B-9B1F-70DC09C5A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C5DD3DD-6EDA-4B8C-949D-25E71220E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BA8D6293-79AB-4F6F-8CC6-EE7CFF8DD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C24CA45A-B954-45F4-9FF3-9384955E7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2827053-1DA4-44DF-B094-D87740A8C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663213D9-7B3D-4961-A934-4CB4F4BF2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39D70833-8994-4B6D-882F-3675F1BF3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EC5B48EA-2FC2-4C42-AD04-A9365B88D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46E9C570-9EF1-4384-B4EC-60F32BB52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A1D023F-5B77-4068-AE8C-796E2A7F0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E5717E79-B521-42F5-98DD-601CD5AB7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6E713F00-DAF1-4D51-A57F-E18AD7AFD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101E3FEC-072F-4B39-B8AF-679B596F3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C6F43352-9BD3-400E-9CD5-FB0CCBF2F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80C2FE71-F649-4FFF-9D36-357A3D643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ABC03F0B-090C-4EA1-8E48-EA17FB89F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B29CDF6F-AD1E-4258-9F31-322B1E535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285EF5B6-B1D2-489E-9E47-D3EDD8C38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D279579C-B885-4139-AD4F-E1DD12429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A81A84EF-423E-475A-AC7B-8D55E337A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028AA9C5-392B-49BF-B503-208CA3055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5AEA8D02-8804-4060-B966-1B18FDFC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2AF8B2-37F5-41AF-9BAA-174873AFD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3BC248F9-40FB-4214-AF6F-A2FE15B4E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F90832C5-84E1-4547-AB00-530C4DA34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78B52A6F-2715-41A7-98CC-5D7B27DBB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B64CED29-8C8F-4C70-BD43-24E6E5C8A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E9C16B4-97F1-46B9-BB2C-4272C6D9C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F026EEF-1171-4EA2-9128-34C19DCA5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4183042E-C1E5-497D-9900-A46A026BE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AD619A-DBEC-4B85-A8A1-3B2D174BE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5836FB6B-D1AE-4ABB-ACB2-6CAEF7722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965312E0-6238-4837-9964-910E0C8A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73276C87-9A0F-4752-91CF-AB90B0EE8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E5938DD-18F9-4E7B-9985-C26BBA030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A98B9DE5-1930-45D5-A9B6-AC2B1EAC8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33E0629A-1DC1-4873-B670-CB357617A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A2B200B-2E81-4BD5-A8B2-ED3ABD1984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99DC57-03AE-343E-EB10-65CB091F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Inflammatory Bowel Disease: Clinical Manifestations </a:t>
            </a:r>
          </a:p>
        </p:txBody>
      </p:sp>
      <p:sp>
        <p:nvSpPr>
          <p:cNvPr id="66" name="Round Diagonal Corner Rectangle 6">
            <a:extLst>
              <a:ext uri="{FF2B5EF4-FFF2-40B4-BE49-F238E27FC236}">
                <a16:creationId xmlns:a16="http://schemas.microsoft.com/office/drawing/2014/main" id="{BDE99016-F850-4AF3-BB21-B78608122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579CB-6589-A861-8CF0-588D4073D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452" y="1136606"/>
            <a:ext cx="3077471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596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12ED-D86D-4A82-23E5-555DF52B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Inflammatory Bowel Disease: Clinical Manifestations </a:t>
            </a:r>
          </a:p>
        </p:txBody>
      </p:sp>
      <p:pic>
        <p:nvPicPr>
          <p:cNvPr id="8194" name="Picture 2" descr="Colonoscopic images in Crohns's disease A) Apthous Ulcer in terminal... |  Download Scientific Diagram">
            <a:extLst>
              <a:ext uri="{FF2B5EF4-FFF2-40B4-BE49-F238E27FC236}">
                <a16:creationId xmlns:a16="http://schemas.microsoft.com/office/drawing/2014/main" id="{66620316-B81D-1875-05A7-6F629E5FD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4"/>
          <a:stretch>
            <a:fillRect/>
          </a:stretch>
        </p:blipFill>
        <p:spPr bwMode="auto">
          <a:xfrm>
            <a:off x="1141411" y="2249487"/>
            <a:ext cx="3494597" cy="354965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9E6C-138C-95D1-4353-30AD6EB3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6"/>
            <a:ext cx="6012832" cy="428887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Diagnostics for Crohn Disease: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Ileocolonoscopy</a:t>
            </a:r>
            <a:r>
              <a:rPr lang="en-US" dirty="0"/>
              <a:t> with biopsy: segmental areas, </a:t>
            </a:r>
            <a:r>
              <a:rPr lang="en-US" dirty="0" err="1"/>
              <a:t>cobblestoning</a:t>
            </a:r>
            <a:r>
              <a:rPr lang="en-US" dirty="0"/>
              <a:t> of mucosa, aphthous focal ulcerations, strictures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Biopsy: transmural inflammation, focal lesions with or without noncaseating granulomas (small clusters of immune cells)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Imaging: </a:t>
            </a:r>
            <a:r>
              <a:rPr lang="en-US" dirty="0" err="1"/>
              <a:t>Enterography</a:t>
            </a:r>
            <a:r>
              <a:rPr lang="en-US" dirty="0"/>
              <a:t> MRI preferred – avoids radiation and has comparable diagnostic accuracy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Labs: + anti-Saccharomyces cerevisiae antibodies, iron/B12deficiency, elevated CRP/ESR</a:t>
            </a:r>
          </a:p>
        </p:txBody>
      </p:sp>
    </p:spTree>
    <p:extLst>
      <p:ext uri="{BB962C8B-B14F-4D97-AF65-F5344CB8AC3E}">
        <p14:creationId xmlns:p14="http://schemas.microsoft.com/office/powerpoint/2010/main" val="1364031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2" name="Group 9291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293" name="Rectangle 9292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94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96" name="Group 9295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297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8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9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0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1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2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3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4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5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6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7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8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9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0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1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6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7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8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9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0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1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2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3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4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5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6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7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8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9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0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1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2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3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4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5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6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7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8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9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0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FB7128-5407-5E6E-1B13-B5C7046B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804" y="109243"/>
            <a:ext cx="5877676" cy="1478570"/>
          </a:xfrm>
        </p:spPr>
        <p:txBody>
          <a:bodyPr>
            <a:normAutofit/>
          </a:bodyPr>
          <a:lstStyle/>
          <a:p>
            <a:r>
              <a:rPr lang="en-US" sz="3300" dirty="0"/>
              <a:t>Inflammatory Bowel Disease: Clinical Manifestations </a:t>
            </a:r>
          </a:p>
        </p:txBody>
      </p:sp>
      <p:pic>
        <p:nvPicPr>
          <p:cNvPr id="9220" name="Picture 4" descr="Ulcerative Colitis Treatment, Symptoms, Causes, Surgery">
            <a:extLst>
              <a:ext uri="{FF2B5EF4-FFF2-40B4-BE49-F238E27FC236}">
                <a16:creationId xmlns:a16="http://schemas.microsoft.com/office/drawing/2014/main" id="{83CCFAF8-E76F-9CE0-56FA-8FCDBB944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Pediatric Ulcerative Colitis | Pediatric Radiology Reference Article | Pediatric Imaging | @pedsimaging">
            <a:extLst>
              <a:ext uri="{FF2B5EF4-FFF2-40B4-BE49-F238E27FC236}">
                <a16:creationId xmlns:a16="http://schemas.microsoft.com/office/drawing/2014/main" id="{471CD4D6-50C6-E550-03D7-47BF5EBE5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52" name="Straight Connector 9351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9354" name="Straight Connector 9353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94FE-B6A2-E18A-F7F7-F6267FC3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142" y="1620838"/>
            <a:ext cx="6705492" cy="449927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Diagnostics: Ulcerative Colitis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Flexible Sigmoidoscopy/Colonoscopy: colonoscopy should be avoided in patients having a severe flare (WHY?)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Flex Sig: shows uniform mucosal erythema, granularity, and ulceration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Biopsy: non-specific – abscess of atrophy/inflammation, goblet depletion. Infiltration of mucosal layers (can see lymphocytes, plasma cells etc.)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Double Contrast Barium Enema: stovepipe/lead pipe sign – cylindrical bowel with loss of haustral markings (folds of large intestine)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Labs: + p-ANCA (</a:t>
            </a:r>
            <a:r>
              <a:rPr lang="en-US" dirty="0">
                <a:effectLst/>
              </a:rPr>
              <a:t>perinuclear anti-neutrophil cytoplasmic antibodies)</a:t>
            </a:r>
            <a:r>
              <a:rPr lang="en-US" dirty="0"/>
              <a:t>, elevated ESR/CRP, anemia of chronic disease, leukocytosis (if severe inflammation or infection)  </a:t>
            </a:r>
          </a:p>
        </p:txBody>
      </p:sp>
    </p:spTree>
    <p:extLst>
      <p:ext uri="{BB962C8B-B14F-4D97-AF65-F5344CB8AC3E}">
        <p14:creationId xmlns:p14="http://schemas.microsoft.com/office/powerpoint/2010/main" val="17212860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B7EA-408D-C6E9-5394-1B472791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Inflammatory Bowel Disease: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9F49-A7EA-381F-B587-2F3824686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74" y="1885444"/>
            <a:ext cx="8472361" cy="46367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Crohn Disease Treatment: these are autoimmune processes – we need to control the immune system! </a:t>
            </a:r>
          </a:p>
          <a:p>
            <a:pPr lvl="1"/>
            <a:r>
              <a:rPr lang="en-US" dirty="0"/>
              <a:t>Step up approach and dependent on which portion of the colon is involved </a:t>
            </a:r>
          </a:p>
          <a:p>
            <a:pPr lvl="1"/>
            <a:r>
              <a:rPr lang="en-US" dirty="0"/>
              <a:t>Limited/Right Colon Disease: oral glucocorticoids – Prednisone/Budesonide, can also utilize oral 5-aminosalicylates (Mesalamine) </a:t>
            </a:r>
          </a:p>
          <a:p>
            <a:pPr lvl="1"/>
            <a:r>
              <a:rPr lang="en-US" dirty="0"/>
              <a:t>Left Sided Colon: oral glucocorticoids (Budesonide, Prednisone) </a:t>
            </a:r>
          </a:p>
          <a:p>
            <a:pPr lvl="1"/>
            <a:r>
              <a:rPr lang="en-US" dirty="0"/>
              <a:t>Taper medications over time (why do we not want them to stay on these medications forever?)</a:t>
            </a:r>
          </a:p>
          <a:p>
            <a:pPr lvl="1"/>
            <a:r>
              <a:rPr lang="en-US" dirty="0"/>
              <a:t>Severe/Refractory Disease: aggressive approach </a:t>
            </a:r>
          </a:p>
          <a:p>
            <a:pPr lvl="2"/>
            <a:r>
              <a:rPr lang="en-US" dirty="0"/>
              <a:t>Immunomodulators: (Azathioprine, 6-Mercaptourine, Methotrexate (MRX)) </a:t>
            </a:r>
          </a:p>
          <a:p>
            <a:pPr lvl="2"/>
            <a:r>
              <a:rPr lang="en-US" dirty="0"/>
              <a:t>Biological Therapy: anti-TNF agents (Adalimumab, Infliximab etc.) </a:t>
            </a:r>
          </a:p>
          <a:p>
            <a:pPr lvl="1"/>
            <a:r>
              <a:rPr lang="en-US" dirty="0"/>
              <a:t>Adequate follow up: repeat Flex Sig/Colonoscopy in 6-12 months, close monitoring of acute flares</a:t>
            </a:r>
          </a:p>
        </p:txBody>
      </p:sp>
      <p:pic>
        <p:nvPicPr>
          <p:cNvPr id="10242" name="Picture 2" descr="About Crohn's Disease – Crohn's &amp; Colitis Australia (CCA)">
            <a:extLst>
              <a:ext uri="{FF2B5EF4-FFF2-40B4-BE49-F238E27FC236}">
                <a16:creationId xmlns:a16="http://schemas.microsoft.com/office/drawing/2014/main" id="{98FDB810-8043-2DC3-75FE-E07C17BD1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06435" y="2568860"/>
            <a:ext cx="2690742" cy="291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6531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0DCD-A732-FEE0-1FA7-B24418E5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818" y="72827"/>
            <a:ext cx="9839479" cy="640521"/>
          </a:xfrm>
        </p:spPr>
        <p:txBody>
          <a:bodyPr anchor="b">
            <a:normAutofit/>
          </a:bodyPr>
          <a:lstStyle/>
          <a:p>
            <a:r>
              <a:rPr lang="en-US" dirty="0"/>
              <a:t>Inflammatory Bowel Disease: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6894-DF81-5D26-6DCE-A43356F3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732" y="952113"/>
            <a:ext cx="9839479" cy="576427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UC Treatment: these are autoimmune processes – we need to control the immune system!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Again, dependent on location/severity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Mild to Moderate Right Colon: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Topical 5-ASA (aminosalicylic acid (ASA) 1</a:t>
            </a:r>
            <a:r>
              <a:rPr lang="en-US" baseline="30000" dirty="0"/>
              <a:t>st</a:t>
            </a:r>
            <a:r>
              <a:rPr lang="en-US" dirty="0"/>
              <a:t> line – rectal Mesalamine suppository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no improvement: add topical glucocorticoid (suppository), then oral 5-ASA, then oral steroids if no improvement.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Left Sided or Extensive Colitis: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Combination therapy up front: Oral 5-ASA (standard or high dose Mesalamine, Sulfasalazine, or </a:t>
            </a:r>
            <a:r>
              <a:rPr lang="en-US" dirty="0" err="1">
                <a:effectLst/>
              </a:rPr>
              <a:t>Balsalazide</a:t>
            </a:r>
            <a:r>
              <a:rPr lang="en-US" dirty="0"/>
              <a:t>) + Topical (Rectal) 5-ASA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no improvement: add Topical glucocorticoid, then add Budesonide MMX (if still no response, proceed with Oral Steroids)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Refractory to steroids – then may need to add anti-TNF, anti-integrin therapy (Vedolizumab).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For severe colitis with sever bleeding in hospitalization: use IV Steroids!  </a:t>
            </a:r>
          </a:p>
        </p:txBody>
      </p:sp>
      <p:pic>
        <p:nvPicPr>
          <p:cNvPr id="11266" name="Picture 2" descr="Ulcerative Colitis 101">
            <a:extLst>
              <a:ext uri="{FF2B5EF4-FFF2-40B4-BE49-F238E27FC236}">
                <a16:creationId xmlns:a16="http://schemas.microsoft.com/office/drawing/2014/main" id="{BA73A9B3-272A-EFE5-2B33-F9B1A877C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9253" y="3528913"/>
            <a:ext cx="1585607" cy="2240707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3686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36AD-815F-5C07-25CF-83E99C39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98778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Acute Mesenteric Ischemia: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8500-68F6-3D7A-89AF-2270D552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081" y="1375547"/>
            <a:ext cx="7007702" cy="517091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Acute Mesenteric Ischemia: sudden stop in small intestine blood flow caused by one of the following: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Acute Arterial Occlusion: caused by embolism (A-fib MC, atherosclerosis), superior mesenteric artery MC occlusion location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Non-Occlusive: low flow rate due to sepsis/shock, MI, CHF (arterial vasospasm - cocaine)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Venous Thrombus: due to obstruction of intestinal venous outflow most commonly caused by hypercoagulable states (Factor V), malignancy, prior </a:t>
            </a:r>
            <a:r>
              <a:rPr lang="en-US" dirty="0" err="1"/>
              <a:t>abd</a:t>
            </a:r>
            <a:r>
              <a:rPr lang="en-US" dirty="0"/>
              <a:t>. Surgery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60-70% of all mesenteric ischemia in adults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High mortality rate: around 60 % 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  <p:pic>
        <p:nvPicPr>
          <p:cNvPr id="12290" name="Picture 2" descr="Mesenteric Ischemia: Causes, Symptoms &amp; Treatment">
            <a:extLst>
              <a:ext uri="{FF2B5EF4-FFF2-40B4-BE49-F238E27FC236}">
                <a16:creationId xmlns:a16="http://schemas.microsoft.com/office/drawing/2014/main" id="{60E1EA01-2869-3586-F749-F5264C29A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0650" y="1008834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002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9" name="Group 13318">
            <a:extLst>
              <a:ext uri="{FF2B5EF4-FFF2-40B4-BE49-F238E27FC236}">
                <a16:creationId xmlns:a16="http://schemas.microsoft.com/office/drawing/2014/main" id="{BCBD3BA8-D862-41F2-82F3-2136115A2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3320" name="Rectangle 13319">
              <a:extLst>
                <a:ext uri="{FF2B5EF4-FFF2-40B4-BE49-F238E27FC236}">
                  <a16:creationId xmlns:a16="http://schemas.microsoft.com/office/drawing/2014/main" id="{9376A841-A1AE-453D-A62F-E9FD3B8B5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21" name="Picture 2">
              <a:extLst>
                <a:ext uri="{FF2B5EF4-FFF2-40B4-BE49-F238E27FC236}">
                  <a16:creationId xmlns:a16="http://schemas.microsoft.com/office/drawing/2014/main" id="{FB5A916B-21BE-4CD6-A15C-5DAA9E4F0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9CD6C5-4C18-2CD1-D9E6-ADBD802C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953" y="618518"/>
            <a:ext cx="4825457" cy="1478570"/>
          </a:xfrm>
        </p:spPr>
        <p:txBody>
          <a:bodyPr>
            <a:normAutofit/>
          </a:bodyPr>
          <a:lstStyle/>
          <a:p>
            <a:r>
              <a:rPr lang="en-US" sz="2700" dirty="0"/>
              <a:t>Acute Mesenteric Ischemia: Clinical Manifestations </a:t>
            </a:r>
          </a:p>
        </p:txBody>
      </p:sp>
      <p:pic>
        <p:nvPicPr>
          <p:cNvPr id="13314" name="Picture 2" descr="Mesenteric Ischemia: What You Should Know">
            <a:extLst>
              <a:ext uri="{FF2B5EF4-FFF2-40B4-BE49-F238E27FC236}">
                <a16:creationId xmlns:a16="http://schemas.microsoft.com/office/drawing/2014/main" id="{EC581B10-3C94-4778-9BF8-6F2E58265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 bwMode="auto">
          <a:xfrm>
            <a:off x="2068160" y="1801813"/>
            <a:ext cx="3806130" cy="339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23" name="Group 13322">
            <a:extLst>
              <a:ext uri="{FF2B5EF4-FFF2-40B4-BE49-F238E27FC236}">
                <a16:creationId xmlns:a16="http://schemas.microsoft.com/office/drawing/2014/main" id="{FD8C238E-3ADA-474B-A38B-98069190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3324" name="Rectangle 13323">
              <a:extLst>
                <a:ext uri="{FF2B5EF4-FFF2-40B4-BE49-F238E27FC236}">
                  <a16:creationId xmlns:a16="http://schemas.microsoft.com/office/drawing/2014/main" id="{DDBDB283-156B-474E-AC64-606527A3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Freeform 6">
              <a:extLst>
                <a:ext uri="{FF2B5EF4-FFF2-40B4-BE49-F238E27FC236}">
                  <a16:creationId xmlns:a16="http://schemas.microsoft.com/office/drawing/2014/main" id="{E3D1AB75-F0A6-470A-BBE1-7E18F094D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Freeform 7">
              <a:extLst>
                <a:ext uri="{FF2B5EF4-FFF2-40B4-BE49-F238E27FC236}">
                  <a16:creationId xmlns:a16="http://schemas.microsoft.com/office/drawing/2014/main" id="{7F2B2AC8-E466-4474-8830-40F0A4505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Rectangle 13326">
              <a:extLst>
                <a:ext uri="{FF2B5EF4-FFF2-40B4-BE49-F238E27FC236}">
                  <a16:creationId xmlns:a16="http://schemas.microsoft.com/office/drawing/2014/main" id="{E492486E-4FAA-4DE4-99B5-9F8907EF3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Freeform 9">
              <a:extLst>
                <a:ext uri="{FF2B5EF4-FFF2-40B4-BE49-F238E27FC236}">
                  <a16:creationId xmlns:a16="http://schemas.microsoft.com/office/drawing/2014/main" id="{3BFDD292-2A68-4D1D-BCEF-A8F7C42A2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Freeform 10">
              <a:extLst>
                <a:ext uri="{FF2B5EF4-FFF2-40B4-BE49-F238E27FC236}">
                  <a16:creationId xmlns:a16="http://schemas.microsoft.com/office/drawing/2014/main" id="{7DB98C0F-F9EA-45B2-BC16-E08094D4F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Freeform 11">
              <a:extLst>
                <a:ext uri="{FF2B5EF4-FFF2-40B4-BE49-F238E27FC236}">
                  <a16:creationId xmlns:a16="http://schemas.microsoft.com/office/drawing/2014/main" id="{F205E7DD-2E37-46C1-A24E-52EEF44E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Freeform 12">
              <a:extLst>
                <a:ext uri="{FF2B5EF4-FFF2-40B4-BE49-F238E27FC236}">
                  <a16:creationId xmlns:a16="http://schemas.microsoft.com/office/drawing/2014/main" id="{6AF5E754-E73A-44A0-8ADE-9348C21C2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Freeform 13">
              <a:extLst>
                <a:ext uri="{FF2B5EF4-FFF2-40B4-BE49-F238E27FC236}">
                  <a16:creationId xmlns:a16="http://schemas.microsoft.com/office/drawing/2014/main" id="{BCCCB4FD-FA96-4F7E-BE68-62A0EC78A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Freeform 14">
              <a:extLst>
                <a:ext uri="{FF2B5EF4-FFF2-40B4-BE49-F238E27FC236}">
                  <a16:creationId xmlns:a16="http://schemas.microsoft.com/office/drawing/2014/main" id="{2CE9849D-0B43-4129-8D2E-05806B13A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15">
              <a:extLst>
                <a:ext uri="{FF2B5EF4-FFF2-40B4-BE49-F238E27FC236}">
                  <a16:creationId xmlns:a16="http://schemas.microsoft.com/office/drawing/2014/main" id="{B01A3813-B2FC-4301-9169-4F147CF4E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16">
              <a:extLst>
                <a:ext uri="{FF2B5EF4-FFF2-40B4-BE49-F238E27FC236}">
                  <a16:creationId xmlns:a16="http://schemas.microsoft.com/office/drawing/2014/main" id="{738B0D8F-EDC7-4E94-864E-41C24AC7F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17">
              <a:extLst>
                <a:ext uri="{FF2B5EF4-FFF2-40B4-BE49-F238E27FC236}">
                  <a16:creationId xmlns:a16="http://schemas.microsoft.com/office/drawing/2014/main" id="{FF285CDB-A9D2-46EE-BF9B-0972B71B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Freeform 18">
              <a:extLst>
                <a:ext uri="{FF2B5EF4-FFF2-40B4-BE49-F238E27FC236}">
                  <a16:creationId xmlns:a16="http://schemas.microsoft.com/office/drawing/2014/main" id="{BFEB8C3A-951C-44E4-A9AE-4CE85B76E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Freeform 19">
              <a:extLst>
                <a:ext uri="{FF2B5EF4-FFF2-40B4-BE49-F238E27FC236}">
                  <a16:creationId xmlns:a16="http://schemas.microsoft.com/office/drawing/2014/main" id="{23B2F223-6AED-4262-B03D-C059F56E7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Freeform 20">
              <a:extLst>
                <a:ext uri="{FF2B5EF4-FFF2-40B4-BE49-F238E27FC236}">
                  <a16:creationId xmlns:a16="http://schemas.microsoft.com/office/drawing/2014/main" id="{53892BA0-047D-4961-AA23-45C65CB37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Freeform 21">
              <a:extLst>
                <a:ext uri="{FF2B5EF4-FFF2-40B4-BE49-F238E27FC236}">
                  <a16:creationId xmlns:a16="http://schemas.microsoft.com/office/drawing/2014/main" id="{774D8024-45F6-4C9F-BD52-0FDA367A3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Freeform 22">
              <a:extLst>
                <a:ext uri="{FF2B5EF4-FFF2-40B4-BE49-F238E27FC236}">
                  <a16:creationId xmlns:a16="http://schemas.microsoft.com/office/drawing/2014/main" id="{81A31003-B0CF-4A87-BB38-6277F0B87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23">
              <a:extLst>
                <a:ext uri="{FF2B5EF4-FFF2-40B4-BE49-F238E27FC236}">
                  <a16:creationId xmlns:a16="http://schemas.microsoft.com/office/drawing/2014/main" id="{9E9AA1AD-CFEB-4AE0-9AB8-7AACED520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24">
              <a:extLst>
                <a:ext uri="{FF2B5EF4-FFF2-40B4-BE49-F238E27FC236}">
                  <a16:creationId xmlns:a16="http://schemas.microsoft.com/office/drawing/2014/main" id="{C352070B-A015-4FC9-8B95-65BBAEDEC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25">
              <a:extLst>
                <a:ext uri="{FF2B5EF4-FFF2-40B4-BE49-F238E27FC236}">
                  <a16:creationId xmlns:a16="http://schemas.microsoft.com/office/drawing/2014/main" id="{2FF67E28-B168-4F11-A6FE-55E5F2B11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26">
              <a:extLst>
                <a:ext uri="{FF2B5EF4-FFF2-40B4-BE49-F238E27FC236}">
                  <a16:creationId xmlns:a16="http://schemas.microsoft.com/office/drawing/2014/main" id="{5092C63E-9F5B-419D-9871-F7BD70D6B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27">
              <a:extLst>
                <a:ext uri="{FF2B5EF4-FFF2-40B4-BE49-F238E27FC236}">
                  <a16:creationId xmlns:a16="http://schemas.microsoft.com/office/drawing/2014/main" id="{FC21852D-E233-4C29-8EB5-6322D7FEF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28">
              <a:extLst>
                <a:ext uri="{FF2B5EF4-FFF2-40B4-BE49-F238E27FC236}">
                  <a16:creationId xmlns:a16="http://schemas.microsoft.com/office/drawing/2014/main" id="{F57DFC9C-7C4F-429E-952A-39D160503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29">
              <a:extLst>
                <a:ext uri="{FF2B5EF4-FFF2-40B4-BE49-F238E27FC236}">
                  <a16:creationId xmlns:a16="http://schemas.microsoft.com/office/drawing/2014/main" id="{E704EA0B-60AA-4F0B-BF33-B127E3A26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0">
              <a:extLst>
                <a:ext uri="{FF2B5EF4-FFF2-40B4-BE49-F238E27FC236}">
                  <a16:creationId xmlns:a16="http://schemas.microsoft.com/office/drawing/2014/main" id="{B46CAD4C-4A1F-46EF-9D53-0C772E19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1">
              <a:extLst>
                <a:ext uri="{FF2B5EF4-FFF2-40B4-BE49-F238E27FC236}">
                  <a16:creationId xmlns:a16="http://schemas.microsoft.com/office/drawing/2014/main" id="{782568BD-D213-4442-837D-E829DD730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32">
              <a:extLst>
                <a:ext uri="{FF2B5EF4-FFF2-40B4-BE49-F238E27FC236}">
                  <a16:creationId xmlns:a16="http://schemas.microsoft.com/office/drawing/2014/main" id="{8B8F4F23-F490-4366-B779-932195EB0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Rectangle 13351">
              <a:extLst>
                <a:ext uri="{FF2B5EF4-FFF2-40B4-BE49-F238E27FC236}">
                  <a16:creationId xmlns:a16="http://schemas.microsoft.com/office/drawing/2014/main" id="{2A295C8E-1733-4355-9663-CA11E0059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34">
              <a:extLst>
                <a:ext uri="{FF2B5EF4-FFF2-40B4-BE49-F238E27FC236}">
                  <a16:creationId xmlns:a16="http://schemas.microsoft.com/office/drawing/2014/main" id="{00E6AD78-4F65-4697-8361-57965310C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35">
              <a:extLst>
                <a:ext uri="{FF2B5EF4-FFF2-40B4-BE49-F238E27FC236}">
                  <a16:creationId xmlns:a16="http://schemas.microsoft.com/office/drawing/2014/main" id="{187EF7D1-0805-4528-A54D-A2987A066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36">
              <a:extLst>
                <a:ext uri="{FF2B5EF4-FFF2-40B4-BE49-F238E27FC236}">
                  <a16:creationId xmlns:a16="http://schemas.microsoft.com/office/drawing/2014/main" id="{7B48162A-3976-4410-BB9F-0290F7AE5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37">
              <a:extLst>
                <a:ext uri="{FF2B5EF4-FFF2-40B4-BE49-F238E27FC236}">
                  <a16:creationId xmlns:a16="http://schemas.microsoft.com/office/drawing/2014/main" id="{5E8CEBEC-4DBC-459B-8D3E-E100CA16E2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38">
              <a:extLst>
                <a:ext uri="{FF2B5EF4-FFF2-40B4-BE49-F238E27FC236}">
                  <a16:creationId xmlns:a16="http://schemas.microsoft.com/office/drawing/2014/main" id="{9B3E08CE-DE94-4092-A7DC-F67C29DB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39">
              <a:extLst>
                <a:ext uri="{FF2B5EF4-FFF2-40B4-BE49-F238E27FC236}">
                  <a16:creationId xmlns:a16="http://schemas.microsoft.com/office/drawing/2014/main" id="{27F18DDC-2531-40D1-8751-B67C6A6AC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0">
              <a:extLst>
                <a:ext uri="{FF2B5EF4-FFF2-40B4-BE49-F238E27FC236}">
                  <a16:creationId xmlns:a16="http://schemas.microsoft.com/office/drawing/2014/main" id="{949D2449-7107-4BD7-B8AF-94D327A74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41">
              <a:extLst>
                <a:ext uri="{FF2B5EF4-FFF2-40B4-BE49-F238E27FC236}">
                  <a16:creationId xmlns:a16="http://schemas.microsoft.com/office/drawing/2014/main" id="{440A8F64-334E-48AB-B8B7-A6A4800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42">
              <a:extLst>
                <a:ext uri="{FF2B5EF4-FFF2-40B4-BE49-F238E27FC236}">
                  <a16:creationId xmlns:a16="http://schemas.microsoft.com/office/drawing/2014/main" id="{8F493F25-C153-4F69-B58C-AB0D7C3CA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43">
              <a:extLst>
                <a:ext uri="{FF2B5EF4-FFF2-40B4-BE49-F238E27FC236}">
                  <a16:creationId xmlns:a16="http://schemas.microsoft.com/office/drawing/2014/main" id="{AE92C875-83EE-4E5D-96C0-9DE3BF5BE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44">
              <a:extLst>
                <a:ext uri="{FF2B5EF4-FFF2-40B4-BE49-F238E27FC236}">
                  <a16:creationId xmlns:a16="http://schemas.microsoft.com/office/drawing/2014/main" id="{B2FC94FC-FC99-4B01-A254-EF94DABD8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Rectangle 13363">
              <a:extLst>
                <a:ext uri="{FF2B5EF4-FFF2-40B4-BE49-F238E27FC236}">
                  <a16:creationId xmlns:a16="http://schemas.microsoft.com/office/drawing/2014/main" id="{4D9C62CD-1839-4A71-ACD2-62F7EE9C4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46">
              <a:extLst>
                <a:ext uri="{FF2B5EF4-FFF2-40B4-BE49-F238E27FC236}">
                  <a16:creationId xmlns:a16="http://schemas.microsoft.com/office/drawing/2014/main" id="{7E8EEB8F-F26C-405B-8F2F-C70E77FE6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47">
              <a:extLst>
                <a:ext uri="{FF2B5EF4-FFF2-40B4-BE49-F238E27FC236}">
                  <a16:creationId xmlns:a16="http://schemas.microsoft.com/office/drawing/2014/main" id="{F9953EC7-A5D9-4383-9FFC-442D41EC9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48">
              <a:extLst>
                <a:ext uri="{FF2B5EF4-FFF2-40B4-BE49-F238E27FC236}">
                  <a16:creationId xmlns:a16="http://schemas.microsoft.com/office/drawing/2014/main" id="{1EE7CC2C-DDA6-4C8F-AB91-364E50E74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49">
              <a:extLst>
                <a:ext uri="{FF2B5EF4-FFF2-40B4-BE49-F238E27FC236}">
                  <a16:creationId xmlns:a16="http://schemas.microsoft.com/office/drawing/2014/main" id="{2CC7064D-2C43-4ECB-8DF0-BD519D8C4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0">
              <a:extLst>
                <a:ext uri="{FF2B5EF4-FFF2-40B4-BE49-F238E27FC236}">
                  <a16:creationId xmlns:a16="http://schemas.microsoft.com/office/drawing/2014/main" id="{A3E73B19-8F7D-4C58-94D5-7DFE5C893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51">
              <a:extLst>
                <a:ext uri="{FF2B5EF4-FFF2-40B4-BE49-F238E27FC236}">
                  <a16:creationId xmlns:a16="http://schemas.microsoft.com/office/drawing/2014/main" id="{ADDF813C-421A-4EB2-81D3-DC67AABA7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52">
              <a:extLst>
                <a:ext uri="{FF2B5EF4-FFF2-40B4-BE49-F238E27FC236}">
                  <a16:creationId xmlns:a16="http://schemas.microsoft.com/office/drawing/2014/main" id="{A52C5D7E-049F-4D83-93EB-6954B8A28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53">
              <a:extLst>
                <a:ext uri="{FF2B5EF4-FFF2-40B4-BE49-F238E27FC236}">
                  <a16:creationId xmlns:a16="http://schemas.microsoft.com/office/drawing/2014/main" id="{1E31DA10-6C96-4222-97A2-96A254AF6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54">
              <a:extLst>
                <a:ext uri="{FF2B5EF4-FFF2-40B4-BE49-F238E27FC236}">
                  <a16:creationId xmlns:a16="http://schemas.microsoft.com/office/drawing/2014/main" id="{539ED40B-F93A-4DFB-BF0C-C4B7F1106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55">
              <a:extLst>
                <a:ext uri="{FF2B5EF4-FFF2-40B4-BE49-F238E27FC236}">
                  <a16:creationId xmlns:a16="http://schemas.microsoft.com/office/drawing/2014/main" id="{F1CB6A78-1C43-4FEA-8D76-216571933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56">
              <a:extLst>
                <a:ext uri="{FF2B5EF4-FFF2-40B4-BE49-F238E27FC236}">
                  <a16:creationId xmlns:a16="http://schemas.microsoft.com/office/drawing/2014/main" id="{1A6B5403-6527-4AC6-A668-F04FF5BB4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57">
              <a:extLst>
                <a:ext uri="{FF2B5EF4-FFF2-40B4-BE49-F238E27FC236}">
                  <a16:creationId xmlns:a16="http://schemas.microsoft.com/office/drawing/2014/main" id="{E5A5F4B9-2DBA-4EED-B042-64518D842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58">
              <a:extLst>
                <a:ext uri="{FF2B5EF4-FFF2-40B4-BE49-F238E27FC236}">
                  <a16:creationId xmlns:a16="http://schemas.microsoft.com/office/drawing/2014/main" id="{5BA56F56-D618-453B-8206-7564A61AF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012C-5514-CB99-EB2E-C79128550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092" y="1957388"/>
            <a:ext cx="5310570" cy="428209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Arterial thrombus: sever abdominal pain out of proportion to PE findings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Poorly localized pain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Nausea/Vomiting/Diarrhea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Physical Exam: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Limited findings on exam – sever abdominal tenderness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Advanced stage: peritonitis (SHOCK/SEPSIS) signs </a:t>
            </a:r>
          </a:p>
        </p:txBody>
      </p:sp>
    </p:spTree>
    <p:extLst>
      <p:ext uri="{BB962C8B-B14F-4D97-AF65-F5344CB8AC3E}">
        <p14:creationId xmlns:p14="http://schemas.microsoft.com/office/powerpoint/2010/main" val="22613924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2109-2A55-050D-AD9B-10E0820F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Acute Mesenteric Ischemia: Clinical Manifestations </a:t>
            </a:r>
          </a:p>
        </p:txBody>
      </p:sp>
      <p:pic>
        <p:nvPicPr>
          <p:cNvPr id="14338" name="Picture 2" descr="Acute Mesenteric Ischemia: Multidetector CT Findings and Endovascular  Management | RadioGraphics">
            <a:extLst>
              <a:ext uri="{FF2B5EF4-FFF2-40B4-BE49-F238E27FC236}">
                <a16:creationId xmlns:a16="http://schemas.microsoft.com/office/drawing/2014/main" id="{4108B3C5-77EF-7D02-1C44-C631DBC6F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1411" y="2302711"/>
            <a:ext cx="3494597" cy="158608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Successful recanalization of acute superior mesenteric artery thrombotic  occlusion with primary aspiration thrombectomy">
            <a:extLst>
              <a:ext uri="{FF2B5EF4-FFF2-40B4-BE49-F238E27FC236}">
                <a16:creationId xmlns:a16="http://schemas.microsoft.com/office/drawing/2014/main" id="{B7B981F3-D454-DA17-B570-E5D20BFF6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1410" y="4160565"/>
            <a:ext cx="3494597" cy="158461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D4C1-525D-5B19-352C-4C6BED810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57" y="2302711"/>
            <a:ext cx="6860713" cy="441025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Diagnostics: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CTA (Angiography) 1</a:t>
            </a:r>
            <a:r>
              <a:rPr lang="en-US" baseline="30000" dirty="0"/>
              <a:t>st</a:t>
            </a:r>
            <a:r>
              <a:rPr lang="en-US" dirty="0"/>
              <a:t> line if stable (without oral contrast)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Catheter-based arteriography = confirmation diagnostic and therapeutic – allows lesion visualization and modality for intervention (vasodilators, angioplasty, thrombolytic)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Labs: leukocytosis, Lactic Acidosis elevated, increased LDH</a:t>
            </a:r>
          </a:p>
        </p:txBody>
      </p:sp>
    </p:spTree>
    <p:extLst>
      <p:ext uri="{BB962C8B-B14F-4D97-AF65-F5344CB8AC3E}">
        <p14:creationId xmlns:p14="http://schemas.microsoft.com/office/powerpoint/2010/main" val="7596687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D746-D433-4ED8-8711-895013E6B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2833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Acute Mesenteric Ischemia: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7240-7523-EF1E-6BA7-9250EA323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48642"/>
            <a:ext cx="4844521" cy="5168342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Need RAPID REVASCULARIZATION – involves restoration of blood flow and likely excision of necrotic bowel if needed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Embolism: early surgical laparotomy with embolectomy and or thrombolytics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Arterial thrombosis: surgical revascularization with aortomesenteric bypass or endovascular balloon dilation angioplasty with stent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Mesenteric Venous thrombosis: systemic AC or thrombolytics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Perforation/Peritonitis: EMERGENCT surgical exploration (laparotomy) with likely bowel resection and revascularization </a:t>
            </a:r>
          </a:p>
        </p:txBody>
      </p:sp>
      <p:pic>
        <p:nvPicPr>
          <p:cNvPr id="15362" name="Picture 2" descr="Dilated ischemic small bowel loops at the exploratory laparotomy. |  Download Scientific Diagram">
            <a:extLst>
              <a:ext uri="{FF2B5EF4-FFF2-40B4-BE49-F238E27FC236}">
                <a16:creationId xmlns:a16="http://schemas.microsoft.com/office/drawing/2014/main" id="{0E164568-BB46-8983-19E9-B80BE317B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9046" y="2068842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8417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51AC-BD89-BF5B-9108-71C9D785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Chronic Mesenteric Ischemia: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A454-DC40-130D-1303-A255B755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4844521" cy="398999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Chronic Mesenteric Ischemia: reduced blood flow to small bowel due to atherosclerotic narrowing of 2-3 major splanchnic vessels (celiac axis, superior mesenteric artery, or inferior mesenteric artery)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Typically caused by hypoperfusion d/t eating (decrease blood flow to affected regions)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 Factors: Atherosclerosis (</a:t>
            </a:r>
            <a:r>
              <a:rPr lang="en-US" sz="2000" dirty="0" err="1"/>
              <a:t>hx</a:t>
            </a:r>
            <a:r>
              <a:rPr lang="en-US" sz="2000" dirty="0"/>
              <a:t> of MI, stroke etc.), DM, HTN, smoking etc. </a:t>
            </a:r>
          </a:p>
        </p:txBody>
      </p:sp>
      <p:pic>
        <p:nvPicPr>
          <p:cNvPr id="16386" name="Picture 2" descr="Chronic Mesenteric Ischaemia - Clinical Features - Management -  TeachMeSurgery">
            <a:extLst>
              <a:ext uri="{FF2B5EF4-FFF2-40B4-BE49-F238E27FC236}">
                <a16:creationId xmlns:a16="http://schemas.microsoft.com/office/drawing/2014/main" id="{8725A2E2-E09C-48BD-0E60-DA97E3102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336" y="2720537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483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9923-D564-9C5D-0A8D-6104BB7C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Chronic Mesenteric Ischemia: Clinical Manifestations/Management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1B267-8AC7-DFCF-A633-FD5A52478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52976"/>
            <a:ext cx="5842015" cy="4887689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Abd. Pain (chronic, dull pain that is worse after meals), anorexia, weight loss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PE: mild tenderness to palpation, Abdominal Bruit in up to 50% of cases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CTA 1</a:t>
            </a:r>
            <a:r>
              <a:rPr lang="en-US" sz="2000" baseline="30000" dirty="0"/>
              <a:t>st</a:t>
            </a:r>
            <a:r>
              <a:rPr lang="en-US" sz="2000" dirty="0"/>
              <a:t> line imaging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Conventional Angiography: confirmatory diagnostic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Management: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Asymptomatic Patients: lifestyle changes (smoking, DM etc.) anti-platelet therapy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Symptomatic: revascularization (open or endovascular) with bypass and/or stenting </a:t>
            </a:r>
          </a:p>
        </p:txBody>
      </p:sp>
      <p:pic>
        <p:nvPicPr>
          <p:cNvPr id="17410" name="Picture 2" descr="Multicenter study of retrograde open mesenteric artery stenting through  laparotomy for treatment of acute and chronic mesenteric ischemia - Journal  of Vascular Surgery">
            <a:extLst>
              <a:ext uri="{FF2B5EF4-FFF2-40B4-BE49-F238E27FC236}">
                <a16:creationId xmlns:a16="http://schemas.microsoft.com/office/drawing/2014/main" id="{5AE7B557-18ED-79EE-A77F-2B4B68C2A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17722" y="2496398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0337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5BA4-06EE-FE54-74BC-9661C459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Ischemic Colitis: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C708-ABE6-1101-98C2-598B75D8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6109052" cy="4264601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Ischemic Colitis: ischemic injury to the colon due to reduced blood flow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Mostly occur in the elderly (90% are 60+)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Typically occurs in ”watershed areas” with limited collateral blood supply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Ischemia usually occurs mucosal and not transmural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Etiologies: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Non-Occlusive (95%): due to systemic hypotension or atherosclerosis of the superior/inferior mesenteric arteries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Embolus/Thrombosis occlusion: less common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 Factors: age, DM, CAD, HLD, hypercoagulable states, constipation meds, dehydration</a:t>
            </a:r>
          </a:p>
          <a:p>
            <a:pPr lvl="1">
              <a:lnSpc>
                <a:spcPct val="110000"/>
              </a:lnSpc>
            </a:pPr>
            <a:endParaRPr lang="en-US" sz="1000" dirty="0"/>
          </a:p>
        </p:txBody>
      </p:sp>
      <p:pic>
        <p:nvPicPr>
          <p:cNvPr id="18434" name="Picture 2" descr="Ischemic colitis - Symptoms and causes - Mayo Clinic">
            <a:extLst>
              <a:ext uri="{FF2B5EF4-FFF2-40B4-BE49-F238E27FC236}">
                <a16:creationId xmlns:a16="http://schemas.microsoft.com/office/drawing/2014/main" id="{C38CEECE-D82E-9770-7845-B5390B33E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0464" y="2558334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704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B46F-9F40-4B1D-6679-2EB30398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475" y="80919"/>
            <a:ext cx="9905998" cy="859007"/>
          </a:xfrm>
        </p:spPr>
        <p:txBody>
          <a:bodyPr>
            <a:normAutofit/>
          </a:bodyPr>
          <a:lstStyle/>
          <a:p>
            <a:r>
              <a:rPr lang="en-US" dirty="0"/>
              <a:t>Ischemic Colitis: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149A1-F6F8-9DEF-FC4A-C3566F33C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479" y="1148969"/>
            <a:ext cx="4844521" cy="5195185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rapid onset of abdominal pain over the affected region (left sided and LLQ MC), bloody diarrhea within 24hrs of onset of pain (colonic sloughing – WHY?)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PE: abdominal tenderness to affected area (often lateral)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CT Abdomen/Pelvis: 1</a:t>
            </a:r>
            <a:r>
              <a:rPr lang="en-US" baseline="30000" dirty="0"/>
              <a:t>st</a:t>
            </a:r>
            <a:r>
              <a:rPr lang="en-US" dirty="0"/>
              <a:t> line imaging – wall edema and ”thumbprinting” (segmental bowel wall thickening and edema in a non-segmental pattern), double halo/target sign: two continuous thickened layers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Sigmoidoscopy/Colonoscopy: CONFIRMS diagnosis (contraindicated if high risk or active perforation)</a:t>
            </a:r>
          </a:p>
        </p:txBody>
      </p:sp>
      <p:pic>
        <p:nvPicPr>
          <p:cNvPr id="19460" name="Picture 4" descr="Ischemic Colitis: CT Evaluation of 54 Cases | Radiology">
            <a:extLst>
              <a:ext uri="{FF2B5EF4-FFF2-40B4-BE49-F238E27FC236}">
                <a16:creationId xmlns:a16="http://schemas.microsoft.com/office/drawing/2014/main" id="{8BC650C3-FD04-0849-3609-855779249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>
            <a:fillRect/>
          </a:stretch>
        </p:blipFill>
        <p:spPr bwMode="auto">
          <a:xfrm>
            <a:off x="6408519" y="1728976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907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EA93-2AC0-F9B1-FC10-ACEAA2147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47" y="-77397"/>
            <a:ext cx="6699770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Ischemic Colitis: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68C38-1D53-7EEB-3AC3-F819565D3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03" y="1658143"/>
            <a:ext cx="5894388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Supportive Care First: most patients respond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Restore Prefusion if possible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Bowel Rest (NPO)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IVF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Consider ABX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Close monitoring for perforation/peritonitis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If colon infarction occurs with concern for necrosis: surgical intervention with colon resection if indicated</a:t>
            </a:r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  <p:pic>
        <p:nvPicPr>
          <p:cNvPr id="20482" name="Picture 2" descr="Ischaemic colitis, endoscope view - Stock Image - C025/0068 - Science Photo  Library">
            <a:extLst>
              <a:ext uri="{FF2B5EF4-FFF2-40B4-BE49-F238E27FC236}">
                <a16:creationId xmlns:a16="http://schemas.microsoft.com/office/drawing/2014/main" id="{A1668682-C271-E098-E347-199FBCB7D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4340" y="1322401"/>
            <a:ext cx="3425199" cy="2420166"/>
          </a:xfrm>
          <a:custGeom>
            <a:avLst/>
            <a:gdLst/>
            <a:ahLst/>
            <a:cxnLst/>
            <a:rect l="l" t="t" r="r" b="b"/>
            <a:pathLst>
              <a:path w="3425199" h="2420166">
                <a:moveTo>
                  <a:pt x="166465" y="0"/>
                </a:moveTo>
                <a:lnTo>
                  <a:pt x="3425199" y="0"/>
                </a:lnTo>
                <a:lnTo>
                  <a:pt x="3425199" y="2420166"/>
                </a:lnTo>
                <a:lnTo>
                  <a:pt x="0" y="2420166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Frontiers | Advents in the Diagnosis and Management of Ischemic Colitis">
            <a:extLst>
              <a:ext uri="{FF2B5EF4-FFF2-40B4-BE49-F238E27FC236}">
                <a16:creationId xmlns:a16="http://schemas.microsoft.com/office/drawing/2014/main" id="{7FB7BDF3-30C2-435A-D3B4-9956625D2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4341" y="3742567"/>
            <a:ext cx="3425199" cy="2420166"/>
          </a:xfrm>
          <a:custGeom>
            <a:avLst/>
            <a:gdLst/>
            <a:ahLst/>
            <a:cxnLst/>
            <a:rect l="l" t="t" r="r" b="b"/>
            <a:pathLst>
              <a:path w="3425199" h="2420166">
                <a:moveTo>
                  <a:pt x="0" y="0"/>
                </a:moveTo>
                <a:lnTo>
                  <a:pt x="3425199" y="0"/>
                </a:lnTo>
                <a:lnTo>
                  <a:pt x="3425199" y="2253701"/>
                </a:lnTo>
                <a:cubicBezTo>
                  <a:pt x="3425199" y="2345637"/>
                  <a:pt x="3350670" y="2420166"/>
                  <a:pt x="3258734" y="2420166"/>
                </a:cubicBezTo>
                <a:lnTo>
                  <a:pt x="0" y="2420166"/>
                </a:ln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670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7BCC-AA5A-35F3-CA48-EF07CE38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Colonic Polyps: Overview</a:t>
            </a:r>
          </a:p>
        </p:txBody>
      </p:sp>
      <p:pic>
        <p:nvPicPr>
          <p:cNvPr id="4098" name="Picture 2" descr="What are Colon Polyps and Are They Cancerous?">
            <a:extLst>
              <a:ext uri="{FF2B5EF4-FFF2-40B4-BE49-F238E27FC236}">
                <a16:creationId xmlns:a16="http://schemas.microsoft.com/office/drawing/2014/main" id="{318E71DA-671F-F44C-F649-C9DBE6D63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41411" y="2257882"/>
            <a:ext cx="4689234" cy="353285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DD08-9450-A57A-2366-C3FDCE7BB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Colonic Polyp: refers to a protuberance into the lumen of the surrounding colonic mucosa.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Colon polyps are typically asymptomatic, but can bleed and potentially can cause an obstruction.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There are a few different types of polyps. Some have a higher associated with malignancy. 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8184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130" name="Rectangle 5129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31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33" name="Group 5132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34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4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6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7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5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6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0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1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2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3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5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6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7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5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6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7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19BD6A-0732-2672-731C-DE7C9AD0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196" y="166080"/>
            <a:ext cx="5877676" cy="1478570"/>
          </a:xfrm>
        </p:spPr>
        <p:txBody>
          <a:bodyPr>
            <a:normAutofit/>
          </a:bodyPr>
          <a:lstStyle/>
          <a:p>
            <a:r>
              <a:rPr lang="en-US" dirty="0"/>
              <a:t>Colonic Polyps: Clinical Manifestations</a:t>
            </a:r>
          </a:p>
        </p:txBody>
      </p:sp>
      <p:pic>
        <p:nvPicPr>
          <p:cNvPr id="5124" name="Picture 4" descr="Serrated polyps of the large intestine: current understanding of diagnosis,  pathogenesis, and clinical management | Journal of Gastroenterology |  Springer Nature Link">
            <a:extLst>
              <a:ext uri="{FF2B5EF4-FFF2-40B4-BE49-F238E27FC236}">
                <a16:creationId xmlns:a16="http://schemas.microsoft.com/office/drawing/2014/main" id="{1FBC8188-0939-2807-BCCA-6FB8CF6B3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4661" y="3415499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nflammatory polyps in ulcerative colitis - Stock Image - C027/0252 -  Science Photo Library">
            <a:extLst>
              <a:ext uri="{FF2B5EF4-FFF2-40B4-BE49-F238E27FC236}">
                <a16:creationId xmlns:a16="http://schemas.microsoft.com/office/drawing/2014/main" id="{DC49DF84-BF9A-1FC7-7365-38705DF8B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-3967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89" name="Straight Connector 5188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5191" name="Straight Connector 5190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0791-8A71-3D8F-5A9B-C6656722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284" y="1396608"/>
            <a:ext cx="5877677" cy="506806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Inflammatory Polyps: non-neoplastic intraluminal projections of mucosa consisting of stromal and epithelial components and inflammatory cells.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Pseudopolyps</a:t>
            </a:r>
            <a:r>
              <a:rPr lang="en-US" dirty="0"/>
              <a:t>: type of inflammatory polyp that are irregular shaped islands of residual intact colonic mucosa as the result of ulceration and regeneration (UC and Crohn Disease)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Serrated Polyps: heterogenous group of polyps with variable malignant potential.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Hyperplastic polyps: MC type of non-neoplastic polyp in the colon.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Sessile Serrated Lesions (SSLs) and Traditional Serrated Adenomas (TSA): increased risk of colon cancer</a:t>
            </a:r>
          </a:p>
        </p:txBody>
      </p:sp>
    </p:spTree>
    <p:extLst>
      <p:ext uri="{BB962C8B-B14F-4D97-AF65-F5344CB8AC3E}">
        <p14:creationId xmlns:p14="http://schemas.microsoft.com/office/powerpoint/2010/main" val="33326309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5BB4-DE9C-55BD-FB28-F2FA106D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795" y="14108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Colonic Polyps: Clinical Manifestations</a:t>
            </a:r>
          </a:p>
        </p:txBody>
      </p:sp>
      <p:pic>
        <p:nvPicPr>
          <p:cNvPr id="6146" name="Picture 2" descr="Different types of colonic polyps with hematoxylin-eosin staining |  Download Scientific Diagram">
            <a:extLst>
              <a:ext uri="{FF2B5EF4-FFF2-40B4-BE49-F238E27FC236}">
                <a16:creationId xmlns:a16="http://schemas.microsoft.com/office/drawing/2014/main" id="{D43B3B99-70E3-3071-9FA0-610A6A841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7288" y="2372135"/>
            <a:ext cx="6009506" cy="2388778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ABF1-B4BA-2482-85A4-FD6A0BC5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794" y="1750249"/>
            <a:ext cx="5364356" cy="47015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Adenomatous Polyp: MC type of Malignant polyp (2/3 of all colonic polyps)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Tubular Adenomas: characterized by a network of branching adenomatous epithelium. MC type AP. Least risk of malignancy of this sub-group. Risk of malignancy correlates with size (&gt;10% if &gt;2.5 cm in diameter)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Villous: characterized by glands that are long and extend straight down the surface to the center of the polyps. HIGHEST risk of malignancy. More prominent on the left side of colon. 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Tubovillous</a:t>
            </a:r>
            <a:r>
              <a:rPr lang="en-US" dirty="0"/>
              <a:t> (mixture): account for 5-10% of colonic adenomas. Intermediate risk of malignancy. 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486516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6E56-B915-EFD4-B37B-1D051781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Colonic Polyps: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9C71F-0E27-FE02-AA28-8ADB65DD5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9" y="1715412"/>
            <a:ext cx="10454475" cy="46125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a polyp is detected, a colonoscopy is warranted to establish histology, remove the polyp, and search for other lesions.</a:t>
            </a:r>
          </a:p>
          <a:p>
            <a:r>
              <a:rPr lang="en-US" dirty="0"/>
              <a:t>For all Adenomas: resection is required! (polypectomy). Incomplete resection of the polyp can increase risk of malignancy. Must ensure margins are free of neoplastic tissue. </a:t>
            </a:r>
          </a:p>
          <a:p>
            <a:r>
              <a:rPr lang="en-US" dirty="0"/>
              <a:t>Surveillance is required for these patients: </a:t>
            </a:r>
          </a:p>
          <a:p>
            <a:pPr lvl="1"/>
            <a:r>
              <a:rPr lang="en-US" dirty="0"/>
              <a:t>F/U Colonoscopy in 3 months post polypectomy</a:t>
            </a:r>
          </a:p>
          <a:p>
            <a:pPr lvl="1"/>
            <a:r>
              <a:rPr lang="en-US" dirty="0"/>
              <a:t>For patients with advanced adenomas (Tubular adenoma &gt;10mm or villous histology/High Grade Dysplasia): first surveillance colonoscopy at 3 years. If no adenomas, then 5 year follow up colonoscopy. If three to four tubular adenomas &lt;10mm, then colonoscopy 3-5 years. If advanced adenoma or 5-10 adenomas &lt;10mm, then next colonoscopy in 3 years. </a:t>
            </a:r>
          </a:p>
          <a:p>
            <a:pPr lvl="1"/>
            <a:r>
              <a:rPr lang="en-US" dirty="0"/>
              <a:t>For patients without advanced adenomas: first surveillance colonoscopy between 7-10 years.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138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6D5E-E1EA-FE47-947A-02D36C49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701" y="0"/>
            <a:ext cx="9905998" cy="1478570"/>
          </a:xfrm>
        </p:spPr>
        <p:txBody>
          <a:bodyPr/>
          <a:lstStyle/>
          <a:p>
            <a:r>
              <a:rPr lang="en-US" dirty="0"/>
              <a:t>Colorectal Malignancies: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8D964-2A97-774F-8DB8-25341A01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321" y="1307229"/>
            <a:ext cx="5556251" cy="50895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Colorectal cancer is the third most common cause of cancer-related death in the U.S. in women (2</a:t>
            </a:r>
            <a:r>
              <a:rPr lang="en-US" baseline="30000" dirty="0"/>
              <a:t>nd</a:t>
            </a:r>
            <a:r>
              <a:rPr lang="en-US" dirty="0"/>
              <a:t> in men). </a:t>
            </a:r>
          </a:p>
          <a:p>
            <a:r>
              <a:rPr lang="en-US" dirty="0"/>
              <a:t>About 147,000 new cases each year with about 53,000 deaths due to colorectal cancer per year</a:t>
            </a:r>
          </a:p>
          <a:p>
            <a:r>
              <a:rPr lang="en-US" dirty="0"/>
              <a:t>Good news is the overall death rate has been declining since the 1990s, thanks treatments and screenings</a:t>
            </a:r>
          </a:p>
          <a:p>
            <a:r>
              <a:rPr lang="en-US" dirty="0"/>
              <a:t>However, CRC has been increasing (approx. 2.1%) per year in individuals under the age of 50 (more younger patients affected) </a:t>
            </a:r>
          </a:p>
          <a:p>
            <a:r>
              <a:rPr lang="en-US" dirty="0"/>
              <a:t>Histology: </a:t>
            </a:r>
          </a:p>
          <a:p>
            <a:pPr lvl="1"/>
            <a:r>
              <a:rPr lang="en-US" dirty="0"/>
              <a:t>Adenocarcinomas (85%) </a:t>
            </a:r>
          </a:p>
          <a:p>
            <a:pPr lvl="1"/>
            <a:r>
              <a:rPr lang="en-US" dirty="0"/>
              <a:t>Mucinous (12%) </a:t>
            </a:r>
          </a:p>
          <a:p>
            <a:pPr lvl="1"/>
            <a:r>
              <a:rPr lang="en-US" dirty="0"/>
              <a:t>Sigmoid (best OS rate) </a:t>
            </a:r>
          </a:p>
          <a:p>
            <a:endParaRPr lang="en-US" dirty="0"/>
          </a:p>
        </p:txBody>
      </p:sp>
      <p:pic>
        <p:nvPicPr>
          <p:cNvPr id="8194" name="Picture 2" descr="Young Adult Colorectal Cancer | The Ruesch Center for the Cure of  Gastrointestinal Cancers | Georgetown University">
            <a:extLst>
              <a:ext uri="{FF2B5EF4-FFF2-40B4-BE49-F238E27FC236}">
                <a16:creationId xmlns:a16="http://schemas.microsoft.com/office/drawing/2014/main" id="{38455C6A-DB30-7541-A322-8247C0216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5944" y="2152991"/>
            <a:ext cx="4658763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2027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1FD9-533E-B443-B078-29415A0E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Risk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B2FB5-B2CA-6B4E-A198-2D365D2C8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Overweight/obese</a:t>
            </a:r>
          </a:p>
          <a:p>
            <a:r>
              <a:rPr lang="en-US" dirty="0"/>
              <a:t>Not being physical active </a:t>
            </a:r>
          </a:p>
          <a:p>
            <a:r>
              <a:rPr lang="en-US" u="sng" dirty="0"/>
              <a:t>Diet: processed meats! </a:t>
            </a:r>
          </a:p>
          <a:p>
            <a:r>
              <a:rPr lang="en-US" dirty="0"/>
              <a:t>Diabetes </a:t>
            </a:r>
          </a:p>
          <a:p>
            <a:r>
              <a:rPr lang="en-US" dirty="0"/>
              <a:t>Smoking</a:t>
            </a:r>
          </a:p>
          <a:p>
            <a:r>
              <a:rPr lang="en-US" dirty="0"/>
              <a:t>Alcohol </a:t>
            </a:r>
          </a:p>
          <a:p>
            <a:r>
              <a:rPr lang="en-US" dirty="0"/>
              <a:t>Prior hx of adenomatous polyps (adenomas) </a:t>
            </a:r>
          </a:p>
          <a:p>
            <a:r>
              <a:rPr lang="en-US" dirty="0"/>
              <a:t>Personal history of IBS </a:t>
            </a:r>
          </a:p>
        </p:txBody>
      </p:sp>
      <p:pic>
        <p:nvPicPr>
          <p:cNvPr id="9218" name="Picture 2" descr="Major Risk Factors For Colorectal Cancer That You Can't Change">
            <a:extLst>
              <a:ext uri="{FF2B5EF4-FFF2-40B4-BE49-F238E27FC236}">
                <a16:creationId xmlns:a16="http://schemas.microsoft.com/office/drawing/2014/main" id="{90DFCE52-3340-5B46-AE16-3FD305B32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6424" y="1624619"/>
            <a:ext cx="3262452" cy="461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3856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5243-A857-4849-A4B3-51B60F22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Risk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FC1CD-814B-3B44-AA41-9DF903864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27" y="1925317"/>
            <a:ext cx="8110761" cy="4782981"/>
          </a:xfrm>
        </p:spPr>
        <p:txBody>
          <a:bodyPr>
            <a:normAutofit/>
          </a:bodyPr>
          <a:lstStyle/>
          <a:p>
            <a:r>
              <a:rPr lang="en-US" sz="2000" dirty="0"/>
              <a:t>Family Hx of Colorectal Syndromes</a:t>
            </a:r>
          </a:p>
          <a:p>
            <a:pPr lvl="1"/>
            <a:r>
              <a:rPr lang="en-US" dirty="0"/>
              <a:t>Lynch Syndrome (hereditary non-polyposis colon cancer syndrome)</a:t>
            </a:r>
          </a:p>
          <a:p>
            <a:pPr lvl="2"/>
            <a:r>
              <a:rPr lang="en-US" sz="2000" dirty="0"/>
              <a:t>Approximately 20% of CRC diagnosis have family hx  </a:t>
            </a:r>
          </a:p>
          <a:p>
            <a:pPr lvl="2"/>
            <a:r>
              <a:rPr lang="en-US" sz="2000" dirty="0"/>
              <a:t>Autosomal dominant disorder (gene mutation) </a:t>
            </a:r>
          </a:p>
          <a:p>
            <a:pPr lvl="2"/>
            <a:r>
              <a:rPr lang="en-US" sz="2000" dirty="0"/>
              <a:t>MC colorectal cancer susceptibility syndrome </a:t>
            </a:r>
          </a:p>
          <a:p>
            <a:pPr lvl="2"/>
            <a:r>
              <a:rPr lang="en-US" sz="2000" dirty="0"/>
              <a:t>Accounts for approximately 2-3% of CRC </a:t>
            </a:r>
          </a:p>
          <a:p>
            <a:pPr lvl="2"/>
            <a:r>
              <a:rPr lang="en-US" sz="2000" dirty="0"/>
              <a:t>Should be suspicious for syndrome in patients who are diagnosed with CRC younger than age 50 (also in patients with endometrial, ovarian, stomach, renal pelvis/ureter malignancies) </a:t>
            </a:r>
          </a:p>
          <a:p>
            <a:pPr lvl="2"/>
            <a:r>
              <a:rPr lang="en-US" sz="2000" dirty="0"/>
              <a:t>Confirmation is done via genetic testing </a:t>
            </a:r>
          </a:p>
          <a:p>
            <a:pPr lvl="2"/>
            <a:r>
              <a:rPr lang="en-US" sz="2000" dirty="0"/>
              <a:t>Screenings should start at 20-25 years old (every 1-2 years) </a:t>
            </a:r>
          </a:p>
          <a:p>
            <a:pPr lvl="2"/>
            <a:endParaRPr lang="en-US" dirty="0"/>
          </a:p>
        </p:txBody>
      </p:sp>
      <p:pic>
        <p:nvPicPr>
          <p:cNvPr id="10242" name="Picture 2" descr="Living With Lynch Syndrome | Everyday Health">
            <a:extLst>
              <a:ext uri="{FF2B5EF4-FFF2-40B4-BE49-F238E27FC236}">
                <a16:creationId xmlns:a16="http://schemas.microsoft.com/office/drawing/2014/main" id="{07FACE50-87E4-ED4F-B8B5-693727AC9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96636" y="2657590"/>
            <a:ext cx="3527973" cy="198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4168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AB9E-437D-A044-ACC4-B690315E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Risk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7150-CCC3-CE4B-A189-12DB23C1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8" y="1909279"/>
            <a:ext cx="9203645" cy="477152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Family Hx of Colorectal Syndromes </a:t>
            </a:r>
          </a:p>
          <a:p>
            <a:pPr lvl="1"/>
            <a:r>
              <a:rPr lang="en-US" dirty="0"/>
              <a:t>Familial Adenomatous Polyposis (FAP) </a:t>
            </a:r>
          </a:p>
          <a:p>
            <a:pPr lvl="2"/>
            <a:r>
              <a:rPr lang="en-US" sz="2000" dirty="0"/>
              <a:t>Gene mutation (APC gene) causing hundreds to thousands of colon polyps beginning at the age of 10-12 years of age</a:t>
            </a:r>
          </a:p>
          <a:p>
            <a:pPr lvl="2"/>
            <a:r>
              <a:rPr lang="en-US" sz="2000" dirty="0"/>
              <a:t>Cancer usually develops in 1 or more of these polyps by the age of 20</a:t>
            </a:r>
          </a:p>
          <a:p>
            <a:pPr lvl="2"/>
            <a:r>
              <a:rPr lang="en-US" sz="2000" dirty="0"/>
              <a:t>ALL PATIENTS WILL EVENTUALLY DEVELOP CANCER</a:t>
            </a:r>
          </a:p>
          <a:p>
            <a:pPr lvl="2"/>
            <a:r>
              <a:rPr lang="en-US" sz="2000" dirty="0"/>
              <a:t>Three different Subtypes: </a:t>
            </a:r>
          </a:p>
          <a:p>
            <a:pPr lvl="3"/>
            <a:r>
              <a:rPr lang="en-US" sz="2000" dirty="0"/>
              <a:t>Attenuated FAP (AFAP): patient who have few polyps (&lt;100) </a:t>
            </a:r>
          </a:p>
          <a:p>
            <a:pPr lvl="3"/>
            <a:r>
              <a:rPr lang="en-US" sz="2000" dirty="0"/>
              <a:t>Gardner Syndrome: type of FAP that causes non-cancer tumors of the skin, soft tissue, bone </a:t>
            </a:r>
          </a:p>
          <a:p>
            <a:pPr lvl="3"/>
            <a:r>
              <a:rPr lang="en-US" sz="2000" dirty="0"/>
              <a:t>Turcot Syndrome: rare condition, highest risk, high number of polyps </a:t>
            </a:r>
          </a:p>
          <a:p>
            <a:pPr lvl="2"/>
            <a:r>
              <a:rPr lang="en-US" sz="2200" dirty="0"/>
              <a:t>Screening (Flex/Sig) should start at 10-12 years old  </a:t>
            </a:r>
          </a:p>
          <a:p>
            <a:pPr lvl="2"/>
            <a:endParaRPr lang="en-US" dirty="0"/>
          </a:p>
        </p:txBody>
      </p:sp>
      <p:pic>
        <p:nvPicPr>
          <p:cNvPr id="11266" name="Picture 2" descr="Familial Adenomatous Polyposis - Gastrointestinal - Medbullets Step 1">
            <a:extLst>
              <a:ext uri="{FF2B5EF4-FFF2-40B4-BE49-F238E27FC236}">
                <a16:creationId xmlns:a16="http://schemas.microsoft.com/office/drawing/2014/main" id="{F16B1260-A0F3-1D40-9B4F-11C597C1C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93574" y="4413506"/>
            <a:ext cx="2479130" cy="206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Familial Adenomatous Polyposis | Johns Hopkins Medicine">
            <a:extLst>
              <a:ext uri="{FF2B5EF4-FFF2-40B4-BE49-F238E27FC236}">
                <a16:creationId xmlns:a16="http://schemas.microsoft.com/office/drawing/2014/main" id="{C74DD7A6-6984-2147-BA2A-7CED6604C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93573" y="2097088"/>
            <a:ext cx="2479129" cy="21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0480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7642-F13F-FC44-A0A5-7308B12D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799" y="220734"/>
            <a:ext cx="9905998" cy="1478570"/>
          </a:xfrm>
        </p:spPr>
        <p:txBody>
          <a:bodyPr/>
          <a:lstStyle/>
          <a:p>
            <a:r>
              <a:rPr lang="en-US" dirty="0"/>
              <a:t>Colorectal Malignancies: Risk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3A6F-A9D3-D842-A741-10B2F793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5773738" cy="4387780"/>
          </a:xfrm>
        </p:spPr>
        <p:txBody>
          <a:bodyPr>
            <a:normAutofit/>
          </a:bodyPr>
          <a:lstStyle/>
          <a:p>
            <a:r>
              <a:rPr lang="en-US" sz="2000" dirty="0"/>
              <a:t>Family Hx of Colorectal Syndrome: </a:t>
            </a:r>
          </a:p>
          <a:p>
            <a:pPr lvl="1"/>
            <a:r>
              <a:rPr lang="en-US" dirty="0"/>
              <a:t>Peutz-Jeghers Syndrome (PJS): rare syndrome caused by a mutation in STIK11 (LKB1) gene </a:t>
            </a:r>
          </a:p>
          <a:p>
            <a:pPr lvl="2"/>
            <a:r>
              <a:rPr lang="en-US" sz="2000" dirty="0"/>
              <a:t>Patients have special type of polyp (hamartomas) in their digestive tract that places them at very high risk for CRC (also breast, ovarian, and pancreatic cancer)</a:t>
            </a:r>
          </a:p>
          <a:p>
            <a:pPr lvl="2"/>
            <a:r>
              <a:rPr lang="en-US" sz="2000" dirty="0"/>
              <a:t>Usually diagnosed at younger age </a:t>
            </a:r>
          </a:p>
          <a:p>
            <a:pPr lvl="2"/>
            <a:r>
              <a:rPr lang="en-US" sz="2000" dirty="0"/>
              <a:t>Patient tend to have freckles around the mouth (also sometimes hands/feet)  </a:t>
            </a:r>
          </a:p>
        </p:txBody>
      </p:sp>
      <p:pic>
        <p:nvPicPr>
          <p:cNvPr id="12290" name="Picture 2" descr="Peutz-Jeghers Syndrome - Gastrointestinal - Medbullets Step 1">
            <a:extLst>
              <a:ext uri="{FF2B5EF4-FFF2-40B4-BE49-F238E27FC236}">
                <a16:creationId xmlns:a16="http://schemas.microsoft.com/office/drawing/2014/main" id="{C4D9CE5B-132C-1B48-93BE-56D165AC8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2057" y="1806913"/>
            <a:ext cx="38227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A rarely seen full blown picture of Peutz–Jeghers syndrome Tiwary AK,  Mishra DK - Pigment Int">
            <a:extLst>
              <a:ext uri="{FF2B5EF4-FFF2-40B4-BE49-F238E27FC236}">
                <a16:creationId xmlns:a16="http://schemas.microsoft.com/office/drawing/2014/main" id="{CA77489D-1013-2B4E-8AA7-3A02AA3B3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0289" y="4048123"/>
            <a:ext cx="4186236" cy="258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8594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0081-D419-7E41-8CCB-9E35E00D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5EEA-2883-1447-BC34-B85C05FB2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5730876" cy="41513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Screening based on age/family hx</a:t>
            </a:r>
          </a:p>
          <a:p>
            <a:r>
              <a:rPr lang="en-US" dirty="0"/>
              <a:t>Two main tools: FIT (fecal Immunochemical test) which tests for hidden blood in the stool, also colonoscopy </a:t>
            </a:r>
          </a:p>
          <a:p>
            <a:r>
              <a:rPr lang="en-US" dirty="0"/>
              <a:t>Avg. Risk Patients </a:t>
            </a:r>
          </a:p>
          <a:p>
            <a:pPr lvl="1"/>
            <a:r>
              <a:rPr lang="en-US" dirty="0"/>
              <a:t>Initiate screening at age 45 through age 75 </a:t>
            </a:r>
          </a:p>
          <a:p>
            <a:pPr lvl="1"/>
            <a:r>
              <a:rPr lang="en-US" dirty="0"/>
              <a:t>Colonoscopy every 10 years (some opt for sigmoidoscopy only) </a:t>
            </a:r>
          </a:p>
          <a:p>
            <a:pPr lvl="1"/>
            <a:r>
              <a:rPr lang="en-US" dirty="0"/>
              <a:t>Annual FIT test </a:t>
            </a:r>
          </a:p>
        </p:txBody>
      </p:sp>
      <p:pic>
        <p:nvPicPr>
          <p:cNvPr id="13314" name="Picture 2" descr="FIT Colon Cancer Screening Stool Test">
            <a:extLst>
              <a:ext uri="{FF2B5EF4-FFF2-40B4-BE49-F238E27FC236}">
                <a16:creationId xmlns:a16="http://schemas.microsoft.com/office/drawing/2014/main" id="{79AAEBA7-644F-2C4D-9B0F-A54B66DE4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44132" y="1939925"/>
            <a:ext cx="4433455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Colonoscopy Prep, Risks, Recovery, Results, Diet &amp; Side Effects">
            <a:extLst>
              <a:ext uri="{FF2B5EF4-FFF2-40B4-BE49-F238E27FC236}">
                <a16:creationId xmlns:a16="http://schemas.microsoft.com/office/drawing/2014/main" id="{3FBDBA5A-849B-A64E-BF7C-0D44963C6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2424" y="4101913"/>
            <a:ext cx="2382837" cy="238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5367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EB6F-31F4-7D4B-B58C-6E8D7268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6906-FD74-EA46-9568-10346DFE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5773738" cy="4265614"/>
          </a:xfrm>
        </p:spPr>
        <p:txBody>
          <a:bodyPr>
            <a:normAutofit fontScale="92500"/>
          </a:bodyPr>
          <a:lstStyle/>
          <a:p>
            <a:r>
              <a:rPr lang="en-US" sz="2200" dirty="0"/>
              <a:t>High Risk Patients: Family hx (Lynch Syndrome, FAP) </a:t>
            </a:r>
          </a:p>
          <a:p>
            <a:pPr lvl="1"/>
            <a:r>
              <a:rPr lang="en-US" sz="2200" dirty="0"/>
              <a:t>If FDR (first degree relative has a hx): initiate screening at age 40 (or 10 years earlier when relative was diagnosed, whichever is earliest) </a:t>
            </a:r>
          </a:p>
          <a:p>
            <a:pPr lvl="1"/>
            <a:r>
              <a:rPr lang="en-US" sz="2200" dirty="0"/>
              <a:t>Screen with colonoscopy every five years </a:t>
            </a:r>
          </a:p>
          <a:p>
            <a:pPr lvl="1"/>
            <a:r>
              <a:rPr lang="en-US" sz="2200" dirty="0"/>
              <a:t>FIT screening annually (especially if the patient declines a colonoscopy) </a:t>
            </a:r>
          </a:p>
          <a:p>
            <a:r>
              <a:rPr lang="en-US" sz="2200" dirty="0"/>
              <a:t>Patients with </a:t>
            </a:r>
            <a:r>
              <a:rPr lang="en-US" sz="2200" dirty="0" err="1"/>
              <a:t>hx</a:t>
            </a:r>
            <a:r>
              <a:rPr lang="en-US" sz="2200" dirty="0"/>
              <a:t> of Inflammatory Bowel Disease: should start screening around 8-10 years from diagnosis</a:t>
            </a:r>
          </a:p>
          <a:p>
            <a:pPr lvl="1"/>
            <a:endParaRPr lang="en-US" dirty="0"/>
          </a:p>
        </p:txBody>
      </p:sp>
      <p:pic>
        <p:nvPicPr>
          <p:cNvPr id="14338" name="Picture 2" descr="Colorectal Cancer - Gastrointestinal Disorders - Merck Manuals Professional  Edition">
            <a:extLst>
              <a:ext uri="{FF2B5EF4-FFF2-40B4-BE49-F238E27FC236}">
                <a16:creationId xmlns:a16="http://schemas.microsoft.com/office/drawing/2014/main" id="{236210B8-AF45-D148-BC9B-227D42E27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8087" y="1896267"/>
            <a:ext cx="2932111" cy="219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olon Cancer Treatment, Symptoms, Prevention &amp; Survival Rate">
            <a:extLst>
              <a:ext uri="{FF2B5EF4-FFF2-40B4-BE49-F238E27FC236}">
                <a16:creationId xmlns:a16="http://schemas.microsoft.com/office/drawing/2014/main" id="{479761A9-6B95-1843-A4EA-2DD8BE206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76367" y="4388849"/>
            <a:ext cx="2495550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542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B0A2-E803-CE4A-8182-B639A122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A215-A2BC-844D-AE37-C47C696EE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in five patients present with metastatic disease</a:t>
            </a:r>
          </a:p>
          <a:p>
            <a:r>
              <a:rPr lang="en-US" dirty="0"/>
              <a:t>Mets most common in the liver, but also includes lungs, and peritoneum </a:t>
            </a:r>
          </a:p>
          <a:p>
            <a:r>
              <a:rPr lang="en-US" dirty="0"/>
              <a:t>Signs/Symptoms </a:t>
            </a:r>
          </a:p>
          <a:p>
            <a:pPr lvl="1"/>
            <a:r>
              <a:rPr lang="en-US" dirty="0"/>
              <a:t>Hematochezia (Melena) </a:t>
            </a:r>
          </a:p>
          <a:p>
            <a:pPr lvl="1"/>
            <a:r>
              <a:rPr lang="en-US" dirty="0"/>
              <a:t>Abdominal Pain </a:t>
            </a:r>
          </a:p>
          <a:p>
            <a:pPr lvl="1"/>
            <a:r>
              <a:rPr lang="en-US" dirty="0"/>
              <a:t>Unexplained iron deficiency anemia</a:t>
            </a:r>
          </a:p>
          <a:p>
            <a:pPr lvl="1"/>
            <a:r>
              <a:rPr lang="en-US" dirty="0"/>
              <a:t>Change in bowel habits (MC symptom 74%) </a:t>
            </a:r>
          </a:p>
          <a:p>
            <a:pPr lvl="1"/>
            <a:r>
              <a:rPr lang="en-US" dirty="0"/>
              <a:t>Ascites/Hepatomegaly (usually with liver involvement) </a:t>
            </a:r>
          </a:p>
        </p:txBody>
      </p:sp>
      <p:pic>
        <p:nvPicPr>
          <p:cNvPr id="15362" name="Picture 2" descr="Under The Angsana Tree: Hematochezia: Blood in Stool">
            <a:extLst>
              <a:ext uri="{FF2B5EF4-FFF2-40B4-BE49-F238E27FC236}">
                <a16:creationId xmlns:a16="http://schemas.microsoft.com/office/drawing/2014/main" id="{FFB7477B-475A-534C-8C0D-E123E453F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30789" y="3429000"/>
            <a:ext cx="3939541" cy="262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5811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5293-465B-F94B-B49F-C4D87E5E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7DC60-D05C-0947-9A19-549464A4C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7177200" cy="441025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Signs/symptoms often varies on tumor location/disease progression </a:t>
            </a:r>
          </a:p>
          <a:p>
            <a:pPr lvl="1"/>
            <a:r>
              <a:rPr lang="en-US" dirty="0"/>
              <a:t>Change in bowel habits is more often associated with left sided tumors (also obstruction) </a:t>
            </a:r>
          </a:p>
          <a:p>
            <a:pPr lvl="1"/>
            <a:r>
              <a:rPr lang="en-US" dirty="0"/>
              <a:t>Hematochezia more often associated with rectosigmoid tumor (right-sided tumors) </a:t>
            </a:r>
          </a:p>
          <a:p>
            <a:pPr lvl="1"/>
            <a:r>
              <a:rPr lang="en-US" dirty="0"/>
              <a:t>Iron deficiency anemia more often associated with right sided tumors </a:t>
            </a:r>
          </a:p>
          <a:p>
            <a:pPr lvl="1"/>
            <a:r>
              <a:rPr lang="en-US" dirty="0"/>
              <a:t>Abdominal pain usually presents in all tumor locations </a:t>
            </a:r>
          </a:p>
          <a:p>
            <a:pPr lvl="1"/>
            <a:r>
              <a:rPr lang="en-US" dirty="0"/>
              <a:t>Rectal cancer: can cause tenesmus, rectal pain</a:t>
            </a:r>
          </a:p>
          <a:p>
            <a:r>
              <a:rPr lang="en-US" dirty="0"/>
              <a:t>Patients who present with symptoms usually have progressive disease (worse prognosis)</a:t>
            </a:r>
          </a:p>
          <a:p>
            <a:endParaRPr lang="en-US" dirty="0"/>
          </a:p>
        </p:txBody>
      </p:sp>
      <p:pic>
        <p:nvPicPr>
          <p:cNvPr id="16386" name="Picture 2" descr="3 Signs Your Abdominal Pain May Be Serious - BASS Urgent Care">
            <a:extLst>
              <a:ext uri="{FF2B5EF4-FFF2-40B4-BE49-F238E27FC236}">
                <a16:creationId xmlns:a16="http://schemas.microsoft.com/office/drawing/2014/main" id="{5A93505B-305F-FA46-977A-0F5E8D850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1047" y="2707459"/>
            <a:ext cx="3673699" cy="227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5327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D06A-E611-5147-97C2-1D3CFA29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26433-3D2F-644A-B6CD-17AFEEC92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53628"/>
            <a:ext cx="5762202" cy="46085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 already discussed, Colonoscopy with biopsy is going to be diagnostic of choice </a:t>
            </a:r>
          </a:p>
          <a:p>
            <a:r>
              <a:rPr lang="en-US" dirty="0"/>
              <a:t>CT Scan: also can be utilized in patients with generalized abdominal symptoms </a:t>
            </a:r>
          </a:p>
          <a:p>
            <a:r>
              <a:rPr lang="en-US" dirty="0"/>
              <a:t>Flex Sigmoidoscopy: has increased in usage over the past 50 years, but has limitations (most effective for palpable masses felt in the rectum) </a:t>
            </a:r>
          </a:p>
          <a:p>
            <a:r>
              <a:rPr lang="en-US" dirty="0"/>
              <a:t>CT Colonography: uses CT scan and bowel preparation to visualize colon</a:t>
            </a:r>
          </a:p>
          <a:p>
            <a:pPr lvl="1"/>
            <a:r>
              <a:rPr lang="en-US" dirty="0"/>
              <a:t>More often used when there is an incomplete colonoscopy</a:t>
            </a:r>
          </a:p>
        </p:txBody>
      </p:sp>
      <p:pic>
        <p:nvPicPr>
          <p:cNvPr id="17410" name="Picture 2" descr="Role of CT colonography in screening programs">
            <a:extLst>
              <a:ext uri="{FF2B5EF4-FFF2-40B4-BE49-F238E27FC236}">
                <a16:creationId xmlns:a16="http://schemas.microsoft.com/office/drawing/2014/main" id="{165843C2-52D3-584F-A73B-A45D07496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60259" y="2760774"/>
            <a:ext cx="5103812" cy="279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53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066C-DADB-3F44-9DEF-8FA92CF3D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E3CFF-3D8A-654D-9C32-9771764CA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32" y="2016731"/>
            <a:ext cx="7605199" cy="4222751"/>
          </a:xfrm>
        </p:spPr>
        <p:txBody>
          <a:bodyPr>
            <a:normAutofit/>
          </a:bodyPr>
          <a:lstStyle/>
          <a:p>
            <a:r>
              <a:rPr lang="en-US" dirty="0"/>
              <a:t>Tumor Markers</a:t>
            </a:r>
          </a:p>
          <a:p>
            <a:pPr lvl="1"/>
            <a:r>
              <a:rPr lang="en-US" dirty="0"/>
              <a:t>Two markers associated with CRC include: carcinoembryonic antigen (CEA) and carbohydrate antigen 19-9 (CA 19-9) </a:t>
            </a:r>
          </a:p>
          <a:p>
            <a:pPr lvl="1"/>
            <a:r>
              <a:rPr lang="en-US" dirty="0"/>
              <a:t>Both don’t have the best specificity and should NOT be used as screening tools </a:t>
            </a:r>
          </a:p>
          <a:p>
            <a:pPr lvl="1"/>
            <a:r>
              <a:rPr lang="en-US" dirty="0"/>
              <a:t>CEA levels have usage for follow up patients with already diagnosed CRC</a:t>
            </a:r>
          </a:p>
          <a:p>
            <a:pPr lvl="2"/>
            <a:r>
              <a:rPr lang="en-US" dirty="0"/>
              <a:t>Higher levels of CEA (&gt;5ng/mL) preoperative have worse prognosis</a:t>
            </a:r>
          </a:p>
          <a:p>
            <a:pPr lvl="2"/>
            <a:r>
              <a:rPr lang="en-US" dirty="0"/>
              <a:t>Maintain levels of CEA or increasing levels s/p surgery, often indicate aggressive disease </a:t>
            </a:r>
          </a:p>
        </p:txBody>
      </p:sp>
      <p:pic>
        <p:nvPicPr>
          <p:cNvPr id="18434" name="Picture 2" descr="What is Carcinoembryonic Antigen Test (CEA)? | Dr Lal PathLabs">
            <a:extLst>
              <a:ext uri="{FF2B5EF4-FFF2-40B4-BE49-F238E27FC236}">
                <a16:creationId xmlns:a16="http://schemas.microsoft.com/office/drawing/2014/main" id="{2C22BCC0-E5EF-4641-9D2B-F1112BAE2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29612" y="3164255"/>
            <a:ext cx="3590925" cy="239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1269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171E-8BF4-074B-8DC6-AA38D89E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Staging </a:t>
            </a:r>
          </a:p>
        </p:txBody>
      </p:sp>
      <p:pic>
        <p:nvPicPr>
          <p:cNvPr id="19460" name="Picture 4" descr="TNM Staging | Bowel Cancer | Cancer Research UK">
            <a:extLst>
              <a:ext uri="{FF2B5EF4-FFF2-40B4-BE49-F238E27FC236}">
                <a16:creationId xmlns:a16="http://schemas.microsoft.com/office/drawing/2014/main" id="{33599945-4748-7441-B912-64F9FC005E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9113" y="1796256"/>
            <a:ext cx="4124325" cy="370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880D9C-AD12-8B4E-8E39-FD6DA2758015}"/>
              </a:ext>
            </a:extLst>
          </p:cNvPr>
          <p:cNvSpPr/>
          <p:nvPr/>
        </p:nvSpPr>
        <p:spPr>
          <a:xfrm>
            <a:off x="2133600" y="5713831"/>
            <a:ext cx="8515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https://cancerstaging.org/references-tools/quickreferences/documents/colonmedium.pdf</a:t>
            </a:r>
          </a:p>
        </p:txBody>
      </p:sp>
    </p:spTree>
    <p:extLst>
      <p:ext uri="{BB962C8B-B14F-4D97-AF65-F5344CB8AC3E}">
        <p14:creationId xmlns:p14="http://schemas.microsoft.com/office/powerpoint/2010/main" val="3140943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30C1-7B29-9D41-915B-088D5D2F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371475"/>
            <a:ext cx="9905998" cy="1943101"/>
          </a:xfrm>
        </p:spPr>
        <p:txBody>
          <a:bodyPr/>
          <a:lstStyle/>
          <a:p>
            <a:r>
              <a:rPr lang="en-US" dirty="0"/>
              <a:t>Colorectal Malignancies: Staging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B1F7-7341-BD45-8DA3-2DE650CD9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41397"/>
            <a:ext cx="10891444" cy="341788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addition to colonoscopy/biopsy: </a:t>
            </a:r>
          </a:p>
          <a:p>
            <a:pPr lvl="1"/>
            <a:r>
              <a:rPr lang="en-US" dirty="0"/>
              <a:t>CT TAP (Thorax/abd/pelvis): often utilized to look for metastasis</a:t>
            </a:r>
          </a:p>
          <a:p>
            <a:pPr lvl="1"/>
            <a:r>
              <a:rPr lang="en-US" dirty="0"/>
              <a:t>PET scan: usually not utilized (doesn’t usually add too much information not seen on CT) </a:t>
            </a:r>
          </a:p>
          <a:p>
            <a:pPr lvl="1"/>
            <a:r>
              <a:rPr lang="en-US" dirty="0"/>
              <a:t>Tumor Markers: CEA levels are usually obtained pre/post operation and aid in treatment planning/prognosis</a:t>
            </a:r>
          </a:p>
          <a:p>
            <a:pPr lvl="1"/>
            <a:r>
              <a:rPr lang="en-US" dirty="0"/>
              <a:t>Additional testing: </a:t>
            </a:r>
          </a:p>
          <a:p>
            <a:pPr lvl="2"/>
            <a:r>
              <a:rPr lang="en-US" dirty="0"/>
              <a:t>MRI of Liver </a:t>
            </a:r>
          </a:p>
          <a:p>
            <a:pPr lvl="2"/>
            <a:r>
              <a:rPr lang="en-US" dirty="0"/>
              <a:t>DRE (digital rectal examination)</a:t>
            </a:r>
          </a:p>
          <a:p>
            <a:pPr lvl="2"/>
            <a:r>
              <a:rPr lang="en-US" dirty="0"/>
              <a:t>Transrectal US</a:t>
            </a:r>
          </a:p>
          <a:p>
            <a:pPr lvl="2"/>
            <a:r>
              <a:rPr lang="en-US" dirty="0"/>
              <a:t>Often used for candidates for radiotherapy/chemoradiotherapy </a:t>
            </a:r>
          </a:p>
        </p:txBody>
      </p:sp>
      <p:pic>
        <p:nvPicPr>
          <p:cNvPr id="20482" name="Picture 2" descr="Spiral CT of Colon Cancer: Imaging Features and Role in Management |  RadioGraphics">
            <a:extLst>
              <a:ext uri="{FF2B5EF4-FFF2-40B4-BE49-F238E27FC236}">
                <a16:creationId xmlns:a16="http://schemas.microsoft.com/office/drawing/2014/main" id="{5396642F-A321-304D-9F47-26DD43683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6850" y="4459286"/>
            <a:ext cx="28321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The Radiology Assistant : Rectal Cancer MR staging">
            <a:extLst>
              <a:ext uri="{FF2B5EF4-FFF2-40B4-BE49-F238E27FC236}">
                <a16:creationId xmlns:a16="http://schemas.microsoft.com/office/drawing/2014/main" id="{A6265E35-AA31-1D41-9373-D76A99D24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17323" y="4639448"/>
            <a:ext cx="3735605" cy="188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7555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8ED3-216D-0345-9C8D-519F1590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987" y="175605"/>
            <a:ext cx="10817225" cy="1478570"/>
          </a:xfrm>
        </p:spPr>
        <p:txBody>
          <a:bodyPr>
            <a:normAutofit/>
          </a:bodyPr>
          <a:lstStyle/>
          <a:p>
            <a:r>
              <a:rPr lang="en-US" sz="3200" dirty="0"/>
              <a:t>Colorectal Malignancies: Treatment/Management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99D886-4943-D946-98CC-868C514BB3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89508" y="1594328"/>
          <a:ext cx="5835705" cy="4022319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1167141">
                  <a:extLst>
                    <a:ext uri="{9D8B030D-6E8A-4147-A177-3AD203B41FA5}">
                      <a16:colId xmlns:a16="http://schemas.microsoft.com/office/drawing/2014/main" val="191768442"/>
                    </a:ext>
                  </a:extLst>
                </a:gridCol>
                <a:gridCol w="1167141">
                  <a:extLst>
                    <a:ext uri="{9D8B030D-6E8A-4147-A177-3AD203B41FA5}">
                      <a16:colId xmlns:a16="http://schemas.microsoft.com/office/drawing/2014/main" val="1817026299"/>
                    </a:ext>
                  </a:extLst>
                </a:gridCol>
                <a:gridCol w="1167141">
                  <a:extLst>
                    <a:ext uri="{9D8B030D-6E8A-4147-A177-3AD203B41FA5}">
                      <a16:colId xmlns:a16="http://schemas.microsoft.com/office/drawing/2014/main" val="524790253"/>
                    </a:ext>
                  </a:extLst>
                </a:gridCol>
                <a:gridCol w="1167141">
                  <a:extLst>
                    <a:ext uri="{9D8B030D-6E8A-4147-A177-3AD203B41FA5}">
                      <a16:colId xmlns:a16="http://schemas.microsoft.com/office/drawing/2014/main" val="2905803903"/>
                    </a:ext>
                  </a:extLst>
                </a:gridCol>
                <a:gridCol w="1167141">
                  <a:extLst>
                    <a:ext uri="{9D8B030D-6E8A-4147-A177-3AD203B41FA5}">
                      <a16:colId xmlns:a16="http://schemas.microsoft.com/office/drawing/2014/main" val="2754400245"/>
                    </a:ext>
                  </a:extLst>
                </a:gridCol>
              </a:tblGrid>
              <a:tr h="35543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STAGE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SURGERY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CHEMOTHERAPY /</a:t>
                      </a:r>
                      <a:br>
                        <a:rPr lang="en-US" sz="1000" b="1" dirty="0">
                          <a:effectLst/>
                        </a:rPr>
                      </a:br>
                      <a:r>
                        <a:rPr lang="en-US" sz="1000" b="1" dirty="0">
                          <a:effectLst/>
                        </a:rPr>
                        <a:t>BIOLOGICS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RADIATION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INTERVENTIONAL</a:t>
                      </a:r>
                      <a:br>
                        <a:rPr lang="en-US" sz="1000" b="1" dirty="0">
                          <a:effectLst/>
                        </a:rPr>
                      </a:br>
                      <a:r>
                        <a:rPr lang="en-US" sz="1000" b="1" dirty="0">
                          <a:effectLst/>
                        </a:rPr>
                        <a:t>RADIOLOGY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3113096939"/>
                  </a:ext>
                </a:extLst>
              </a:tr>
              <a:tr h="183635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Stage 0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3429732912"/>
                  </a:ext>
                </a:extLst>
              </a:tr>
              <a:tr h="183635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Stage 1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4273207102"/>
                  </a:ext>
                </a:extLst>
              </a:tr>
              <a:tr h="1214403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Stage 2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Yes, for rectal and high risk colon cancers. FOLFOX (5-FU/Leucovorin/Oxaliplatin) or CapeOx (Capecitabine/ Oxaliplatin)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Yes, for rectal cancer. Given in tandem with 5-FU or Xeloda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550988184"/>
                  </a:ext>
                </a:extLst>
              </a:tr>
              <a:tr h="699019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Stage 3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FOLFOX or CapeOx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Yes, for rectal cancer. Given in tandem with 5-FU or Xeloda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No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2568392042"/>
                  </a:ext>
                </a:extLst>
              </a:tr>
              <a:tr h="1386197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Stage 4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Yes, if the tumor is obstructive or blocking the bowel. No, if the tumor is not blocking the bowel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FOLFOX, FOLFIRI, FOLFIRINOX, Irinotecan, Avastin, Erbitux, Vectibix, Zaltrap, Stivarga, Lonsurf, Cyramza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Yes, for rectal cancer and in certain other cases</a:t>
                      </a:r>
                    </a:p>
                  </a:txBody>
                  <a:tcPr marL="5252" marR="5252" marT="5252" marB="5252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Possibly. Options could be Radio Frequency Ablation (RFA), Stereotactic Body Radiation Therapy (SBRT), or chemoembolization           </a:t>
                      </a:r>
                    </a:p>
                  </a:txBody>
                  <a:tcPr marL="5252" marR="5252" marT="5252" marB="5252" anchor="ctr"/>
                </a:tc>
                <a:extLst>
                  <a:ext uri="{0D108BD9-81ED-4DB2-BD59-A6C34878D82A}">
                    <a16:rowId xmlns:a16="http://schemas.microsoft.com/office/drawing/2014/main" val="381514841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0655E52-F68D-CD49-B7A5-8C09352F2FC2}"/>
              </a:ext>
            </a:extLst>
          </p:cNvPr>
          <p:cNvSpPr/>
          <p:nvPr/>
        </p:nvSpPr>
        <p:spPr>
          <a:xfrm>
            <a:off x="6342062" y="5591009"/>
            <a:ext cx="75882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https://www.ccalliance.org/colorectal-cancer-information/treatments</a:t>
            </a:r>
          </a:p>
        </p:txBody>
      </p:sp>
      <p:pic>
        <p:nvPicPr>
          <p:cNvPr id="21506" name="Picture 2" descr="Stage II colon cancer - Church - Chinese Clinical Oncology">
            <a:extLst>
              <a:ext uri="{FF2B5EF4-FFF2-40B4-BE49-F238E27FC236}">
                <a16:creationId xmlns:a16="http://schemas.microsoft.com/office/drawing/2014/main" id="{5C08F8CE-F7AF-9F43-AA72-CB1C2E1F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000" y="1568689"/>
            <a:ext cx="4211509" cy="402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7589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E92B-B49D-4D42-939A-570AEDCD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078" y="213404"/>
            <a:ext cx="11157995" cy="1478570"/>
          </a:xfrm>
        </p:spPr>
        <p:txBody>
          <a:bodyPr/>
          <a:lstStyle/>
          <a:p>
            <a:r>
              <a:rPr lang="en-US" dirty="0"/>
              <a:t>Colorectal Malignancies: Treatment/Management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F38F7-A7EC-AD4E-A980-7F359F850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78" y="1885344"/>
            <a:ext cx="5727010" cy="45316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Surgical Resection</a:t>
            </a:r>
          </a:p>
          <a:p>
            <a:pPr lvl="1"/>
            <a:r>
              <a:rPr lang="en-US" dirty="0"/>
              <a:t>Approximately 80% of localized cancers use surgery as potential cure (can also have lymph node involvement) </a:t>
            </a:r>
          </a:p>
          <a:p>
            <a:pPr lvl="1"/>
            <a:r>
              <a:rPr lang="en-US" dirty="0"/>
              <a:t>Some patients require colostomy/ileostomy if bowel perforation is present </a:t>
            </a:r>
          </a:p>
          <a:p>
            <a:r>
              <a:rPr lang="en-US" dirty="0"/>
              <a:t>Chemotherapy/Radiation</a:t>
            </a:r>
          </a:p>
          <a:p>
            <a:pPr lvl="1"/>
            <a:r>
              <a:rPr lang="en-US" dirty="0"/>
              <a:t>Often used in patients who do have unresectable disease </a:t>
            </a:r>
          </a:p>
          <a:p>
            <a:pPr lvl="1"/>
            <a:r>
              <a:rPr lang="en-US" dirty="0"/>
              <a:t>Combination can also be used in patients pre/post surgery to ensure all potential local metastasis is resolved  </a:t>
            </a:r>
          </a:p>
          <a:p>
            <a:pPr lvl="1"/>
            <a:endParaRPr lang="en-US" dirty="0"/>
          </a:p>
        </p:txBody>
      </p:sp>
      <p:pic>
        <p:nvPicPr>
          <p:cNvPr id="22530" name="Picture 2" descr="Colorectal Surgery - Colon Cancer">
            <a:extLst>
              <a:ext uri="{FF2B5EF4-FFF2-40B4-BE49-F238E27FC236}">
                <a16:creationId xmlns:a16="http://schemas.microsoft.com/office/drawing/2014/main" id="{C47766C5-D337-B244-AA1E-CCF7A0847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14088" y="2850174"/>
            <a:ext cx="5317261" cy="206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7959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3DDE-A93D-254E-A57B-850827B8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83794"/>
            <a:ext cx="10364504" cy="1302879"/>
          </a:xfrm>
        </p:spPr>
        <p:txBody>
          <a:bodyPr>
            <a:normAutofit/>
          </a:bodyPr>
          <a:lstStyle/>
          <a:p>
            <a:r>
              <a:rPr lang="en-US" sz="3200" dirty="0"/>
              <a:t>Colorectal Malignancies: Treatment/Management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8EFE-4AB8-774E-A183-8C067EBC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81" y="2249486"/>
            <a:ext cx="8253392" cy="4024719"/>
          </a:xfrm>
        </p:spPr>
        <p:txBody>
          <a:bodyPr>
            <a:normAutofit fontScale="92500"/>
          </a:bodyPr>
          <a:lstStyle/>
          <a:p>
            <a:r>
              <a:rPr lang="en-US" dirty="0"/>
              <a:t>Chemotherapy</a:t>
            </a:r>
          </a:p>
          <a:p>
            <a:pPr lvl="1"/>
            <a:r>
              <a:rPr lang="en-US" dirty="0"/>
              <a:t>Adjuvant Therapy: given after surgery </a:t>
            </a:r>
          </a:p>
          <a:p>
            <a:pPr lvl="1"/>
            <a:r>
              <a:rPr lang="en-US" dirty="0"/>
              <a:t>Neoadjuvant: given prior to surgery in combination with RXT </a:t>
            </a:r>
          </a:p>
          <a:p>
            <a:pPr lvl="1"/>
            <a:r>
              <a:rPr lang="en-US" dirty="0"/>
              <a:t>Common Chemotherapies include: </a:t>
            </a:r>
          </a:p>
          <a:p>
            <a:pPr lvl="2"/>
            <a:r>
              <a:rPr lang="en-US" dirty="0"/>
              <a:t>5-FU (Flurorouracil) </a:t>
            </a:r>
          </a:p>
          <a:p>
            <a:pPr lvl="2"/>
            <a:r>
              <a:rPr lang="en-US" dirty="0"/>
              <a:t>Capecitabine (Xeloda)</a:t>
            </a:r>
          </a:p>
          <a:p>
            <a:pPr lvl="2"/>
            <a:r>
              <a:rPr lang="en-US" dirty="0"/>
              <a:t>Irinotecan (Camptosar)</a:t>
            </a:r>
          </a:p>
          <a:p>
            <a:pPr lvl="2"/>
            <a:r>
              <a:rPr lang="en-US" dirty="0"/>
              <a:t>Oxaliplatin (Eloxatin) </a:t>
            </a:r>
          </a:p>
          <a:p>
            <a:pPr lvl="2"/>
            <a:r>
              <a:rPr lang="en-US" dirty="0"/>
              <a:t>Side effects: hair loss, mucositis, n/v/d, loss of appetite, weight loss , neuropathy </a:t>
            </a:r>
          </a:p>
          <a:p>
            <a:pPr lvl="2"/>
            <a:r>
              <a:rPr lang="en-US" dirty="0"/>
              <a:t>Hand-Foot Syndrome (redness of hands/feet): seen with 5-FU and Capecitabine </a:t>
            </a:r>
          </a:p>
          <a:p>
            <a:pPr lvl="2"/>
            <a:endParaRPr lang="en-US" dirty="0"/>
          </a:p>
        </p:txBody>
      </p:sp>
      <p:pic>
        <p:nvPicPr>
          <p:cNvPr id="23554" name="Picture 2" descr="Chemotherapy-induced acral erythema - Wikipedia">
            <a:extLst>
              <a:ext uri="{FF2B5EF4-FFF2-40B4-BE49-F238E27FC236}">
                <a16:creationId xmlns:a16="http://schemas.microsoft.com/office/drawing/2014/main" id="{40762967-C52D-B842-AF36-54941D63C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3285" y="2347918"/>
            <a:ext cx="3746968" cy="268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2727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3579-B031-FD48-99D2-9020FDD9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Malignancies: F/U and Prognosis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F2F7-322A-5F4A-AE58-5B20C478A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6402388" cy="3989995"/>
          </a:xfrm>
        </p:spPr>
        <p:txBody>
          <a:bodyPr/>
          <a:lstStyle/>
          <a:p>
            <a:r>
              <a:rPr lang="en-US" dirty="0"/>
              <a:t>Most important prognostic factor is staging</a:t>
            </a:r>
          </a:p>
          <a:p>
            <a:r>
              <a:rPr lang="en-US" dirty="0"/>
              <a:t>Post Surveillance treatment: depends on which guidelines are being followed</a:t>
            </a:r>
          </a:p>
          <a:p>
            <a:pPr lvl="1"/>
            <a:r>
              <a:rPr lang="en-US" dirty="0"/>
              <a:t>History and Physical every 3 to 6 months for five years </a:t>
            </a:r>
          </a:p>
          <a:p>
            <a:pPr lvl="1"/>
            <a:r>
              <a:rPr lang="en-US" dirty="0"/>
              <a:t>Serum CEA testing every 3 to 6 months for five years </a:t>
            </a:r>
          </a:p>
          <a:p>
            <a:pPr lvl="1"/>
            <a:r>
              <a:rPr lang="en-US" dirty="0"/>
              <a:t>CT TAP: every year for three to five years </a:t>
            </a:r>
          </a:p>
          <a:p>
            <a:pPr lvl="1"/>
            <a:r>
              <a:rPr lang="en-US" dirty="0"/>
              <a:t>Colonoscopy at one year, then every 5 years </a:t>
            </a:r>
          </a:p>
        </p:txBody>
      </p:sp>
      <p:pic>
        <p:nvPicPr>
          <p:cNvPr id="24578" name="Picture 2" descr="Lead Follow Up Archives – Lead Liaison">
            <a:extLst>
              <a:ext uri="{FF2B5EF4-FFF2-40B4-BE49-F238E27FC236}">
                <a16:creationId xmlns:a16="http://schemas.microsoft.com/office/drawing/2014/main" id="{254F4C32-E018-5F4D-BB66-7E96E2B2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3801" y="2097088"/>
            <a:ext cx="361473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2278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BD42-DD70-7941-B78B-EBC868CB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 Malignancies: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D0F7-342E-B24E-A42D-0794A28D3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4958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Anal cancer comprises about 2.5% of all digestive cancers (approximately 8590 new cases in the U.S.)</a:t>
            </a:r>
          </a:p>
          <a:p>
            <a:r>
              <a:rPr lang="en-US" dirty="0"/>
              <a:t>Has been increasing over the last 30 years </a:t>
            </a:r>
          </a:p>
          <a:p>
            <a:r>
              <a:rPr lang="en-US" dirty="0"/>
              <a:t>Usually refers to squamous cell cancer (SCC)</a:t>
            </a:r>
          </a:p>
          <a:p>
            <a:r>
              <a:rPr lang="en-US" dirty="0"/>
              <a:t>Risk Factors: </a:t>
            </a:r>
          </a:p>
          <a:p>
            <a:pPr lvl="1"/>
            <a:r>
              <a:rPr lang="en-US" dirty="0"/>
              <a:t>Female Gender </a:t>
            </a:r>
          </a:p>
          <a:p>
            <a:pPr lvl="1"/>
            <a:r>
              <a:rPr lang="en-US" dirty="0"/>
              <a:t>HPV hx </a:t>
            </a:r>
          </a:p>
          <a:p>
            <a:pPr lvl="1"/>
            <a:r>
              <a:rPr lang="en-US" dirty="0"/>
              <a:t>Lifetime number of sexual partners </a:t>
            </a:r>
          </a:p>
          <a:p>
            <a:pPr lvl="1"/>
            <a:r>
              <a:rPr lang="en-US" dirty="0"/>
              <a:t>Genital Warts </a:t>
            </a:r>
          </a:p>
          <a:p>
            <a:pPr lvl="1"/>
            <a:r>
              <a:rPr lang="en-US" dirty="0"/>
              <a:t>Smoking </a:t>
            </a:r>
          </a:p>
          <a:p>
            <a:pPr lvl="1"/>
            <a:r>
              <a:rPr lang="en-US" dirty="0"/>
              <a:t>Anal Intercourse </a:t>
            </a:r>
          </a:p>
          <a:p>
            <a:pPr lvl="1"/>
            <a:r>
              <a:rPr lang="en-US" dirty="0"/>
              <a:t>HIV </a:t>
            </a:r>
          </a:p>
        </p:txBody>
      </p:sp>
      <p:pic>
        <p:nvPicPr>
          <p:cNvPr id="25602" name="Picture 2" descr="Anal Cancer | Cancer of Anal - Causes, Symptoms, Staging, Treatment,  Prognosis &amp; Prevention">
            <a:extLst>
              <a:ext uri="{FF2B5EF4-FFF2-40B4-BE49-F238E27FC236}">
                <a16:creationId xmlns:a16="http://schemas.microsoft.com/office/drawing/2014/main" id="{DC1D3CFF-A98F-BB46-82F2-953365611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9729" y="3044571"/>
            <a:ext cx="3983272" cy="331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0646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6601-5177-484A-A527-D02B1D5F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 Malignancies: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C0759-5FD7-E642-B2BD-53CFC524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Signs/Symptoms:</a:t>
            </a:r>
          </a:p>
          <a:p>
            <a:pPr lvl="1"/>
            <a:r>
              <a:rPr lang="en-US" dirty="0"/>
              <a:t>Rectal Bleeding: MC initial symptom (occurs in approximately 45% of patients) </a:t>
            </a:r>
          </a:p>
          <a:p>
            <a:pPr lvl="1"/>
            <a:r>
              <a:rPr lang="en-US" dirty="0"/>
              <a:t>Anorectal pain/sensation of mass (30%)</a:t>
            </a:r>
          </a:p>
          <a:p>
            <a:pPr lvl="1"/>
            <a:r>
              <a:rPr lang="en-US" dirty="0"/>
              <a:t>Constipation </a:t>
            </a:r>
          </a:p>
          <a:p>
            <a:pPr lvl="1"/>
            <a:r>
              <a:rPr lang="en-US" dirty="0"/>
              <a:t>Diarrhea</a:t>
            </a:r>
          </a:p>
          <a:p>
            <a:pPr lvl="1"/>
            <a:r>
              <a:rPr lang="en-US" dirty="0"/>
              <a:t>Discharge</a:t>
            </a:r>
          </a:p>
          <a:p>
            <a:pPr lvl="1"/>
            <a:r>
              <a:rPr lang="en-US" dirty="0"/>
              <a:t>Pruritus </a:t>
            </a:r>
          </a:p>
          <a:p>
            <a:pPr lvl="1"/>
            <a:r>
              <a:rPr lang="en-US" dirty="0"/>
              <a:t>Tenesmus</a:t>
            </a:r>
          </a:p>
        </p:txBody>
      </p:sp>
      <p:pic>
        <p:nvPicPr>
          <p:cNvPr id="26626" name="Picture 2" descr="6 Symptoms That Could Indicate Anal Cancer - WomenWorking">
            <a:extLst>
              <a:ext uri="{FF2B5EF4-FFF2-40B4-BE49-F238E27FC236}">
                <a16:creationId xmlns:a16="http://schemas.microsoft.com/office/drawing/2014/main" id="{579B98B9-F1DC-0A42-B4F0-09EE8F953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4927" y="3781287"/>
            <a:ext cx="4811307" cy="269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3646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4085-8DB1-914F-8264-01E77A0B0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5352152" cy="2239617"/>
          </a:xfrm>
        </p:spPr>
        <p:txBody>
          <a:bodyPr/>
          <a:lstStyle/>
          <a:p>
            <a:r>
              <a:rPr lang="en-US" dirty="0"/>
              <a:t>Anal Malignancies: Staging/Diagnostics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F788CD-71C9-0A4D-9AC3-A4E9CFC5E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2030" y="342905"/>
            <a:ext cx="4030991" cy="5912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743056-FCA8-BC4B-B072-39AACB89079F}"/>
              </a:ext>
            </a:extLst>
          </p:cNvPr>
          <p:cNvSpPr txBox="1"/>
          <p:nvPr/>
        </p:nvSpPr>
        <p:spPr>
          <a:xfrm>
            <a:off x="1298714" y="1974772"/>
            <a:ext cx="441297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Additional Testing Often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Biopsy of Tumor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CT TAP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PET/CT scan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CEA tumor markers NOT routinely tested in these patients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044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8FC6-FB45-6043-BCAE-842BBD50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 Malignancies: Staging/Diagnostics</a:t>
            </a:r>
          </a:p>
        </p:txBody>
      </p:sp>
      <p:pic>
        <p:nvPicPr>
          <p:cNvPr id="27650" name="Picture 2" descr="Anal Cancer – medicaltourisminfomation">
            <a:extLst>
              <a:ext uri="{FF2B5EF4-FFF2-40B4-BE49-F238E27FC236}">
                <a16:creationId xmlns:a16="http://schemas.microsoft.com/office/drawing/2014/main" id="{B1495C3A-EE46-6447-8CFA-99D94F169B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1479" y="2023247"/>
            <a:ext cx="4333818" cy="42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HPV-Associated Anal Cancer in the HIV/AIDS Patient | SpringerLink">
            <a:extLst>
              <a:ext uri="{FF2B5EF4-FFF2-40B4-BE49-F238E27FC236}">
                <a16:creationId xmlns:a16="http://schemas.microsoft.com/office/drawing/2014/main" id="{5E87E7F2-241E-A941-B1EC-2A12816E0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73379" y="1859285"/>
            <a:ext cx="3592842" cy="458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160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CE72-FE32-A048-B206-028C3CDD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 Malignancies: Treatment/Follow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37FD-1B8B-D643-9D4F-4BE82546B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7273718" cy="379350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Chemoradiotherapy has emerged as the preferred method of treatment because it can preserve the anal sphincter in 70-85% of cases </a:t>
            </a:r>
          </a:p>
          <a:p>
            <a:pPr lvl="1"/>
            <a:r>
              <a:rPr lang="en-US" dirty="0"/>
              <a:t>Combination regimens usually includes: Fluorouracil (FU) + Mitomycin + Radiation</a:t>
            </a:r>
          </a:p>
          <a:p>
            <a:r>
              <a:rPr lang="en-US" dirty="0"/>
              <a:t>Local excision is also an option in selected patients usually when lesion is &lt;1cm. Vigilant follow up is usually required </a:t>
            </a:r>
          </a:p>
          <a:p>
            <a:r>
              <a:rPr lang="en-US" dirty="0"/>
              <a:t>Treatment response should be re-evaluated every 8 to 12 weeks after chemoradiation is completed</a:t>
            </a:r>
          </a:p>
          <a:p>
            <a:pPr lvl="1"/>
            <a:r>
              <a:rPr lang="en-US" dirty="0"/>
              <a:t>Digital Rectal Exams (DRE): every 3-6 months five years </a:t>
            </a:r>
          </a:p>
          <a:p>
            <a:pPr lvl="1"/>
            <a:r>
              <a:rPr lang="en-US" dirty="0"/>
              <a:t>CT or PET scan: annually for 3 years </a:t>
            </a:r>
          </a:p>
        </p:txBody>
      </p:sp>
      <p:pic>
        <p:nvPicPr>
          <p:cNvPr id="28674" name="Picture 2" descr="5-FU for Keloid Scar Reduction | Flourouracil | Adrucil®">
            <a:extLst>
              <a:ext uri="{FF2B5EF4-FFF2-40B4-BE49-F238E27FC236}">
                <a16:creationId xmlns:a16="http://schemas.microsoft.com/office/drawing/2014/main" id="{393BA581-15EB-CC4F-A8FA-95DF93D5E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6020" y="1632226"/>
            <a:ext cx="2131391" cy="213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radiation therapy | Definition, Types, &amp; Side Effects | Britannica">
            <a:extLst>
              <a:ext uri="{FF2B5EF4-FFF2-40B4-BE49-F238E27FC236}">
                <a16:creationId xmlns:a16="http://schemas.microsoft.com/office/drawing/2014/main" id="{5D7C3FA6-5778-3A47-9C88-7DF71369B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11296" y="3949148"/>
            <a:ext cx="1836115" cy="25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9494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B808-780C-CF42-ACE3-683B7CFF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 Malignancies: Prognosis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6B73-ECDF-1544-A49F-43F440D2F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2539"/>
            <a:ext cx="5801553" cy="4848003"/>
          </a:xfrm>
        </p:spPr>
        <p:txBody>
          <a:bodyPr>
            <a:normAutofit/>
          </a:bodyPr>
          <a:lstStyle/>
          <a:p>
            <a:r>
              <a:rPr lang="en-US" sz="2000" dirty="0"/>
              <a:t>Prognosis based on staging: </a:t>
            </a:r>
          </a:p>
          <a:p>
            <a:pPr lvl="1"/>
            <a:r>
              <a:rPr lang="en-US" dirty="0"/>
              <a:t>Palpable, clinically positive lymph node and male sex are poor prognostic factors</a:t>
            </a:r>
          </a:p>
          <a:p>
            <a:pPr lvl="1"/>
            <a:r>
              <a:rPr lang="en-US" dirty="0"/>
              <a:t>Anal margin tumors are generally more favorable than canal (less involvement)</a:t>
            </a:r>
          </a:p>
          <a:p>
            <a:pPr lvl="1"/>
            <a:r>
              <a:rPr lang="en-US" dirty="0"/>
              <a:t>Overall Survival: </a:t>
            </a:r>
          </a:p>
          <a:p>
            <a:pPr lvl="2"/>
            <a:r>
              <a:rPr lang="en-US" sz="2000" dirty="0"/>
              <a:t>60% in men</a:t>
            </a:r>
          </a:p>
          <a:p>
            <a:pPr lvl="2"/>
            <a:r>
              <a:rPr lang="en-US" sz="2000" dirty="0"/>
              <a:t>71% in women </a:t>
            </a:r>
          </a:p>
          <a:p>
            <a:pPr lvl="2"/>
            <a:r>
              <a:rPr lang="en-US" sz="2000" dirty="0"/>
              <a:t>At earliest stage, 82% </a:t>
            </a:r>
          </a:p>
          <a:p>
            <a:pPr lvl="2"/>
            <a:r>
              <a:rPr lang="en-US" sz="2000" dirty="0"/>
              <a:t>Lymph node involvement, approx. 60% </a:t>
            </a:r>
          </a:p>
        </p:txBody>
      </p:sp>
      <p:pic>
        <p:nvPicPr>
          <p:cNvPr id="29698" name="Picture 2" descr="Cancer Remission and a Smile! | Cancer">
            <a:extLst>
              <a:ext uri="{FF2B5EF4-FFF2-40B4-BE49-F238E27FC236}">
                <a16:creationId xmlns:a16="http://schemas.microsoft.com/office/drawing/2014/main" id="{2DA76567-1A31-514A-83BB-A584DAF9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729" y="2468217"/>
            <a:ext cx="3215923" cy="361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2470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6273</TotalTime>
  <Words>7044</Words>
  <Application>Microsoft Macintosh PowerPoint</Application>
  <PresentationFormat>Widescreen</PresentationFormat>
  <Paragraphs>718</Paragraphs>
  <Slides>93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93</vt:i4>
      </vt:variant>
    </vt:vector>
  </HeadingPairs>
  <TitlesOfParts>
    <vt:vector size="99" baseType="lpstr">
      <vt:lpstr>Aptos</vt:lpstr>
      <vt:lpstr>Aptos Display</vt:lpstr>
      <vt:lpstr>Arial</vt:lpstr>
      <vt:lpstr>Tw Cen MT</vt:lpstr>
      <vt:lpstr>Office Theme</vt:lpstr>
      <vt:lpstr>Circuit</vt:lpstr>
      <vt:lpstr>GI Lecture: Colon and Rectal Disorders</vt:lpstr>
      <vt:lpstr>Course Objectives</vt:lpstr>
      <vt:lpstr>Course Objectives</vt:lpstr>
      <vt:lpstr>Constipation: Overview/Clinical Manifestations</vt:lpstr>
      <vt:lpstr>Constipation: Management</vt:lpstr>
      <vt:lpstr>Constipation: Management</vt:lpstr>
      <vt:lpstr>Constipation: Fecal Impaction</vt:lpstr>
      <vt:lpstr>Constipation: Fecal Impaction</vt:lpstr>
      <vt:lpstr>Fecal Incontinence: Overview</vt:lpstr>
      <vt:lpstr>FECAL INCONTINENCE: CLINICAL MANIFESTATIONS</vt:lpstr>
      <vt:lpstr>Fecal Incontinence: Clinical Manifestations</vt:lpstr>
      <vt:lpstr>Fecal Incontinence: Management</vt:lpstr>
      <vt:lpstr>Paralytic (Adynamic) Ileus: Overview </vt:lpstr>
      <vt:lpstr>Paralytic (Adynamic) Ileus: Clinical Manifestations </vt:lpstr>
      <vt:lpstr>Paralytic (Adynamic) Ileus: Clinical Manifestations </vt:lpstr>
      <vt:lpstr>Paralytic (Adynamic) Ileus: Clinical Manifestations </vt:lpstr>
      <vt:lpstr>Paralytic (Adynamic) Ileus: Management</vt:lpstr>
      <vt:lpstr>Anal Fissures: overview </vt:lpstr>
      <vt:lpstr>Anal Fissures: Clinical Manifestations </vt:lpstr>
      <vt:lpstr>Anal Fissures: Management </vt:lpstr>
      <vt:lpstr>Hemorrhoids: overview</vt:lpstr>
      <vt:lpstr>Hemorrhoids: Classifications </vt:lpstr>
      <vt:lpstr>Hemorrhoids: Classification</vt:lpstr>
      <vt:lpstr>Hemorrhoids: Clinical Manifestations</vt:lpstr>
      <vt:lpstr>Hemorrhoids: Management</vt:lpstr>
      <vt:lpstr>Hemorrhoids: management</vt:lpstr>
      <vt:lpstr>Hemorrhoids: Management</vt:lpstr>
      <vt:lpstr>Anorectal Abscess/Fistula: overview</vt:lpstr>
      <vt:lpstr>Anorectal Abscess/Fistula: Clinical Manifestations</vt:lpstr>
      <vt:lpstr>Perianal Abscess/Fistula: Clinical Manifestations</vt:lpstr>
      <vt:lpstr>Anorectal Abscess/Fistula: Management</vt:lpstr>
      <vt:lpstr>Rectal Prolapse: overview</vt:lpstr>
      <vt:lpstr>Rectal Prolapse: Clinical Manifestations/Management</vt:lpstr>
      <vt:lpstr>IRRITABLE BOWEL SYNDROME: OVERVIEW</vt:lpstr>
      <vt:lpstr>Irritable Bowel Syndrome: Clinical Manifestations</vt:lpstr>
      <vt:lpstr>Irritable Bowel Syndrome: Clinical Manifestations</vt:lpstr>
      <vt:lpstr>Irritable Bowel Syndrome: Management</vt:lpstr>
      <vt:lpstr>Diverticular Disease: Diverticulosis </vt:lpstr>
      <vt:lpstr>Diverticular Disease: diverticulosis</vt:lpstr>
      <vt:lpstr>Diverticular Disease: Diverticulitis </vt:lpstr>
      <vt:lpstr>Diverticular Disease: Diverticulitis </vt:lpstr>
      <vt:lpstr>Diverticular Disease: Diverticulitis - Management</vt:lpstr>
      <vt:lpstr>Diverticular Disease: Diverticulitis - Management </vt:lpstr>
      <vt:lpstr>Toxic Megacolon: Overview </vt:lpstr>
      <vt:lpstr>Toxic Megacolon: Clinical Manifestations</vt:lpstr>
      <vt:lpstr>Toxic Megacolon: Clinical Manifestations</vt:lpstr>
      <vt:lpstr>Toxic Megacolon: Clinical Manifestations</vt:lpstr>
      <vt:lpstr>Toxic Megacolon: Management </vt:lpstr>
      <vt:lpstr>Toxic Megacolon: Management</vt:lpstr>
      <vt:lpstr>Inflammatory Bowel Disease: Overview</vt:lpstr>
      <vt:lpstr>Inflammatory Bowel Disease: Overview </vt:lpstr>
      <vt:lpstr>Inflammatory Bowel Disease: Clinical Manifestations </vt:lpstr>
      <vt:lpstr>Inflammatory Bowel Disease: Clinical Manifestations </vt:lpstr>
      <vt:lpstr>Inflammatory Bowel Disease: Clinical Manifestations </vt:lpstr>
      <vt:lpstr>Inflammatory Bowel Disease: Clinical Manifestations </vt:lpstr>
      <vt:lpstr>Inflammatory Bowel Disease: Management</vt:lpstr>
      <vt:lpstr>Inflammatory Bowel Disease: Management</vt:lpstr>
      <vt:lpstr>Acute Mesenteric Ischemia: Overview </vt:lpstr>
      <vt:lpstr>Acute Mesenteric Ischemia: Clinical Manifestations </vt:lpstr>
      <vt:lpstr>Acute Mesenteric Ischemia: Clinical Manifestations </vt:lpstr>
      <vt:lpstr>Acute Mesenteric Ischemia: Management</vt:lpstr>
      <vt:lpstr>Chronic Mesenteric Ischemia: Overview</vt:lpstr>
      <vt:lpstr>Chronic Mesenteric Ischemia: Clinical Manifestations/Management</vt:lpstr>
      <vt:lpstr>Ischemic Colitis: Overview </vt:lpstr>
      <vt:lpstr>Ischemic Colitis: Clinical Manifestations </vt:lpstr>
      <vt:lpstr>Ischemic Colitis: Management</vt:lpstr>
      <vt:lpstr>Colonic Polyps: Overview</vt:lpstr>
      <vt:lpstr>Colonic Polyps: Clinical Manifestations</vt:lpstr>
      <vt:lpstr>Colonic Polyps: Clinical Manifestations</vt:lpstr>
      <vt:lpstr>Colonic Polyps: Management</vt:lpstr>
      <vt:lpstr>Colorectal Malignancies: Overview </vt:lpstr>
      <vt:lpstr>Colorectal Malignancies: Risk Factors </vt:lpstr>
      <vt:lpstr>Colorectal Malignancies: Risk Factors</vt:lpstr>
      <vt:lpstr>Colorectal Malignancies: Risk Factors </vt:lpstr>
      <vt:lpstr>Colorectal Malignancies: Risk Factors </vt:lpstr>
      <vt:lpstr>Colorectal Malignancies: Screening</vt:lpstr>
      <vt:lpstr>Colorectal Malignancies: Screening</vt:lpstr>
      <vt:lpstr>Colorectal Malignancies: Clinical Manifestations</vt:lpstr>
      <vt:lpstr>Colorectal Malignancies: Clinical Manifestations </vt:lpstr>
      <vt:lpstr>Colorectal Malignancies: Diagnostics</vt:lpstr>
      <vt:lpstr>Colorectal Malignancies: Diagnostics</vt:lpstr>
      <vt:lpstr>Colorectal Malignancies: Staging </vt:lpstr>
      <vt:lpstr>Colorectal Malignancies: Staging </vt:lpstr>
      <vt:lpstr>Colorectal Malignancies: Treatment/Management</vt:lpstr>
      <vt:lpstr>Colorectal Malignancies: Treatment/Management</vt:lpstr>
      <vt:lpstr>Colorectal Malignancies: Treatment/Management </vt:lpstr>
      <vt:lpstr>Colorectal Malignancies: F/U and Prognosis</vt:lpstr>
      <vt:lpstr>Anal Malignancies: overview</vt:lpstr>
      <vt:lpstr>Anal Malignancies: Clinical Manifestations </vt:lpstr>
      <vt:lpstr>Anal Malignancies: Staging/Diagnostics</vt:lpstr>
      <vt:lpstr>Anal Malignancies: Staging/Diagnostics</vt:lpstr>
      <vt:lpstr>Anal Malignancies: Treatment/Follow up</vt:lpstr>
      <vt:lpstr>Anal Malignancies: Prognosis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Hollers</dc:creator>
  <cp:lastModifiedBy>Erik Hollers</cp:lastModifiedBy>
  <cp:revision>79</cp:revision>
  <dcterms:created xsi:type="dcterms:W3CDTF">2026-07-23T16:51:18Z</dcterms:created>
  <dcterms:modified xsi:type="dcterms:W3CDTF">2026-08-02T19:57:06Z</dcterms:modified>
</cp:coreProperties>
</file>